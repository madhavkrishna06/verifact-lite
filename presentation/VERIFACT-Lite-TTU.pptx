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lk" id="{3C82F99C-11C9-A1B4-4251-9486EDAE6C7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0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B4B4B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4444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</c:v>
                </c:pt>
                <c:pt idx="1">
                  <c:v>0.40770000000000001</c:v>
                </c:pt>
                <c:pt idx="2">
                  <c:v>0.4138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06-4537-B4FD-246AF77FE4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VERIFACT-Lite</c:v>
                </c:pt>
              </c:strCache>
            </c:strRef>
          </c:tx>
          <c:spPr>
            <a:solidFill>
              <a:srgbClr val="E9080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4444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0.34260000000000002</c:v>
                </c:pt>
                <c:pt idx="1">
                  <c:v>0.40770000000000001</c:v>
                </c:pt>
                <c:pt idx="2">
                  <c:v>0.37230000000000002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06-4537-B4FD-246AF77FE4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44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5000000000000004"/>
          <c:min val="0"/>
        </c:scaling>
        <c:delete val="0"/>
        <c:axPos val="l"/>
        <c:majorGridlines>
          <c:spPr>
            <a:ln w="12700" cap="flat">
              <a:solidFill>
                <a:srgbClr val="EF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67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7676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87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[0:20] One sentence: we rebuilt the paper's mechanism on local hardware, measured it against its own baseline, then re-ran the whole thing with larger judges to find out which conclusions were real. Move 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[1:15] This example is the whole paper. Verifying the stripped claim gives a meaningless verdict, because it is not what the answer said. Read the two fact lists side by side, then point at the three numbers: measured on human annotation, not anecdote.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Three sentences on what the framework is, then the bottom strip: this is what the paper claims. Say explicitly that the bottom row is the paper's, not ours — the rest of the talk is about which of these behaviours survive at this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[1:15] Walk the four boxes left to right in about thirty seconds. Spend the rest on the two bottom cards: these are the two mechanisms we reimplemented. The union rule matters later — we test whether it is the right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[0:55] Do not read the table. Say: every paid or large component has a local stand-in, and the detection logic itself is unchanged. Then the bottom strip — twelve questions written to contain conditions, comparisons and event order, and an answer key written by hand before any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[0:50] The key methodological point: the answer is generated once, so the baseline and VERIFACT-Lite differ only in whether refinement runs. Read the recall definition out loud — it explains why recall never moves between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The main reproduction slide. The mechanism does what the paper says to the fact set, and measured precision goes down. Flag that contradicted did not move at all — that becomes the tell two slides from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Walk the table once, then read the three card headings only. Each half of the contribution moves its own metric, and the two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[1:15] This slide justifies the paper and explains the precision drop. A quarter to nearly half of verdicts are decided by whether the claim kept its context. Dwell on the contradicted row — it is the result we could not get until the judges were bigger, which is the next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Frame this as the contribution: the paper ran one configuration, we ran three and asked which results were real. Be explicit that A is the controlled comparison and B is not — that distinction is why the next two slides can say anything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The strongest finding of the project, and it is a methodological one. Any factuality score of this kind is a property of the judge as much as of the system under test. Say plainly: this is why we do not compare our absolute numbers with the paper's.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[1:15] Two claims, opposite fates. Majority beating union survives everywhere. The dramatic incomplete-rate gap was a 3B artifact and we say so. Then the bottom table: for relations the union really is one judge's opinion at every size, but for incompleteness bigger judges finally complement each other — 33 exceeds both 32 and 27, which is the behaviour the union rule assumes.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[0:55] Point at the Agreement column, not the numbers. The claim is that the mechanism behaves as described; the claim is explicitly not that the numbers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[0:55] Open by owning the 0.92 mistake — it shows the harness was itself tested. Then the table: the top two rows started as proposals on the first version of this talk and are now experiments with results. The rest are still proposals, and are labelled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Close on points 3 and 4. Point 3 is the finding that generalises beyond this paper. Point 4 is where we corrected ourselves between versions of this talk, which is the honest thing to show. Leave the slide up for the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eyebrow"/>
          <p:cNvSpPr txBox="1"/>
          <p:nvPr/>
        </p:nvSpPr>
        <p:spPr>
          <a:xfrm>
            <a:off x="548640" y="1874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REIMPLEMENTATION  ·  NEURAL NETWORKS</a:t>
            </a:r>
            <a:endParaRPr lang="en-US" sz="1100" dirty="0"/>
          </a:p>
        </p:txBody>
      </p:sp>
      <p:sp>
        <p:nvSpPr>
          <p:cNvPr id="3" name="cover-title"/>
          <p:cNvSpPr txBox="1"/>
          <p:nvPr/>
        </p:nvSpPr>
        <p:spPr>
          <a:xfrm>
            <a:off x="548640" y="2240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</a:rPr>
              <a:t>VERIFACT</a:t>
            </a:r>
            <a:endParaRPr lang="en-US" sz="5000" dirty="0"/>
          </a:p>
        </p:txBody>
      </p:sp>
      <p:sp>
        <p:nvSpPr>
          <p:cNvPr id="4" name="cover-rule"/>
          <p:cNvSpPr/>
          <p:nvPr/>
        </p:nvSpPr>
        <p:spPr>
          <a:xfrm>
            <a:off x="576072" y="3273552"/>
            <a:ext cx="1737360" cy="4572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ver-body"/>
          <p:cNvSpPr txBox="1"/>
          <p:nvPr/>
        </p:nvSpPr>
        <p:spPr>
          <a:xfrm>
            <a:off x="548640" y="35478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Reproducing a context-preserving fact-verification pipeline with open-source, locally hosted models</a:t>
            </a:r>
            <a:endParaRPr lang="en-US" sz="1600" dirty="0"/>
          </a:p>
        </p:txBody>
      </p:sp>
      <p:sp>
        <p:nvSpPr>
          <p:cNvPr id="6" name="cover-by-label"/>
          <p:cNvSpPr txBox="1"/>
          <p:nvPr/>
        </p:nvSpPr>
        <p:spPr>
          <a:xfrm>
            <a:off x="548640" y="40416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</a:t>
            </a:r>
            <a:endParaRPr lang="en-US" sz="1000" dirty="0"/>
          </a:p>
        </p:txBody>
      </p:sp>
      <p:sp>
        <p:nvSpPr>
          <p:cNvPr id="7" name="cover-by"/>
          <p:cNvSpPr txBox="1"/>
          <p:nvPr/>
        </p:nvSpPr>
        <p:spPr>
          <a:xfrm>
            <a:off x="548640" y="42976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Madhav Krishna Arumulla  ·  Sanskar Jadhav  ·  Sri Charan Komati Reddy  ·  Gourav Verma  ·  Trinath Reddy Vundela</a:t>
            </a:r>
            <a:endParaRPr lang="en-US" sz="1300" dirty="0"/>
          </a:p>
        </p:txBody>
      </p:sp>
      <p:sp>
        <p:nvSpPr>
          <p:cNvPr id="8" name="chip0"/>
          <p:cNvSpPr/>
          <p:nvPr/>
        </p:nvSpPr>
        <p:spPr>
          <a:xfrm>
            <a:off x="548640" y="4892040"/>
            <a:ext cx="263164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hip-t0"/>
          <p:cNvSpPr txBox="1"/>
          <p:nvPr/>
        </p:nvSpPr>
        <p:spPr>
          <a:xfrm>
            <a:off x="548640" y="4892040"/>
            <a:ext cx="26316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Qwen2.5-3B to Llama-3.1-8B</a:t>
            </a:r>
            <a:endParaRPr lang="en-US" sz="1100" dirty="0"/>
          </a:p>
        </p:txBody>
      </p:sp>
      <p:sp>
        <p:nvSpPr>
          <p:cNvPr id="10" name="chip1"/>
          <p:cNvSpPr/>
          <p:nvPr/>
        </p:nvSpPr>
        <p:spPr>
          <a:xfrm>
            <a:off x="3381451" y="4892040"/>
            <a:ext cx="254660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hip-t1"/>
          <p:cNvSpPr txBox="1"/>
          <p:nvPr/>
        </p:nvSpPr>
        <p:spPr>
          <a:xfrm>
            <a:off x="3381451" y="4892040"/>
            <a:ext cx="2546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Q4_K_M, 4 GB GPU and a T4</a:t>
            </a:r>
            <a:endParaRPr lang="en-US" sz="1100" dirty="0"/>
          </a:p>
        </p:txBody>
      </p:sp>
      <p:sp>
        <p:nvSpPr>
          <p:cNvPr id="12" name="chip2"/>
          <p:cNvSpPr/>
          <p:nvPr/>
        </p:nvSpPr>
        <p:spPr>
          <a:xfrm>
            <a:off x="6129223" y="4892040"/>
            <a:ext cx="195133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hip-t2"/>
          <p:cNvSpPr txBox="1"/>
          <p:nvPr/>
        </p:nvSpPr>
        <p:spPr>
          <a:xfrm>
            <a:off x="6129223" y="4892040"/>
            <a:ext cx="1951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evidence</a:t>
            </a:r>
            <a:endParaRPr lang="en-US" sz="1100" dirty="0"/>
          </a:p>
        </p:txBody>
      </p:sp>
      <p:sp>
        <p:nvSpPr>
          <p:cNvPr id="14" name="chip3"/>
          <p:cNvSpPr/>
          <p:nvPr/>
        </p:nvSpPr>
        <p:spPr>
          <a:xfrm>
            <a:off x="8281721" y="4892040"/>
            <a:ext cx="314187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chip-t3"/>
          <p:cNvSpPr txBox="1"/>
          <p:nvPr/>
        </p:nvSpPr>
        <p:spPr>
          <a:xfrm>
            <a:off x="8281721" y="4892040"/>
            <a:ext cx="3141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questions, 86 reference facts</a:t>
            </a:r>
            <a:endParaRPr lang="en-US" sz="1100" dirty="0"/>
          </a:p>
        </p:txBody>
      </p:sp>
      <p:sp>
        <p:nvSpPr>
          <p:cNvPr id="16" name="cover-foot"/>
          <p:cNvSpPr txBox="1"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Liu, Zhang, Munir, Gu &amp; Wang — EMNLP 2025  ·  Not a reproduction of the paper's reported results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Atomic facts lose the context that makes them true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of context-free fact verification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quote"/>
          <p:cNvSpPr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quote-text"/>
          <p:cNvSpPr txBox="1"/>
          <p:nvPr/>
        </p:nvSpPr>
        <p:spPr>
          <a:xfrm>
            <a:off x="804672" y="1673352"/>
            <a:ext cx="10552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answer:  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the demand for gold as jewelry were to disappear, the price of gold could drop by 20–50% or more, </a:t>
            </a:r>
            <a:r>
              <a:rPr lang="en-US" sz="1400" b="1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more competitive with other materials like copper and silver."</a:t>
            </a:r>
            <a:endParaRPr lang="en-US" sz="1150" dirty="0"/>
          </a:p>
        </p:txBody>
      </p:sp>
      <p:sp>
        <p:nvSpPr>
          <p:cNvPr id="8" name="safe"/>
          <p:cNvSpPr/>
          <p:nvPr/>
        </p:nvSpPr>
        <p:spPr>
          <a:xfrm>
            <a:off x="548640" y="2514600"/>
            <a:ext cx="53949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afe-h"/>
          <p:cNvSpPr txBox="1"/>
          <p:nvPr/>
        </p:nvSpPr>
        <p:spPr>
          <a:xfrm>
            <a:off x="804672" y="271576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Extracted by SAFE</a:t>
            </a:r>
            <a:endParaRPr lang="en-US" sz="1450" dirty="0"/>
          </a:p>
        </p:txBody>
      </p:sp>
      <p:sp>
        <p:nvSpPr>
          <p:cNvPr id="10" name="safe-list"/>
          <p:cNvSpPr txBox="1"/>
          <p:nvPr/>
        </p:nvSpPr>
        <p:spPr>
          <a:xfrm>
            <a:off x="804672" y="2980944"/>
            <a:ext cx="48828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demand for gold as jewelry.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of gold could drop by 20–50% or more.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dropped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and silver are competitive with gold in price.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unconditionally; the causal link in “making” is never extracted</a:t>
            </a:r>
            <a:endParaRPr lang="en-US" sz="1250" dirty="0"/>
          </a:p>
        </p:txBody>
      </p:sp>
      <p:sp>
        <p:nvSpPr>
          <p:cNvPr id="11" name="vf"/>
          <p:cNvSpPr/>
          <p:nvPr/>
        </p:nvSpPr>
        <p:spPr>
          <a:xfrm>
            <a:off x="6217920" y="2514600"/>
            <a:ext cx="53949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vf-edge"/>
          <p:cNvSpPr/>
          <p:nvPr/>
        </p:nvSpPr>
        <p:spPr>
          <a:xfrm>
            <a:off x="6217920" y="2514600"/>
            <a:ext cx="29261" cy="224028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vf-h"/>
          <p:cNvSpPr txBox="1"/>
          <p:nvPr/>
        </p:nvSpPr>
        <p:spPr>
          <a:xfrm>
            <a:off x="6473952" y="271576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802"/>
                </a:solidFill>
              </a:rPr>
              <a:t>Extracted by VeriFact</a:t>
            </a:r>
            <a:endParaRPr lang="en-US" sz="1450" dirty="0"/>
          </a:p>
        </p:txBody>
      </p:sp>
      <p:sp>
        <p:nvSpPr>
          <p:cNvPr id="14" name="vf-list"/>
          <p:cNvSpPr txBox="1"/>
          <p:nvPr/>
        </p:nvSpPr>
        <p:spPr>
          <a:xfrm>
            <a:off x="6473952" y="2980944"/>
            <a:ext cx="48828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demand for gold as jewelry.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demand for gold as jewelry disappeared, the price of gold could drop by 20–50% or more.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20–50% drop in the price of gold could make copper and silver competitive with gold.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preserved, causal relation recovered as its own fact</a:t>
            </a:r>
            <a:endParaRPr lang="en-US" sz="1250" dirty="0"/>
          </a:p>
        </p:txBody>
      </p:sp>
      <p:sp>
        <p:nvSpPr>
          <p:cNvPr id="15" name="p0-rule"/>
          <p:cNvSpPr/>
          <p:nvPr/>
        </p:nvSpPr>
        <p:spPr>
          <a:xfrm>
            <a:off x="548640" y="4983480"/>
            <a:ext cx="3505200" cy="2560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p0-l"/>
          <p:cNvSpPr txBox="1"/>
          <p:nvPr/>
        </p:nvSpPr>
        <p:spPr>
          <a:xfrm>
            <a:off x="548640" y="5129784"/>
            <a:ext cx="350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FACTS IN SAFE</a:t>
            </a:r>
            <a:endParaRPr lang="en-US" sz="950" dirty="0"/>
          </a:p>
        </p:txBody>
      </p:sp>
      <p:sp>
        <p:nvSpPr>
          <p:cNvPr id="17" name="p0-v"/>
          <p:cNvSpPr txBox="1"/>
          <p:nvPr/>
        </p:nvSpPr>
        <p:spPr>
          <a:xfrm>
            <a:off x="548640" y="5367528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12.68%</a:t>
            </a:r>
            <a:endParaRPr lang="en-US" sz="2400" dirty="0"/>
          </a:p>
        </p:txBody>
      </p:sp>
      <p:sp>
        <p:nvSpPr>
          <p:cNvPr id="18" name="p0-f"/>
          <p:cNvSpPr txBox="1"/>
          <p:nvPr/>
        </p:nvSpPr>
        <p:spPr>
          <a:xfrm>
            <a:off x="548640" y="5852160"/>
            <a:ext cx="350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451 facts, human-annotated</a:t>
            </a:r>
            <a:endParaRPr lang="en-US" sz="1050" dirty="0"/>
          </a:p>
        </p:txBody>
      </p:sp>
      <p:sp>
        <p:nvSpPr>
          <p:cNvPr id="19" name="p1-rule"/>
          <p:cNvSpPr/>
          <p:nvPr/>
        </p:nvSpPr>
        <p:spPr>
          <a:xfrm>
            <a:off x="4328160" y="4983480"/>
            <a:ext cx="3505200" cy="2560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p1-l"/>
          <p:cNvSpPr txBox="1"/>
          <p:nvPr/>
        </p:nvSpPr>
        <p:spPr>
          <a:xfrm>
            <a:off x="4328160" y="5129784"/>
            <a:ext cx="350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FACTS PER RESPONSE</a:t>
            </a:r>
            <a:endParaRPr lang="en-US" sz="950" dirty="0"/>
          </a:p>
        </p:txBody>
      </p:sp>
      <p:sp>
        <p:nvSpPr>
          <p:cNvPr id="21" name="p1-v"/>
          <p:cNvSpPr txBox="1"/>
          <p:nvPr/>
        </p:nvSpPr>
        <p:spPr>
          <a:xfrm>
            <a:off x="4328160" y="5367528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1.24</a:t>
            </a:r>
            <a:endParaRPr lang="en-US" sz="2400" dirty="0"/>
          </a:p>
        </p:txBody>
      </p:sp>
      <p:sp>
        <p:nvSpPr>
          <p:cNvPr id="22" name="p1-f"/>
          <p:cNvSpPr txBox="1"/>
          <p:nvPr/>
        </p:nvSpPr>
        <p:spPr>
          <a:xfrm>
            <a:off x="4328160" y="5852160"/>
            <a:ext cx="350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never extracted</a:t>
            </a:r>
            <a:endParaRPr lang="en-US" sz="1050" dirty="0"/>
          </a:p>
        </p:txBody>
      </p:sp>
      <p:sp>
        <p:nvSpPr>
          <p:cNvPr id="23" name="p2-rule"/>
          <p:cNvSpPr/>
          <p:nvPr/>
        </p:nvSpPr>
        <p:spPr>
          <a:xfrm>
            <a:off x="8107680" y="4983480"/>
            <a:ext cx="3505200" cy="2560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p2-l"/>
          <p:cNvSpPr txBox="1"/>
          <p:nvPr/>
        </p:nvSpPr>
        <p:spPr>
          <a:xfrm>
            <a:off x="8107680" y="5129784"/>
            <a:ext cx="350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THOSE, OMITTED CONDITIONS</a:t>
            </a:r>
            <a:endParaRPr lang="en-US" sz="950" dirty="0"/>
          </a:p>
        </p:txBody>
      </p:sp>
      <p:sp>
        <p:nvSpPr>
          <p:cNvPr id="25" name="p2-v"/>
          <p:cNvSpPr txBox="1"/>
          <p:nvPr/>
        </p:nvSpPr>
        <p:spPr>
          <a:xfrm>
            <a:off x="8107680" y="5367528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51%</a:t>
            </a:r>
            <a:endParaRPr lang="en-US" sz="2400" dirty="0"/>
          </a:p>
        </p:txBody>
      </p:sp>
      <p:sp>
        <p:nvSpPr>
          <p:cNvPr id="26" name="p2-f"/>
          <p:cNvSpPr txBox="1"/>
          <p:nvPr/>
        </p:nvSpPr>
        <p:spPr>
          <a:xfrm>
            <a:off x="8107680" y="5852160"/>
            <a:ext cx="350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 case above</a:t>
            </a:r>
            <a:endParaRPr lang="en-US" sz="1050" dirty="0"/>
          </a:p>
        </p:txBody>
      </p:sp>
      <p:sp>
        <p:nvSpPr>
          <p:cNvPr id="27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VeriFact: Liu, Zhang, Munir, Gu &amp; Wang, EMNLP 2025, pp. 17908–17925  ·  github.com/launchnlp/VeriFact</a:t>
            </a:r>
            <a:endParaRPr lang="en-US" sz="9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VeriFact — repair the facts before verifying them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Preserving context instead of accepting what decomposition left behind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ol0"/>
          <p:cNvSpPr/>
          <p:nvPr/>
        </p:nvSpPr>
        <p:spPr>
          <a:xfrm>
            <a:off x="548640" y="1600200"/>
            <a:ext cx="3505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ol0-h"/>
          <p:cNvSpPr txBox="1"/>
          <p:nvPr/>
        </p:nvSpPr>
        <p:spPr>
          <a:xfrm>
            <a:off x="804672" y="180136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What VeriFact is</a:t>
            </a:r>
            <a:endParaRPr lang="en-US" sz="1450" dirty="0"/>
          </a:p>
        </p:txBody>
      </p:sp>
      <p:sp>
        <p:nvSpPr>
          <p:cNvPr id="8" name="sol0-b"/>
          <p:cNvSpPr txBox="1"/>
          <p:nvPr/>
        </p:nvSpPr>
        <p:spPr>
          <a:xfrm>
            <a:off x="804672" y="2203704"/>
            <a:ext cx="299313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factuality framework that inserts two steps between decomposition and verification: detect broken facts, then repair them. The extractor and the verifier are inherited unchanged.</a:t>
            </a:r>
            <a:endParaRPr lang="en-US" sz="1250" dirty="0"/>
          </a:p>
        </p:txBody>
      </p:sp>
      <p:sp>
        <p:nvSpPr>
          <p:cNvPr id="9" name="sol1"/>
          <p:cNvSpPr/>
          <p:nvPr/>
        </p:nvSpPr>
        <p:spPr>
          <a:xfrm>
            <a:off x="4328160" y="1600200"/>
            <a:ext cx="3505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ol1-h"/>
          <p:cNvSpPr txBox="1"/>
          <p:nvPr/>
        </p:nvSpPr>
        <p:spPr>
          <a:xfrm>
            <a:off x="4584192" y="180136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The two defects it targets</a:t>
            </a:r>
            <a:endParaRPr lang="en-US" sz="1450" dirty="0"/>
          </a:p>
        </p:txBody>
      </p:sp>
      <p:sp>
        <p:nvSpPr>
          <p:cNvPr id="11" name="sol1-b"/>
          <p:cNvSpPr txBox="1"/>
          <p:nvPr/>
        </p:nvSpPr>
        <p:spPr>
          <a:xfrm>
            <a:off x="4584192" y="2203704"/>
            <a:ext cx="299313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facts — an ambiguous reference, a dropped condition, a missing comparison target. And missing facts — an inter-sentence temporal or causal relation that no atomic fact carries.</a:t>
            </a:r>
            <a:endParaRPr lang="en-US" sz="1250" dirty="0"/>
          </a:p>
        </p:txBody>
      </p:sp>
      <p:sp>
        <p:nvSpPr>
          <p:cNvPr id="12" name="sol2"/>
          <p:cNvSpPr/>
          <p:nvPr/>
        </p:nvSpPr>
        <p:spPr>
          <a:xfrm>
            <a:off x="8107680" y="1600200"/>
            <a:ext cx="3505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ol2-h"/>
          <p:cNvSpPr txBox="1"/>
          <p:nvPr/>
        </p:nvSpPr>
        <p:spPr>
          <a:xfrm>
            <a:off x="8363712" y="180136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The trade it makes</a:t>
            </a:r>
            <a:endParaRPr lang="en-US" sz="1450" dirty="0"/>
          </a:p>
        </p:txBody>
      </p:sp>
      <p:sp>
        <p:nvSpPr>
          <p:cNvPr id="14" name="sol2-b"/>
          <p:cNvSpPr txBox="1"/>
          <p:nvPr/>
        </p:nvSpPr>
        <p:spPr>
          <a:xfrm>
            <a:off x="8363712" y="2203704"/>
            <a:ext cx="299313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recalls 0.89 of incomplete and 0.85 of missing facts. One LLM agrees with human annotators at only κ = 0.33, so detections are unioned, not voted, and refinement absorbs the false positives.</a:t>
            </a:r>
            <a:endParaRPr lang="en-US" sz="1250" dirty="0"/>
          </a:p>
        </p:txBody>
      </p:sp>
      <p:sp>
        <p:nvSpPr>
          <p:cNvPr id="15" name="pr-h"/>
          <p:cNvSpPr txBox="1"/>
          <p:nvPr/>
        </p:nvSpPr>
        <p:spPr>
          <a:xfrm>
            <a:off x="548640" y="3977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paper reports on FACTRBENCH</a:t>
            </a:r>
            <a:endParaRPr lang="en-US" sz="1250" dirty="0"/>
          </a:p>
        </p:txBody>
      </p:sp>
      <p:sp>
        <p:nvSpPr>
          <p:cNvPr id="16" name="pr0-rule"/>
          <p:cNvSpPr/>
          <p:nvPr/>
        </p:nvSpPr>
        <p:spPr>
          <a:xfrm>
            <a:off x="548640" y="4370832"/>
            <a:ext cx="2560320" cy="2560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pr0-l"/>
          <p:cNvSpPr txBox="1"/>
          <p:nvPr/>
        </p:nvSpPr>
        <p:spPr>
          <a:xfrm>
            <a:off x="548640" y="45171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FACTS</a:t>
            </a:r>
            <a:endParaRPr lang="en-US" sz="950" dirty="0"/>
          </a:p>
        </p:txBody>
      </p:sp>
      <p:sp>
        <p:nvSpPr>
          <p:cNvPr id="18" name="pr0-v"/>
          <p:cNvSpPr txBox="1"/>
          <p:nvPr/>
        </p:nvSpPr>
        <p:spPr>
          <a:xfrm>
            <a:off x="54864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56.7% → 22.5%</a:t>
            </a:r>
            <a:endParaRPr lang="en-US" sz="2000" dirty="0"/>
          </a:p>
        </p:txBody>
      </p:sp>
      <p:sp>
        <p:nvSpPr>
          <p:cNvPr id="19" name="pr0-f"/>
          <p:cNvSpPr txBox="1"/>
          <p:nvPr/>
        </p:nvSpPr>
        <p:spPr>
          <a:xfrm>
            <a:off x="548640" y="5239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after refinement</a:t>
            </a:r>
            <a:endParaRPr lang="en-US" sz="1050" dirty="0"/>
          </a:p>
        </p:txBody>
      </p:sp>
      <p:sp>
        <p:nvSpPr>
          <p:cNvPr id="20" name="pr1-rule"/>
          <p:cNvSpPr/>
          <p:nvPr/>
        </p:nvSpPr>
        <p:spPr>
          <a:xfrm>
            <a:off x="3383280" y="4370832"/>
            <a:ext cx="2560320" cy="2560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pr1-l"/>
          <p:cNvSpPr txBox="1"/>
          <p:nvPr/>
        </p:nvSpPr>
        <p:spPr>
          <a:xfrm>
            <a:off x="3383280" y="45171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FACTS / RESPONSE</a:t>
            </a:r>
            <a:endParaRPr lang="en-US" sz="950" dirty="0"/>
          </a:p>
        </p:txBody>
      </p:sp>
      <p:sp>
        <p:nvSpPr>
          <p:cNvPr id="22" name="pr1-v"/>
          <p:cNvSpPr txBox="1"/>
          <p:nvPr/>
        </p:nvSpPr>
        <p:spPr>
          <a:xfrm>
            <a:off x="338328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1.22 → 0.76</a:t>
            </a:r>
            <a:endParaRPr lang="en-US" sz="2000" dirty="0"/>
          </a:p>
        </p:txBody>
      </p:sp>
      <p:sp>
        <p:nvSpPr>
          <p:cNvPr id="23" name="pr1-f"/>
          <p:cNvSpPr txBox="1"/>
          <p:nvPr/>
        </p:nvSpPr>
        <p:spPr>
          <a:xfrm>
            <a:off x="3383280" y="5239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−37%</a:t>
            </a:r>
            <a:endParaRPr lang="en-US" sz="1050" dirty="0"/>
          </a:p>
        </p:txBody>
      </p:sp>
      <p:sp>
        <p:nvSpPr>
          <p:cNvPr id="24" name="pr2-rule"/>
          <p:cNvSpPr/>
          <p:nvPr/>
        </p:nvSpPr>
        <p:spPr>
          <a:xfrm>
            <a:off x="6217920" y="4370832"/>
            <a:ext cx="2560320" cy="25603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pr2-l"/>
          <p:cNvSpPr txBox="1"/>
          <p:nvPr/>
        </p:nvSpPr>
        <p:spPr>
          <a:xfrm>
            <a:off x="6217920" y="45171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CHANGES</a:t>
            </a:r>
            <a:endParaRPr lang="en-US" sz="950" dirty="0"/>
          </a:p>
        </p:txBody>
      </p:sp>
      <p:sp>
        <p:nvSpPr>
          <p:cNvPr id="26" name="pr2-v"/>
          <p:cNvSpPr txBox="1"/>
          <p:nvPr/>
        </p:nvSpPr>
        <p:spPr>
          <a:xfrm>
            <a:off x="621792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0802"/>
                </a:solidFill>
              </a:rPr>
              <a:t>24.9%</a:t>
            </a:r>
            <a:endParaRPr lang="en-US" sz="2000" dirty="0"/>
          </a:p>
        </p:txBody>
      </p:sp>
      <p:sp>
        <p:nvSpPr>
          <p:cNvPr id="27" name="pr2-f"/>
          <p:cNvSpPr txBox="1"/>
          <p:nvPr/>
        </p:nvSpPr>
        <p:spPr>
          <a:xfrm>
            <a:off x="6217920" y="5239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↓, contradicted ↑</a:t>
            </a:r>
            <a:endParaRPr lang="en-US" sz="1050" dirty="0"/>
          </a:p>
        </p:txBody>
      </p:sp>
      <p:sp>
        <p:nvSpPr>
          <p:cNvPr id="28" name="pr3-rule"/>
          <p:cNvSpPr/>
          <p:nvPr/>
        </p:nvSpPr>
        <p:spPr>
          <a:xfrm>
            <a:off x="9052560" y="4370832"/>
            <a:ext cx="2560320" cy="2560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pr3-l"/>
          <p:cNvSpPr txBox="1"/>
          <p:nvPr/>
        </p:nvSpPr>
        <p:spPr>
          <a:xfrm>
            <a:off x="9052560" y="45171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F1 REPORTED</a:t>
            </a:r>
            <a:endParaRPr lang="en-US" sz="950" dirty="0"/>
          </a:p>
        </p:txBody>
      </p:sp>
      <p:sp>
        <p:nvSpPr>
          <p:cNvPr id="30" name="pr3-v"/>
          <p:cNvSpPr txBox="1"/>
          <p:nvPr/>
        </p:nvSpPr>
        <p:spPr>
          <a:xfrm>
            <a:off x="905256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57.5</a:t>
            </a:r>
            <a:endParaRPr lang="en-US" sz="2000" dirty="0"/>
          </a:p>
        </p:txBody>
      </p:sp>
      <p:sp>
        <p:nvSpPr>
          <p:cNvPr id="31" name="pr3-f"/>
          <p:cNvSpPr txBox="1"/>
          <p:nvPr/>
        </p:nvSpPr>
        <p:spPr>
          <a:xfrm>
            <a:off x="9052560" y="5239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2.5-32B</a:t>
            </a:r>
            <a:endParaRPr lang="en-US" sz="1050" dirty="0"/>
          </a:p>
        </p:txBody>
      </p:sp>
      <p:sp>
        <p:nvSpPr>
          <p:cNvPr id="32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paper's numbers, on 1,096 prompts with GPT-4o, Llama 3.3-70B and Qwen 2.5-32B.</a:t>
            </a:r>
            <a:endParaRPr lang="en-US" sz="9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VERIFACT WORKS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Four steps, three judges, union of detections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2 and 3 are the paper's contribution; steps 1 and 4 are inherited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tep1"/>
          <p:cNvSpPr/>
          <p:nvPr/>
        </p:nvSpPr>
        <p:spPr>
          <a:xfrm>
            <a:off x="548640" y="160020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tep1-badge"/>
          <p:cNvSpPr txBox="1"/>
          <p:nvPr/>
        </p:nvSpPr>
        <p:spPr>
          <a:xfrm>
            <a:off x="804672" y="180136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67676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tep1-h"/>
          <p:cNvSpPr txBox="1"/>
          <p:nvPr/>
        </p:nvSpPr>
        <p:spPr>
          <a:xfrm>
            <a:off x="804672" y="21854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Decompose</a:t>
            </a:r>
            <a:endParaRPr lang="en-US" sz="1450" dirty="0"/>
          </a:p>
        </p:txBody>
      </p:sp>
      <p:sp>
        <p:nvSpPr>
          <p:cNvPr id="9" name="step1-b"/>
          <p:cNvSpPr txBox="1"/>
          <p:nvPr/>
        </p:nvSpPr>
        <p:spPr>
          <a:xfrm>
            <a:off x="804672" y="2587752"/>
            <a:ext cx="2048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SAFE's extractor splits each sentence into atomic facts, then resolves vague references.</a:t>
            </a:r>
            <a:endParaRPr lang="en-US" sz="1200" dirty="0"/>
          </a:p>
        </p:txBody>
      </p:sp>
      <p:sp>
        <p:nvSpPr>
          <p:cNvPr id="10" name="step2"/>
          <p:cNvSpPr/>
          <p:nvPr/>
        </p:nvSpPr>
        <p:spPr>
          <a:xfrm>
            <a:off x="3383280" y="160020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tep2-edge"/>
          <p:cNvSpPr/>
          <p:nvPr/>
        </p:nvSpPr>
        <p:spPr>
          <a:xfrm>
            <a:off x="3383280" y="1600200"/>
            <a:ext cx="29261" cy="210312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tep2-badge"/>
          <p:cNvSpPr txBox="1"/>
          <p:nvPr/>
        </p:nvSpPr>
        <p:spPr>
          <a:xfrm>
            <a:off x="3639312" y="180136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0802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tep2-h"/>
          <p:cNvSpPr txBox="1"/>
          <p:nvPr/>
        </p:nvSpPr>
        <p:spPr>
          <a:xfrm>
            <a:off x="3639312" y="21854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802"/>
                </a:solidFill>
              </a:rPr>
              <a:t>Detect</a:t>
            </a:r>
            <a:endParaRPr lang="en-US" sz="1450" dirty="0"/>
          </a:p>
        </p:txBody>
      </p:sp>
      <p:sp>
        <p:nvSpPr>
          <p:cNvPr id="14" name="step2-b"/>
          <p:cNvSpPr txBox="1"/>
          <p:nvPr/>
        </p:nvSpPr>
        <p:spPr>
          <a:xfrm>
            <a:off x="3639312" y="2587752"/>
            <a:ext cx="2048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flag incomplete facts by subtype, and missing temporal or contingency relations.</a:t>
            </a:r>
            <a:endParaRPr lang="en-US" sz="1200" dirty="0"/>
          </a:p>
        </p:txBody>
      </p:sp>
      <p:sp>
        <p:nvSpPr>
          <p:cNvPr id="15" name="step3"/>
          <p:cNvSpPr/>
          <p:nvPr/>
        </p:nvSpPr>
        <p:spPr>
          <a:xfrm>
            <a:off x="6217920" y="160020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tep3-edge"/>
          <p:cNvSpPr/>
          <p:nvPr/>
        </p:nvSpPr>
        <p:spPr>
          <a:xfrm>
            <a:off x="6217920" y="1600200"/>
            <a:ext cx="29261" cy="210312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tep3-badge"/>
          <p:cNvSpPr txBox="1"/>
          <p:nvPr/>
        </p:nvSpPr>
        <p:spPr>
          <a:xfrm>
            <a:off x="6473952" y="180136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0802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3-h"/>
          <p:cNvSpPr txBox="1"/>
          <p:nvPr/>
        </p:nvSpPr>
        <p:spPr>
          <a:xfrm>
            <a:off x="6473952" y="21854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802"/>
                </a:solidFill>
              </a:rPr>
              <a:t>Refine</a:t>
            </a:r>
            <a:endParaRPr lang="en-US" sz="1450" dirty="0"/>
          </a:p>
        </p:txBody>
      </p:sp>
      <p:sp>
        <p:nvSpPr>
          <p:cNvPr id="19" name="step3-b"/>
          <p:cNvSpPr txBox="1"/>
          <p:nvPr/>
        </p:nvSpPr>
        <p:spPr>
          <a:xfrm>
            <a:off x="6473952" y="2587752"/>
            <a:ext cx="2048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Self-reflection rewrites each flagged fact and writes one new fact per missing relation.</a:t>
            </a:r>
            <a:endParaRPr lang="en-US" sz="1200" dirty="0"/>
          </a:p>
        </p:txBody>
      </p:sp>
      <p:sp>
        <p:nvSpPr>
          <p:cNvPr id="20" name="step4"/>
          <p:cNvSpPr/>
          <p:nvPr/>
        </p:nvSpPr>
        <p:spPr>
          <a:xfrm>
            <a:off x="9052560" y="160020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tep4-badge"/>
          <p:cNvSpPr txBox="1"/>
          <p:nvPr/>
        </p:nvSpPr>
        <p:spPr>
          <a:xfrm>
            <a:off x="9308592" y="180136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67676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tep4-h"/>
          <p:cNvSpPr txBox="1"/>
          <p:nvPr/>
        </p:nvSpPr>
        <p:spPr>
          <a:xfrm>
            <a:off x="9308592" y="21854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Verify</a:t>
            </a:r>
            <a:endParaRPr lang="en-US" sz="1450" dirty="0"/>
          </a:p>
        </p:txBody>
      </p:sp>
      <p:sp>
        <p:nvSpPr>
          <p:cNvPr id="23" name="step4-b"/>
          <p:cNvSpPr txBox="1"/>
          <p:nvPr/>
        </p:nvSpPr>
        <p:spPr>
          <a:xfrm>
            <a:off x="9308592" y="2587752"/>
            <a:ext cx="2048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via Serper, cross-encoder reranking, then Supported / Contradicted / Undecided.</a:t>
            </a:r>
            <a:endParaRPr lang="en-US" sz="1200" dirty="0"/>
          </a:p>
        </p:txBody>
      </p:sp>
      <p:sp>
        <p:nvSpPr>
          <p:cNvPr id="24" name="detect"/>
          <p:cNvSpPr/>
          <p:nvPr/>
        </p:nvSpPr>
        <p:spPr>
          <a:xfrm>
            <a:off x="548640" y="3977640"/>
            <a:ext cx="5394960" cy="178308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detect-h"/>
          <p:cNvSpPr txBox="1"/>
          <p:nvPr/>
        </p:nvSpPr>
        <p:spPr>
          <a:xfrm>
            <a:off x="804672" y="417880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Detecting incomplete facts</a:t>
            </a:r>
            <a:endParaRPr lang="en-US" sz="1450" dirty="0"/>
          </a:p>
        </p:txBody>
      </p:sp>
      <p:sp>
        <p:nvSpPr>
          <p:cNvPr id="26" name="detect-b"/>
          <p:cNvSpPr txBox="1"/>
          <p:nvPr/>
        </p:nvSpPr>
        <p:spPr>
          <a:xfrm>
            <a:off x="804672" y="4581144"/>
            <a:ext cx="48828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fact is judged against the response it came from, and labelled with one of four subtypes: ambiguous concept or pronoun, missing comparison, omitted condition or source, other.</a:t>
            </a:r>
            <a:endParaRPr lang="en-US" sz="1250" dirty="0"/>
          </a:p>
        </p:txBody>
      </p:sp>
      <p:sp>
        <p:nvSpPr>
          <p:cNvPr id="27" name="relate"/>
          <p:cNvSpPr/>
          <p:nvPr/>
        </p:nvSpPr>
        <p:spPr>
          <a:xfrm>
            <a:off x="6217920" y="3977640"/>
            <a:ext cx="5394960" cy="178308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relate-edge"/>
          <p:cNvSpPr/>
          <p:nvPr/>
        </p:nvSpPr>
        <p:spPr>
          <a:xfrm>
            <a:off x="6217920" y="3977640"/>
            <a:ext cx="29261" cy="178308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late-h"/>
          <p:cNvSpPr txBox="1"/>
          <p:nvPr/>
        </p:nvSpPr>
        <p:spPr>
          <a:xfrm>
            <a:off x="6473952" y="417880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802"/>
                </a:solidFill>
              </a:rPr>
              <a:t>Detecting missing relations</a:t>
            </a:r>
            <a:endParaRPr lang="en-US" sz="1450" dirty="0"/>
          </a:p>
        </p:txBody>
      </p:sp>
      <p:sp>
        <p:nvSpPr>
          <p:cNvPr id="30" name="relate-b"/>
          <p:cNvSpPr txBox="1"/>
          <p:nvPr/>
        </p:nvSpPr>
        <p:spPr>
          <a:xfrm>
            <a:off x="6473952" y="4581144"/>
            <a:ext cx="48828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mapping marks every response character covered by some fact. Each uncovered span is then asked two questions: does it express a temporal or contingency relation, and is it already captured by a single existing fact?</a:t>
            </a:r>
            <a:endParaRPr lang="en-US" sz="1250" dirty="0"/>
          </a:p>
        </p:txBody>
      </p:sp>
      <p:sp>
        <p:nvSpPr>
          <p:cNvPr id="31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detection judges are GPT-4o + Llama 3.3-70B + Qwen 2.5-32B </a:t>
            </a:r>
            <a:endParaRPr lang="en-US" sz="9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RECREATING THE RESULTS  ·  1 OF 5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Setting up the experiment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remote or paid component replaced by a local one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m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196388"/>
              </p:ext>
            </p:extLst>
          </p:nvPr>
        </p:nvGraphicFramePr>
        <p:xfrm>
          <a:off x="548640" y="1600200"/>
          <a:ext cx="11064240" cy="29260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VERIFACT-Lite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GPT-4o + Llama 3.3-70B + Qwen 2.5-32B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Qwen2.5-3B + Llama-3.2-3B, and 7–8B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/ refine / verify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3.3-70B-Instruct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Qwen2.5-3B, and Qwen2.5-7B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source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Search via Serper (paid)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Wikipedia API, cached for replay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ranking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cross-encoder reranker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BM25 over retrieved paragraphs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FACTRBENCH, 1,096 prompts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 benchmark, 12 prompts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facts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frontier LLMs + human answers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 facts, written and verified by hand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vLLM, multi-GPU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Ollama on a 4 GB VRAM GPU and </a:t>
                      </a:r>
                      <a:r>
                        <a:rPr lang="en-US" sz="1250" dirty="0" err="1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Colab</a:t>
                      </a: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c0-rule"/>
          <p:cNvSpPr/>
          <p:nvPr/>
        </p:nvSpPr>
        <p:spPr>
          <a:xfrm>
            <a:off x="548640" y="4663440"/>
            <a:ext cx="2560320" cy="2560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c0-l"/>
          <p:cNvSpPr txBox="1"/>
          <p:nvPr/>
        </p:nvSpPr>
        <p:spPr>
          <a:xfrm>
            <a:off x="548640" y="48097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950" dirty="0"/>
          </a:p>
        </p:txBody>
      </p:sp>
      <p:sp>
        <p:nvSpPr>
          <p:cNvPr id="9" name="sc0-v"/>
          <p:cNvSpPr txBox="1"/>
          <p:nvPr/>
        </p:nvSpPr>
        <p:spPr>
          <a:xfrm>
            <a:off x="548640" y="5047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12</a:t>
            </a:r>
            <a:endParaRPr lang="en-US" sz="2400" dirty="0"/>
          </a:p>
        </p:txBody>
      </p:sp>
      <p:sp>
        <p:nvSpPr>
          <p:cNvPr id="10" name="sc0-f"/>
          <p:cNvSpPr txBox="1"/>
          <p:nvPr/>
        </p:nvSpPr>
        <p:spPr>
          <a:xfrm>
            <a:off x="548640" y="5532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for the failure modes</a:t>
            </a:r>
            <a:endParaRPr lang="en-US" sz="1050" dirty="0"/>
          </a:p>
        </p:txBody>
      </p:sp>
      <p:sp>
        <p:nvSpPr>
          <p:cNvPr id="11" name="sc1-rule"/>
          <p:cNvSpPr/>
          <p:nvPr/>
        </p:nvSpPr>
        <p:spPr>
          <a:xfrm>
            <a:off x="3383280" y="4663440"/>
            <a:ext cx="2560320" cy="2560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c1-l"/>
          <p:cNvSpPr txBox="1"/>
          <p:nvPr/>
        </p:nvSpPr>
        <p:spPr>
          <a:xfrm>
            <a:off x="3383280" y="48097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FACTS</a:t>
            </a:r>
            <a:endParaRPr lang="en-US" sz="950" dirty="0"/>
          </a:p>
        </p:txBody>
      </p:sp>
      <p:sp>
        <p:nvSpPr>
          <p:cNvPr id="13" name="sc1-v"/>
          <p:cNvSpPr txBox="1"/>
          <p:nvPr/>
        </p:nvSpPr>
        <p:spPr>
          <a:xfrm>
            <a:off x="3383280" y="5047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86</a:t>
            </a:r>
            <a:endParaRPr lang="en-US" sz="2400" dirty="0"/>
          </a:p>
        </p:txBody>
      </p:sp>
      <p:sp>
        <p:nvSpPr>
          <p:cNvPr id="14" name="sc1-f"/>
          <p:cNvSpPr txBox="1"/>
          <p:nvPr/>
        </p:nvSpPr>
        <p:spPr>
          <a:xfrm>
            <a:off x="3383280" y="5532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hand-written, sources recorded</a:t>
            </a:r>
            <a:endParaRPr lang="en-US" sz="1050" dirty="0"/>
          </a:p>
        </p:txBody>
      </p:sp>
      <p:sp>
        <p:nvSpPr>
          <p:cNvPr id="15" name="sc2-rule"/>
          <p:cNvSpPr/>
          <p:nvPr/>
        </p:nvSpPr>
        <p:spPr>
          <a:xfrm>
            <a:off x="6217920" y="4663440"/>
            <a:ext cx="2560320" cy="2560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c2-l"/>
          <p:cNvSpPr txBox="1"/>
          <p:nvPr/>
        </p:nvSpPr>
        <p:spPr>
          <a:xfrm>
            <a:off x="6217920" y="48097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950" dirty="0"/>
          </a:p>
        </p:txBody>
      </p:sp>
      <p:sp>
        <p:nvSpPr>
          <p:cNvPr id="17" name="sc2-v"/>
          <p:cNvSpPr txBox="1"/>
          <p:nvPr/>
        </p:nvSpPr>
        <p:spPr>
          <a:xfrm>
            <a:off x="6217920" y="5047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59</a:t>
            </a:r>
            <a:endParaRPr lang="en-US" sz="2400" dirty="0"/>
          </a:p>
        </p:txBody>
      </p:sp>
      <p:sp>
        <p:nvSpPr>
          <p:cNvPr id="18" name="sc2-f"/>
          <p:cNvSpPr txBox="1"/>
          <p:nvPr/>
        </p:nvSpPr>
        <p:spPr>
          <a:xfrm>
            <a:off x="6217920" y="5532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mapping and scoring</a:t>
            </a:r>
            <a:endParaRPr lang="en-US" sz="1050" dirty="0"/>
          </a:p>
        </p:txBody>
      </p:sp>
      <p:sp>
        <p:nvSpPr>
          <p:cNvPr id="19" name="sc3-rule"/>
          <p:cNvSpPr/>
          <p:nvPr/>
        </p:nvSpPr>
        <p:spPr>
          <a:xfrm>
            <a:off x="9052560" y="4663440"/>
            <a:ext cx="2560320" cy="25603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c3-l"/>
          <p:cNvSpPr txBox="1"/>
          <p:nvPr/>
        </p:nvSpPr>
        <p:spPr>
          <a:xfrm>
            <a:off x="9052560" y="48097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</a:t>
            </a:r>
            <a:endParaRPr lang="en-US" sz="950" dirty="0"/>
          </a:p>
        </p:txBody>
      </p:sp>
      <p:sp>
        <p:nvSpPr>
          <p:cNvPr id="21" name="sc3-v"/>
          <p:cNvSpPr txBox="1"/>
          <p:nvPr/>
        </p:nvSpPr>
        <p:spPr>
          <a:xfrm>
            <a:off x="9052560" y="5047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0802"/>
                </a:solidFill>
              </a:rPr>
              <a:t>$0</a:t>
            </a:r>
            <a:endParaRPr lang="en-US" sz="2400" dirty="0"/>
          </a:p>
        </p:txBody>
      </p:sp>
      <p:sp>
        <p:nvSpPr>
          <p:cNvPr id="22" name="sc3-f"/>
          <p:cNvSpPr txBox="1"/>
          <p:nvPr/>
        </p:nvSpPr>
        <p:spPr>
          <a:xfrm>
            <a:off x="9052560" y="5532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GB VRAM GPU and Colab T4</a:t>
            </a:r>
            <a:endParaRPr lang="en-US" sz="1050" dirty="0"/>
          </a:p>
        </p:txBody>
      </p:sp>
      <p:sp>
        <p:nvSpPr>
          <p:cNvPr id="23" name="note"/>
          <p:cNvSpPr txBox="1"/>
          <p:nvPr/>
        </p:nvSpPr>
        <p:spPr>
          <a:xfrm>
            <a:off x="548640" y="6327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facts are written from authoritative sources and deliberately not derived from the answer being evaluated.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RECREATING THE RESULTS  ·  2 OF 5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Generating the baseline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answer set, scored two ways, so only refinement differs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gen-box"/>
          <p:cNvSpPr/>
          <p:nvPr/>
        </p:nvSpPr>
        <p:spPr>
          <a:xfrm>
            <a:off x="2377440" y="1600200"/>
            <a:ext cx="7406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gen-text"/>
          <p:cNvSpPr txBox="1"/>
          <p:nvPr/>
        </p:nvSpPr>
        <p:spPr>
          <a:xfrm>
            <a:off x="2377440" y="1600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→ local LLM generates the answer ONCE → reused by every run</a:t>
            </a:r>
            <a:endParaRPr lang="en-US" sz="1300" dirty="0"/>
          </a:p>
        </p:txBody>
      </p:sp>
      <p:sp>
        <p:nvSpPr>
          <p:cNvPr id="8" name="base"/>
          <p:cNvSpPr/>
          <p:nvPr/>
        </p:nvSpPr>
        <p:spPr>
          <a:xfrm>
            <a:off x="548640" y="228600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base-h"/>
          <p:cNvSpPr txBox="1"/>
          <p:nvPr/>
        </p:nvSpPr>
        <p:spPr>
          <a:xfrm>
            <a:off x="804672" y="248716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Baseline — no refinement</a:t>
            </a:r>
            <a:endParaRPr lang="en-US" sz="1450" dirty="0"/>
          </a:p>
        </p:txBody>
      </p:sp>
      <p:sp>
        <p:nvSpPr>
          <p:cNvPr id="10" name="base-b"/>
          <p:cNvSpPr txBox="1"/>
          <p:nvPr/>
        </p:nvSpPr>
        <p:spPr>
          <a:xfrm>
            <a:off x="804672" y="2889504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SAFE-style extraction  →  retrieval and verification</a:t>
            </a:r>
            <a:endParaRPr lang="en-US" sz="1300" dirty="0"/>
          </a:p>
        </p:txBody>
      </p:sp>
      <p:sp>
        <p:nvSpPr>
          <p:cNvPr id="11" name="vfl"/>
          <p:cNvSpPr/>
          <p:nvPr/>
        </p:nvSpPr>
        <p:spPr>
          <a:xfrm>
            <a:off x="6217920" y="228600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vfl-edge"/>
          <p:cNvSpPr/>
          <p:nvPr/>
        </p:nvSpPr>
        <p:spPr>
          <a:xfrm>
            <a:off x="6217920" y="2286000"/>
            <a:ext cx="29261" cy="137160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vfl-h"/>
          <p:cNvSpPr txBox="1"/>
          <p:nvPr/>
        </p:nvSpPr>
        <p:spPr>
          <a:xfrm>
            <a:off x="6473952" y="248716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802"/>
                </a:solidFill>
              </a:rPr>
              <a:t>VERIFACT-Lite — with refinement</a:t>
            </a:r>
            <a:endParaRPr lang="en-US" sz="1450" dirty="0"/>
          </a:p>
        </p:txBody>
      </p:sp>
      <p:sp>
        <p:nvSpPr>
          <p:cNvPr id="14" name="vfl-b"/>
          <p:cNvSpPr txBox="1"/>
          <p:nvPr/>
        </p:nvSpPr>
        <p:spPr>
          <a:xfrm>
            <a:off x="6473952" y="2889504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facts  →  detect  →  refine and add  →  the same retrieval and verification</a:t>
            </a:r>
            <a:endParaRPr lang="en-US" sz="1300" dirty="0"/>
          </a:p>
        </p:txBody>
      </p:sp>
      <p:sp>
        <p:nvSpPr>
          <p:cNvPr id="15" name="met0"/>
          <p:cNvSpPr/>
          <p:nvPr/>
        </p:nvSpPr>
        <p:spPr>
          <a:xfrm>
            <a:off x="548640" y="3840480"/>
            <a:ext cx="3505200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met0-h"/>
          <p:cNvSpPr txBox="1"/>
          <p:nvPr/>
        </p:nvSpPr>
        <p:spPr>
          <a:xfrm>
            <a:off x="804672" y="404164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Precision</a:t>
            </a:r>
            <a:endParaRPr lang="en-US" sz="1450" dirty="0"/>
          </a:p>
        </p:txBody>
      </p:sp>
      <p:sp>
        <p:nvSpPr>
          <p:cNvPr id="17" name="met0-b"/>
          <p:cNvSpPr txBox="1"/>
          <p:nvPr/>
        </p:nvSpPr>
        <p:spPr>
          <a:xfrm>
            <a:off x="804672" y="4443984"/>
            <a:ext cx="29931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facts ÷ all extracted facts. Undecided is reported separately and never counted as support.</a:t>
            </a:r>
            <a:endParaRPr lang="en-US" sz="1200" dirty="0"/>
          </a:p>
        </p:txBody>
      </p:sp>
      <p:sp>
        <p:nvSpPr>
          <p:cNvPr id="18" name="met1"/>
          <p:cNvSpPr/>
          <p:nvPr/>
        </p:nvSpPr>
        <p:spPr>
          <a:xfrm>
            <a:off x="4328160" y="3840480"/>
            <a:ext cx="3505200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met1-h"/>
          <p:cNvSpPr txBox="1"/>
          <p:nvPr/>
        </p:nvSpPr>
        <p:spPr>
          <a:xfrm>
            <a:off x="4584192" y="404164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Recall</a:t>
            </a:r>
            <a:endParaRPr lang="en-US" sz="1450" dirty="0"/>
          </a:p>
        </p:txBody>
      </p:sp>
      <p:sp>
        <p:nvSpPr>
          <p:cNvPr id="20" name="met1-b"/>
          <p:cNvSpPr txBox="1"/>
          <p:nvPr/>
        </p:nvSpPr>
        <p:spPr>
          <a:xfrm>
            <a:off x="4584192" y="4443984"/>
            <a:ext cx="29931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facts entailed by the answer ÷ all 86 reference facts. It scores the answer, so refinement cannot move it.</a:t>
            </a:r>
            <a:endParaRPr lang="en-US" sz="1200" dirty="0"/>
          </a:p>
        </p:txBody>
      </p:sp>
      <p:sp>
        <p:nvSpPr>
          <p:cNvPr id="21" name="met2"/>
          <p:cNvSpPr/>
          <p:nvPr/>
        </p:nvSpPr>
        <p:spPr>
          <a:xfrm>
            <a:off x="8107680" y="3840480"/>
            <a:ext cx="3505200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met2-h"/>
          <p:cNvSpPr txBox="1"/>
          <p:nvPr/>
        </p:nvSpPr>
        <p:spPr>
          <a:xfrm>
            <a:off x="8363712" y="404164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Incomplete rate</a:t>
            </a:r>
            <a:endParaRPr lang="en-US" sz="1450" dirty="0"/>
          </a:p>
        </p:txBody>
      </p:sp>
      <p:sp>
        <p:nvSpPr>
          <p:cNvPr id="23" name="met2-b"/>
          <p:cNvSpPr txBox="1"/>
          <p:nvPr/>
        </p:nvSpPr>
        <p:spPr>
          <a:xfrm>
            <a:off x="8363712" y="4443984"/>
            <a:ext cx="29931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 one designated judge while refinement is driven by the ensemble — facts are never scored by the rule that selected them.</a:t>
            </a:r>
            <a:endParaRPr lang="en-US" sz="1200" dirty="0"/>
          </a:p>
        </p:txBody>
      </p:sp>
      <p:sp>
        <p:nvSpPr>
          <p:cNvPr id="24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is grounded: a SUPPORTED or CONTRADICTED verdict without a verbatim quote from the evidence is downgraded to UNDECIDED.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RECREATING THE RESULTS  ·  3 OF 5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Extraction improves. Precision falls.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against VERIFACT-Lite, laptop run, Qwen2.5-3B judges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h0-rule"/>
          <p:cNvSpPr/>
          <p:nvPr/>
        </p:nvSpPr>
        <p:spPr>
          <a:xfrm>
            <a:off x="548640" y="1600200"/>
            <a:ext cx="2560320" cy="2560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h0-l"/>
          <p:cNvSpPr txBox="1"/>
          <p:nvPr/>
        </p:nvSpPr>
        <p:spPr>
          <a:xfrm>
            <a:off x="548640" y="17465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FACT RATE</a:t>
            </a:r>
            <a:endParaRPr lang="en-US" sz="950" dirty="0"/>
          </a:p>
        </p:txBody>
      </p:sp>
      <p:sp>
        <p:nvSpPr>
          <p:cNvPr id="8" name="h0-v"/>
          <p:cNvSpPr txBox="1"/>
          <p:nvPr/>
        </p:nvSpPr>
        <p:spPr>
          <a:xfrm>
            <a:off x="548640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</a:rPr>
              <a:t>0.105 → 0.091</a:t>
            </a:r>
            <a:endParaRPr lang="en-US" sz="1900" dirty="0"/>
          </a:p>
        </p:txBody>
      </p:sp>
      <p:sp>
        <p:nvSpPr>
          <p:cNvPr id="9" name="h0-f"/>
          <p:cNvSpPr txBox="1"/>
          <p:nvPr/>
        </p:nvSpPr>
        <p:spPr>
          <a:xfrm>
            <a:off x="548640" y="24688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−12.8%</a:t>
            </a:r>
            <a:endParaRPr lang="en-US" sz="1050" dirty="0"/>
          </a:p>
        </p:txBody>
      </p:sp>
      <p:sp>
        <p:nvSpPr>
          <p:cNvPr id="10" name="h1-rule"/>
          <p:cNvSpPr/>
          <p:nvPr/>
        </p:nvSpPr>
        <p:spPr>
          <a:xfrm>
            <a:off x="3383280" y="1600200"/>
            <a:ext cx="2560320" cy="2560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h1-l"/>
          <p:cNvSpPr txBox="1"/>
          <p:nvPr/>
        </p:nvSpPr>
        <p:spPr>
          <a:xfrm>
            <a:off x="3383280" y="17465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RELATIONAL FACTS</a:t>
            </a:r>
            <a:endParaRPr lang="en-US" sz="950" dirty="0"/>
          </a:p>
        </p:txBody>
      </p:sp>
      <p:sp>
        <p:nvSpPr>
          <p:cNvPr id="12" name="h1-v"/>
          <p:cNvSpPr txBox="1"/>
          <p:nvPr/>
        </p:nvSpPr>
        <p:spPr>
          <a:xfrm>
            <a:off x="3383280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</a:rPr>
              <a:t>51 → 0</a:t>
            </a:r>
            <a:endParaRPr lang="en-US" sz="1900" dirty="0"/>
          </a:p>
        </p:txBody>
      </p:sp>
      <p:sp>
        <p:nvSpPr>
          <p:cNvPr id="13" name="h1-f"/>
          <p:cNvSpPr txBox="1"/>
          <p:nvPr/>
        </p:nvSpPr>
        <p:spPr>
          <a:xfrm>
            <a:off x="3383280" y="24688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recovered</a:t>
            </a:r>
            <a:endParaRPr lang="en-US" sz="1050" dirty="0"/>
          </a:p>
        </p:txBody>
      </p:sp>
      <p:sp>
        <p:nvSpPr>
          <p:cNvPr id="14" name="h2-rule"/>
          <p:cNvSpPr/>
          <p:nvPr/>
        </p:nvSpPr>
        <p:spPr>
          <a:xfrm>
            <a:off x="6217920" y="1600200"/>
            <a:ext cx="2560320" cy="25603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h2-l"/>
          <p:cNvSpPr txBox="1"/>
          <p:nvPr/>
        </p:nvSpPr>
        <p:spPr>
          <a:xfrm>
            <a:off x="6217920" y="17465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6" name="h2-v"/>
          <p:cNvSpPr txBox="1"/>
          <p:nvPr/>
        </p:nvSpPr>
        <p:spPr>
          <a:xfrm>
            <a:off x="6217920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90802"/>
                </a:solidFill>
              </a:rPr>
              <a:t>0.420 → 0.343</a:t>
            </a:r>
            <a:endParaRPr lang="en-US" sz="1900" dirty="0"/>
          </a:p>
        </p:txBody>
      </p:sp>
      <p:sp>
        <p:nvSpPr>
          <p:cNvPr id="17" name="h2-f"/>
          <p:cNvSpPr txBox="1"/>
          <p:nvPr/>
        </p:nvSpPr>
        <p:spPr>
          <a:xfrm>
            <a:off x="6217920" y="24688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−0.077</a:t>
            </a:r>
            <a:endParaRPr lang="en-US" sz="1050" dirty="0"/>
          </a:p>
        </p:txBody>
      </p:sp>
      <p:sp>
        <p:nvSpPr>
          <p:cNvPr id="18" name="h3-rule"/>
          <p:cNvSpPr/>
          <p:nvPr/>
        </p:nvSpPr>
        <p:spPr>
          <a:xfrm>
            <a:off x="9052560" y="1600200"/>
            <a:ext cx="2560320" cy="2560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h3-l"/>
          <p:cNvSpPr txBox="1"/>
          <p:nvPr/>
        </p:nvSpPr>
        <p:spPr>
          <a:xfrm>
            <a:off x="9052560" y="17465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· F1</a:t>
            </a:r>
            <a:endParaRPr lang="en-US" sz="950" dirty="0"/>
          </a:p>
        </p:txBody>
      </p:sp>
      <p:sp>
        <p:nvSpPr>
          <p:cNvPr id="20" name="h3-v"/>
          <p:cNvSpPr txBox="1"/>
          <p:nvPr/>
        </p:nvSpPr>
        <p:spPr>
          <a:xfrm>
            <a:off x="9052560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</a:rPr>
              <a:t>0.408 · 0.372</a:t>
            </a:r>
            <a:endParaRPr lang="en-US" sz="1900" dirty="0"/>
          </a:p>
        </p:txBody>
      </p:sp>
      <p:sp>
        <p:nvSpPr>
          <p:cNvPr id="21" name="h3-f"/>
          <p:cNvSpPr txBox="1"/>
          <p:nvPr/>
        </p:nvSpPr>
        <p:spPr>
          <a:xfrm>
            <a:off x="9052560" y="24688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fixed by design</a:t>
            </a:r>
            <a:endParaRPr lang="en-US" sz="1050" dirty="0"/>
          </a:p>
        </p:txBody>
      </p:sp>
      <p:graphicFrame>
        <p:nvGraphicFramePr>
          <p:cNvPr id="22" name="chart-prf"/>
          <p:cNvGraphicFramePr/>
          <p:nvPr/>
        </p:nvGraphicFramePr>
        <p:xfrm>
          <a:off x="292608" y="3063240"/>
          <a:ext cx="5650992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where"/>
          <p:cNvSpPr/>
          <p:nvPr/>
        </p:nvSpPr>
        <p:spPr>
          <a:xfrm>
            <a:off x="6217920" y="3063240"/>
            <a:ext cx="5394960" cy="283464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where-edge"/>
          <p:cNvSpPr/>
          <p:nvPr/>
        </p:nvSpPr>
        <p:spPr>
          <a:xfrm>
            <a:off x="6217920" y="3063240"/>
            <a:ext cx="29261" cy="283464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where-h"/>
          <p:cNvSpPr txBox="1"/>
          <p:nvPr/>
        </p:nvSpPr>
        <p:spPr>
          <a:xfrm>
            <a:off x="6473952" y="326440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802"/>
                </a:solidFill>
              </a:rPr>
              <a:t>Where the precision went</a:t>
            </a:r>
            <a:endParaRPr lang="en-US" sz="1450" dirty="0"/>
          </a:p>
        </p:txBody>
      </p:sp>
      <p:sp>
        <p:nvSpPr>
          <p:cNvPr id="26" name="where-b"/>
          <p:cNvSpPr txBox="1"/>
          <p:nvPr/>
        </p:nvSpPr>
        <p:spPr>
          <a:xfrm>
            <a:off x="6473952" y="3666744"/>
            <a:ext cx="48828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109 → 108.  Contradicted 3 → 3.  Undecided 146 → 185.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claims carry their condition or comparison target, so one Wikipedia sentence has to support more — and often none does.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claims the verifier could decide, 97.3% were supported both before and after.</a:t>
            </a:r>
            <a:endParaRPr lang="en-US" sz="1250" dirty="0"/>
          </a:p>
        </p:txBody>
      </p:sp>
      <p:sp>
        <p:nvSpPr>
          <p:cNvPr id="27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answers, same retrieval, same verifier — only refinement differs. 163 facts refined, 51 added.</a:t>
            </a:r>
            <a:endParaRPr lang="en-US" sz="9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RECREATING THE RESULTS  ·  4 OF 5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Each mechanism moves the metric it targets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over the two halves of the contribution, laptop run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9" name="a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031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Incomplete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0.4077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0.4138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incomplete-fact refinement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0.3680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0.4077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0.3868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missing-relation recovery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0.4077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0.3954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VERIFACT-Lite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0.4077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0.3723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bl0"/>
          <p:cNvSpPr/>
          <p:nvPr/>
        </p:nvSpPr>
        <p:spPr>
          <a:xfrm>
            <a:off x="548640" y="3931920"/>
            <a:ext cx="3505200" cy="178308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abl0-h"/>
          <p:cNvSpPr txBox="1"/>
          <p:nvPr/>
        </p:nvSpPr>
        <p:spPr>
          <a:xfrm>
            <a:off x="804672" y="413308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Incomplete refinement alone</a:t>
            </a:r>
            <a:endParaRPr lang="en-US" sz="1350" dirty="0"/>
          </a:p>
        </p:txBody>
      </p:sp>
      <p:sp>
        <p:nvSpPr>
          <p:cNvPr id="6" name="abl0-b"/>
          <p:cNvSpPr txBox="1"/>
          <p:nvPr/>
        </p:nvSpPr>
        <p:spPr>
          <a:xfrm>
            <a:off x="804672" y="4535424"/>
            <a:ext cx="29931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rate drops 0.105 → 0.078, the largest single gain, and precision falls with it.</a:t>
            </a:r>
            <a:endParaRPr lang="en-US" sz="1200" dirty="0"/>
          </a:p>
        </p:txBody>
      </p:sp>
      <p:sp>
        <p:nvSpPr>
          <p:cNvPr id="10" name="abl1"/>
          <p:cNvSpPr/>
          <p:nvPr/>
        </p:nvSpPr>
        <p:spPr>
          <a:xfrm>
            <a:off x="4328160" y="3931920"/>
            <a:ext cx="3505200" cy="178308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abl1-h"/>
          <p:cNvSpPr txBox="1"/>
          <p:nvPr/>
        </p:nvSpPr>
        <p:spPr>
          <a:xfrm>
            <a:off x="4584192" y="413308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Relation recovery alone</a:t>
            </a:r>
            <a:endParaRPr lang="en-US" sz="1350" dirty="0"/>
          </a:p>
        </p:txBody>
      </p:sp>
      <p:sp>
        <p:nvSpPr>
          <p:cNvPr id="12" name="abl1-b"/>
          <p:cNvSpPr txBox="1"/>
          <p:nvPr/>
        </p:nvSpPr>
        <p:spPr>
          <a:xfrm>
            <a:off x="4584192" y="4535424"/>
            <a:ext cx="29931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51 missing relations become facts. The incomplete rate ticks up because the new facts are judged too.</a:t>
            </a:r>
            <a:endParaRPr lang="en-US" sz="1200" dirty="0"/>
          </a:p>
        </p:txBody>
      </p:sp>
      <p:sp>
        <p:nvSpPr>
          <p:cNvPr id="13" name="abl2"/>
          <p:cNvSpPr/>
          <p:nvPr/>
        </p:nvSpPr>
        <p:spPr>
          <a:xfrm>
            <a:off x="8107680" y="3931920"/>
            <a:ext cx="3505200" cy="178308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abl2-h"/>
          <p:cNvSpPr txBox="1"/>
          <p:nvPr/>
        </p:nvSpPr>
        <p:spPr>
          <a:xfrm>
            <a:off x="8363712" y="413308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The effects are additive</a:t>
            </a:r>
            <a:endParaRPr lang="en-US" sz="1350" dirty="0"/>
          </a:p>
        </p:txBody>
      </p:sp>
      <p:sp>
        <p:nvSpPr>
          <p:cNvPr id="15" name="abl2-b"/>
          <p:cNvSpPr txBox="1"/>
          <p:nvPr/>
        </p:nvSpPr>
        <p:spPr>
          <a:xfrm>
            <a:off x="8363712" y="4535424"/>
            <a:ext cx="29931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system inherits the lower incomplete rate and the zero missing relations — and both precision costs.</a:t>
            </a:r>
            <a:endParaRPr lang="en-US" sz="1200" dirty="0"/>
          </a:p>
        </p:txBody>
      </p:sp>
      <p:sp>
        <p:nvSpPr>
          <p:cNvPr id="16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systems scored on one identical answer set, union ensemble, as in the paper.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RECREATING THE RESULTS  ·  5 OF 5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Does fixing a claim change its verdict?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paper's research question, asked of our own pipeline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big"/>
          <p:cNvSpPr/>
          <p:nvPr/>
        </p:nvSpPr>
        <p:spPr>
          <a:xfrm>
            <a:off x="548640" y="1600200"/>
            <a:ext cx="2926080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big-v"/>
          <p:cNvSpPr txBox="1"/>
          <p:nvPr/>
        </p:nvSpPr>
        <p:spPr>
          <a:xfrm>
            <a:off x="804672" y="19842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0802"/>
                </a:solidFill>
              </a:rPr>
              <a:t>39–46%</a:t>
            </a:r>
            <a:endParaRPr lang="en-US" sz="3800" dirty="0"/>
          </a:p>
        </p:txBody>
      </p:sp>
      <p:sp>
        <p:nvSpPr>
          <p:cNvPr id="8" name="big-l"/>
          <p:cNvSpPr txBox="1"/>
          <p:nvPr/>
        </p:nvSpPr>
        <p:spPr>
          <a:xfrm>
            <a:off x="804672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refined facts changed label across all three runs</a:t>
            </a:r>
            <a:endParaRPr lang="en-US" sz="1250" dirty="0"/>
          </a:p>
        </p:txBody>
      </p:sp>
      <p:graphicFrame>
        <p:nvGraphicFramePr>
          <p:cNvPr id="10" name="tra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600200"/>
          <a:ext cx="7863840" cy="19202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7–8B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 → UNDECIDED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over-credited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UNDECIDED → SUPPORTED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made it checkable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Contradicted, before → after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→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→ 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errors finally surfaced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Verdict-change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reports 24.9%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mp-paper"/>
          <p:cNvSpPr/>
          <p:nvPr/>
        </p:nvSpPr>
        <p:spPr>
          <a:xfrm>
            <a:off x="548640" y="3794760"/>
            <a:ext cx="11064240" cy="196596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mp-paper-edge"/>
          <p:cNvSpPr/>
          <p:nvPr/>
        </p:nvSpPr>
        <p:spPr>
          <a:xfrm>
            <a:off x="548640" y="3794760"/>
            <a:ext cx="29261" cy="196596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mp-paper-h"/>
          <p:cNvSpPr txBox="1"/>
          <p:nvPr/>
        </p:nvSpPr>
        <p:spPr>
          <a:xfrm>
            <a:off x="804672" y="3995928"/>
            <a:ext cx="10552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802"/>
                </a:solidFill>
              </a:rPr>
              <a:t>The paper's full signature only appears with stronger judges</a:t>
            </a:r>
            <a:endParaRPr lang="en-US" sz="1450" dirty="0"/>
          </a:p>
        </p:txBody>
      </p:sp>
      <p:sp>
        <p:nvSpPr>
          <p:cNvPr id="13" name="cmp-paper-b"/>
          <p:cNvSpPr txBox="1"/>
          <p:nvPr/>
        </p:nvSpPr>
        <p:spPr>
          <a:xfrm>
            <a:off x="804672" y="4398264"/>
            <a:ext cx="105521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reports supported falling AND contradicted rising after refinement, concluding that ignoring incomplete facts overestimates factuality.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3B judges we reproduced only the first half: contradicted never moved off 3. With 7–8B judges it rises to 8 — refinement exposes errors that the stripped claims had hidden. Same conclusion as the paper, now with both halves of the evidence.</a:t>
            </a:r>
            <a:endParaRPr lang="en-US" sz="1250" dirty="0"/>
          </a:p>
        </p:txBody>
      </p:sp>
      <p:sp>
        <p:nvSpPr>
          <p:cNvPr id="14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refined fact is verified twice, as its original claim and as its refined claim, through the same evidence pipeline.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  ·  1 OF 3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Re-running the whole study with stronger judges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which conclusions were findings and which were small-model artifacts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c0"/>
          <p:cNvSpPr/>
          <p:nvPr/>
        </p:nvSpPr>
        <p:spPr>
          <a:xfrm>
            <a:off x="548640" y="1600200"/>
            <a:ext cx="3505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c0-h"/>
          <p:cNvSpPr txBox="1"/>
          <p:nvPr/>
        </p:nvSpPr>
        <p:spPr>
          <a:xfrm>
            <a:off x="804672" y="180136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One configuration proves little</a:t>
            </a:r>
            <a:endParaRPr lang="en-US" sz="1450" dirty="0"/>
          </a:p>
        </p:txBody>
      </p:sp>
      <p:sp>
        <p:nvSpPr>
          <p:cNvPr id="8" name="sc0-b"/>
          <p:cNvSpPr txBox="1"/>
          <p:nvPr/>
        </p:nvSpPr>
        <p:spPr>
          <a:xfrm>
            <a:off x="804672" y="2203704"/>
            <a:ext cx="29931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above was measured by 3B judges. A single run cannot tell a property of the method from a property of the measuring model.</a:t>
            </a:r>
            <a:endParaRPr lang="en-US" sz="1200" dirty="0"/>
          </a:p>
        </p:txBody>
      </p:sp>
      <p:sp>
        <p:nvSpPr>
          <p:cNvPr id="9" name="sc1"/>
          <p:cNvSpPr/>
          <p:nvPr/>
        </p:nvSpPr>
        <p:spPr>
          <a:xfrm>
            <a:off x="4328160" y="1600200"/>
            <a:ext cx="3505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c1-h"/>
          <p:cNvSpPr txBox="1"/>
          <p:nvPr/>
        </p:nvSpPr>
        <p:spPr>
          <a:xfrm>
            <a:off x="4584192" y="180136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What a T4 makes possible</a:t>
            </a:r>
            <a:endParaRPr lang="en-US" sz="1450" dirty="0"/>
          </a:p>
        </p:txBody>
      </p:sp>
      <p:sp>
        <p:nvSpPr>
          <p:cNvPr id="11" name="sc1-b"/>
          <p:cNvSpPr txBox="1"/>
          <p:nvPr/>
        </p:nvSpPr>
        <p:spPr>
          <a:xfrm>
            <a:off x="4584192" y="2203704"/>
            <a:ext cx="29931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Colab T4 holds 7–8B judges at Q4_K_M. The repository is config-driven, so re-running the entire study needed nothing but two model identifiers.</a:t>
            </a:r>
            <a:endParaRPr lang="en-US" sz="1200" dirty="0"/>
          </a:p>
        </p:txBody>
      </p:sp>
      <p:sp>
        <p:nvSpPr>
          <p:cNvPr id="12" name="sc2"/>
          <p:cNvSpPr/>
          <p:nvPr/>
        </p:nvSpPr>
        <p:spPr>
          <a:xfrm>
            <a:off x="8107680" y="1600200"/>
            <a:ext cx="3505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c2-h"/>
          <p:cNvSpPr txBox="1"/>
          <p:nvPr/>
        </p:nvSpPr>
        <p:spPr>
          <a:xfrm>
            <a:off x="8363712" y="180136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</a:rPr>
              <a:t>What makes run A controlled</a:t>
            </a:r>
            <a:endParaRPr lang="en-US" sz="1450" dirty="0"/>
          </a:p>
        </p:txBody>
      </p:sp>
      <p:sp>
        <p:nvSpPr>
          <p:cNvPr id="14" name="sc2-b"/>
          <p:cNvSpPr txBox="1"/>
          <p:nvPr/>
        </p:nvSpPr>
        <p:spPr>
          <a:xfrm>
            <a:off x="8363712" y="2203704"/>
            <a:ext cx="29931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replays from cache, so A's baseline fact set is byte-identical to the laptop's: 21.50 facts per answer, precision 0.4200. Only the judges changed.</a:t>
            </a:r>
            <a:endParaRPr lang="en-US" sz="1200" dirty="0"/>
          </a:p>
        </p:txBody>
      </p:sp>
      <p:graphicFrame>
        <p:nvGraphicFramePr>
          <p:cNvPr id="15" name="config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744775"/>
              </p:ext>
            </p:extLst>
          </p:nvPr>
        </p:nvGraphicFramePr>
        <p:xfrm>
          <a:off x="548640" y="3611880"/>
          <a:ext cx="11064240" cy="16093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laptop-3B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Qwen2.5-3B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Qwen2.5-3B + Llama-3.2-3B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GTX 1650, 4 GB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judges-7B  (A)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Qwen2.5-3B (unchanged)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Qwen2.5-7B + Llama-3.1-8B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Colab T4, 16 GB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full-7B  (B)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Qwen2.5-7B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Qwen2.5-7B + Llama-3.1-8B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Colab T4, 16 GB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bnote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bnote-b"/>
          <p:cNvSpPr txBox="1"/>
          <p:nvPr/>
        </p:nvSpPr>
        <p:spPr>
          <a:xfrm>
            <a:off x="804672" y="55504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 changed the extractor, the incompleteness judge, the verifier and the recall entailment model at once, so its columns are read only against its own baseline — never against A's.</a:t>
            </a:r>
            <a:endParaRPr lang="en-US" sz="1200" dirty="0"/>
          </a:p>
        </p:txBody>
      </p:sp>
      <p:sp>
        <p:nvSpPr>
          <p:cNvPr id="18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12 questions, same 12 generated answers, verified identical by hash across all three runs.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  ·  2 OF 3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The metrics measure the judge as much as the system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input, identical pipeline, one model swapped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2" name="instru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1682496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on identical input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judge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judge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Incomplete rate — the same baseline facts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— the same answers, same 86 reference facts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0.4077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behind that recall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/ 86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/ 86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insight"/>
          <p:cNvSpPr/>
          <p:nvPr/>
        </p:nvSpPr>
        <p:spPr>
          <a:xfrm>
            <a:off x="548640" y="3566160"/>
            <a:ext cx="6528816" cy="160020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nsight-edge"/>
          <p:cNvSpPr/>
          <p:nvPr/>
        </p:nvSpPr>
        <p:spPr>
          <a:xfrm>
            <a:off x="548640" y="3566160"/>
            <a:ext cx="29261" cy="160020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insight-h"/>
          <p:cNvSpPr txBox="1"/>
          <p:nvPr/>
        </p:nvSpPr>
        <p:spPr>
          <a:xfrm>
            <a:off x="804672" y="3767328"/>
            <a:ext cx="601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802"/>
                </a:solidFill>
              </a:rPr>
              <a:t>Nothing about the system changed in these rows</a:t>
            </a:r>
            <a:endParaRPr lang="en-US" sz="1450" dirty="0"/>
          </a:p>
        </p:txBody>
      </p:sp>
      <p:sp>
        <p:nvSpPr>
          <p:cNvPr id="10" name="insight-b"/>
          <p:cNvSpPr txBox="1"/>
          <p:nvPr/>
        </p:nvSpPr>
        <p:spPr>
          <a:xfrm>
            <a:off x="804672" y="4169664"/>
            <a:ext cx="6016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12 answers, same extracted facts, same reference facts, same lexical gate. Only the model doing the judging changed. A stronger judge finds four times as many incomplete facts and credits the answer with a third fewer reference facts.</a:t>
            </a:r>
            <a:endParaRPr lang="en-US" sz="1250" dirty="0"/>
          </a:p>
        </p:txBody>
      </p:sp>
      <p:sp>
        <p:nvSpPr>
          <p:cNvPr id="11" name="i1-rule"/>
          <p:cNvSpPr/>
          <p:nvPr/>
        </p:nvSpPr>
        <p:spPr>
          <a:xfrm>
            <a:off x="7351776" y="3566160"/>
            <a:ext cx="1993392" cy="25603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i1-l"/>
          <p:cNvSpPr txBox="1"/>
          <p:nvPr/>
        </p:nvSpPr>
        <p:spPr>
          <a:xfrm>
            <a:off x="7351776" y="371246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</a:t>
            </a:r>
            <a:endParaRPr lang="en-US" sz="950" dirty="0"/>
          </a:p>
        </p:txBody>
      </p:sp>
      <p:sp>
        <p:nvSpPr>
          <p:cNvPr id="13" name="i1-v"/>
          <p:cNvSpPr txBox="1"/>
          <p:nvPr/>
        </p:nvSpPr>
        <p:spPr>
          <a:xfrm>
            <a:off x="7351776" y="39502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0802"/>
                </a:solidFill>
              </a:rPr>
              <a:t>4.2×</a:t>
            </a:r>
            <a:endParaRPr lang="en-US" sz="2800" dirty="0"/>
          </a:p>
        </p:txBody>
      </p:sp>
      <p:sp>
        <p:nvSpPr>
          <p:cNvPr id="14" name="i1-f"/>
          <p:cNvSpPr txBox="1"/>
          <p:nvPr/>
        </p:nvSpPr>
        <p:spPr>
          <a:xfrm>
            <a:off x="7351776" y="443484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found</a:t>
            </a:r>
            <a:endParaRPr lang="en-US" sz="1050" dirty="0"/>
          </a:p>
        </p:txBody>
      </p:sp>
      <p:sp>
        <p:nvSpPr>
          <p:cNvPr id="15" name="i2-rule"/>
          <p:cNvSpPr/>
          <p:nvPr/>
        </p:nvSpPr>
        <p:spPr>
          <a:xfrm>
            <a:off x="9619488" y="3566160"/>
            <a:ext cx="1993392" cy="25603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2-l"/>
          <p:cNvSpPr txBox="1"/>
          <p:nvPr/>
        </p:nvSpPr>
        <p:spPr>
          <a:xfrm>
            <a:off x="9619488" y="371246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50" dirty="0"/>
          </a:p>
        </p:txBody>
      </p:sp>
      <p:sp>
        <p:nvSpPr>
          <p:cNvPr id="17" name="i2-v"/>
          <p:cNvSpPr txBox="1"/>
          <p:nvPr/>
        </p:nvSpPr>
        <p:spPr>
          <a:xfrm>
            <a:off x="9619488" y="39502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0802"/>
                </a:solidFill>
              </a:rPr>
              <a:t>−31%</a:t>
            </a:r>
            <a:endParaRPr lang="en-US" sz="2800" dirty="0"/>
          </a:p>
        </p:txBody>
      </p:sp>
      <p:sp>
        <p:nvSpPr>
          <p:cNvPr id="18" name="i2-f"/>
          <p:cNvSpPr txBox="1"/>
          <p:nvPr/>
        </p:nvSpPr>
        <p:spPr>
          <a:xfrm>
            <a:off x="9619488" y="443484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answers</a:t>
            </a:r>
            <a:endParaRPr lang="en-US" sz="1050" dirty="0"/>
          </a:p>
        </p:txBody>
      </p:sp>
      <p:sp>
        <p:nvSpPr>
          <p:cNvPr id="19" name="consequence"/>
          <p:cNvSpPr/>
          <p:nvPr/>
        </p:nvSpPr>
        <p:spPr>
          <a:xfrm>
            <a:off x="548640" y="5303520"/>
            <a:ext cx="11064240" cy="68580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onsequence-b"/>
          <p:cNvSpPr txBox="1"/>
          <p:nvPr/>
        </p:nvSpPr>
        <p:spPr>
          <a:xfrm>
            <a:off x="804672" y="5504688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baseline looked cleaner than SAFE's 56.7% because our judge was weaker, not because our extractor was better. With a 7B judge the figure moves to 0.438 — two thirds of the way to the paper's.</a:t>
            </a:r>
            <a:endParaRPr lang="en-US" sz="1250" dirty="0"/>
          </a:p>
        </p:txBody>
      </p:sp>
      <p:sp>
        <p:nvSpPr>
          <p:cNvPr id="21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on a Colab T4: judges upgraded to Qwen2.5-7B + Llama-3.1-8B, everything else replayed from cache.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  ·  3 OF 3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One finding held, one was a small-model artifact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the paper's union rule against a majority vote, at every model size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3" name="ru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25603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Incomplete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laptop-3B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laptop-3B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0.4071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judges-7B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judges-7B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0.4985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held"/>
          <p:cNvSpPr/>
          <p:nvPr/>
        </p:nvSpPr>
        <p:spPr>
          <a:xfrm>
            <a:off x="6217920" y="1600200"/>
            <a:ext cx="5394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held-edge"/>
          <p:cNvSpPr/>
          <p:nvPr/>
        </p:nvSpPr>
        <p:spPr>
          <a:xfrm>
            <a:off x="6217920" y="1600200"/>
            <a:ext cx="29261" cy="118872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held-h"/>
          <p:cNvSpPr txBox="1"/>
          <p:nvPr/>
        </p:nvSpPr>
        <p:spPr>
          <a:xfrm>
            <a:off x="6473952" y="180136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0802"/>
                </a:solidFill>
              </a:rPr>
              <a:t>Held — majority beats union on precision</a:t>
            </a:r>
            <a:endParaRPr lang="en-US" sz="1350" dirty="0"/>
          </a:p>
        </p:txBody>
      </p:sp>
      <p:sp>
        <p:nvSpPr>
          <p:cNvPr id="10" name="held-b"/>
          <p:cNvSpPr txBox="1"/>
          <p:nvPr/>
        </p:nvSpPr>
        <p:spPr>
          <a:xfrm>
            <a:off x="6473952" y="220370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all three configurations, at every model size. The paper's recall-first union rule costs precision it does not need to.</a:t>
            </a:r>
            <a:endParaRPr lang="en-US" sz="1200" dirty="0"/>
          </a:p>
        </p:txBody>
      </p:sp>
      <p:sp>
        <p:nvSpPr>
          <p:cNvPr id="11" name="broke"/>
          <p:cNvSpPr/>
          <p:nvPr/>
        </p:nvSpPr>
        <p:spPr>
          <a:xfrm>
            <a:off x="6217920" y="2926080"/>
            <a:ext cx="5394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broke-h"/>
          <p:cNvSpPr txBox="1"/>
          <p:nvPr/>
        </p:nvSpPr>
        <p:spPr>
          <a:xfrm>
            <a:off x="6473952" y="312724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Broke — the 60% incomplete-rate gap</a:t>
            </a:r>
            <a:endParaRPr lang="en-US" sz="1350" dirty="0"/>
          </a:p>
        </p:txBody>
      </p:sp>
      <p:sp>
        <p:nvSpPr>
          <p:cNvPr id="6" name="broke-b"/>
          <p:cNvSpPr txBox="1"/>
          <p:nvPr/>
        </p:nvSpPr>
        <p:spPr>
          <a:xfrm>
            <a:off x="6473952" y="352958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3B artifact. With 7–8B judges the two rules are within 4% (0.393 vs 0.411); with a 7B extractor they are identical.</a:t>
            </a:r>
            <a:endParaRPr lang="en-US" sz="1200" dirty="0"/>
          </a:p>
        </p:txBody>
      </p:sp>
      <p:graphicFrame>
        <p:nvGraphicFramePr>
          <p:cNvPr id="25" name="judg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15544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Facts flagged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— incompleteness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ensemble = Llama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7–8B — incompleteness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exceeds both judges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— relations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ensemble = Llama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7–8B — relations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ensemble = Llama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note"/>
          <p:cNvSpPr txBox="1"/>
          <p:nvPr/>
        </p:nvSpPr>
        <p:spPr>
          <a:xfrm>
            <a:off x="548640" y="62910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detection: the ensemble equalled Llama exactly in all three runs — 51/51, 54/54, 21/21. Qwen never found a relation Llama missed.</a:t>
            </a:r>
            <a:endParaRPr lang="en-US" sz="950" dirty="0"/>
          </a:p>
        </p:txBody>
      </p:sp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THE PAPER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Directions match. Magnitudes do not.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small-scale reimplementation can and cannot claim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4" name="v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96265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VERIFACT-Lite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Incomplete facts, baseline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56.7% (SAFE)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10.5% at 3B · 43.8% at 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 with scale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Incomplete facts, refined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22.5%  (−19.2 pts)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9.1% at 3B · 41.1% at 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direction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relational facts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 → 0.76 (−37%)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 → 0 (−100%)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direction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Refined facts changing label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39.3% · 45.6% · 34.7%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phenomenon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 of that change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 ↓, contradicted 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both, once judges are 7–8B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82.8 (Qwen2.5-32B)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30.2 – 49.9 across runs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comparable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40.8 at 3B · 28.1 at 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judge-dependent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34.7 – 40.9 across runs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comparable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vs0"/>
          <p:cNvSpPr/>
          <p:nvPr/>
        </p:nvSpPr>
        <p:spPr>
          <a:xfrm>
            <a:off x="548640" y="4892040"/>
            <a:ext cx="3505200" cy="109728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vs0-edge"/>
          <p:cNvSpPr/>
          <p:nvPr/>
        </p:nvSpPr>
        <p:spPr>
          <a:xfrm>
            <a:off x="548640" y="4892040"/>
            <a:ext cx="29261" cy="109728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vs0-h"/>
          <p:cNvSpPr txBox="1"/>
          <p:nvPr/>
        </p:nvSpPr>
        <p:spPr>
          <a:xfrm>
            <a:off x="804672" y="509320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0802"/>
                </a:solidFill>
              </a:rPr>
              <a:t>Reproduced</a:t>
            </a:r>
            <a:endParaRPr lang="en-US" sz="1350" dirty="0"/>
          </a:p>
        </p:txBody>
      </p:sp>
      <p:sp>
        <p:nvSpPr>
          <p:cNvPr id="10" name="vs0-b"/>
          <p:cNvSpPr txBox="1"/>
          <p:nvPr/>
        </p:nvSpPr>
        <p:spPr>
          <a:xfrm>
            <a:off x="804672" y="5495544"/>
            <a:ext cx="299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problem types detected and repaired; verdicts change after refinement.</a:t>
            </a:r>
            <a:endParaRPr lang="en-US" sz="1150" dirty="0"/>
          </a:p>
        </p:txBody>
      </p:sp>
      <p:sp>
        <p:nvSpPr>
          <p:cNvPr id="11" name="vs1"/>
          <p:cNvSpPr/>
          <p:nvPr/>
        </p:nvSpPr>
        <p:spPr>
          <a:xfrm>
            <a:off x="4328160" y="4892040"/>
            <a:ext cx="3505200" cy="109728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vs1-h"/>
          <p:cNvSpPr txBox="1"/>
          <p:nvPr/>
        </p:nvSpPr>
        <p:spPr>
          <a:xfrm>
            <a:off x="4584192" y="509320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Not reproduced</a:t>
            </a:r>
            <a:endParaRPr lang="en-US" sz="1350" dirty="0"/>
          </a:p>
        </p:txBody>
      </p:sp>
      <p:sp>
        <p:nvSpPr>
          <p:cNvPr id="13" name="vs1-b"/>
          <p:cNvSpPr txBox="1"/>
          <p:nvPr/>
        </p:nvSpPr>
        <p:spPr>
          <a:xfrm>
            <a:off x="4584192" y="5495544"/>
            <a:ext cx="299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precision, recall and F1 — different models, different evidence, 12 prompts.</a:t>
            </a:r>
            <a:endParaRPr lang="en-US" sz="1150" dirty="0"/>
          </a:p>
        </p:txBody>
      </p:sp>
      <p:sp>
        <p:nvSpPr>
          <p:cNvPr id="6" name="vs2"/>
          <p:cNvSpPr/>
          <p:nvPr/>
        </p:nvSpPr>
        <p:spPr>
          <a:xfrm>
            <a:off x="8107680" y="4892040"/>
            <a:ext cx="3505200" cy="109728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vs2-h"/>
          <p:cNvSpPr txBox="1"/>
          <p:nvPr/>
        </p:nvSpPr>
        <p:spPr>
          <a:xfrm>
            <a:off x="8363712" y="509320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Now explained</a:t>
            </a:r>
            <a:endParaRPr lang="en-US" sz="1350" dirty="0"/>
          </a:p>
        </p:txBody>
      </p:sp>
      <p:sp>
        <p:nvSpPr>
          <p:cNvPr id="16" name="vs2-b"/>
          <p:cNvSpPr txBox="1"/>
          <p:nvPr/>
        </p:nvSpPr>
        <p:spPr>
          <a:xfrm>
            <a:off x="8363712" y="5495544"/>
            <a:ext cx="299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low baseline incomplete rate was the judge, not the extractor.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PLANS &amp; NEXT STEPS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Every limitation points at a next step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were tested; the rest are proposals, labelled as such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ubber"/>
          <p:cNvSpPr/>
          <p:nvPr/>
        </p:nvSpPr>
        <p:spPr>
          <a:xfrm>
            <a:off x="548640" y="1600200"/>
            <a:ext cx="11064240" cy="1188720"/>
          </a:xfrm>
          <a:prstGeom prst="rect">
            <a:avLst/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ubber-edge"/>
          <p:cNvSpPr/>
          <p:nvPr/>
        </p:nvSpPr>
        <p:spPr>
          <a:xfrm>
            <a:off x="548640" y="1600200"/>
            <a:ext cx="29261" cy="1188720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ubber-h"/>
          <p:cNvSpPr txBox="1"/>
          <p:nvPr/>
        </p:nvSpPr>
        <p:spPr>
          <a:xfrm>
            <a:off x="804672" y="1801368"/>
            <a:ext cx="10552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0802"/>
                </a:solidFill>
              </a:rPr>
              <a:t>Found by breaking our own result: a 3B verifier rubber-stamps unless forced to quote</a:t>
            </a:r>
            <a:endParaRPr lang="en-US" sz="1350" dirty="0"/>
          </a:p>
        </p:txBody>
      </p:sp>
      <p:sp>
        <p:nvSpPr>
          <p:cNvPr id="9" name="rubber-b"/>
          <p:cNvSpPr txBox="1"/>
          <p:nvPr/>
        </p:nvSpPr>
        <p:spPr>
          <a:xfrm>
            <a:off x="804672" y="2203704"/>
            <a:ext cx="10552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earlier version reported precision 0.92 and zero contradictions across 258 facts, calling “Aluminium is the rarest metal in the Earth's crust” SUPPORTED with confidence 1.0. Requiring a verbatim quote from the evidence moved precision to 0.42 and made contradictions appear.</a:t>
            </a:r>
            <a:endParaRPr lang="en-US" sz="1200" dirty="0"/>
          </a:p>
        </p:txBody>
      </p:sp>
      <p:graphicFrame>
        <p:nvGraphicFramePr>
          <p:cNvPr id="15" name="fix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281635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would fix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Judges are 3B; metrics track the judge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Stronger local judge (7–14B)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— 4.2× more found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 is dominated by the permissive judge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vote, or a third judge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908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— majority wins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Undecided dominates — 146 of 258 verdicts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 retrieval, query expansion, reranking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Refined facts are sometimes still flagged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Iterative refinement, maximum two passes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questions, 86 facts, no human annotation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Larger benchmark, human-verified references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is itself judge-dependent (0.41 vs 0.28)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entailment model across all runs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</a:rPr>
              <a:t>Four things this reimplementation establishes</a:t>
            </a:r>
            <a:endParaRPr lang="en-US" sz="27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 the repository, on 12 questions and three model configurations</a:t>
            </a:r>
            <a:endParaRPr lang="en-US" sz="1350" dirty="0"/>
          </a:p>
        </p:txBody>
      </p:sp>
      <p:sp>
        <p:nvSpPr>
          <p:cNvPr id="5" name="head-rule"/>
          <p:cNvSpPr/>
          <p:nvPr/>
        </p:nvSpPr>
        <p:spPr>
          <a:xfrm>
            <a:off x="548640" y="1499616"/>
            <a:ext cx="11064240" cy="1097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k-rule1"/>
          <p:cNvSpPr/>
          <p:nvPr/>
        </p:nvSpPr>
        <p:spPr>
          <a:xfrm>
            <a:off x="548640" y="1755648"/>
            <a:ext cx="11064240" cy="16459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k-n1"/>
          <p:cNvSpPr txBox="1"/>
          <p:nvPr/>
        </p:nvSpPr>
        <p:spPr>
          <a:xfrm>
            <a:off x="5486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7676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k-t1"/>
          <p:cNvSpPr txBox="1"/>
          <p:nvPr/>
        </p:nvSpPr>
        <p:spPr>
          <a:xfrm>
            <a:off x="1234440" y="1938528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VeriFact pipeline runs on a 4 GB consumer GPU with quantized 3B models and Wikipedia evidence, and scales to 7–8B on a Colab T4.</a:t>
            </a:r>
            <a:endParaRPr lang="en-US" sz="1300" dirty="0"/>
          </a:p>
        </p:txBody>
      </p:sp>
      <p:sp>
        <p:nvSpPr>
          <p:cNvPr id="9" name="tk-rule2"/>
          <p:cNvSpPr/>
          <p:nvPr/>
        </p:nvSpPr>
        <p:spPr>
          <a:xfrm>
            <a:off x="548640" y="2889504"/>
            <a:ext cx="11064240" cy="16459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k-n2"/>
          <p:cNvSpPr txBox="1"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7676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k-t2"/>
          <p:cNvSpPr txBox="1"/>
          <p:nvPr/>
        </p:nvSpPr>
        <p:spPr>
          <a:xfrm>
            <a:off x="1234440" y="3072384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 changed the verdict on 39–46% of refined facts across three model configurations, against 24.9% in the paper. The phenomenon is robust to model size.</a:t>
            </a:r>
            <a:endParaRPr lang="en-US" sz="1300" dirty="0"/>
          </a:p>
        </p:txBody>
      </p:sp>
      <p:sp>
        <p:nvSpPr>
          <p:cNvPr id="12" name="tk-rule3"/>
          <p:cNvSpPr/>
          <p:nvPr/>
        </p:nvSpPr>
        <p:spPr>
          <a:xfrm>
            <a:off x="548640" y="4023360"/>
            <a:ext cx="11064240" cy="16459"/>
          </a:xfrm>
          <a:prstGeom prst="rect">
            <a:avLst/>
          </a:prstGeom>
          <a:solidFill>
            <a:srgbClr val="DCDCDC"/>
          </a:solidFill>
          <a:ln w="317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k-n3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7676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k-t3"/>
          <p:cNvSpPr txBox="1"/>
          <p:nvPr/>
        </p:nvSpPr>
        <p:spPr>
          <a:xfrm>
            <a:off x="1234440" y="420624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metrics measure the judge as much as the system: identical facts score 0.105 incomplete at 3B and 0.438 at 7B; identical answers score 0.41 recall at 3B and 0.28 at 7B.</a:t>
            </a:r>
            <a:endParaRPr lang="en-US" sz="1300" dirty="0"/>
          </a:p>
        </p:txBody>
      </p:sp>
      <p:sp>
        <p:nvSpPr>
          <p:cNvPr id="15" name="tk-rule4"/>
          <p:cNvSpPr/>
          <p:nvPr/>
        </p:nvSpPr>
        <p:spPr>
          <a:xfrm>
            <a:off x="548640" y="5157216"/>
            <a:ext cx="11064240" cy="16459"/>
          </a:xfrm>
          <a:prstGeom prst="rect">
            <a:avLst/>
          </a:prstGeom>
          <a:solidFill>
            <a:srgbClr val="E90802"/>
          </a:solidFill>
          <a:ln w="3175">
            <a:solidFill>
              <a:srgbClr val="E908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k-n4"/>
          <p:cNvSpPr txBox="1"/>
          <p:nvPr/>
        </p:nvSpPr>
        <p:spPr>
          <a:xfrm>
            <a:off x="54864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0802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k-t4"/>
          <p:cNvSpPr txBox="1"/>
          <p:nvPr/>
        </p:nvSpPr>
        <p:spPr>
          <a:xfrm>
            <a:off x="1234440" y="5340096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vote beat the paper's union rule on precision in every configuration — but the large incomplete-rate advantage we first reported was a 3B artifact, and we say 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IFACT-Lite">
  <a:themeElements>
    <a:clrScheme name="VERIFACT-Lite">
      <a:dk1>
        <a:srgbClr val="1A1A1A"/>
      </a:dk1>
      <a:lt1>
        <a:srgbClr val="FFFFFF"/>
      </a:lt1>
      <a:dk2>
        <a:srgbClr val="444444"/>
      </a:dk2>
      <a:lt2>
        <a:srgbClr val="F4F4F4"/>
      </a:lt2>
      <a:accent1>
        <a:srgbClr val="E90802"/>
      </a:accent1>
      <a:accent2>
        <a:srgbClr val="767676"/>
      </a:accent2>
      <a:accent3>
        <a:srgbClr val="444444"/>
      </a:accent3>
      <a:accent4>
        <a:srgbClr val="F4F4F4"/>
      </a:accent4>
      <a:accent5>
        <a:srgbClr val="1A1A1A"/>
      </a:accent5>
      <a:accent6>
        <a:srgbClr val="E90802"/>
      </a:accent6>
      <a:hlink>
        <a:srgbClr val="E90802"/>
      </a:hlink>
      <a:folHlink>
        <a:srgbClr val="767676"/>
      </a:folHlink>
    </a:clrScheme>
    <a:fontScheme name="VERIFACT-Lit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3369</Words>
  <Application>Microsoft Office PowerPoint</Application>
  <PresentationFormat>Widescreen</PresentationFormat>
  <Paragraphs>479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VERIFACT-Lite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VERIFACT-Lite</dc:title>
  <dc:subject>Reimplementation of VeriFact (EMNLP 2025)</dc:subject>
  <dc:creator>VERIFACT-Lite</dc:creator>
  <cp:lastModifiedBy>Madhav Krishna</cp:lastModifiedBy>
  <cp:revision>2</cp:revision>
  <dcterms:created xsi:type="dcterms:W3CDTF">2026-10-08T00:22:26Z</dcterms:created>
  <dcterms:modified xsi:type="dcterms:W3CDTF">2026-10-08T00:32:05Z</dcterms:modified>
</cp:coreProperties>
</file>