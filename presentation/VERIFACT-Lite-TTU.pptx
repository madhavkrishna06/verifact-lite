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4e5fb88f-4677-3b0a-7740-59439003136b}">
          <p14:sldIdLst>
            <p14:sldId id="256"/>
            <p14:sldId id="257"/>
            <p14:sldId id="258"/>
            <p14:sldId id="259"/>
            <p14:sldId id="260"/>
            <p14:sldId id="261"/>
            <p14:sldId id="262"/>
            <p14:sldId id="263"/>
            <p14:sldId id="264"/>
            <p14:sldId id="265"/>
            <p14:sldId id="266"/>
            <p14:sldId id="267"/>
            <p14:sldId id="268"/>
            <p14:sldId id="269"/>
            <p14:sldId id="270"/>
          </p14:sldIdLst>
        </p14:section>
        <p14:section name="Appendix" id="{991f364b-0046-4d05-777f-c73915b41d9a}">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Baseline</c:v>
                </c:pt>
              </c:strCache>
            </c:strRef>
          </c:tx>
          <c:spPr>
            <a:solidFill>
              <a:srgbClr val="757575"/>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Sheet1!$B$2:$B$4</c:f>
              <c:numCache>
                <c:formatCode>General</c:formatCode>
                <c:ptCount val="3"/>
                <c:pt idx="0">
                  <c:v>0.42</c:v>
                </c:pt>
                <c:pt idx="1">
                  <c:v>0.4077</c:v>
                </c:pt>
                <c:pt idx="2">
                  <c:v>0.4138</c:v>
                </c:pt>
              </c:numCache>
            </c:numRef>
          </c:val>
        </c:ser>
        <c:ser>
          <c:idx val="1"/>
          <c:order val="1"/>
          <c:tx>
            <c:strRef>
              <c:f>Sheet1!$C$1</c:f>
              <c:strCache>
                <c:ptCount val="1"/>
                <c:pt idx="0">
                  <c:v>VERIFACT-Lite</c:v>
                </c:pt>
              </c:strCache>
            </c:strRef>
          </c:tx>
          <c:spPr>
            <a:solidFill>
              <a:srgbClr val="E90802"/>
            </a:solidFill>
            <a:effectLst/>
          </c:spPr>
          <c:invertIfNegative val="0"/>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cat>
            <c:multiLvlStrRef>
              <c:f>Sheet1!$A$2:$A$4</c:f>
              <c:multiLvlStrCache>
                <c:ptCount val="3"/>
                <c:lvl>
                  <c:pt idx="0">
                    <c:v>Precision</c:v>
                  </c:pt>
                  <c:pt idx="1">
                    <c:v>Recall</c:v>
                  </c:pt>
                  <c:pt idx="2">
                    <c:v>F1</c:v>
                  </c:pt>
                </c:lvl>
              </c:multiLvlStrCache>
            </c:multiLvlStrRef>
          </c:cat>
          <c:val>
            <c:numRef>
              <c:f>Sheet1!$C$2:$C$4</c:f>
              <c:numCache>
                <c:formatCode>General</c:formatCode>
                <c:ptCount val="3"/>
                <c:pt idx="0">
                  <c:v>0.3426</c:v>
                </c:pt>
                <c:pt idx="1">
                  <c:v>0.4077</c:v>
                </c:pt>
                <c:pt idx="2">
                  <c:v>0.3723</c:v>
                </c:pt>
              </c:numCache>
            </c:numRef>
          </c:val>
        </c:ser>
        <c:dLbls>
          <c:numFmt formatCode="0.000" sourceLinked="0"/>
          <c:txPr>
            <a:bodyPr/>
            <a:lstStyle/>
            <a:p>
              <a:pPr>
                <a:defRPr b="0" i="0" strike="noStrike" sz="1000" u="none">
                  <a:solidFill>
                    <a:srgbClr val="333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33333"/>
                </a:solidFill>
                <a:latin typeface="+mn-lt"/>
              </a:defRPr>
            </a:pPr>
            <a:endParaRPr lang="en-US"/>
          </a:p>
        </c:txPr>
        <c:crossAx val="2094734552"/>
        <c:crosses val="autoZero"/>
        <c:auto val="1"/>
        <c:lblAlgn val="ctr"/>
        <c:noMultiLvlLbl val="1"/>
      </c:catAx>
      <c:valAx>
        <c:axId val="2094734552"/>
        <c:scaling>
          <c:orientation val="minMax"/>
          <c:max val="0.55"/>
          <c:min val="0"/>
        </c:scaling>
        <c:delete val="0"/>
        <c:axPos val="l"/>
        <c:majorGridlines>
          <c:spPr>
            <a:ln w="12700" cap="flat">
              <a:solidFill>
                <a:srgbClr val="EDED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75757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33333"/>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One sentence: we rebuilt the paper's mechanism on hardware that costs nothing to run, measured it against its own baseline, then re-ran the whole thing with larger judges to find out which conclusions were real. Move on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This example is the whole paper. Verifying the stripped claim gives a meaningless verdict, because it is not what the answer said. Read the two fact lists side by side, then point at the three numbers: measured on human annotation, not anecdote.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Three sentences on what the framework is, then the bottom strip: this is what the paper claims. Say explicitly that the bottom row is the paper's, not ours — the rest of the talk is about which of these behaviours survive on free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Walk the four boxes left to right in about thirty seconds. Spend the rest on the two bottom cards: these are the two mechanisms we reimplemented. The union rule matters later — we test whether it is the right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Do not read the table. Say: every paid or large component has a free local stand-in, and the detection logic itself is unchanged. Then the bottom strip — twelve questions written to contain conditions, comparisons and event order, and an answer key written by hand before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The key methodological point: the answer is generated once, so baseline and VERIFACT-Lite differ only in whether refinement runs. Read the recall definition out loud — it explains why recall never moves between variants.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main reproduction slide. The mechanism does what the paper says to the fact set, and measured precision goes down. Flag that contradicted did not move at all — that becomes the tell two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Walk the table once, then read the three card headings only. Each half of the contribution moves its own metric, and the two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This slide justifies the paper and explains the precision drop. A quarter to nearly half of verdicts are decided by whether the claim kept its context. Dwell on the contradicted row — it is the result we could not get until the judges were bigger, which is the next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Frame this as the contribution: the paper ran one configuration, we ran three and asked which results were real. Be explicit that A is the controlled comparison and B is not — that distinction is why the next two slides can say anything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The strongest finding of the project, and it is a methodological one. Any factuality score of this kind is a property of the judge as much as of the system under test. Say plainly: this is why we do not compare our absolute numbers with the paper's.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Two claims, opposite fates. Majority beating union survives everywhere. The dramatic incomplete-rate gap was a 3B artifact and we say so. Then the bottom table: for relations the union really is one judge's opinion at every size, but for incompleteness bigger judges finally complement each other — 33 exceeds both 32 and 27, which is the behaviour the union rule assumes.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Point at the Agreement column, not the numbers. The claim is that the mechanism behaves as described; the claim is explicitly not that the numbers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Open by owning the 0.92 mistake — it shows the harness was itself tested. Then the table: the top two rows started as proposals on the first version of this talk and are now experiments with results. The rest are still proposals, and are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[0:05] Leave this up for the questions. If asked to summarise, read point 3 — it is the finding that generalises beyond this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how missing relations are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what the refiner actually writes, or why a stronger model was the first thing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what else you would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Use if asked about run B or about engineering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E90802"/>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0000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ver-eyebrow"/>
          <p:cNvSpPr txBox="1"/>
          <p:nvPr/>
        </p:nvSpPr>
        <p:spPr>
          <a:xfrm>
            <a:off x="685800" y="1371600"/>
            <a:ext cx="10789920" cy="310896"/>
          </a:xfrm>
          <a:prstGeom prst="rect">
            <a:avLst/>
          </a:prstGeom>
          <a:noFill/>
          <a:ln/>
        </p:spPr>
        <p:txBody>
          <a:bodyPr wrap="square" lIns="0" tIns="0" rIns="0" bIns="0" rtlCol="0" anchor="ctr"/>
          <a:lstStyle/>
          <a:p>
            <a:pPr indent="0" marL="0">
              <a:buNone/>
            </a:pPr>
            <a:r>
              <a:rPr lang="en-US" sz="1300" b="1" spc="200" kern="0" dirty="0">
                <a:solidFill>
                  <a:srgbClr val="E90802"/>
                </a:solidFill>
                <a:latin typeface="Arial" pitchFamily="34" charset="0"/>
                <a:ea typeface="Arial" pitchFamily="34" charset="-122"/>
                <a:cs typeface="Arial" pitchFamily="34" charset="-120"/>
              </a:rPr>
              <a:t>PAPER REIMPLEMENTATION  ·  NEURAL NETWORKS</a:t>
            </a:r>
            <a:endParaRPr lang="en-US" sz="1300" dirty="0"/>
          </a:p>
        </p:txBody>
      </p:sp>
      <p:sp>
        <p:nvSpPr>
          <p:cNvPr id="3" name="cover-title"/>
          <p:cNvSpPr txBox="1"/>
          <p:nvPr/>
        </p:nvSpPr>
        <p:spPr>
          <a:xfrm>
            <a:off x="685800" y="1783080"/>
            <a:ext cx="10789920" cy="1234440"/>
          </a:xfrm>
          <a:prstGeom prst="rect">
            <a:avLst/>
          </a:prstGeom>
          <a:noFill/>
          <a:ln/>
        </p:spPr>
        <p:txBody>
          <a:bodyPr wrap="square" lIns="0" tIns="0" rIns="0" bIns="0" rtlCol="0" anchor="ctr"/>
          <a:lstStyle/>
          <a:p>
            <a:pPr indent="0" marL="0">
              <a:buNone/>
            </a:pPr>
            <a:r>
              <a:rPr lang="en-US" sz="5400" b="1" dirty="0">
                <a:solidFill>
                  <a:srgbClr val="FFFFFF"/>
                </a:solidFill>
              </a:rPr>
              <a:t>VERIFACT-Lite</a:t>
            </a:r>
            <a:endParaRPr lang="en-US" sz="5400" dirty="0"/>
          </a:p>
        </p:txBody>
      </p:sp>
      <p:sp>
        <p:nvSpPr>
          <p:cNvPr id="4" name="cover-body"/>
          <p:cNvSpPr txBox="1"/>
          <p:nvPr/>
        </p:nvSpPr>
        <p:spPr>
          <a:xfrm>
            <a:off x="685800" y="3154680"/>
            <a:ext cx="9052560" cy="1188720"/>
          </a:xfrm>
          <a:prstGeom prst="rect">
            <a:avLst/>
          </a:prstGeom>
          <a:noFill/>
          <a:ln/>
        </p:spPr>
        <p:txBody>
          <a:bodyPr wrap="square" lIns="0" tIns="0" rIns="0" bIns="0" rtlCol="0" anchor="ctr"/>
          <a:lstStyle/>
          <a:p>
            <a:pPr indent="0" marL="0">
              <a:lnSpc>
                <a:spcPct val="130000"/>
              </a:lnSpc>
              <a:buNone/>
            </a:pPr>
            <a:r>
              <a:rPr lang="en-US" sz="1700" dirty="0">
                <a:solidFill>
                  <a:srgbClr val="EDEDED"/>
                </a:solidFill>
                <a:latin typeface="Arial" pitchFamily="34" charset="0"/>
                <a:ea typeface="Arial" pitchFamily="34" charset="-122"/>
                <a:cs typeface="Arial" pitchFamily="34" charset="-120"/>
              </a:rPr>
              <a:t>Reproducing a context-preserving fact-verification pipeline with open-source, locally hosted models</a:t>
            </a:r>
            <a:endParaRPr lang="en-US" sz="1700" dirty="0"/>
          </a:p>
        </p:txBody>
      </p:sp>
      <p:sp>
        <p:nvSpPr>
          <p:cNvPr id="5" name="cover-by"/>
          <p:cNvSpPr txBox="1"/>
          <p:nvPr/>
        </p:nvSpPr>
        <p:spPr>
          <a:xfrm>
            <a:off x="685800" y="4206240"/>
            <a:ext cx="9052560" cy="32918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By:  Madhav Krishna</a:t>
            </a:r>
            <a:endParaRPr lang="en-US" sz="1500" dirty="0"/>
          </a:p>
        </p:txBody>
      </p:sp>
      <p:sp>
        <p:nvSpPr>
          <p:cNvPr id="6" name="chip0"/>
          <p:cNvSpPr/>
          <p:nvPr/>
        </p:nvSpPr>
        <p:spPr>
          <a:xfrm>
            <a:off x="685800" y="4892040"/>
            <a:ext cx="2953512" cy="420624"/>
          </a:xfrm>
          <a:prstGeom prst="roundRect">
            <a:avLst>
              <a:gd name="adj" fmla="val 50000"/>
            </a:avLst>
          </a:prstGeom>
          <a:solidFill>
            <a:srgbClr val="333333"/>
          </a:solidFill>
          <a:ln w="12700">
            <a:solidFill>
              <a:srgbClr val="333333"/>
            </a:solidFill>
            <a:prstDash val="solid"/>
          </a:ln>
        </p:spPr>
      </p:sp>
      <p:sp>
        <p:nvSpPr>
          <p:cNvPr id="7" name="chip-t0"/>
          <p:cNvSpPr txBox="1"/>
          <p:nvPr/>
        </p:nvSpPr>
        <p:spPr>
          <a:xfrm>
            <a:off x="685800" y="4892040"/>
            <a:ext cx="29535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Qwen2.5-3B to Llama-3.1-8B</a:t>
            </a:r>
            <a:endParaRPr lang="en-US" sz="1200" dirty="0"/>
          </a:p>
        </p:txBody>
      </p:sp>
      <p:sp>
        <p:nvSpPr>
          <p:cNvPr id="8" name="chip1"/>
          <p:cNvSpPr/>
          <p:nvPr/>
        </p:nvSpPr>
        <p:spPr>
          <a:xfrm>
            <a:off x="3749040" y="4892040"/>
            <a:ext cx="2857500" cy="420624"/>
          </a:xfrm>
          <a:prstGeom prst="roundRect">
            <a:avLst>
              <a:gd name="adj" fmla="val 50000"/>
            </a:avLst>
          </a:prstGeom>
          <a:solidFill>
            <a:srgbClr val="333333"/>
          </a:solidFill>
          <a:ln w="12700">
            <a:solidFill>
              <a:srgbClr val="333333"/>
            </a:solidFill>
            <a:prstDash val="solid"/>
          </a:ln>
        </p:spPr>
      </p:sp>
      <p:sp>
        <p:nvSpPr>
          <p:cNvPr id="9" name="chip-t1"/>
          <p:cNvSpPr txBox="1"/>
          <p:nvPr/>
        </p:nvSpPr>
        <p:spPr>
          <a:xfrm>
            <a:off x="3749040" y="4892040"/>
            <a:ext cx="285750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Q4_K_M, 4 GB GPU and a T4</a:t>
            </a:r>
            <a:endParaRPr lang="en-US" sz="1200" dirty="0"/>
          </a:p>
        </p:txBody>
      </p:sp>
      <p:sp>
        <p:nvSpPr>
          <p:cNvPr id="10" name="chip2"/>
          <p:cNvSpPr/>
          <p:nvPr/>
        </p:nvSpPr>
        <p:spPr>
          <a:xfrm>
            <a:off x="6492240" y="4892040"/>
            <a:ext cx="2185416" cy="420624"/>
          </a:xfrm>
          <a:prstGeom prst="roundRect">
            <a:avLst>
              <a:gd name="adj" fmla="val 50000"/>
            </a:avLst>
          </a:prstGeom>
          <a:solidFill>
            <a:srgbClr val="333333"/>
          </a:solidFill>
          <a:ln w="12700">
            <a:solidFill>
              <a:srgbClr val="333333"/>
            </a:solidFill>
            <a:prstDash val="solid"/>
          </a:ln>
        </p:spPr>
      </p:sp>
      <p:sp>
        <p:nvSpPr>
          <p:cNvPr id="11" name="chip-t2"/>
          <p:cNvSpPr txBox="1"/>
          <p:nvPr/>
        </p:nvSpPr>
        <p:spPr>
          <a:xfrm>
            <a:off x="6492240" y="4892040"/>
            <a:ext cx="218541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Wikipedia evidence</a:t>
            </a:r>
            <a:endParaRPr lang="en-US" sz="1200" dirty="0"/>
          </a:p>
        </p:txBody>
      </p:sp>
      <p:sp>
        <p:nvSpPr>
          <p:cNvPr id="12" name="chip3"/>
          <p:cNvSpPr/>
          <p:nvPr/>
        </p:nvSpPr>
        <p:spPr>
          <a:xfrm>
            <a:off x="8641080" y="4892040"/>
            <a:ext cx="1705356" cy="420624"/>
          </a:xfrm>
          <a:prstGeom prst="roundRect">
            <a:avLst>
              <a:gd name="adj" fmla="val 50000"/>
            </a:avLst>
          </a:prstGeom>
          <a:solidFill>
            <a:srgbClr val="E90802"/>
          </a:solidFill>
          <a:ln w="12700">
            <a:solidFill>
              <a:srgbClr val="E90802"/>
            </a:solidFill>
            <a:prstDash val="solid"/>
          </a:ln>
        </p:spPr>
      </p:sp>
      <p:sp>
        <p:nvSpPr>
          <p:cNvPr id="13" name="chip-t3"/>
          <p:cNvSpPr txBox="1"/>
          <p:nvPr/>
        </p:nvSpPr>
        <p:spPr>
          <a:xfrm>
            <a:off x="8641080" y="4892040"/>
            <a:ext cx="1705356"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$0 total cost</a:t>
            </a:r>
            <a:endParaRPr lang="en-US" sz="1200" dirty="0"/>
          </a:p>
        </p:txBody>
      </p:sp>
      <p:sp>
        <p:nvSpPr>
          <p:cNvPr id="14" name="cover-foot"/>
          <p:cNvSpPr txBox="1"/>
          <p:nvPr/>
        </p:nvSpPr>
        <p:spPr>
          <a:xfrm>
            <a:off x="685800" y="5897880"/>
            <a:ext cx="10789920" cy="274320"/>
          </a:xfrm>
          <a:prstGeom prst="rect">
            <a:avLst/>
          </a:prstGeom>
          <a:noFill/>
          <a:ln/>
        </p:spPr>
        <p:txBody>
          <a:bodyPr wrap="square" lIns="0" tIns="0" rIns="0" bIns="0" rtlCol="0" anchor="ctr"/>
          <a:lstStyle/>
          <a:p>
            <a:pPr indent="0" marL="0">
              <a:buNone/>
            </a:pPr>
            <a:r>
              <a:rPr lang="en-US" sz="1100" dirty="0">
                <a:solidFill>
                  <a:srgbClr val="757575"/>
                </a:solidFill>
                <a:latin typeface="Arial" pitchFamily="34" charset="0"/>
                <a:ea typeface="Arial" pitchFamily="34" charset="-122"/>
                <a:cs typeface="Arial" pitchFamily="34" charset="-120"/>
              </a:rPr>
              <a:t>Liu, Zhang, Munir, Gu &amp; Wang — EMNLP 2025  ·  Not a reproduction of the paper's reported results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PROBLEM</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Atomic facts lose the context that makes them true</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The challenge of context-free fact verification</a:t>
            </a:r>
            <a:endParaRPr lang="en-US" sz="1500" dirty="0"/>
          </a:p>
        </p:txBody>
      </p:sp>
      <p:sp>
        <p:nvSpPr>
          <p:cNvPr id="5" name="quote-box"/>
          <p:cNvSpPr/>
          <p:nvPr/>
        </p:nvSpPr>
        <p:spPr>
          <a:xfrm>
            <a:off x="548640" y="1444752"/>
            <a:ext cx="11064240" cy="749808"/>
          </a:xfrm>
          <a:prstGeom prst="roundRect">
            <a:avLst>
              <a:gd name="adj" fmla="val 7317"/>
            </a:avLst>
          </a:prstGeom>
          <a:solidFill>
            <a:srgbClr val="EDEDED"/>
          </a:solidFill>
          <a:ln w="12700">
            <a:solidFill>
              <a:srgbClr val="EDEDED"/>
            </a:solidFill>
            <a:prstDash val="solid"/>
          </a:ln>
        </p:spPr>
      </p:sp>
      <p:sp>
        <p:nvSpPr>
          <p:cNvPr id="6" name="quote-text"/>
          <p:cNvSpPr txBox="1"/>
          <p:nvPr/>
        </p:nvSpPr>
        <p:spPr>
          <a:xfrm>
            <a:off x="777240" y="1517904"/>
            <a:ext cx="10607040" cy="603504"/>
          </a:xfrm>
          <a:prstGeom prst="rect">
            <a:avLst/>
          </a:prstGeom>
          <a:noFill/>
          <a:ln/>
        </p:spPr>
        <p:txBody>
          <a:bodyPr wrap="square" lIns="0" tIns="0" rIns="0" bIns="0" rtlCol="0" anchor="ctr"/>
          <a:lstStyle/>
          <a:p>
            <a:pPr indent="0" marL="0">
              <a:lnSpc>
                <a:spcPct val="112000"/>
              </a:lnSpc>
              <a:buNone/>
            </a:pPr>
            <a:r>
              <a:rPr lang="en-US" sz="1200" b="1" dirty="0">
                <a:solidFill>
                  <a:srgbClr val="757575"/>
                </a:solidFill>
                <a:latin typeface="Arial" pitchFamily="34" charset="0"/>
                <a:ea typeface="Arial" pitchFamily="34" charset="-122"/>
                <a:cs typeface="Arial" pitchFamily="34" charset="-120"/>
              </a:rPr>
              <a:t>Model answer:  </a:t>
            </a:r>
            <a:pPr indent="0" marL="0">
              <a:lnSpc>
                <a:spcPct val="112000"/>
              </a:lnSpc>
              <a:buNone/>
            </a:pPr>
            <a:r>
              <a:rPr lang="en-US" sz="1400" dirty="0">
                <a:solidFill>
                  <a:srgbClr val="000000"/>
                </a:solidFill>
                <a:latin typeface="Arial" pitchFamily="34" charset="0"/>
                <a:ea typeface="Arial" pitchFamily="34" charset="-122"/>
                <a:cs typeface="Arial" pitchFamily="34" charset="-120"/>
              </a:rPr>
              <a:t>"If the demand for gold as jewelry were to disappear, the price of gold could drop by 20–50% or more, </a:t>
            </a:r>
            <a:pPr indent="0" marL="0">
              <a:lnSpc>
                <a:spcPct val="112000"/>
              </a:lnSpc>
              <a:buNone/>
            </a:pPr>
            <a:r>
              <a:rPr lang="en-US" sz="1400" b="1" dirty="0">
                <a:solidFill>
                  <a:srgbClr val="E90802"/>
                </a:solidFill>
                <a:latin typeface="Arial" pitchFamily="34" charset="0"/>
                <a:ea typeface="Arial" pitchFamily="34" charset="-122"/>
                <a:cs typeface="Arial" pitchFamily="34" charset="-120"/>
              </a:rPr>
              <a:t>making</a:t>
            </a:r>
            <a:pPr indent="0" marL="0">
              <a:lnSpc>
                <a:spcPct val="112000"/>
              </a:lnSpc>
              <a:buNone/>
            </a:pPr>
            <a:r>
              <a:rPr lang="en-US" sz="1400" dirty="0">
                <a:solidFill>
                  <a:srgbClr val="000000"/>
                </a:solidFill>
                <a:latin typeface="Arial" pitchFamily="34" charset="0"/>
                <a:ea typeface="Arial" pitchFamily="34" charset="-122"/>
                <a:cs typeface="Arial" pitchFamily="34" charset="-120"/>
              </a:rPr>
              <a:t> it more competitive with other materials like copper and silver."</a:t>
            </a:r>
            <a:endParaRPr lang="en-US" sz="1200" dirty="0"/>
          </a:p>
        </p:txBody>
      </p:sp>
      <p:sp>
        <p:nvSpPr>
          <p:cNvPr id="7" name="safe"/>
          <p:cNvSpPr/>
          <p:nvPr/>
        </p:nvSpPr>
        <p:spPr>
          <a:xfrm>
            <a:off x="548640" y="2304288"/>
            <a:ext cx="5486400" cy="2286000"/>
          </a:xfrm>
          <a:prstGeom prst="roundRect">
            <a:avLst>
              <a:gd name="adj" fmla="val 2400"/>
            </a:avLst>
          </a:prstGeom>
          <a:solidFill>
            <a:srgbClr val="FFFFFF"/>
          </a:solidFill>
          <a:ln w="12700">
            <a:solidFill>
              <a:srgbClr val="EDEDED"/>
            </a:solidFill>
            <a:prstDash val="solid"/>
          </a:ln>
        </p:spPr>
      </p:sp>
      <p:sp>
        <p:nvSpPr>
          <p:cNvPr id="8" name="safe-h"/>
          <p:cNvSpPr txBox="1"/>
          <p:nvPr/>
        </p:nvSpPr>
        <p:spPr>
          <a:xfrm>
            <a:off x="786384" y="2505456"/>
            <a:ext cx="5010912" cy="310896"/>
          </a:xfrm>
          <a:prstGeom prst="rect">
            <a:avLst/>
          </a:prstGeom>
          <a:noFill/>
          <a:ln/>
        </p:spPr>
        <p:txBody>
          <a:bodyPr wrap="square" lIns="0" tIns="0" rIns="0" bIns="0" rtlCol="0" anchor="ctr"/>
          <a:lstStyle/>
          <a:p>
            <a:pPr indent="0" marL="0">
              <a:buNone/>
            </a:pPr>
            <a:r>
              <a:rPr lang="en-US" sz="1500" b="1" dirty="0">
                <a:solidFill>
                  <a:srgbClr val="333333"/>
                </a:solidFill>
              </a:rPr>
              <a:t>Extracted by SAFE</a:t>
            </a:r>
            <a:endParaRPr lang="en-US" sz="1500" dirty="0"/>
          </a:p>
        </p:txBody>
      </p:sp>
      <p:sp>
        <p:nvSpPr>
          <p:cNvPr id="9" name="safe-list"/>
          <p:cNvSpPr txBox="1"/>
          <p:nvPr/>
        </p:nvSpPr>
        <p:spPr>
          <a:xfrm>
            <a:off x="786384" y="2788920"/>
            <a:ext cx="5029200" cy="16916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 price of gold could drop by 20–50% or more.</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condition dropped</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Copper and silver are competitive with gold in price.</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stated unconditionally; the causal link in “making” is never extracted</a:t>
            </a:r>
            <a:endParaRPr lang="en-US" sz="1300" dirty="0"/>
          </a:p>
        </p:txBody>
      </p:sp>
      <p:sp>
        <p:nvSpPr>
          <p:cNvPr id="10" name="vf"/>
          <p:cNvSpPr/>
          <p:nvPr/>
        </p:nvSpPr>
        <p:spPr>
          <a:xfrm>
            <a:off x="6355080" y="2304288"/>
            <a:ext cx="5257800" cy="2286000"/>
          </a:xfrm>
          <a:prstGeom prst="roundRect">
            <a:avLst>
              <a:gd name="adj" fmla="val 2400"/>
            </a:avLst>
          </a:prstGeom>
          <a:solidFill>
            <a:srgbClr val="FFFFFF"/>
          </a:solidFill>
          <a:ln w="19050">
            <a:solidFill>
              <a:srgbClr val="E90802"/>
            </a:solidFill>
            <a:prstDash val="solid"/>
          </a:ln>
        </p:spPr>
      </p:sp>
      <p:sp>
        <p:nvSpPr>
          <p:cNvPr id="11" name="vf-h"/>
          <p:cNvSpPr txBox="1"/>
          <p:nvPr/>
        </p:nvSpPr>
        <p:spPr>
          <a:xfrm>
            <a:off x="6592824" y="2505456"/>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Extracted by VeriFact</a:t>
            </a:r>
            <a:endParaRPr lang="en-US" sz="1500" dirty="0"/>
          </a:p>
        </p:txBody>
      </p:sp>
      <p:sp>
        <p:nvSpPr>
          <p:cNvPr id="12" name="vf-list"/>
          <p:cNvSpPr txBox="1"/>
          <p:nvPr/>
        </p:nvSpPr>
        <p:spPr>
          <a:xfrm>
            <a:off x="6592824" y="2788920"/>
            <a:ext cx="4800600" cy="16916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There is a demand for gold as jewelry.</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If the demand for gold as jewelry disappeared, the price of gold could drop by 20–50% or more.</a:t>
            </a:r>
            <a:endParaRPr lang="en-US" sz="1300" dirty="0"/>
          </a:p>
          <a:p>
            <a:pPr marL="342900" indent="-342900">
              <a:spcAft>
                <a:spcPts val="400"/>
              </a:spcAft>
              <a:buSzPct val="100000"/>
              <a:buChar char="•"/>
            </a:pPr>
            <a:r>
              <a:rPr lang="en-US" sz="1300" dirty="0">
                <a:solidFill>
                  <a:srgbClr val="333333"/>
                </a:solidFill>
                <a:latin typeface="Arial" pitchFamily="34" charset="0"/>
                <a:ea typeface="Arial" pitchFamily="34" charset="-122"/>
                <a:cs typeface="Arial" pitchFamily="34" charset="-120"/>
              </a:rPr>
              <a:t>A 20–50% drop in the price of gold could make copper and silver competitive with gold.</a:t>
            </a:r>
            <a:endParaRPr lang="en-US" sz="1300" dirty="0"/>
          </a:p>
          <a:p>
            <a:pPr indent="0" marL="0">
              <a:spcAft>
                <a:spcPts val="400"/>
              </a:spcAft>
              <a:buNone/>
            </a:pPr>
            <a:r>
              <a:rPr lang="en-US" sz="1100" b="1" dirty="0">
                <a:solidFill>
                  <a:srgbClr val="E90802"/>
                </a:solidFill>
                <a:latin typeface="Arial" pitchFamily="34" charset="0"/>
                <a:ea typeface="Arial" pitchFamily="34" charset="-122"/>
                <a:cs typeface="Arial" pitchFamily="34" charset="-120"/>
              </a:rPr>
              <a:t>condition preserved, causal relation recovered as its own fact</a:t>
            </a:r>
            <a:endParaRPr lang="en-US" sz="1300" dirty="0"/>
          </a:p>
        </p:txBody>
      </p:sp>
      <p:sp>
        <p:nvSpPr>
          <p:cNvPr id="13" name="p1"/>
          <p:cNvSpPr/>
          <p:nvPr/>
        </p:nvSpPr>
        <p:spPr>
          <a:xfrm>
            <a:off x="548640" y="4754880"/>
            <a:ext cx="3566160" cy="1143000"/>
          </a:xfrm>
          <a:prstGeom prst="roundRect">
            <a:avLst>
              <a:gd name="adj" fmla="val 4800"/>
            </a:avLst>
          </a:prstGeom>
          <a:solidFill>
            <a:srgbClr val="EDEDED"/>
          </a:solidFill>
          <a:ln w="12700">
            <a:solidFill>
              <a:srgbClr val="EDEDED"/>
            </a:solidFill>
            <a:prstDash val="solid"/>
          </a:ln>
        </p:spPr>
      </p:sp>
      <p:sp>
        <p:nvSpPr>
          <p:cNvPr id="14" name="p1-l"/>
          <p:cNvSpPr txBox="1"/>
          <p:nvPr/>
        </p:nvSpPr>
        <p:spPr>
          <a:xfrm>
            <a:off x="74980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FACTS IN SAFE</a:t>
            </a:r>
            <a:endParaRPr lang="en-US" sz="1000" dirty="0"/>
          </a:p>
        </p:txBody>
      </p:sp>
      <p:sp>
        <p:nvSpPr>
          <p:cNvPr id="15" name="p1-v"/>
          <p:cNvSpPr txBox="1"/>
          <p:nvPr/>
        </p:nvSpPr>
        <p:spPr>
          <a:xfrm>
            <a:off x="74980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12.68%</a:t>
            </a:r>
            <a:endParaRPr lang="en-US" sz="2600" dirty="0"/>
          </a:p>
        </p:txBody>
      </p:sp>
      <p:sp>
        <p:nvSpPr>
          <p:cNvPr id="16" name="p1-f"/>
          <p:cNvSpPr txBox="1"/>
          <p:nvPr/>
        </p:nvSpPr>
        <p:spPr>
          <a:xfrm>
            <a:off x="74980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451 facts, human-annotated</a:t>
            </a:r>
            <a:endParaRPr lang="en-US" sz="1100" dirty="0"/>
          </a:p>
        </p:txBody>
      </p:sp>
      <p:sp>
        <p:nvSpPr>
          <p:cNvPr id="17" name="p2"/>
          <p:cNvSpPr/>
          <p:nvPr/>
        </p:nvSpPr>
        <p:spPr>
          <a:xfrm>
            <a:off x="4297680" y="4754880"/>
            <a:ext cx="3566160" cy="1143000"/>
          </a:xfrm>
          <a:prstGeom prst="roundRect">
            <a:avLst>
              <a:gd name="adj" fmla="val 4800"/>
            </a:avLst>
          </a:prstGeom>
          <a:solidFill>
            <a:srgbClr val="EDEDED"/>
          </a:solidFill>
          <a:ln w="12700">
            <a:solidFill>
              <a:srgbClr val="EDEDED"/>
            </a:solidFill>
            <a:prstDash val="solid"/>
          </a:ln>
        </p:spPr>
      </p:sp>
      <p:sp>
        <p:nvSpPr>
          <p:cNvPr id="18" name="p2-l"/>
          <p:cNvSpPr txBox="1"/>
          <p:nvPr/>
        </p:nvSpPr>
        <p:spPr>
          <a:xfrm>
            <a:off x="449884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FACTS PER RESPONSE</a:t>
            </a:r>
            <a:endParaRPr lang="en-US" sz="1000" dirty="0"/>
          </a:p>
        </p:txBody>
      </p:sp>
      <p:sp>
        <p:nvSpPr>
          <p:cNvPr id="19" name="p2-v"/>
          <p:cNvSpPr txBox="1"/>
          <p:nvPr/>
        </p:nvSpPr>
        <p:spPr>
          <a:xfrm>
            <a:off x="449884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1.24</a:t>
            </a:r>
            <a:endParaRPr lang="en-US" sz="2600" dirty="0"/>
          </a:p>
        </p:txBody>
      </p:sp>
      <p:sp>
        <p:nvSpPr>
          <p:cNvPr id="20" name="p2-f"/>
          <p:cNvSpPr txBox="1"/>
          <p:nvPr/>
        </p:nvSpPr>
        <p:spPr>
          <a:xfrm>
            <a:off x="449884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relations never extracted</a:t>
            </a:r>
            <a:endParaRPr lang="en-US" sz="1100" dirty="0"/>
          </a:p>
        </p:txBody>
      </p:sp>
      <p:sp>
        <p:nvSpPr>
          <p:cNvPr id="21" name="p3"/>
          <p:cNvSpPr/>
          <p:nvPr/>
        </p:nvSpPr>
        <p:spPr>
          <a:xfrm>
            <a:off x="8046720" y="4754880"/>
            <a:ext cx="3566160" cy="1143000"/>
          </a:xfrm>
          <a:prstGeom prst="roundRect">
            <a:avLst>
              <a:gd name="adj" fmla="val 4800"/>
            </a:avLst>
          </a:prstGeom>
          <a:solidFill>
            <a:srgbClr val="EDEDED"/>
          </a:solidFill>
          <a:ln w="12700">
            <a:solidFill>
              <a:srgbClr val="EDEDED"/>
            </a:solidFill>
            <a:prstDash val="solid"/>
          </a:ln>
        </p:spPr>
      </p:sp>
      <p:sp>
        <p:nvSpPr>
          <p:cNvPr id="22" name="p3-l"/>
          <p:cNvSpPr txBox="1"/>
          <p:nvPr/>
        </p:nvSpPr>
        <p:spPr>
          <a:xfrm>
            <a:off x="8247888" y="491947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OF THOSE, OMITTED CONDITIONS</a:t>
            </a:r>
            <a:endParaRPr lang="en-US" sz="1000" dirty="0"/>
          </a:p>
        </p:txBody>
      </p:sp>
      <p:sp>
        <p:nvSpPr>
          <p:cNvPr id="23" name="p3-v"/>
          <p:cNvSpPr txBox="1"/>
          <p:nvPr/>
        </p:nvSpPr>
        <p:spPr>
          <a:xfrm>
            <a:off x="8247888" y="5175504"/>
            <a:ext cx="3163824" cy="530352"/>
          </a:xfrm>
          <a:prstGeom prst="rect">
            <a:avLst/>
          </a:prstGeom>
          <a:noFill/>
          <a:ln/>
        </p:spPr>
        <p:txBody>
          <a:bodyPr wrap="square" lIns="0" tIns="0" rIns="0" bIns="0" rtlCol="0" anchor="ctr"/>
          <a:lstStyle/>
          <a:p>
            <a:pPr indent="0" marL="0">
              <a:buNone/>
            </a:pPr>
            <a:r>
              <a:rPr lang="en-US" sz="2600" b="1" dirty="0">
                <a:solidFill>
                  <a:srgbClr val="E90802"/>
                </a:solidFill>
              </a:rPr>
              <a:t>51%</a:t>
            </a:r>
            <a:endParaRPr lang="en-US" sz="2600" dirty="0"/>
          </a:p>
        </p:txBody>
      </p:sp>
      <p:sp>
        <p:nvSpPr>
          <p:cNvPr id="24" name="p3-f"/>
          <p:cNvSpPr txBox="1"/>
          <p:nvPr/>
        </p:nvSpPr>
        <p:spPr>
          <a:xfrm>
            <a:off x="8247888" y="5513832"/>
            <a:ext cx="3163824"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the gold case above</a:t>
            </a:r>
            <a:endParaRPr lang="en-US" sz="1100" dirty="0"/>
          </a:p>
        </p:txBody>
      </p:sp>
      <p:sp>
        <p:nvSpPr>
          <p:cNvPr id="2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VeriFact: Liu, Zhang, Munir, Gu &amp; Wang, EMNLP 2025, pp. 17908–17925  ·  github.com/launchnlp/VeriFact</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THE SOLUTION</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VeriFact — repair the facts before verifying them</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Preserving context instead of accepting what decomposition left behind</a:t>
            </a:r>
            <a:endParaRPr lang="en-US" sz="1500" dirty="0"/>
          </a:p>
        </p:txBody>
      </p:sp>
      <p:sp>
        <p:nvSpPr>
          <p:cNvPr id="5" name="sol0"/>
          <p:cNvSpPr/>
          <p:nvPr/>
        </p:nvSpPr>
        <p:spPr>
          <a:xfrm>
            <a:off x="548640" y="1444752"/>
            <a:ext cx="3547872" cy="2240280"/>
          </a:xfrm>
          <a:prstGeom prst="roundRect">
            <a:avLst>
              <a:gd name="adj" fmla="val 2449"/>
            </a:avLst>
          </a:prstGeom>
          <a:solidFill>
            <a:srgbClr val="FFFFFF"/>
          </a:solidFill>
          <a:ln w="12700">
            <a:solidFill>
              <a:srgbClr val="EDEDED"/>
            </a:solidFill>
            <a:prstDash val="solid"/>
          </a:ln>
        </p:spPr>
      </p:sp>
      <p:sp>
        <p:nvSpPr>
          <p:cNvPr id="6" name="sol0-h"/>
          <p:cNvSpPr txBox="1"/>
          <p:nvPr/>
        </p:nvSpPr>
        <p:spPr>
          <a:xfrm>
            <a:off x="786384"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What VeriFact is</a:t>
            </a:r>
            <a:endParaRPr lang="en-US" sz="1500" dirty="0"/>
          </a:p>
        </p:txBody>
      </p:sp>
      <p:sp>
        <p:nvSpPr>
          <p:cNvPr id="7" name="sol0-b"/>
          <p:cNvSpPr txBox="1"/>
          <p:nvPr/>
        </p:nvSpPr>
        <p:spPr>
          <a:xfrm>
            <a:off x="786384" y="2029968"/>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 factuality framework that inserts two steps between decomposition and verification: detect broken facts, then repair them. The extractor and the verifier are inherited unchanged.</a:t>
            </a:r>
            <a:endParaRPr lang="en-US" sz="1200" dirty="0"/>
          </a:p>
        </p:txBody>
      </p:sp>
      <p:sp>
        <p:nvSpPr>
          <p:cNvPr id="8" name="sol1"/>
          <p:cNvSpPr/>
          <p:nvPr/>
        </p:nvSpPr>
        <p:spPr>
          <a:xfrm>
            <a:off x="4279392" y="1444752"/>
            <a:ext cx="3547872" cy="2240280"/>
          </a:xfrm>
          <a:prstGeom prst="roundRect">
            <a:avLst>
              <a:gd name="adj" fmla="val 2449"/>
            </a:avLst>
          </a:prstGeom>
          <a:solidFill>
            <a:srgbClr val="FFFFFF"/>
          </a:solidFill>
          <a:ln w="12700">
            <a:solidFill>
              <a:srgbClr val="EDEDED"/>
            </a:solidFill>
            <a:prstDash val="solid"/>
          </a:ln>
        </p:spPr>
      </p:sp>
      <p:sp>
        <p:nvSpPr>
          <p:cNvPr id="9" name="sol1-h"/>
          <p:cNvSpPr txBox="1"/>
          <p:nvPr/>
        </p:nvSpPr>
        <p:spPr>
          <a:xfrm>
            <a:off x="4517136"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The two defects it targets</a:t>
            </a:r>
            <a:endParaRPr lang="en-US" sz="1500" dirty="0"/>
          </a:p>
        </p:txBody>
      </p:sp>
      <p:sp>
        <p:nvSpPr>
          <p:cNvPr id="10" name="sol1-b"/>
          <p:cNvSpPr txBox="1"/>
          <p:nvPr/>
        </p:nvSpPr>
        <p:spPr>
          <a:xfrm>
            <a:off x="4517136" y="2029968"/>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Incomplete facts — an ambiguous reference, a dropped condition, a missing comparison target. And missing facts — an inter-sentence temporal or causal relation that no atomic fact carries.</a:t>
            </a:r>
            <a:endParaRPr lang="en-US" sz="1200" dirty="0"/>
          </a:p>
        </p:txBody>
      </p:sp>
      <p:sp>
        <p:nvSpPr>
          <p:cNvPr id="11" name="sol2"/>
          <p:cNvSpPr/>
          <p:nvPr/>
        </p:nvSpPr>
        <p:spPr>
          <a:xfrm>
            <a:off x="8010144" y="1444752"/>
            <a:ext cx="3547872" cy="2240280"/>
          </a:xfrm>
          <a:prstGeom prst="roundRect">
            <a:avLst>
              <a:gd name="adj" fmla="val 2449"/>
            </a:avLst>
          </a:prstGeom>
          <a:solidFill>
            <a:srgbClr val="FFFFFF"/>
          </a:solidFill>
          <a:ln w="12700">
            <a:solidFill>
              <a:srgbClr val="EDEDED"/>
            </a:solidFill>
            <a:prstDash val="solid"/>
          </a:ln>
        </p:spPr>
      </p:sp>
      <p:sp>
        <p:nvSpPr>
          <p:cNvPr id="12" name="sol2-h"/>
          <p:cNvSpPr txBox="1"/>
          <p:nvPr/>
        </p:nvSpPr>
        <p:spPr>
          <a:xfrm>
            <a:off x="8247888"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The trade it makes</a:t>
            </a:r>
            <a:endParaRPr lang="en-US" sz="1500" dirty="0"/>
          </a:p>
        </p:txBody>
      </p:sp>
      <p:sp>
        <p:nvSpPr>
          <p:cNvPr id="13" name="sol2-b"/>
          <p:cNvSpPr txBox="1"/>
          <p:nvPr/>
        </p:nvSpPr>
        <p:spPr>
          <a:xfrm>
            <a:off x="8247888" y="2029968"/>
            <a:ext cx="3072384" cy="14721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Detection recalls 0.89 of incomplete and 0.85 of missing facts. One LLM agrees with human annotators at only κ = 0.33, so detections are unioned, not voted, and refinement absorbs the false positives.</a:t>
            </a:r>
            <a:endParaRPr lang="en-US" sz="1200" dirty="0"/>
          </a:p>
        </p:txBody>
      </p:sp>
      <p:sp>
        <p:nvSpPr>
          <p:cNvPr id="14" name="pr-h"/>
          <p:cNvSpPr txBox="1"/>
          <p:nvPr/>
        </p:nvSpPr>
        <p:spPr>
          <a:xfrm>
            <a:off x="548640" y="3840480"/>
            <a:ext cx="11064240" cy="274320"/>
          </a:xfrm>
          <a:prstGeom prst="rect">
            <a:avLst/>
          </a:prstGeom>
          <a:noFill/>
          <a:ln/>
        </p:spPr>
        <p:txBody>
          <a:bodyPr wrap="square" lIns="0" tIns="0" rIns="0" bIns="0" rtlCol="0" anchor="ctr"/>
          <a:lstStyle/>
          <a:p>
            <a:pPr indent="0" marL="0">
              <a:buNone/>
            </a:pPr>
            <a:r>
              <a:rPr lang="en-US" sz="1300" b="1" dirty="0">
                <a:solidFill>
                  <a:srgbClr val="333333"/>
                </a:solidFill>
                <a:latin typeface="Arial" pitchFamily="34" charset="0"/>
                <a:ea typeface="Arial" pitchFamily="34" charset="-122"/>
                <a:cs typeface="Arial" pitchFamily="34" charset="-120"/>
              </a:rPr>
              <a:t>What the paper reports on FACTRBENCH</a:t>
            </a:r>
            <a:endParaRPr lang="en-US" sz="1300" dirty="0"/>
          </a:p>
        </p:txBody>
      </p:sp>
      <p:sp>
        <p:nvSpPr>
          <p:cNvPr id="15" name="pr0"/>
          <p:cNvSpPr/>
          <p:nvPr/>
        </p:nvSpPr>
        <p:spPr>
          <a:xfrm>
            <a:off x="548640" y="4206240"/>
            <a:ext cx="2633472" cy="1417320"/>
          </a:xfrm>
          <a:prstGeom prst="roundRect">
            <a:avLst>
              <a:gd name="adj" fmla="val 3871"/>
            </a:avLst>
          </a:prstGeom>
          <a:solidFill>
            <a:srgbClr val="EDEDED"/>
          </a:solidFill>
          <a:ln w="12700">
            <a:solidFill>
              <a:srgbClr val="EDEDED"/>
            </a:solidFill>
            <a:prstDash val="solid"/>
          </a:ln>
        </p:spPr>
      </p:sp>
      <p:sp>
        <p:nvSpPr>
          <p:cNvPr id="16" name="pr0-l"/>
          <p:cNvSpPr txBox="1"/>
          <p:nvPr/>
        </p:nvSpPr>
        <p:spPr>
          <a:xfrm>
            <a:off x="749808" y="43708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FACTS</a:t>
            </a:r>
            <a:endParaRPr lang="en-US" sz="1000" dirty="0"/>
          </a:p>
        </p:txBody>
      </p:sp>
      <p:sp>
        <p:nvSpPr>
          <p:cNvPr id="17" name="pr0-v"/>
          <p:cNvSpPr txBox="1"/>
          <p:nvPr/>
        </p:nvSpPr>
        <p:spPr>
          <a:xfrm>
            <a:off x="749808" y="462686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56.7% → 22.5%</a:t>
            </a:r>
            <a:endParaRPr lang="en-US" sz="2000" dirty="0"/>
          </a:p>
        </p:txBody>
      </p:sp>
      <p:sp>
        <p:nvSpPr>
          <p:cNvPr id="18" name="pr0-f"/>
          <p:cNvSpPr txBox="1"/>
          <p:nvPr/>
        </p:nvSpPr>
        <p:spPr>
          <a:xfrm>
            <a:off x="749808" y="523951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SAFE, after refinement</a:t>
            </a:r>
            <a:endParaRPr lang="en-US" sz="1100" dirty="0"/>
          </a:p>
        </p:txBody>
      </p:sp>
      <p:sp>
        <p:nvSpPr>
          <p:cNvPr id="19" name="pr1"/>
          <p:cNvSpPr/>
          <p:nvPr/>
        </p:nvSpPr>
        <p:spPr>
          <a:xfrm>
            <a:off x="3364992" y="4206240"/>
            <a:ext cx="2633472" cy="1417320"/>
          </a:xfrm>
          <a:prstGeom prst="roundRect">
            <a:avLst>
              <a:gd name="adj" fmla="val 3871"/>
            </a:avLst>
          </a:prstGeom>
          <a:solidFill>
            <a:srgbClr val="EDEDED"/>
          </a:solidFill>
          <a:ln w="12700">
            <a:solidFill>
              <a:srgbClr val="EDEDED"/>
            </a:solidFill>
            <a:prstDash val="solid"/>
          </a:ln>
        </p:spPr>
      </p:sp>
      <p:sp>
        <p:nvSpPr>
          <p:cNvPr id="20" name="pr1-l"/>
          <p:cNvSpPr txBox="1"/>
          <p:nvPr/>
        </p:nvSpPr>
        <p:spPr>
          <a:xfrm>
            <a:off x="3566160" y="43708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FACTS / RESPONSE</a:t>
            </a:r>
            <a:endParaRPr lang="en-US" sz="1000" dirty="0"/>
          </a:p>
        </p:txBody>
      </p:sp>
      <p:sp>
        <p:nvSpPr>
          <p:cNvPr id="21" name="pr1-v"/>
          <p:cNvSpPr txBox="1"/>
          <p:nvPr/>
        </p:nvSpPr>
        <p:spPr>
          <a:xfrm>
            <a:off x="3566160" y="462686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1.22 → 0.76</a:t>
            </a:r>
            <a:endParaRPr lang="en-US" sz="2000" dirty="0"/>
          </a:p>
        </p:txBody>
      </p:sp>
      <p:sp>
        <p:nvSpPr>
          <p:cNvPr id="22" name="pr1-f"/>
          <p:cNvSpPr txBox="1"/>
          <p:nvPr/>
        </p:nvSpPr>
        <p:spPr>
          <a:xfrm>
            <a:off x="3566160" y="523951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−37%</a:t>
            </a:r>
            <a:endParaRPr lang="en-US" sz="1100" dirty="0"/>
          </a:p>
        </p:txBody>
      </p:sp>
      <p:sp>
        <p:nvSpPr>
          <p:cNvPr id="23" name="pr2"/>
          <p:cNvSpPr/>
          <p:nvPr/>
        </p:nvSpPr>
        <p:spPr>
          <a:xfrm>
            <a:off x="6181344" y="4206240"/>
            <a:ext cx="2633472" cy="1417320"/>
          </a:xfrm>
          <a:prstGeom prst="roundRect">
            <a:avLst>
              <a:gd name="adj" fmla="val 3871"/>
            </a:avLst>
          </a:prstGeom>
          <a:solidFill>
            <a:srgbClr val="EDEDED"/>
          </a:solidFill>
          <a:ln w="12700">
            <a:solidFill>
              <a:srgbClr val="EDEDED"/>
            </a:solidFill>
            <a:prstDash val="solid"/>
          </a:ln>
        </p:spPr>
      </p:sp>
      <p:sp>
        <p:nvSpPr>
          <p:cNvPr id="24" name="pr2-l"/>
          <p:cNvSpPr txBox="1"/>
          <p:nvPr/>
        </p:nvSpPr>
        <p:spPr>
          <a:xfrm>
            <a:off x="6382512" y="43708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VERDICT CHANGES</a:t>
            </a:r>
            <a:endParaRPr lang="en-US" sz="1000" dirty="0"/>
          </a:p>
        </p:txBody>
      </p:sp>
      <p:sp>
        <p:nvSpPr>
          <p:cNvPr id="25" name="pr2-v"/>
          <p:cNvSpPr txBox="1"/>
          <p:nvPr/>
        </p:nvSpPr>
        <p:spPr>
          <a:xfrm>
            <a:off x="6382512" y="4626864"/>
            <a:ext cx="2231136" cy="530352"/>
          </a:xfrm>
          <a:prstGeom prst="rect">
            <a:avLst/>
          </a:prstGeom>
          <a:noFill/>
          <a:ln/>
        </p:spPr>
        <p:txBody>
          <a:bodyPr wrap="square" lIns="0" tIns="0" rIns="0" bIns="0" rtlCol="0" anchor="ctr"/>
          <a:lstStyle/>
          <a:p>
            <a:pPr indent="0" marL="0">
              <a:buNone/>
            </a:pPr>
            <a:r>
              <a:rPr lang="en-US" sz="2000" b="1" dirty="0">
                <a:solidFill>
                  <a:srgbClr val="E90802"/>
                </a:solidFill>
              </a:rPr>
              <a:t>24.9%</a:t>
            </a:r>
            <a:endParaRPr lang="en-US" sz="2000" dirty="0"/>
          </a:p>
        </p:txBody>
      </p:sp>
      <p:sp>
        <p:nvSpPr>
          <p:cNvPr id="26" name="pr2-f"/>
          <p:cNvSpPr txBox="1"/>
          <p:nvPr/>
        </p:nvSpPr>
        <p:spPr>
          <a:xfrm>
            <a:off x="6382512" y="523951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supported ↓, contradicted ↑</a:t>
            </a:r>
            <a:endParaRPr lang="en-US" sz="1100" dirty="0"/>
          </a:p>
        </p:txBody>
      </p:sp>
      <p:sp>
        <p:nvSpPr>
          <p:cNvPr id="27" name="pr3"/>
          <p:cNvSpPr/>
          <p:nvPr/>
        </p:nvSpPr>
        <p:spPr>
          <a:xfrm>
            <a:off x="8997696" y="4206240"/>
            <a:ext cx="2633472" cy="1417320"/>
          </a:xfrm>
          <a:prstGeom prst="roundRect">
            <a:avLst>
              <a:gd name="adj" fmla="val 3871"/>
            </a:avLst>
          </a:prstGeom>
          <a:solidFill>
            <a:srgbClr val="EDEDED"/>
          </a:solidFill>
          <a:ln w="12700">
            <a:solidFill>
              <a:srgbClr val="EDEDED"/>
            </a:solidFill>
            <a:prstDash val="solid"/>
          </a:ln>
        </p:spPr>
      </p:sp>
      <p:sp>
        <p:nvSpPr>
          <p:cNvPr id="28" name="pr3-l"/>
          <p:cNvSpPr txBox="1"/>
          <p:nvPr/>
        </p:nvSpPr>
        <p:spPr>
          <a:xfrm>
            <a:off x="9198864" y="43708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BEST F1 REPORTED</a:t>
            </a:r>
            <a:endParaRPr lang="en-US" sz="1000" dirty="0"/>
          </a:p>
        </p:txBody>
      </p:sp>
      <p:sp>
        <p:nvSpPr>
          <p:cNvPr id="29" name="pr3-v"/>
          <p:cNvSpPr txBox="1"/>
          <p:nvPr/>
        </p:nvSpPr>
        <p:spPr>
          <a:xfrm>
            <a:off x="9198864" y="4626864"/>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57.5</a:t>
            </a:r>
            <a:endParaRPr lang="en-US" sz="2000" dirty="0"/>
          </a:p>
        </p:txBody>
      </p:sp>
      <p:sp>
        <p:nvSpPr>
          <p:cNvPr id="30" name="pr3-f"/>
          <p:cNvSpPr txBox="1"/>
          <p:nvPr/>
        </p:nvSpPr>
        <p:spPr>
          <a:xfrm>
            <a:off x="9198864" y="523951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Qwen 2.5-32B</a:t>
            </a:r>
            <a:endParaRPr lang="en-US" sz="1100" dirty="0"/>
          </a:p>
        </p:txBody>
      </p:sp>
      <p:sp>
        <p:nvSpPr>
          <p:cNvPr id="3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These are the paper's numbers, on 1,096 prompts with GPT-4o, Llama 3.3-70B and Qwen 2.5-32B. We do not attempt to match them.</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HOW VERIFACT WORKS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Four steps, three judges, union of detections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Steps 2 and 3 are the paper's contribution; steps 1 and 4 are inherited</a:t>
            </a:r>
            <a:endParaRPr lang="en-US" sz="1500" dirty="0"/>
          </a:p>
        </p:txBody>
      </p:sp>
      <p:sp>
        <p:nvSpPr>
          <p:cNvPr id="5" name="step1"/>
          <p:cNvSpPr/>
          <p:nvPr/>
        </p:nvSpPr>
        <p:spPr>
          <a:xfrm>
            <a:off x="548640" y="1444752"/>
            <a:ext cx="2633472" cy="2194560"/>
          </a:xfrm>
          <a:prstGeom prst="roundRect">
            <a:avLst>
              <a:gd name="adj" fmla="val 2500"/>
            </a:avLst>
          </a:prstGeom>
          <a:solidFill>
            <a:srgbClr val="FFFFFF"/>
          </a:solidFill>
          <a:ln w="12700">
            <a:solidFill>
              <a:srgbClr val="EDEDED"/>
            </a:solidFill>
            <a:prstDash val="solid"/>
          </a:ln>
        </p:spPr>
      </p:sp>
      <p:sp>
        <p:nvSpPr>
          <p:cNvPr id="6" name="step1-badge"/>
          <p:cNvSpPr/>
          <p:nvPr/>
        </p:nvSpPr>
        <p:spPr>
          <a:xfrm>
            <a:off x="786384" y="1645920"/>
            <a:ext cx="420624" cy="420624"/>
          </a:xfrm>
          <a:prstGeom prst="ellipse">
            <a:avLst/>
          </a:prstGeom>
          <a:solidFill>
            <a:srgbClr val="757575"/>
          </a:solidFill>
          <a:ln w="12700">
            <a:solidFill>
              <a:srgbClr val="757575"/>
            </a:solidFill>
            <a:prstDash val="solid"/>
          </a:ln>
        </p:spPr>
      </p:sp>
      <p:sp>
        <p:nvSpPr>
          <p:cNvPr id="7" name="step1-badge-text"/>
          <p:cNvSpPr txBox="1"/>
          <p:nvPr/>
        </p:nvSpPr>
        <p:spPr>
          <a:xfrm>
            <a:off x="786384"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8" name="step1-h"/>
          <p:cNvSpPr txBox="1"/>
          <p:nvPr/>
        </p:nvSpPr>
        <p:spPr>
          <a:xfrm>
            <a:off x="786384" y="2212848"/>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Decompose</a:t>
            </a:r>
            <a:endParaRPr lang="en-US" sz="1500" dirty="0"/>
          </a:p>
        </p:txBody>
      </p:sp>
      <p:sp>
        <p:nvSpPr>
          <p:cNvPr id="9" name="step1-b"/>
          <p:cNvSpPr txBox="1"/>
          <p:nvPr/>
        </p:nvSpPr>
        <p:spPr>
          <a:xfrm>
            <a:off x="786384" y="2596896"/>
            <a:ext cx="2157984" cy="85953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SAFE's extractor splits each sentence into atomic facts, then resolves vague references.</a:t>
            </a:r>
            <a:endParaRPr lang="en-US" sz="1200" dirty="0"/>
          </a:p>
        </p:txBody>
      </p:sp>
      <p:sp>
        <p:nvSpPr>
          <p:cNvPr id="10" name="step2"/>
          <p:cNvSpPr/>
          <p:nvPr/>
        </p:nvSpPr>
        <p:spPr>
          <a:xfrm>
            <a:off x="3364992" y="1444752"/>
            <a:ext cx="2633472" cy="2194560"/>
          </a:xfrm>
          <a:prstGeom prst="roundRect">
            <a:avLst>
              <a:gd name="adj" fmla="val 2500"/>
            </a:avLst>
          </a:prstGeom>
          <a:solidFill>
            <a:srgbClr val="FFFFFF"/>
          </a:solidFill>
          <a:ln w="12700">
            <a:solidFill>
              <a:srgbClr val="E90802"/>
            </a:solidFill>
            <a:prstDash val="solid"/>
          </a:ln>
        </p:spPr>
      </p:sp>
      <p:sp>
        <p:nvSpPr>
          <p:cNvPr id="11" name="step2-badge"/>
          <p:cNvSpPr/>
          <p:nvPr/>
        </p:nvSpPr>
        <p:spPr>
          <a:xfrm>
            <a:off x="3602736" y="1645920"/>
            <a:ext cx="420624" cy="420624"/>
          </a:xfrm>
          <a:prstGeom prst="ellipse">
            <a:avLst/>
          </a:prstGeom>
          <a:solidFill>
            <a:srgbClr val="E90802"/>
          </a:solidFill>
          <a:ln w="12700">
            <a:solidFill>
              <a:srgbClr val="E90802"/>
            </a:solidFill>
            <a:prstDash val="solid"/>
          </a:ln>
        </p:spPr>
      </p:sp>
      <p:sp>
        <p:nvSpPr>
          <p:cNvPr id="12" name="step2-badge-text"/>
          <p:cNvSpPr txBox="1"/>
          <p:nvPr/>
        </p:nvSpPr>
        <p:spPr>
          <a:xfrm>
            <a:off x="3602736"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3" name="step2-h"/>
          <p:cNvSpPr txBox="1"/>
          <p:nvPr/>
        </p:nvSpPr>
        <p:spPr>
          <a:xfrm>
            <a:off x="3602736" y="2212848"/>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Detect</a:t>
            </a:r>
            <a:endParaRPr lang="en-US" sz="1500" dirty="0"/>
          </a:p>
        </p:txBody>
      </p:sp>
      <p:sp>
        <p:nvSpPr>
          <p:cNvPr id="14" name="step2-b"/>
          <p:cNvSpPr txBox="1"/>
          <p:nvPr/>
        </p:nvSpPr>
        <p:spPr>
          <a:xfrm>
            <a:off x="3602736" y="2596896"/>
            <a:ext cx="2157984" cy="85953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Judges flag incomplete facts by subtype, and missing temporal or contingency relations.</a:t>
            </a:r>
            <a:endParaRPr lang="en-US" sz="1200" dirty="0"/>
          </a:p>
        </p:txBody>
      </p:sp>
      <p:sp>
        <p:nvSpPr>
          <p:cNvPr id="15" name="step3"/>
          <p:cNvSpPr/>
          <p:nvPr/>
        </p:nvSpPr>
        <p:spPr>
          <a:xfrm>
            <a:off x="6181344" y="1444752"/>
            <a:ext cx="2633472" cy="2194560"/>
          </a:xfrm>
          <a:prstGeom prst="roundRect">
            <a:avLst>
              <a:gd name="adj" fmla="val 2500"/>
            </a:avLst>
          </a:prstGeom>
          <a:solidFill>
            <a:srgbClr val="FFFFFF"/>
          </a:solidFill>
          <a:ln w="12700">
            <a:solidFill>
              <a:srgbClr val="E90802"/>
            </a:solidFill>
            <a:prstDash val="solid"/>
          </a:ln>
        </p:spPr>
      </p:sp>
      <p:sp>
        <p:nvSpPr>
          <p:cNvPr id="16" name="step3-badge"/>
          <p:cNvSpPr/>
          <p:nvPr/>
        </p:nvSpPr>
        <p:spPr>
          <a:xfrm>
            <a:off x="6419088" y="1645920"/>
            <a:ext cx="420624" cy="420624"/>
          </a:xfrm>
          <a:prstGeom prst="ellipse">
            <a:avLst/>
          </a:prstGeom>
          <a:solidFill>
            <a:srgbClr val="E90802"/>
          </a:solidFill>
          <a:ln w="12700">
            <a:solidFill>
              <a:srgbClr val="E90802"/>
            </a:solidFill>
            <a:prstDash val="solid"/>
          </a:ln>
        </p:spPr>
      </p:sp>
      <p:sp>
        <p:nvSpPr>
          <p:cNvPr id="17" name="step3-badge-text"/>
          <p:cNvSpPr txBox="1"/>
          <p:nvPr/>
        </p:nvSpPr>
        <p:spPr>
          <a:xfrm>
            <a:off x="6419088"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8" name="step3-h"/>
          <p:cNvSpPr txBox="1"/>
          <p:nvPr/>
        </p:nvSpPr>
        <p:spPr>
          <a:xfrm>
            <a:off x="6419088" y="2212848"/>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Refine</a:t>
            </a:r>
            <a:endParaRPr lang="en-US" sz="1500" dirty="0"/>
          </a:p>
        </p:txBody>
      </p:sp>
      <p:sp>
        <p:nvSpPr>
          <p:cNvPr id="19" name="step3-b"/>
          <p:cNvSpPr txBox="1"/>
          <p:nvPr/>
        </p:nvSpPr>
        <p:spPr>
          <a:xfrm>
            <a:off x="6419088" y="2596896"/>
            <a:ext cx="2157984" cy="85953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Self-reflection rewrites each flagged fact and writes one new fact per missing relation.</a:t>
            </a:r>
            <a:endParaRPr lang="en-US" sz="1200" dirty="0"/>
          </a:p>
        </p:txBody>
      </p:sp>
      <p:sp>
        <p:nvSpPr>
          <p:cNvPr id="20" name="step4"/>
          <p:cNvSpPr/>
          <p:nvPr/>
        </p:nvSpPr>
        <p:spPr>
          <a:xfrm>
            <a:off x="8997696" y="1444752"/>
            <a:ext cx="2633472" cy="2194560"/>
          </a:xfrm>
          <a:prstGeom prst="roundRect">
            <a:avLst>
              <a:gd name="adj" fmla="val 2500"/>
            </a:avLst>
          </a:prstGeom>
          <a:solidFill>
            <a:srgbClr val="FFFFFF"/>
          </a:solidFill>
          <a:ln w="12700">
            <a:solidFill>
              <a:srgbClr val="EDEDED"/>
            </a:solidFill>
            <a:prstDash val="solid"/>
          </a:ln>
        </p:spPr>
      </p:sp>
      <p:sp>
        <p:nvSpPr>
          <p:cNvPr id="21" name="step4-badge"/>
          <p:cNvSpPr/>
          <p:nvPr/>
        </p:nvSpPr>
        <p:spPr>
          <a:xfrm>
            <a:off x="9235440" y="1645920"/>
            <a:ext cx="420624" cy="420624"/>
          </a:xfrm>
          <a:prstGeom prst="ellipse">
            <a:avLst/>
          </a:prstGeom>
          <a:solidFill>
            <a:srgbClr val="757575"/>
          </a:solidFill>
          <a:ln w="12700">
            <a:solidFill>
              <a:srgbClr val="757575"/>
            </a:solidFill>
            <a:prstDash val="solid"/>
          </a:ln>
        </p:spPr>
      </p:sp>
      <p:sp>
        <p:nvSpPr>
          <p:cNvPr id="22" name="step4-badge-text"/>
          <p:cNvSpPr txBox="1"/>
          <p:nvPr/>
        </p:nvSpPr>
        <p:spPr>
          <a:xfrm>
            <a:off x="9235440"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23" name="step4-h"/>
          <p:cNvSpPr txBox="1"/>
          <p:nvPr/>
        </p:nvSpPr>
        <p:spPr>
          <a:xfrm>
            <a:off x="9235440" y="2212848"/>
            <a:ext cx="2157984" cy="310896"/>
          </a:xfrm>
          <a:prstGeom prst="rect">
            <a:avLst/>
          </a:prstGeom>
          <a:noFill/>
          <a:ln/>
        </p:spPr>
        <p:txBody>
          <a:bodyPr wrap="square" lIns="0" tIns="0" rIns="0" bIns="0" rtlCol="0" anchor="ctr"/>
          <a:lstStyle/>
          <a:p>
            <a:pPr indent="0" marL="0">
              <a:buNone/>
            </a:pPr>
            <a:r>
              <a:rPr lang="en-US" sz="1500" b="1" dirty="0">
                <a:solidFill>
                  <a:srgbClr val="000000"/>
                </a:solidFill>
              </a:rPr>
              <a:t>Verify</a:t>
            </a:r>
            <a:endParaRPr lang="en-US" sz="1500" dirty="0"/>
          </a:p>
        </p:txBody>
      </p:sp>
      <p:sp>
        <p:nvSpPr>
          <p:cNvPr id="24" name="step4-b"/>
          <p:cNvSpPr txBox="1"/>
          <p:nvPr/>
        </p:nvSpPr>
        <p:spPr>
          <a:xfrm>
            <a:off x="9235440" y="2596896"/>
            <a:ext cx="2157984" cy="859536"/>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Google Search via Serper, cross-encoder reranking, then Supported / Contradicted / Undecided.</a:t>
            </a:r>
            <a:endParaRPr lang="en-US" sz="1200" dirty="0"/>
          </a:p>
        </p:txBody>
      </p:sp>
      <p:sp>
        <p:nvSpPr>
          <p:cNvPr id="25" name="detect"/>
          <p:cNvSpPr/>
          <p:nvPr/>
        </p:nvSpPr>
        <p:spPr>
          <a:xfrm>
            <a:off x="548640" y="3840480"/>
            <a:ext cx="5486400" cy="2011680"/>
          </a:xfrm>
          <a:prstGeom prst="roundRect">
            <a:avLst>
              <a:gd name="adj" fmla="val 2727"/>
            </a:avLst>
          </a:prstGeom>
          <a:solidFill>
            <a:srgbClr val="000000"/>
          </a:solidFill>
          <a:ln w="12700">
            <a:solidFill>
              <a:srgbClr val="000000"/>
            </a:solidFill>
            <a:prstDash val="solid"/>
          </a:ln>
        </p:spPr>
      </p:sp>
      <p:sp>
        <p:nvSpPr>
          <p:cNvPr id="26" name="detect-h"/>
          <p:cNvSpPr txBox="1"/>
          <p:nvPr/>
        </p:nvSpPr>
        <p:spPr>
          <a:xfrm>
            <a:off x="786384" y="4041648"/>
            <a:ext cx="5010912" cy="310896"/>
          </a:xfrm>
          <a:prstGeom prst="rect">
            <a:avLst/>
          </a:prstGeom>
          <a:noFill/>
          <a:ln/>
        </p:spPr>
        <p:txBody>
          <a:bodyPr wrap="square" lIns="0" tIns="0" rIns="0" bIns="0" rtlCol="0" anchor="ctr"/>
          <a:lstStyle/>
          <a:p>
            <a:pPr indent="0" marL="0">
              <a:buNone/>
            </a:pPr>
            <a:r>
              <a:rPr lang="en-US" sz="1400" b="1" dirty="0">
                <a:solidFill>
                  <a:srgbClr val="E90802"/>
                </a:solidFill>
              </a:rPr>
              <a:t>Detecting incomplete facts</a:t>
            </a:r>
            <a:endParaRPr lang="en-US" sz="1400" dirty="0"/>
          </a:p>
        </p:txBody>
      </p:sp>
      <p:sp>
        <p:nvSpPr>
          <p:cNvPr id="27" name="detect-b"/>
          <p:cNvSpPr txBox="1"/>
          <p:nvPr/>
        </p:nvSpPr>
        <p:spPr>
          <a:xfrm>
            <a:off x="786384" y="4425696"/>
            <a:ext cx="5010912" cy="12435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Each fact is judged against the response it came from, and labelled with one of four subtypes: ambiguous concept or pronoun, missing comparison, omitted condition or source, other.</a:t>
            </a:r>
            <a:endParaRPr lang="en-US" sz="1200" dirty="0"/>
          </a:p>
        </p:txBody>
      </p:sp>
      <p:sp>
        <p:nvSpPr>
          <p:cNvPr id="28" name="relate"/>
          <p:cNvSpPr/>
          <p:nvPr/>
        </p:nvSpPr>
        <p:spPr>
          <a:xfrm>
            <a:off x="6355080" y="3840480"/>
            <a:ext cx="5257800" cy="2011680"/>
          </a:xfrm>
          <a:prstGeom prst="roundRect">
            <a:avLst>
              <a:gd name="adj" fmla="val 2727"/>
            </a:avLst>
          </a:prstGeom>
          <a:solidFill>
            <a:srgbClr val="000000"/>
          </a:solidFill>
          <a:ln w="19050">
            <a:solidFill>
              <a:srgbClr val="E90802"/>
            </a:solidFill>
            <a:prstDash val="solid"/>
          </a:ln>
        </p:spPr>
      </p:sp>
      <p:sp>
        <p:nvSpPr>
          <p:cNvPr id="29" name="relate-h"/>
          <p:cNvSpPr txBox="1"/>
          <p:nvPr/>
        </p:nvSpPr>
        <p:spPr>
          <a:xfrm>
            <a:off x="6592824" y="4041648"/>
            <a:ext cx="4782312" cy="310896"/>
          </a:xfrm>
          <a:prstGeom prst="rect">
            <a:avLst/>
          </a:prstGeom>
          <a:noFill/>
          <a:ln/>
        </p:spPr>
        <p:txBody>
          <a:bodyPr wrap="square" lIns="0" tIns="0" rIns="0" bIns="0" rtlCol="0" anchor="ctr"/>
          <a:lstStyle/>
          <a:p>
            <a:pPr indent="0" marL="0">
              <a:buNone/>
            </a:pPr>
            <a:r>
              <a:rPr lang="en-US" sz="1400" b="1" dirty="0">
                <a:solidFill>
                  <a:srgbClr val="E90802"/>
                </a:solidFill>
              </a:rPr>
              <a:t>Detecting missing relations</a:t>
            </a:r>
            <a:endParaRPr lang="en-US" sz="1400" dirty="0"/>
          </a:p>
        </p:txBody>
      </p:sp>
      <p:sp>
        <p:nvSpPr>
          <p:cNvPr id="30" name="relate-b"/>
          <p:cNvSpPr txBox="1"/>
          <p:nvPr/>
        </p:nvSpPr>
        <p:spPr>
          <a:xfrm>
            <a:off x="6592824" y="4425696"/>
            <a:ext cx="4782312" cy="124358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Word mapping marks every response character covered by some fact. Each uncovered span is then asked two questions: does it express a temporal or contingency relation, and is it already captured by a single existing fact?</a:t>
            </a:r>
            <a:endParaRPr lang="en-US" sz="1200" dirty="0"/>
          </a:p>
        </p:txBody>
      </p:sp>
      <p:sp>
        <p:nvSpPr>
          <p:cNvPr id="31"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 three detection judges are GPT-4o + Llama 3.3-70B + Qwen 2.5-32B — not the 12 models the paper separately benchmarks.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1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Setting up the experiment</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Every paid component replaced by a free local one</a:t>
            </a:r>
            <a:endParaRPr lang="en-US" sz="1500" dirty="0"/>
          </a:p>
        </p:txBody>
      </p:sp>
      <p:graphicFrame>
        <p:nvGraphicFramePr>
          <p:cNvPr id="6" name="map"/>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3017520"/>
                <a:gridCol w="4023360"/>
                <a:gridCol w="4023360"/>
              </a:tblGrid>
              <a:tr h="365760">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Component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Paper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Judges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GPT-4o + Llama 3.3-70B + Qwen 2.5-32B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Qwen2.5-3B + Llama-3.2-3B, and 7–8B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Extract / refine / verify</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Llama 3.3-70B-Instruct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Qwen2.5-3B, and Qwen2.5-7B</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Evidence source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Google Search via Serper (paid)</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Wikipedia API, cached for replay</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Evidence ranking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cross-encoder reranker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BM25 over retrieved paragraphs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Benchmark</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FACTRBENCH, 1,096 prompts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mini benchmark, 12 prompts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Reference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4 frontier LLMs + human answers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86 facts, written and verified by hand</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Serving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vLLM, multi-GPU</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Ollama on a 4 GB GTX 1650 and a Colab T4</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sc0"/>
          <p:cNvSpPr/>
          <p:nvPr/>
        </p:nvSpPr>
        <p:spPr>
          <a:xfrm>
            <a:off x="548640" y="4434840"/>
            <a:ext cx="2633472" cy="1280160"/>
          </a:xfrm>
          <a:prstGeom prst="roundRect">
            <a:avLst>
              <a:gd name="adj" fmla="val 4286"/>
            </a:avLst>
          </a:prstGeom>
          <a:solidFill>
            <a:srgbClr val="EDEDED"/>
          </a:solidFill>
          <a:ln w="12700">
            <a:solidFill>
              <a:srgbClr val="EDEDED"/>
            </a:solidFill>
            <a:prstDash val="solid"/>
          </a:ln>
        </p:spPr>
      </p:sp>
      <p:sp>
        <p:nvSpPr>
          <p:cNvPr id="7" name="sc0-l"/>
          <p:cNvSpPr txBox="1"/>
          <p:nvPr/>
        </p:nvSpPr>
        <p:spPr>
          <a:xfrm>
            <a:off x="749808" y="45994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QUESTIONS</a:t>
            </a:r>
            <a:endParaRPr lang="en-US" sz="1000" dirty="0"/>
          </a:p>
        </p:txBody>
      </p:sp>
      <p:sp>
        <p:nvSpPr>
          <p:cNvPr id="8" name="sc0-v"/>
          <p:cNvSpPr txBox="1"/>
          <p:nvPr/>
        </p:nvSpPr>
        <p:spPr>
          <a:xfrm>
            <a:off x="749808" y="4855464"/>
            <a:ext cx="2231136" cy="530352"/>
          </a:xfrm>
          <a:prstGeom prst="rect">
            <a:avLst/>
          </a:prstGeom>
          <a:noFill/>
          <a:ln/>
        </p:spPr>
        <p:txBody>
          <a:bodyPr wrap="square" lIns="0" tIns="0" rIns="0" bIns="0" rtlCol="0" anchor="ctr"/>
          <a:lstStyle/>
          <a:p>
            <a:pPr indent="0" marL="0">
              <a:buNone/>
            </a:pPr>
            <a:r>
              <a:rPr lang="en-US" sz="2400" b="1" dirty="0">
                <a:solidFill>
                  <a:srgbClr val="000000"/>
                </a:solidFill>
              </a:rPr>
              <a:t>12</a:t>
            </a:r>
            <a:endParaRPr lang="en-US" sz="2400" dirty="0"/>
          </a:p>
        </p:txBody>
      </p:sp>
      <p:sp>
        <p:nvSpPr>
          <p:cNvPr id="9" name="sc0-f"/>
          <p:cNvSpPr txBox="1"/>
          <p:nvPr/>
        </p:nvSpPr>
        <p:spPr>
          <a:xfrm>
            <a:off x="749808" y="533095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written for the failure modes</a:t>
            </a:r>
            <a:endParaRPr lang="en-US" sz="1100" dirty="0"/>
          </a:p>
        </p:txBody>
      </p:sp>
      <p:sp>
        <p:nvSpPr>
          <p:cNvPr id="10" name="sc1"/>
          <p:cNvSpPr/>
          <p:nvPr/>
        </p:nvSpPr>
        <p:spPr>
          <a:xfrm>
            <a:off x="3364992" y="4434840"/>
            <a:ext cx="2633472" cy="1280160"/>
          </a:xfrm>
          <a:prstGeom prst="roundRect">
            <a:avLst>
              <a:gd name="adj" fmla="val 4286"/>
            </a:avLst>
          </a:prstGeom>
          <a:solidFill>
            <a:srgbClr val="EDEDED"/>
          </a:solidFill>
          <a:ln w="12700">
            <a:solidFill>
              <a:srgbClr val="EDEDED"/>
            </a:solidFill>
            <a:prstDash val="solid"/>
          </a:ln>
        </p:spPr>
      </p:sp>
      <p:sp>
        <p:nvSpPr>
          <p:cNvPr id="11" name="sc1-l"/>
          <p:cNvSpPr txBox="1"/>
          <p:nvPr/>
        </p:nvSpPr>
        <p:spPr>
          <a:xfrm>
            <a:off x="3566160" y="45994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REFERENCE FACTS</a:t>
            </a:r>
            <a:endParaRPr lang="en-US" sz="1000" dirty="0"/>
          </a:p>
        </p:txBody>
      </p:sp>
      <p:sp>
        <p:nvSpPr>
          <p:cNvPr id="12" name="sc1-v"/>
          <p:cNvSpPr txBox="1"/>
          <p:nvPr/>
        </p:nvSpPr>
        <p:spPr>
          <a:xfrm>
            <a:off x="3566160" y="4855464"/>
            <a:ext cx="2231136" cy="530352"/>
          </a:xfrm>
          <a:prstGeom prst="rect">
            <a:avLst/>
          </a:prstGeom>
          <a:noFill/>
          <a:ln/>
        </p:spPr>
        <p:txBody>
          <a:bodyPr wrap="square" lIns="0" tIns="0" rIns="0" bIns="0" rtlCol="0" anchor="ctr"/>
          <a:lstStyle/>
          <a:p>
            <a:pPr indent="0" marL="0">
              <a:buNone/>
            </a:pPr>
            <a:r>
              <a:rPr lang="en-US" sz="2400" b="1" dirty="0">
                <a:solidFill>
                  <a:srgbClr val="000000"/>
                </a:solidFill>
              </a:rPr>
              <a:t>86</a:t>
            </a:r>
            <a:endParaRPr lang="en-US" sz="2400" dirty="0"/>
          </a:p>
        </p:txBody>
      </p:sp>
      <p:sp>
        <p:nvSpPr>
          <p:cNvPr id="13" name="sc1-f"/>
          <p:cNvSpPr txBox="1"/>
          <p:nvPr/>
        </p:nvSpPr>
        <p:spPr>
          <a:xfrm>
            <a:off x="3566160" y="533095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hand-written, sources recorded</a:t>
            </a:r>
            <a:endParaRPr lang="en-US" sz="1100" dirty="0"/>
          </a:p>
        </p:txBody>
      </p:sp>
      <p:sp>
        <p:nvSpPr>
          <p:cNvPr id="14" name="sc2"/>
          <p:cNvSpPr/>
          <p:nvPr/>
        </p:nvSpPr>
        <p:spPr>
          <a:xfrm>
            <a:off x="6181344" y="4434840"/>
            <a:ext cx="2633472" cy="1280160"/>
          </a:xfrm>
          <a:prstGeom prst="roundRect">
            <a:avLst>
              <a:gd name="adj" fmla="val 4286"/>
            </a:avLst>
          </a:prstGeom>
          <a:solidFill>
            <a:srgbClr val="EDEDED"/>
          </a:solidFill>
          <a:ln w="12700">
            <a:solidFill>
              <a:srgbClr val="EDEDED"/>
            </a:solidFill>
            <a:prstDash val="solid"/>
          </a:ln>
        </p:spPr>
      </p:sp>
      <p:sp>
        <p:nvSpPr>
          <p:cNvPr id="15" name="sc2-l"/>
          <p:cNvSpPr txBox="1"/>
          <p:nvPr/>
        </p:nvSpPr>
        <p:spPr>
          <a:xfrm>
            <a:off x="6382512" y="45994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API KEYS</a:t>
            </a:r>
            <a:endParaRPr lang="en-US" sz="1000" dirty="0"/>
          </a:p>
        </p:txBody>
      </p:sp>
      <p:sp>
        <p:nvSpPr>
          <p:cNvPr id="16" name="sc2-v"/>
          <p:cNvSpPr txBox="1"/>
          <p:nvPr/>
        </p:nvSpPr>
        <p:spPr>
          <a:xfrm>
            <a:off x="6382512" y="4855464"/>
            <a:ext cx="2231136" cy="530352"/>
          </a:xfrm>
          <a:prstGeom prst="rect">
            <a:avLst/>
          </a:prstGeom>
          <a:noFill/>
          <a:ln/>
        </p:spPr>
        <p:txBody>
          <a:bodyPr wrap="square" lIns="0" tIns="0" rIns="0" bIns="0" rtlCol="0" anchor="ctr"/>
          <a:lstStyle/>
          <a:p>
            <a:pPr indent="0" marL="0">
              <a:buNone/>
            </a:pPr>
            <a:r>
              <a:rPr lang="en-US" sz="2400" b="1" dirty="0">
                <a:solidFill>
                  <a:srgbClr val="000000"/>
                </a:solidFill>
              </a:rPr>
              <a:t>None</a:t>
            </a:r>
            <a:endParaRPr lang="en-US" sz="2400" dirty="0"/>
          </a:p>
        </p:txBody>
      </p:sp>
      <p:sp>
        <p:nvSpPr>
          <p:cNvPr id="17" name="sc2-f"/>
          <p:cNvSpPr txBox="1"/>
          <p:nvPr/>
        </p:nvSpPr>
        <p:spPr>
          <a:xfrm>
            <a:off x="6382512" y="533095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no account, no quota</a:t>
            </a:r>
            <a:endParaRPr lang="en-US" sz="1100" dirty="0"/>
          </a:p>
        </p:txBody>
      </p:sp>
      <p:sp>
        <p:nvSpPr>
          <p:cNvPr id="18" name="sc3"/>
          <p:cNvSpPr/>
          <p:nvPr/>
        </p:nvSpPr>
        <p:spPr>
          <a:xfrm>
            <a:off x="8997696" y="4434840"/>
            <a:ext cx="2633472" cy="1280160"/>
          </a:xfrm>
          <a:prstGeom prst="roundRect">
            <a:avLst>
              <a:gd name="adj" fmla="val 4286"/>
            </a:avLst>
          </a:prstGeom>
          <a:solidFill>
            <a:srgbClr val="EDEDED"/>
          </a:solidFill>
          <a:ln w="12700">
            <a:solidFill>
              <a:srgbClr val="EDEDED"/>
            </a:solidFill>
            <a:prstDash val="solid"/>
          </a:ln>
        </p:spPr>
      </p:sp>
      <p:sp>
        <p:nvSpPr>
          <p:cNvPr id="19" name="sc3-l"/>
          <p:cNvSpPr txBox="1"/>
          <p:nvPr/>
        </p:nvSpPr>
        <p:spPr>
          <a:xfrm>
            <a:off x="9198864" y="4599432"/>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TOTAL COST</a:t>
            </a:r>
            <a:endParaRPr lang="en-US" sz="1000" dirty="0"/>
          </a:p>
        </p:txBody>
      </p:sp>
      <p:sp>
        <p:nvSpPr>
          <p:cNvPr id="20" name="sc3-v"/>
          <p:cNvSpPr txBox="1"/>
          <p:nvPr/>
        </p:nvSpPr>
        <p:spPr>
          <a:xfrm>
            <a:off x="9198864" y="4855464"/>
            <a:ext cx="2231136" cy="530352"/>
          </a:xfrm>
          <a:prstGeom prst="rect">
            <a:avLst/>
          </a:prstGeom>
          <a:noFill/>
          <a:ln/>
        </p:spPr>
        <p:txBody>
          <a:bodyPr wrap="square" lIns="0" tIns="0" rIns="0" bIns="0" rtlCol="0" anchor="ctr"/>
          <a:lstStyle/>
          <a:p>
            <a:pPr indent="0" marL="0">
              <a:buNone/>
            </a:pPr>
            <a:r>
              <a:rPr lang="en-US" sz="2400" b="1" dirty="0">
                <a:solidFill>
                  <a:srgbClr val="E90802"/>
                </a:solidFill>
              </a:rPr>
              <a:t>$0</a:t>
            </a:r>
            <a:endParaRPr lang="en-US" sz="2400" dirty="0"/>
          </a:p>
        </p:txBody>
      </p:sp>
      <p:sp>
        <p:nvSpPr>
          <p:cNvPr id="21" name="sc3-f"/>
          <p:cNvSpPr txBox="1"/>
          <p:nvPr/>
        </p:nvSpPr>
        <p:spPr>
          <a:xfrm>
            <a:off x="9198864" y="5330952"/>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4 GB laptop GPU and free Colab</a:t>
            </a:r>
            <a:endParaRPr lang="en-US" sz="1100" dirty="0"/>
          </a:p>
        </p:txBody>
      </p:sp>
      <p:sp>
        <p:nvSpPr>
          <p:cNvPr id="2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Reference facts are written from authoritative sources and deliberately not derived from the answer being evaluated. All model names live in config.yaml; none is hard-coded.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2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Generating the baseline</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EDEDED"/>
                </a:solidFill>
                <a:latin typeface="Arial" pitchFamily="34" charset="0"/>
                <a:ea typeface="Arial" pitchFamily="34" charset="-122"/>
                <a:cs typeface="Arial" pitchFamily="34" charset="-120"/>
              </a:rPr>
              <a:t>One answer set, scored two ways, so only refinement differs</a:t>
            </a:r>
            <a:endParaRPr lang="en-US" sz="1500" dirty="0"/>
          </a:p>
        </p:txBody>
      </p:sp>
      <p:sp>
        <p:nvSpPr>
          <p:cNvPr id="5" name="gen-box"/>
          <p:cNvSpPr/>
          <p:nvPr/>
        </p:nvSpPr>
        <p:spPr>
          <a:xfrm>
            <a:off x="2377440" y="1463040"/>
            <a:ext cx="7406640" cy="512064"/>
          </a:xfrm>
          <a:prstGeom prst="roundRect">
            <a:avLst>
              <a:gd name="adj" fmla="val 50000"/>
            </a:avLst>
          </a:prstGeom>
          <a:solidFill>
            <a:srgbClr val="E90802"/>
          </a:solidFill>
          <a:ln w="12700">
            <a:solidFill>
              <a:srgbClr val="E90802"/>
            </a:solidFill>
            <a:prstDash val="solid"/>
          </a:ln>
        </p:spPr>
      </p:sp>
      <p:sp>
        <p:nvSpPr>
          <p:cNvPr id="6" name="gen-text"/>
          <p:cNvSpPr txBox="1"/>
          <p:nvPr/>
        </p:nvSpPr>
        <p:spPr>
          <a:xfrm>
            <a:off x="2377440" y="1463040"/>
            <a:ext cx="7406640" cy="51206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Question → local LLM generates the answer ONCE → reused by every run</a:t>
            </a:r>
            <a:endParaRPr lang="en-US" sz="1400" dirty="0"/>
          </a:p>
        </p:txBody>
      </p:sp>
      <p:sp>
        <p:nvSpPr>
          <p:cNvPr id="7" name="base"/>
          <p:cNvSpPr/>
          <p:nvPr/>
        </p:nvSpPr>
        <p:spPr>
          <a:xfrm>
            <a:off x="548640" y="2148840"/>
            <a:ext cx="5440680" cy="1463040"/>
          </a:xfrm>
          <a:prstGeom prst="roundRect">
            <a:avLst>
              <a:gd name="adj" fmla="val 3750"/>
            </a:avLst>
          </a:prstGeom>
          <a:solidFill>
            <a:srgbClr val="333333"/>
          </a:solidFill>
          <a:ln w="12700">
            <a:solidFill>
              <a:srgbClr val="333333"/>
            </a:solidFill>
            <a:prstDash val="solid"/>
          </a:ln>
        </p:spPr>
      </p:sp>
      <p:sp>
        <p:nvSpPr>
          <p:cNvPr id="8" name="base-h"/>
          <p:cNvSpPr txBox="1"/>
          <p:nvPr/>
        </p:nvSpPr>
        <p:spPr>
          <a:xfrm>
            <a:off x="786384" y="2350008"/>
            <a:ext cx="4965192" cy="310896"/>
          </a:xfrm>
          <a:prstGeom prst="rect">
            <a:avLst/>
          </a:prstGeom>
          <a:noFill/>
          <a:ln/>
        </p:spPr>
        <p:txBody>
          <a:bodyPr wrap="square" lIns="0" tIns="0" rIns="0" bIns="0" rtlCol="0" anchor="ctr"/>
          <a:lstStyle/>
          <a:p>
            <a:pPr indent="0" marL="0">
              <a:buNone/>
            </a:pPr>
            <a:r>
              <a:rPr lang="en-US" sz="1500" b="1" dirty="0">
                <a:solidFill>
                  <a:srgbClr val="FFFFFF"/>
                </a:solidFill>
              </a:rPr>
              <a:t>Baseline — variant A</a:t>
            </a:r>
            <a:endParaRPr lang="en-US" sz="1500" dirty="0"/>
          </a:p>
        </p:txBody>
      </p:sp>
      <p:sp>
        <p:nvSpPr>
          <p:cNvPr id="9" name="base-b"/>
          <p:cNvSpPr txBox="1"/>
          <p:nvPr/>
        </p:nvSpPr>
        <p:spPr>
          <a:xfrm>
            <a:off x="786384" y="2734056"/>
            <a:ext cx="4965192" cy="69494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SAFE-style extraction  →  retrieval and verification</a:t>
            </a:r>
            <a:endParaRPr lang="en-US" sz="1400" dirty="0"/>
          </a:p>
        </p:txBody>
      </p:sp>
      <p:sp>
        <p:nvSpPr>
          <p:cNvPr id="10" name="vfl"/>
          <p:cNvSpPr/>
          <p:nvPr/>
        </p:nvSpPr>
        <p:spPr>
          <a:xfrm>
            <a:off x="6172200" y="2148840"/>
            <a:ext cx="5440680" cy="1463040"/>
          </a:xfrm>
          <a:prstGeom prst="roundRect">
            <a:avLst>
              <a:gd name="adj" fmla="val 3750"/>
            </a:avLst>
          </a:prstGeom>
          <a:solidFill>
            <a:srgbClr val="333333"/>
          </a:solidFill>
          <a:ln w="19050">
            <a:solidFill>
              <a:srgbClr val="E90802"/>
            </a:solidFill>
            <a:prstDash val="solid"/>
          </a:ln>
        </p:spPr>
      </p:sp>
      <p:sp>
        <p:nvSpPr>
          <p:cNvPr id="11" name="vfl-h"/>
          <p:cNvSpPr txBox="1"/>
          <p:nvPr/>
        </p:nvSpPr>
        <p:spPr>
          <a:xfrm>
            <a:off x="6409944" y="2350008"/>
            <a:ext cx="4965192" cy="310896"/>
          </a:xfrm>
          <a:prstGeom prst="rect">
            <a:avLst/>
          </a:prstGeom>
          <a:noFill/>
          <a:ln/>
        </p:spPr>
        <p:txBody>
          <a:bodyPr wrap="square" lIns="0" tIns="0" rIns="0" bIns="0" rtlCol="0" anchor="ctr"/>
          <a:lstStyle/>
          <a:p>
            <a:pPr indent="0" marL="0">
              <a:buNone/>
            </a:pPr>
            <a:r>
              <a:rPr lang="en-US" sz="1500" b="1" dirty="0">
                <a:solidFill>
                  <a:srgbClr val="E90802"/>
                </a:solidFill>
              </a:rPr>
              <a:t>VERIFACT-Lite — variant D</a:t>
            </a:r>
            <a:endParaRPr lang="en-US" sz="1500" dirty="0"/>
          </a:p>
        </p:txBody>
      </p:sp>
      <p:sp>
        <p:nvSpPr>
          <p:cNvPr id="12" name="vfl-b"/>
          <p:cNvSpPr txBox="1"/>
          <p:nvPr/>
        </p:nvSpPr>
        <p:spPr>
          <a:xfrm>
            <a:off x="6409944" y="2734056"/>
            <a:ext cx="4965192" cy="694944"/>
          </a:xfrm>
          <a:prstGeom prst="rect">
            <a:avLst/>
          </a:prstGeom>
          <a:noFill/>
          <a:ln/>
        </p:spPr>
        <p:txBody>
          <a:bodyPr wrap="square" lIns="0" tIns="0" rIns="0" bIns="0" rtlCol="0" anchor="t"/>
          <a:lstStyle/>
          <a:p>
            <a:pPr indent="0" marL="0">
              <a:lnSpc>
                <a:spcPct val="120000"/>
              </a:lnSpc>
              <a:buNone/>
            </a:pPr>
            <a:r>
              <a:rPr lang="en-US" sz="1400" dirty="0">
                <a:solidFill>
                  <a:srgbClr val="EDEDED"/>
                </a:solidFill>
                <a:latin typeface="Arial" pitchFamily="34" charset="0"/>
                <a:ea typeface="Arial" pitchFamily="34" charset="-122"/>
                <a:cs typeface="Arial" pitchFamily="34" charset="-120"/>
              </a:rPr>
              <a:t>The same facts  →  detect  →  refine and add  →  the same retrieval and verification</a:t>
            </a:r>
            <a:endParaRPr lang="en-US" sz="1400" dirty="0"/>
          </a:p>
        </p:txBody>
      </p:sp>
      <p:sp>
        <p:nvSpPr>
          <p:cNvPr id="13" name="met0"/>
          <p:cNvSpPr/>
          <p:nvPr/>
        </p:nvSpPr>
        <p:spPr>
          <a:xfrm>
            <a:off x="548640" y="3794760"/>
            <a:ext cx="3547872" cy="1920240"/>
          </a:xfrm>
          <a:prstGeom prst="roundRect">
            <a:avLst>
              <a:gd name="adj" fmla="val 2857"/>
            </a:avLst>
          </a:prstGeom>
          <a:solidFill>
            <a:srgbClr val="333333"/>
          </a:solidFill>
          <a:ln w="12700">
            <a:solidFill>
              <a:srgbClr val="333333"/>
            </a:solidFill>
            <a:prstDash val="solid"/>
          </a:ln>
        </p:spPr>
      </p:sp>
      <p:sp>
        <p:nvSpPr>
          <p:cNvPr id="14" name="met0-h"/>
          <p:cNvSpPr txBox="1"/>
          <p:nvPr/>
        </p:nvSpPr>
        <p:spPr>
          <a:xfrm>
            <a:off x="786384" y="399592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Precision</a:t>
            </a:r>
            <a:endParaRPr lang="en-US" sz="1400" dirty="0"/>
          </a:p>
        </p:txBody>
      </p:sp>
      <p:sp>
        <p:nvSpPr>
          <p:cNvPr id="15" name="met0-b"/>
          <p:cNvSpPr txBox="1"/>
          <p:nvPr/>
        </p:nvSpPr>
        <p:spPr>
          <a:xfrm>
            <a:off x="786384" y="4379976"/>
            <a:ext cx="3072384" cy="11521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Supported facts ÷ all extracted facts. Undecided is reported separately and never counted as support.</a:t>
            </a:r>
            <a:endParaRPr lang="en-US" sz="1200" dirty="0"/>
          </a:p>
        </p:txBody>
      </p:sp>
      <p:sp>
        <p:nvSpPr>
          <p:cNvPr id="16" name="met1"/>
          <p:cNvSpPr/>
          <p:nvPr/>
        </p:nvSpPr>
        <p:spPr>
          <a:xfrm>
            <a:off x="4279392" y="3794760"/>
            <a:ext cx="3547872" cy="1920240"/>
          </a:xfrm>
          <a:prstGeom prst="roundRect">
            <a:avLst>
              <a:gd name="adj" fmla="val 2857"/>
            </a:avLst>
          </a:prstGeom>
          <a:solidFill>
            <a:srgbClr val="333333"/>
          </a:solidFill>
          <a:ln w="12700">
            <a:solidFill>
              <a:srgbClr val="333333"/>
            </a:solidFill>
            <a:prstDash val="solid"/>
          </a:ln>
        </p:spPr>
      </p:sp>
      <p:sp>
        <p:nvSpPr>
          <p:cNvPr id="17" name="met1-h"/>
          <p:cNvSpPr txBox="1"/>
          <p:nvPr/>
        </p:nvSpPr>
        <p:spPr>
          <a:xfrm>
            <a:off x="4517136" y="399592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Recall</a:t>
            </a:r>
            <a:endParaRPr lang="en-US" sz="1400" dirty="0"/>
          </a:p>
        </p:txBody>
      </p:sp>
      <p:sp>
        <p:nvSpPr>
          <p:cNvPr id="18" name="met1-b"/>
          <p:cNvSpPr txBox="1"/>
          <p:nvPr/>
        </p:nvSpPr>
        <p:spPr>
          <a:xfrm>
            <a:off x="4517136" y="4379976"/>
            <a:ext cx="3072384" cy="11521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Reference facts entailed by the answer ÷ all 86 reference facts. It scores the answer, so refinement cannot move it.</a:t>
            </a:r>
            <a:endParaRPr lang="en-US" sz="1200" dirty="0"/>
          </a:p>
        </p:txBody>
      </p:sp>
      <p:sp>
        <p:nvSpPr>
          <p:cNvPr id="19" name="met2"/>
          <p:cNvSpPr/>
          <p:nvPr/>
        </p:nvSpPr>
        <p:spPr>
          <a:xfrm>
            <a:off x="8010144" y="3794760"/>
            <a:ext cx="3547872" cy="1920240"/>
          </a:xfrm>
          <a:prstGeom prst="roundRect">
            <a:avLst>
              <a:gd name="adj" fmla="val 2857"/>
            </a:avLst>
          </a:prstGeom>
          <a:solidFill>
            <a:srgbClr val="333333"/>
          </a:solidFill>
          <a:ln w="12700">
            <a:solidFill>
              <a:srgbClr val="333333"/>
            </a:solidFill>
            <a:prstDash val="solid"/>
          </a:ln>
        </p:spPr>
      </p:sp>
      <p:sp>
        <p:nvSpPr>
          <p:cNvPr id="20" name="met2-h"/>
          <p:cNvSpPr txBox="1"/>
          <p:nvPr/>
        </p:nvSpPr>
        <p:spPr>
          <a:xfrm>
            <a:off x="8247888" y="399592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Incomplete rate</a:t>
            </a:r>
            <a:endParaRPr lang="en-US" sz="1400" dirty="0"/>
          </a:p>
        </p:txBody>
      </p:sp>
      <p:sp>
        <p:nvSpPr>
          <p:cNvPr id="21" name="met2-b"/>
          <p:cNvSpPr txBox="1"/>
          <p:nvPr/>
        </p:nvSpPr>
        <p:spPr>
          <a:xfrm>
            <a:off x="8247888" y="4379976"/>
            <a:ext cx="3072384" cy="115214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Measured by one designated judge while refinement is driven by the ensemble — facts are never scored by the rule that selected them.</a:t>
            </a:r>
            <a:endParaRPr lang="en-US" sz="1200" dirty="0"/>
          </a:p>
        </p:txBody>
      </p:sp>
      <p:sp>
        <p:nvSpPr>
          <p:cNvPr id="2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Verification is grounded: a SUPPORTED or CONTRADICTED verdict without a verbatim quote from the evidence is downgraded to UNDECIDED.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3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Extraction improves. Precision falls.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Baseline against VERIFACT-Lite, laptop run, Qwen2.5-3B judges</a:t>
            </a:r>
            <a:endParaRPr lang="en-US" sz="1500" dirty="0"/>
          </a:p>
        </p:txBody>
      </p:sp>
      <p:sp>
        <p:nvSpPr>
          <p:cNvPr id="5" name="h1"/>
          <p:cNvSpPr/>
          <p:nvPr/>
        </p:nvSpPr>
        <p:spPr>
          <a:xfrm>
            <a:off x="548640" y="1444752"/>
            <a:ext cx="2633472" cy="1325880"/>
          </a:xfrm>
          <a:prstGeom prst="roundRect">
            <a:avLst>
              <a:gd name="adj" fmla="val 4138"/>
            </a:avLst>
          </a:prstGeom>
          <a:solidFill>
            <a:srgbClr val="EDEDED"/>
          </a:solidFill>
          <a:ln w="12700">
            <a:solidFill>
              <a:srgbClr val="EDEDED"/>
            </a:solidFill>
            <a:prstDash val="solid"/>
          </a:ln>
        </p:spPr>
      </p:sp>
      <p:sp>
        <p:nvSpPr>
          <p:cNvPr id="6" name="h1-l"/>
          <p:cNvSpPr txBox="1"/>
          <p:nvPr/>
        </p:nvSpPr>
        <p:spPr>
          <a:xfrm>
            <a:off x="749808" y="1609344"/>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INCOMPLETE FACT RATE</a:t>
            </a:r>
            <a:endParaRPr lang="en-US" sz="1000" dirty="0"/>
          </a:p>
        </p:txBody>
      </p:sp>
      <p:sp>
        <p:nvSpPr>
          <p:cNvPr id="7" name="h1-v"/>
          <p:cNvSpPr txBox="1"/>
          <p:nvPr/>
        </p:nvSpPr>
        <p:spPr>
          <a:xfrm>
            <a:off x="749808" y="1865376"/>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0.105 → 0.091</a:t>
            </a:r>
            <a:endParaRPr lang="en-US" sz="2000" dirty="0"/>
          </a:p>
        </p:txBody>
      </p:sp>
      <p:sp>
        <p:nvSpPr>
          <p:cNvPr id="8" name="h1-f"/>
          <p:cNvSpPr txBox="1"/>
          <p:nvPr/>
        </p:nvSpPr>
        <p:spPr>
          <a:xfrm>
            <a:off x="749808" y="2386584"/>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−12.8%</a:t>
            </a:r>
            <a:endParaRPr lang="en-US" sz="1100" dirty="0"/>
          </a:p>
        </p:txBody>
      </p:sp>
      <p:sp>
        <p:nvSpPr>
          <p:cNvPr id="9" name="h2"/>
          <p:cNvSpPr/>
          <p:nvPr/>
        </p:nvSpPr>
        <p:spPr>
          <a:xfrm>
            <a:off x="3364992" y="1444752"/>
            <a:ext cx="2633472" cy="1325880"/>
          </a:xfrm>
          <a:prstGeom prst="roundRect">
            <a:avLst>
              <a:gd name="adj" fmla="val 4138"/>
            </a:avLst>
          </a:prstGeom>
          <a:solidFill>
            <a:srgbClr val="EDEDED"/>
          </a:solidFill>
          <a:ln w="12700">
            <a:solidFill>
              <a:srgbClr val="EDEDED"/>
            </a:solidFill>
            <a:prstDash val="solid"/>
          </a:ln>
        </p:spPr>
      </p:sp>
      <p:sp>
        <p:nvSpPr>
          <p:cNvPr id="10" name="h2-l"/>
          <p:cNvSpPr txBox="1"/>
          <p:nvPr/>
        </p:nvSpPr>
        <p:spPr>
          <a:xfrm>
            <a:off x="3566160" y="1609344"/>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MISSING RELATIONAL FACTS</a:t>
            </a:r>
            <a:endParaRPr lang="en-US" sz="1000" dirty="0"/>
          </a:p>
        </p:txBody>
      </p:sp>
      <p:sp>
        <p:nvSpPr>
          <p:cNvPr id="11" name="h2-v"/>
          <p:cNvSpPr txBox="1"/>
          <p:nvPr/>
        </p:nvSpPr>
        <p:spPr>
          <a:xfrm>
            <a:off x="3566160" y="1865376"/>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51 → 0</a:t>
            </a:r>
            <a:endParaRPr lang="en-US" sz="2000" dirty="0"/>
          </a:p>
        </p:txBody>
      </p:sp>
      <p:sp>
        <p:nvSpPr>
          <p:cNvPr id="12" name="h2-f"/>
          <p:cNvSpPr txBox="1"/>
          <p:nvPr/>
        </p:nvSpPr>
        <p:spPr>
          <a:xfrm>
            <a:off x="3566160" y="2386584"/>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all recovered</a:t>
            </a:r>
            <a:endParaRPr lang="en-US" sz="1100" dirty="0"/>
          </a:p>
        </p:txBody>
      </p:sp>
      <p:sp>
        <p:nvSpPr>
          <p:cNvPr id="13" name="h3"/>
          <p:cNvSpPr/>
          <p:nvPr/>
        </p:nvSpPr>
        <p:spPr>
          <a:xfrm>
            <a:off x="6181344" y="1444752"/>
            <a:ext cx="2633472" cy="1325880"/>
          </a:xfrm>
          <a:prstGeom prst="roundRect">
            <a:avLst>
              <a:gd name="adj" fmla="val 4138"/>
            </a:avLst>
          </a:prstGeom>
          <a:solidFill>
            <a:srgbClr val="EDEDED"/>
          </a:solidFill>
          <a:ln w="12700">
            <a:solidFill>
              <a:srgbClr val="EDEDED"/>
            </a:solidFill>
            <a:prstDash val="solid"/>
          </a:ln>
        </p:spPr>
      </p:sp>
      <p:sp>
        <p:nvSpPr>
          <p:cNvPr id="14" name="h3-l"/>
          <p:cNvSpPr txBox="1"/>
          <p:nvPr/>
        </p:nvSpPr>
        <p:spPr>
          <a:xfrm>
            <a:off x="6382512" y="1609344"/>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PRECISION</a:t>
            </a:r>
            <a:endParaRPr lang="en-US" sz="1000" dirty="0"/>
          </a:p>
        </p:txBody>
      </p:sp>
      <p:sp>
        <p:nvSpPr>
          <p:cNvPr id="15" name="h3-v"/>
          <p:cNvSpPr txBox="1"/>
          <p:nvPr/>
        </p:nvSpPr>
        <p:spPr>
          <a:xfrm>
            <a:off x="6382512" y="1865376"/>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0.420 → 0.343</a:t>
            </a:r>
            <a:endParaRPr lang="en-US" sz="2000" dirty="0"/>
          </a:p>
        </p:txBody>
      </p:sp>
      <p:sp>
        <p:nvSpPr>
          <p:cNvPr id="16" name="h3-f"/>
          <p:cNvSpPr txBox="1"/>
          <p:nvPr/>
        </p:nvSpPr>
        <p:spPr>
          <a:xfrm>
            <a:off x="6382512" y="2386584"/>
            <a:ext cx="2231136" cy="274320"/>
          </a:xfrm>
          <a:prstGeom prst="rect">
            <a:avLst/>
          </a:prstGeom>
          <a:noFill/>
          <a:ln/>
        </p:spPr>
        <p:txBody>
          <a:bodyPr wrap="square" lIns="0" tIns="0" rIns="0" bIns="0" rtlCol="0" anchor="ctr"/>
          <a:lstStyle/>
          <a:p>
            <a:pPr indent="0" marL="0">
              <a:buNone/>
            </a:pPr>
            <a:r>
              <a:rPr lang="en-US" sz="1100" b="1" dirty="0">
                <a:solidFill>
                  <a:srgbClr val="E90802"/>
                </a:solidFill>
                <a:latin typeface="Arial" pitchFamily="34" charset="0"/>
                <a:ea typeface="Arial" pitchFamily="34" charset="-122"/>
                <a:cs typeface="Arial" pitchFamily="34" charset="-120"/>
              </a:rPr>
              <a:t>−0.077</a:t>
            </a:r>
            <a:endParaRPr lang="en-US" sz="1100" dirty="0"/>
          </a:p>
        </p:txBody>
      </p:sp>
      <p:sp>
        <p:nvSpPr>
          <p:cNvPr id="17" name="h4"/>
          <p:cNvSpPr/>
          <p:nvPr/>
        </p:nvSpPr>
        <p:spPr>
          <a:xfrm>
            <a:off x="8997696" y="1444752"/>
            <a:ext cx="2633472" cy="1325880"/>
          </a:xfrm>
          <a:prstGeom prst="roundRect">
            <a:avLst>
              <a:gd name="adj" fmla="val 4138"/>
            </a:avLst>
          </a:prstGeom>
          <a:solidFill>
            <a:srgbClr val="EDEDED"/>
          </a:solidFill>
          <a:ln w="12700">
            <a:solidFill>
              <a:srgbClr val="EDEDED"/>
            </a:solidFill>
            <a:prstDash val="solid"/>
          </a:ln>
        </p:spPr>
      </p:sp>
      <p:sp>
        <p:nvSpPr>
          <p:cNvPr id="18" name="h4-l"/>
          <p:cNvSpPr txBox="1"/>
          <p:nvPr/>
        </p:nvSpPr>
        <p:spPr>
          <a:xfrm>
            <a:off x="9198864" y="1609344"/>
            <a:ext cx="2231136"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RECALL · F1</a:t>
            </a:r>
            <a:endParaRPr lang="en-US" sz="1000" dirty="0"/>
          </a:p>
        </p:txBody>
      </p:sp>
      <p:sp>
        <p:nvSpPr>
          <p:cNvPr id="19" name="h4-v"/>
          <p:cNvSpPr txBox="1"/>
          <p:nvPr/>
        </p:nvSpPr>
        <p:spPr>
          <a:xfrm>
            <a:off x="9198864" y="1865376"/>
            <a:ext cx="2231136" cy="530352"/>
          </a:xfrm>
          <a:prstGeom prst="rect">
            <a:avLst/>
          </a:prstGeom>
          <a:noFill/>
          <a:ln/>
        </p:spPr>
        <p:txBody>
          <a:bodyPr wrap="square" lIns="0" tIns="0" rIns="0" bIns="0" rtlCol="0" anchor="ctr"/>
          <a:lstStyle/>
          <a:p>
            <a:pPr indent="0" marL="0">
              <a:buNone/>
            </a:pPr>
            <a:r>
              <a:rPr lang="en-US" sz="2000" b="1" dirty="0">
                <a:solidFill>
                  <a:srgbClr val="000000"/>
                </a:solidFill>
              </a:rPr>
              <a:t>0.408 · 0.372</a:t>
            </a:r>
            <a:endParaRPr lang="en-US" sz="2000" dirty="0"/>
          </a:p>
        </p:txBody>
      </p:sp>
      <p:sp>
        <p:nvSpPr>
          <p:cNvPr id="20" name="h4-f"/>
          <p:cNvSpPr txBox="1"/>
          <p:nvPr/>
        </p:nvSpPr>
        <p:spPr>
          <a:xfrm>
            <a:off x="9198864" y="2386584"/>
            <a:ext cx="2231136" cy="274320"/>
          </a:xfrm>
          <a:prstGeom prst="rect">
            <a:avLst/>
          </a:prstGeom>
          <a:noFill/>
          <a:ln/>
        </p:spPr>
        <p:txBody>
          <a:bodyPr wrap="square" lIns="0" tIns="0" rIns="0" bIns="0" rtlCol="0" anchor="ctr"/>
          <a:lstStyle/>
          <a:p>
            <a:pPr indent="0" marL="0">
              <a:buNone/>
            </a:pPr>
            <a:r>
              <a:rPr lang="en-US" sz="1100" b="1" dirty="0">
                <a:solidFill>
                  <a:srgbClr val="333333"/>
                </a:solidFill>
                <a:latin typeface="Arial" pitchFamily="34" charset="0"/>
                <a:ea typeface="Arial" pitchFamily="34" charset="-122"/>
                <a:cs typeface="Arial" pitchFamily="34" charset="-120"/>
              </a:rPr>
              <a:t>recall fixed by design</a:t>
            </a:r>
            <a:endParaRPr lang="en-US" sz="1100" dirty="0"/>
          </a:p>
        </p:txBody>
      </p:sp>
      <p:graphicFrame>
        <p:nvGraphicFramePr>
          <p:cNvPr id="21" name="chart-prf" descr=""/>
          <p:cNvGraphicFramePr/>
          <p:nvPr/>
        </p:nvGraphicFramePr>
        <p:xfrm>
          <a:off x="548640" y="2926080"/>
          <a:ext cx="5486400" cy="2834640"/>
        </p:xfrm>
        <a:graphic xmlns:a="http://schemas.openxmlformats.org/drawingml/2006/main">
          <a:graphicData uri="http://schemas.openxmlformats.org/drawingml/2006/chart">
            <c:chart xmlns:c="http://schemas.openxmlformats.org/drawingml/2006/chart" r:id="rId1"/>
          </a:graphicData>
        </a:graphic>
      </p:graphicFrame>
      <p:sp>
        <p:nvSpPr>
          <p:cNvPr id="22" name="where"/>
          <p:cNvSpPr/>
          <p:nvPr/>
        </p:nvSpPr>
        <p:spPr>
          <a:xfrm>
            <a:off x="6355080" y="2926080"/>
            <a:ext cx="5257800" cy="2834640"/>
          </a:xfrm>
          <a:prstGeom prst="roundRect">
            <a:avLst>
              <a:gd name="adj" fmla="val 1935"/>
            </a:avLst>
          </a:prstGeom>
          <a:solidFill>
            <a:srgbClr val="000000"/>
          </a:solidFill>
          <a:ln w="12700">
            <a:solidFill>
              <a:srgbClr val="000000"/>
            </a:solidFill>
            <a:prstDash val="solid"/>
          </a:ln>
        </p:spPr>
      </p:sp>
      <p:sp>
        <p:nvSpPr>
          <p:cNvPr id="23" name="where-h"/>
          <p:cNvSpPr txBox="1"/>
          <p:nvPr/>
        </p:nvSpPr>
        <p:spPr>
          <a:xfrm>
            <a:off x="6592824" y="312724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Where the precision went</a:t>
            </a:r>
            <a:endParaRPr lang="en-US" sz="1500" dirty="0"/>
          </a:p>
        </p:txBody>
      </p:sp>
      <p:sp>
        <p:nvSpPr>
          <p:cNvPr id="24" name="where-b"/>
          <p:cNvSpPr txBox="1"/>
          <p:nvPr/>
        </p:nvSpPr>
        <p:spPr>
          <a:xfrm>
            <a:off x="6592824" y="3511296"/>
            <a:ext cx="4782312" cy="206654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Supported 109 → 108.  Contradicted 3 → 3.  Undecided 146 → 185.</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Refined claims carry their condition or comparison target, so one Wikipedia sentence has to support more — and often none does.</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Of the claims the verifier could decide, 97.3% were supported both before and after.</a:t>
            </a:r>
            <a:endParaRPr lang="en-US" sz="1300" dirty="0"/>
          </a:p>
        </p:txBody>
      </p:sp>
      <p:sp>
        <p:nvSpPr>
          <p:cNvPr id="2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Same answers, same retrieval, same verifier — only refinement differs. 163 facts refined, 51 added.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4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Each mechanism moves the metric it targets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Ablation over the two halves of the contribution, laptop run</a:t>
            </a:r>
            <a:endParaRPr lang="en-US" sz="1500" dirty="0"/>
          </a:p>
        </p:txBody>
      </p:sp>
      <p:graphicFrame>
        <p:nvGraphicFramePr>
          <p:cNvPr id="9" name="abl"/>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3383280"/>
                <a:gridCol w="1737360"/>
                <a:gridCol w="1463040"/>
                <a:gridCol w="1554480"/>
                <a:gridCol w="1463040"/>
                <a:gridCol w="1463040"/>
              </a:tblGrid>
              <a:tr h="420624">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System</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Incomplete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Missing</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Precision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Recall</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300" b="1" dirty="0">
                          <a:solidFill>
                            <a:srgbClr val="FFFFFF"/>
                          </a:solidFill>
                          <a:latin typeface="Arial" pitchFamily="34" charset="0"/>
                          <a:ea typeface="Arial" pitchFamily="34" charset="-122"/>
                          <a:cs typeface="Arial" pitchFamily="34" charset="-120"/>
                        </a:rPr>
                        <a:t>F1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  Baseline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0.105</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0.4200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0.4138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B  + incomplete refine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0.078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51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0.3680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0.3868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  + missing relation</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0.113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0.3839</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0.3954</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D  Full VERIFACT-Lite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0.091</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b="1" dirty="0">
                          <a:solidFill>
                            <a:srgbClr val="E90802"/>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0.3426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300" dirty="0">
                          <a:solidFill>
                            <a:srgbClr val="333333"/>
                          </a:solidFill>
                          <a:latin typeface="Arial" pitchFamily="34" charset="0"/>
                          <a:ea typeface="Arial" pitchFamily="34" charset="-122"/>
                          <a:cs typeface="Arial" pitchFamily="34" charset="-120"/>
                        </a:rPr>
                        <a:t>0.3723</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6" name="abl0"/>
          <p:cNvSpPr/>
          <p:nvPr/>
        </p:nvSpPr>
        <p:spPr>
          <a:xfrm>
            <a:off x="548640" y="3520440"/>
            <a:ext cx="3547872" cy="1737360"/>
          </a:xfrm>
          <a:prstGeom prst="roundRect">
            <a:avLst>
              <a:gd name="adj" fmla="val 3158"/>
            </a:avLst>
          </a:prstGeom>
          <a:solidFill>
            <a:srgbClr val="EDEDED"/>
          </a:solidFill>
          <a:ln w="12700">
            <a:solidFill>
              <a:srgbClr val="EDEDED"/>
            </a:solidFill>
            <a:prstDash val="solid"/>
          </a:ln>
        </p:spPr>
      </p:sp>
      <p:sp>
        <p:nvSpPr>
          <p:cNvPr id="7" name="abl0-h"/>
          <p:cNvSpPr txBox="1"/>
          <p:nvPr/>
        </p:nvSpPr>
        <p:spPr>
          <a:xfrm>
            <a:off x="786384" y="37216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B isolates the refiner</a:t>
            </a:r>
            <a:endParaRPr lang="en-US" sz="1400" dirty="0"/>
          </a:p>
        </p:txBody>
      </p:sp>
      <p:sp>
        <p:nvSpPr>
          <p:cNvPr id="8" name="abl0-b"/>
          <p:cNvSpPr txBox="1"/>
          <p:nvPr/>
        </p:nvSpPr>
        <p:spPr>
          <a:xfrm>
            <a:off x="786384" y="41056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Incomplete rate drops 0.105 → 0.078, the largest single gain, and precision falls with it.</a:t>
            </a:r>
            <a:endParaRPr lang="en-US" sz="1200" dirty="0"/>
          </a:p>
        </p:txBody>
      </p:sp>
      <p:sp>
        <p:nvSpPr>
          <p:cNvPr id="9" name="abl1"/>
          <p:cNvSpPr/>
          <p:nvPr/>
        </p:nvSpPr>
        <p:spPr>
          <a:xfrm>
            <a:off x="4279392" y="3520440"/>
            <a:ext cx="3547872" cy="1737360"/>
          </a:xfrm>
          <a:prstGeom prst="roundRect">
            <a:avLst>
              <a:gd name="adj" fmla="val 3158"/>
            </a:avLst>
          </a:prstGeom>
          <a:solidFill>
            <a:srgbClr val="EDEDED"/>
          </a:solidFill>
          <a:ln w="12700">
            <a:solidFill>
              <a:srgbClr val="EDEDED"/>
            </a:solidFill>
            <a:prstDash val="solid"/>
          </a:ln>
        </p:spPr>
      </p:sp>
      <p:sp>
        <p:nvSpPr>
          <p:cNvPr id="10" name="abl1-h"/>
          <p:cNvSpPr txBox="1"/>
          <p:nvPr/>
        </p:nvSpPr>
        <p:spPr>
          <a:xfrm>
            <a:off x="4517136" y="37216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C isolates relation recovery</a:t>
            </a:r>
            <a:endParaRPr lang="en-US" sz="1400" dirty="0"/>
          </a:p>
        </p:txBody>
      </p:sp>
      <p:sp>
        <p:nvSpPr>
          <p:cNvPr id="11" name="abl1-b"/>
          <p:cNvSpPr txBox="1"/>
          <p:nvPr/>
        </p:nvSpPr>
        <p:spPr>
          <a:xfrm>
            <a:off x="4517136" y="41056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All 51 missing relations become facts. The incomplete rate ticks up because the new facts are judged too.</a:t>
            </a:r>
            <a:endParaRPr lang="en-US" sz="1200" dirty="0"/>
          </a:p>
        </p:txBody>
      </p:sp>
      <p:sp>
        <p:nvSpPr>
          <p:cNvPr id="12" name="abl2"/>
          <p:cNvSpPr/>
          <p:nvPr/>
        </p:nvSpPr>
        <p:spPr>
          <a:xfrm>
            <a:off x="8010144" y="3520440"/>
            <a:ext cx="3547872" cy="1737360"/>
          </a:xfrm>
          <a:prstGeom prst="roundRect">
            <a:avLst>
              <a:gd name="adj" fmla="val 3158"/>
            </a:avLst>
          </a:prstGeom>
          <a:solidFill>
            <a:srgbClr val="EDEDED"/>
          </a:solidFill>
          <a:ln w="12700">
            <a:solidFill>
              <a:srgbClr val="EDEDED"/>
            </a:solidFill>
            <a:prstDash val="solid"/>
          </a:ln>
        </p:spPr>
      </p:sp>
      <p:sp>
        <p:nvSpPr>
          <p:cNvPr id="13" name="abl2-h"/>
          <p:cNvSpPr txBox="1"/>
          <p:nvPr/>
        </p:nvSpPr>
        <p:spPr>
          <a:xfrm>
            <a:off x="8247888" y="3721608"/>
            <a:ext cx="3072384" cy="310896"/>
          </a:xfrm>
          <a:prstGeom prst="rect">
            <a:avLst/>
          </a:prstGeom>
          <a:noFill/>
          <a:ln/>
        </p:spPr>
        <p:txBody>
          <a:bodyPr wrap="square" lIns="0" tIns="0" rIns="0" bIns="0" rtlCol="0" anchor="ctr"/>
          <a:lstStyle/>
          <a:p>
            <a:pPr indent="0" marL="0">
              <a:buNone/>
            </a:pPr>
            <a:r>
              <a:rPr lang="en-US" sz="1400" b="1" dirty="0">
                <a:solidFill>
                  <a:srgbClr val="000000"/>
                </a:solidFill>
              </a:rPr>
              <a:t>The effects are additive</a:t>
            </a:r>
            <a:endParaRPr lang="en-US" sz="1400" dirty="0"/>
          </a:p>
        </p:txBody>
      </p:sp>
      <p:sp>
        <p:nvSpPr>
          <p:cNvPr id="14" name="abl2-b"/>
          <p:cNvSpPr txBox="1"/>
          <p:nvPr/>
        </p:nvSpPr>
        <p:spPr>
          <a:xfrm>
            <a:off x="8247888" y="4105656"/>
            <a:ext cx="3072384"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D inherits B's lower incomplete rate and C's zero missing relations — and both precision costs.</a:t>
            </a:r>
            <a:endParaRPr lang="en-US" sz="1200" dirty="0"/>
          </a:p>
        </p:txBody>
      </p:sp>
      <p:sp>
        <p:nvSpPr>
          <p:cNvPr id="1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All four variants scored on one identical answer set, union ensemble, as in the paper.</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RECREATING THE RESULTS  ·  5 OF 5</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Does fixing a claim change its verdict?</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EDEDED"/>
                </a:solidFill>
                <a:latin typeface="Arial" pitchFamily="34" charset="0"/>
                <a:ea typeface="Arial" pitchFamily="34" charset="-122"/>
                <a:cs typeface="Arial" pitchFamily="34" charset="-120"/>
              </a:rPr>
              <a:t>The paper's research question, asked of our own pipeline</a:t>
            </a:r>
            <a:endParaRPr lang="en-US" sz="1500" dirty="0"/>
          </a:p>
        </p:txBody>
      </p:sp>
      <p:sp>
        <p:nvSpPr>
          <p:cNvPr id="5" name="big"/>
          <p:cNvSpPr/>
          <p:nvPr/>
        </p:nvSpPr>
        <p:spPr>
          <a:xfrm>
            <a:off x="548640" y="1463040"/>
            <a:ext cx="3017520" cy="2011680"/>
          </a:xfrm>
          <a:prstGeom prst="roundRect">
            <a:avLst>
              <a:gd name="adj" fmla="val 2727"/>
            </a:avLst>
          </a:prstGeom>
          <a:solidFill>
            <a:srgbClr val="E90802"/>
          </a:solidFill>
          <a:ln w="12700">
            <a:solidFill>
              <a:srgbClr val="E90802"/>
            </a:solidFill>
            <a:prstDash val="solid"/>
          </a:ln>
        </p:spPr>
      </p:sp>
      <p:sp>
        <p:nvSpPr>
          <p:cNvPr id="6" name="big-v"/>
          <p:cNvSpPr txBox="1"/>
          <p:nvPr/>
        </p:nvSpPr>
        <p:spPr>
          <a:xfrm>
            <a:off x="548640" y="1691640"/>
            <a:ext cx="3017520" cy="914400"/>
          </a:xfrm>
          <a:prstGeom prst="rect">
            <a:avLst/>
          </a:prstGeom>
          <a:noFill/>
          <a:ln/>
        </p:spPr>
        <p:txBody>
          <a:bodyPr wrap="square" lIns="0" tIns="0" rIns="0" bIns="0" rtlCol="0" anchor="ctr"/>
          <a:lstStyle/>
          <a:p>
            <a:pPr algn="ctr" indent="0" marL="0">
              <a:buNone/>
            </a:pPr>
            <a:r>
              <a:rPr lang="en-US" sz="4600" b="1" dirty="0">
                <a:solidFill>
                  <a:srgbClr val="FFFFFF"/>
                </a:solidFill>
              </a:rPr>
              <a:t>39–46%</a:t>
            </a:r>
            <a:endParaRPr lang="en-US" sz="4600" dirty="0"/>
          </a:p>
        </p:txBody>
      </p:sp>
      <p:sp>
        <p:nvSpPr>
          <p:cNvPr id="7" name="big-l"/>
          <p:cNvSpPr txBox="1"/>
          <p:nvPr/>
        </p:nvSpPr>
        <p:spPr>
          <a:xfrm>
            <a:off x="548640" y="2606040"/>
            <a:ext cx="3017520" cy="731520"/>
          </a:xfrm>
          <a:prstGeom prst="rect">
            <a:avLst/>
          </a:prstGeom>
          <a:noFill/>
          <a:ln/>
        </p:spPr>
        <p:txBody>
          <a:bodyPr wrap="square" lIns="0" tIns="0" rIns="0" bIns="0" rtlCol="0" anchor="ctr"/>
          <a:lstStyle/>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of refined facts changed label</a:t>
            </a:r>
            <a:endParaRPr lang="en-US" sz="1300" dirty="0"/>
          </a:p>
          <a:p>
            <a:pPr algn="ctr" indent="0" marL="0">
              <a:lnSpc>
                <a:spcPct val="120000"/>
              </a:lnSpc>
              <a:buNone/>
            </a:pPr>
            <a:r>
              <a:rPr lang="en-US" sz="1300" dirty="0">
                <a:solidFill>
                  <a:srgbClr val="FFFFFF"/>
                </a:solidFill>
                <a:latin typeface="Arial" pitchFamily="34" charset="0"/>
                <a:ea typeface="Arial" pitchFamily="34" charset="-122"/>
                <a:cs typeface="Arial" pitchFamily="34" charset="-120"/>
              </a:rPr>
              <a:t>across all three runs</a:t>
            </a:r>
            <a:endParaRPr lang="en-US" sz="1300" dirty="0"/>
          </a:p>
        </p:txBody>
      </p:sp>
      <p:graphicFrame>
        <p:nvGraphicFramePr>
          <p:cNvPr id="10" name="trans"/>
          <p:cNvGraphicFramePr>
            <a:graphicFrameLocks noGrp="1"/>
          </p:cNvGraphicFramePr>
          <p:nvPr>
            <p:extLst>
              <p:ext uri="{D42A27DB-BD31-4B8C-83A1-F6EECF244321}">
                <p14:modId xmlns:p14="http://schemas.microsoft.com/office/powerpoint/2010/main" val="1579011935"/>
              </p:ext>
            </p:extLst>
          </p:nvPr>
        </p:nvGraphicFramePr>
        <p:xfrm>
          <a:off x="3886200" y="1463040"/>
          <a:ext cx="7726680" cy="914400"/>
        </p:xfrm>
        <a:graphic>
          <a:graphicData uri="http://schemas.openxmlformats.org/drawingml/2006/table">
            <a:tbl>
              <a:tblPr/>
              <a:tblGrid>
                <a:gridCol w="3200400"/>
                <a:gridCol w="1097280"/>
                <a:gridCol w="1097280"/>
                <a:gridCol w="2331720"/>
              </a:tblGrid>
              <a:tr h="338328">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Transition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7–8B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Meaning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UNDECIDED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was over-credited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 SUPPORTED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context made it checkable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Contradicted, before → after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 → 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 → 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errors finally surfaced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38328">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Verdict-change rate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39.3%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45.6%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paper reports 24.9%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9" name="cmp-paper"/>
          <p:cNvSpPr/>
          <p:nvPr/>
        </p:nvSpPr>
        <p:spPr>
          <a:xfrm>
            <a:off x="548640" y="3611880"/>
            <a:ext cx="11064240" cy="2103120"/>
          </a:xfrm>
          <a:prstGeom prst="roundRect">
            <a:avLst>
              <a:gd name="adj" fmla="val 2609"/>
            </a:avLst>
          </a:prstGeom>
          <a:solidFill>
            <a:srgbClr val="333333"/>
          </a:solidFill>
          <a:ln w="19050">
            <a:solidFill>
              <a:srgbClr val="E90802"/>
            </a:solidFill>
            <a:prstDash val="solid"/>
          </a:ln>
        </p:spPr>
      </p:sp>
      <p:sp>
        <p:nvSpPr>
          <p:cNvPr id="10" name="cmp-paper-h"/>
          <p:cNvSpPr txBox="1"/>
          <p:nvPr/>
        </p:nvSpPr>
        <p:spPr>
          <a:xfrm>
            <a:off x="786384" y="3813048"/>
            <a:ext cx="10588752" cy="310896"/>
          </a:xfrm>
          <a:prstGeom prst="rect">
            <a:avLst/>
          </a:prstGeom>
          <a:noFill/>
          <a:ln/>
        </p:spPr>
        <p:txBody>
          <a:bodyPr wrap="square" lIns="0" tIns="0" rIns="0" bIns="0" rtlCol="0" anchor="ctr"/>
          <a:lstStyle/>
          <a:p>
            <a:pPr indent="0" marL="0">
              <a:buNone/>
            </a:pPr>
            <a:r>
              <a:rPr lang="en-US" sz="1500" b="1" dirty="0">
                <a:solidFill>
                  <a:srgbClr val="E90802"/>
                </a:solidFill>
              </a:rPr>
              <a:t>The paper's full signature only appears with stronger judges</a:t>
            </a:r>
            <a:endParaRPr lang="en-US" sz="1500" dirty="0"/>
          </a:p>
        </p:txBody>
      </p:sp>
      <p:sp>
        <p:nvSpPr>
          <p:cNvPr id="11" name="cmp-paper-b"/>
          <p:cNvSpPr txBox="1"/>
          <p:nvPr/>
        </p:nvSpPr>
        <p:spPr>
          <a:xfrm>
            <a:off x="786384" y="4197096"/>
            <a:ext cx="10588752" cy="133502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The paper reports supported falling AND contradicted rising after refinement, concluding that ignoring incomplete facts overestimates factuality.</a:t>
            </a:r>
            <a:endParaRPr lang="en-US" sz="1300" dirty="0"/>
          </a:p>
          <a:p>
            <a:pPr indent="0" marL="0">
              <a:lnSpc>
                <a:spcPct val="120000"/>
              </a:lnSpc>
              <a:buNone/>
            </a:pPr>
            <a:endParaRPr lang="en-US" sz="1300" dirty="0"/>
          </a:p>
          <a:p>
            <a:pPr indent="0" marL="0">
              <a:lnSpc>
                <a:spcPct val="120000"/>
              </a:lnSpc>
              <a:buNone/>
            </a:pPr>
            <a:r>
              <a:rPr lang="en-US" sz="1300" dirty="0">
                <a:solidFill>
                  <a:srgbClr val="EDEDED"/>
                </a:solidFill>
                <a:latin typeface="Arial" pitchFamily="34" charset="0"/>
                <a:ea typeface="Arial" pitchFamily="34" charset="-122"/>
                <a:cs typeface="Arial" pitchFamily="34" charset="-120"/>
              </a:rPr>
              <a:t>With 3B judges we reproduced only the first half: contradicted never moved off 3. With 7–8B judges it rises to 8 — refinement exposes errors that the stripped claims had hidden. Same conclusion as the paper, now with both halves of the evidence.</a:t>
            </a:r>
            <a:endParaRPr lang="en-US" sz="1300" dirty="0"/>
          </a:p>
        </p:txBody>
      </p:sp>
      <p:sp>
        <p:nvSpPr>
          <p:cNvPr id="12"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Every refined fact is verified twice, as its original claim and as its refined claim, through the same evidence pipeline.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OUR CONTRIBUTION  ·  1 OF 3</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Re-running the whole study with stronger judges</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Testing which conclusions were findings and which were small-model artifacts</a:t>
            </a:r>
            <a:endParaRPr lang="en-US" sz="1500" dirty="0"/>
          </a:p>
        </p:txBody>
      </p:sp>
      <p:sp>
        <p:nvSpPr>
          <p:cNvPr id="5" name="sc0"/>
          <p:cNvSpPr/>
          <p:nvPr/>
        </p:nvSpPr>
        <p:spPr>
          <a:xfrm>
            <a:off x="548640" y="1444752"/>
            <a:ext cx="3547872" cy="2011680"/>
          </a:xfrm>
          <a:prstGeom prst="roundRect">
            <a:avLst>
              <a:gd name="adj" fmla="val 2727"/>
            </a:avLst>
          </a:prstGeom>
          <a:solidFill>
            <a:srgbClr val="FFFFFF"/>
          </a:solidFill>
          <a:ln w="12700">
            <a:solidFill>
              <a:srgbClr val="EDEDED"/>
            </a:solidFill>
            <a:prstDash val="solid"/>
          </a:ln>
        </p:spPr>
      </p:sp>
      <p:sp>
        <p:nvSpPr>
          <p:cNvPr id="6" name="sc0-h"/>
          <p:cNvSpPr txBox="1"/>
          <p:nvPr/>
        </p:nvSpPr>
        <p:spPr>
          <a:xfrm>
            <a:off x="786384"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One configuration proves little</a:t>
            </a:r>
            <a:endParaRPr lang="en-US" sz="1500" dirty="0"/>
          </a:p>
        </p:txBody>
      </p:sp>
      <p:sp>
        <p:nvSpPr>
          <p:cNvPr id="7" name="sc0-b"/>
          <p:cNvSpPr txBox="1"/>
          <p:nvPr/>
        </p:nvSpPr>
        <p:spPr>
          <a:xfrm>
            <a:off x="786384" y="2029968"/>
            <a:ext cx="3072384" cy="12435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Everything above was measured by 3B judges. A single run cannot tell a property of the method from a property of the measuring model.</a:t>
            </a:r>
            <a:endParaRPr lang="en-US" sz="1200" dirty="0"/>
          </a:p>
        </p:txBody>
      </p:sp>
      <p:sp>
        <p:nvSpPr>
          <p:cNvPr id="8" name="sc1"/>
          <p:cNvSpPr/>
          <p:nvPr/>
        </p:nvSpPr>
        <p:spPr>
          <a:xfrm>
            <a:off x="4279392" y="1444752"/>
            <a:ext cx="3547872" cy="2011680"/>
          </a:xfrm>
          <a:prstGeom prst="roundRect">
            <a:avLst>
              <a:gd name="adj" fmla="val 2727"/>
            </a:avLst>
          </a:prstGeom>
          <a:solidFill>
            <a:srgbClr val="FFFFFF"/>
          </a:solidFill>
          <a:ln w="12700">
            <a:solidFill>
              <a:srgbClr val="EDEDED"/>
            </a:solidFill>
            <a:prstDash val="solid"/>
          </a:ln>
        </p:spPr>
      </p:sp>
      <p:sp>
        <p:nvSpPr>
          <p:cNvPr id="9" name="sc1-h"/>
          <p:cNvSpPr txBox="1"/>
          <p:nvPr/>
        </p:nvSpPr>
        <p:spPr>
          <a:xfrm>
            <a:off x="4517136"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The free-hardware answer</a:t>
            </a:r>
            <a:endParaRPr lang="en-US" sz="1500" dirty="0"/>
          </a:p>
        </p:txBody>
      </p:sp>
      <p:sp>
        <p:nvSpPr>
          <p:cNvPr id="10" name="sc1-b"/>
          <p:cNvSpPr txBox="1"/>
          <p:nvPr/>
        </p:nvSpPr>
        <p:spPr>
          <a:xfrm>
            <a:off x="4517136" y="2029968"/>
            <a:ext cx="3072384" cy="12435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 Colab T4 holds 7–8B judges at Q4_K_M. The repository is config-driven, so only the model identifiers change — still no API key, still $0.</a:t>
            </a:r>
            <a:endParaRPr lang="en-US" sz="1200" dirty="0"/>
          </a:p>
        </p:txBody>
      </p:sp>
      <p:sp>
        <p:nvSpPr>
          <p:cNvPr id="11" name="sc2"/>
          <p:cNvSpPr/>
          <p:nvPr/>
        </p:nvSpPr>
        <p:spPr>
          <a:xfrm>
            <a:off x="8010144" y="1444752"/>
            <a:ext cx="3547872" cy="2011680"/>
          </a:xfrm>
          <a:prstGeom prst="roundRect">
            <a:avLst>
              <a:gd name="adj" fmla="val 2727"/>
            </a:avLst>
          </a:prstGeom>
          <a:solidFill>
            <a:srgbClr val="FFFFFF"/>
          </a:solidFill>
          <a:ln w="12700">
            <a:solidFill>
              <a:srgbClr val="EDEDED"/>
            </a:solidFill>
            <a:prstDash val="solid"/>
          </a:ln>
        </p:spPr>
      </p:sp>
      <p:sp>
        <p:nvSpPr>
          <p:cNvPr id="12" name="sc2-h"/>
          <p:cNvSpPr txBox="1"/>
          <p:nvPr/>
        </p:nvSpPr>
        <p:spPr>
          <a:xfrm>
            <a:off x="8247888" y="1645920"/>
            <a:ext cx="3072384" cy="310896"/>
          </a:xfrm>
          <a:prstGeom prst="rect">
            <a:avLst/>
          </a:prstGeom>
          <a:noFill/>
          <a:ln/>
        </p:spPr>
        <p:txBody>
          <a:bodyPr wrap="square" lIns="0" tIns="0" rIns="0" bIns="0" rtlCol="0" anchor="ctr"/>
          <a:lstStyle/>
          <a:p>
            <a:pPr indent="0" marL="0">
              <a:buNone/>
            </a:pPr>
            <a:r>
              <a:rPr lang="en-US" sz="1500" b="1" dirty="0">
                <a:solidFill>
                  <a:srgbClr val="E90802"/>
                </a:solidFill>
              </a:rPr>
              <a:t>What makes run A controlled</a:t>
            </a:r>
            <a:endParaRPr lang="en-US" sz="1500" dirty="0"/>
          </a:p>
        </p:txBody>
      </p:sp>
      <p:sp>
        <p:nvSpPr>
          <p:cNvPr id="13" name="sc2-b"/>
          <p:cNvSpPr txBox="1"/>
          <p:nvPr/>
        </p:nvSpPr>
        <p:spPr>
          <a:xfrm>
            <a:off x="8247888" y="2029968"/>
            <a:ext cx="3072384" cy="12435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Extraction replays from cache, so A's baseline fact set is byte-identical to the laptop's: 21.50 facts per answer, precision 0.4200. Only the judges changed.</a:t>
            </a:r>
            <a:endParaRPr lang="en-US" sz="1200" dirty="0"/>
          </a:p>
        </p:txBody>
      </p:sp>
      <p:graphicFrame>
        <p:nvGraphicFramePr>
          <p:cNvPr id="11" name="configs"/>
          <p:cNvGraphicFramePr>
            <a:graphicFrameLocks noGrp="1"/>
          </p:cNvGraphicFramePr>
          <p:nvPr>
            <p:extLst>
              <p:ext uri="{D42A27DB-BD31-4B8C-83A1-F6EECF244321}">
                <p14:modId xmlns:p14="http://schemas.microsoft.com/office/powerpoint/2010/main" val="1579011935"/>
              </p:ext>
            </p:extLst>
          </p:nvPr>
        </p:nvGraphicFramePr>
        <p:xfrm>
          <a:off x="548640" y="3611880"/>
          <a:ext cx="11064240" cy="914400"/>
        </p:xfrm>
        <a:graphic>
          <a:graphicData uri="http://schemas.openxmlformats.org/drawingml/2006/table">
            <a:tbl>
              <a:tblPr/>
              <a:tblGrid>
                <a:gridCol w="2194560"/>
                <a:gridCol w="2834640"/>
                <a:gridCol w="3108960"/>
                <a:gridCol w="1737360"/>
                <a:gridCol w="1188720"/>
              </a:tblGrid>
              <a:tr h="402336">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Primary model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Judges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Hardware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Controlled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02336">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 + Llama-3.2-3B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GTX 1650, 4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reference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02336">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  (A)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Qwen2.5-3B (unchanged)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 + Llama-3.1-8B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Colab T4, 16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02336">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  (B)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Qwen2.5-7B + Llama-3.1-8B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Colab T4, 16 GB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15" name="bnote"/>
          <p:cNvSpPr/>
          <p:nvPr/>
        </p:nvSpPr>
        <p:spPr>
          <a:xfrm>
            <a:off x="548640" y="5166360"/>
            <a:ext cx="11064240" cy="685800"/>
          </a:xfrm>
          <a:prstGeom prst="roundRect">
            <a:avLst>
              <a:gd name="adj" fmla="val 8000"/>
            </a:avLst>
          </a:prstGeom>
          <a:solidFill>
            <a:srgbClr val="EDEDED"/>
          </a:solidFill>
          <a:ln w="12700">
            <a:solidFill>
              <a:srgbClr val="EDEDED"/>
            </a:solidFill>
            <a:prstDash val="solid"/>
          </a:ln>
        </p:spPr>
      </p:sp>
      <p:sp>
        <p:nvSpPr>
          <p:cNvPr id="16" name="bnote-b"/>
          <p:cNvSpPr txBox="1"/>
          <p:nvPr/>
        </p:nvSpPr>
        <p:spPr>
          <a:xfrm>
            <a:off x="786384" y="5367528"/>
            <a:ext cx="10588752" cy="301752"/>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Run B changed the extractor, the incompleteness judge, the verifier and the recall entailment model at once, so its columns are read only against its own baseline — never against A's.</a:t>
            </a:r>
            <a:endParaRPr lang="en-US" sz="1200" dirty="0"/>
          </a:p>
        </p:txBody>
      </p:sp>
      <p:sp>
        <p:nvSpPr>
          <p:cNvPr id="17"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Same 12 questions, same 12 generated answers, verified identical by hash across all three runs.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OUR CONTRIBUTION  ·  2 OF 3</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FFFFFF"/>
                </a:solidFill>
              </a:rPr>
              <a:t>The metrics measure the judge as much as the system</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EDEDED"/>
                </a:solidFill>
                <a:latin typeface="Arial" pitchFamily="34" charset="0"/>
                <a:ea typeface="Arial" pitchFamily="34" charset="-122"/>
                <a:cs typeface="Arial" pitchFamily="34" charset="-120"/>
              </a:rPr>
              <a:t>Identical input, identical pipeline, one model swapped</a:t>
            </a:r>
            <a:endParaRPr lang="en-US" sz="1500" dirty="0"/>
          </a:p>
        </p:txBody>
      </p:sp>
      <p:graphicFrame>
        <p:nvGraphicFramePr>
          <p:cNvPr id="12" name="instrument"/>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4846320"/>
                <a:gridCol w="2103120"/>
                <a:gridCol w="2103120"/>
                <a:gridCol w="2011680"/>
              </a:tblGrid>
              <a:tr h="420624">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Measured on identical input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3B judge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7B judge</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300" b="1" dirty="0">
                          <a:solidFill>
                            <a:srgbClr val="FFFFFF"/>
                          </a:solidFill>
                          <a:latin typeface="Arial" pitchFamily="34" charset="0"/>
                          <a:ea typeface="Arial" pitchFamily="34" charset="-122"/>
                          <a:cs typeface="Arial" pitchFamily="34" charset="-120"/>
                        </a:rPr>
                        <a:t>Paper</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Incomplete rate — the same baseline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0.105</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0.438</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0.567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Recall — the same answers, same 86 reference facts</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0.4077</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0.2812</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Coverage behind that recall</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35 / 86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b="1" dirty="0">
                          <a:solidFill>
                            <a:srgbClr val="E90802"/>
                          </a:solidFill>
                          <a:latin typeface="Arial" pitchFamily="34" charset="0"/>
                          <a:ea typeface="Arial" pitchFamily="34" charset="-122"/>
                          <a:cs typeface="Arial" pitchFamily="34" charset="-120"/>
                        </a:rPr>
                        <a:t>24 / 86</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33333"/>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bl>
          </a:graphicData>
        </a:graphic>
      </p:graphicFrame>
      <p:sp>
        <p:nvSpPr>
          <p:cNvPr id="6" name="insight"/>
          <p:cNvSpPr/>
          <p:nvPr/>
        </p:nvSpPr>
        <p:spPr>
          <a:xfrm>
            <a:off x="548640" y="3200400"/>
            <a:ext cx="6949440" cy="1691640"/>
          </a:xfrm>
          <a:prstGeom prst="roundRect">
            <a:avLst>
              <a:gd name="adj" fmla="val 3243"/>
            </a:avLst>
          </a:prstGeom>
          <a:solidFill>
            <a:srgbClr val="333333"/>
          </a:solidFill>
          <a:ln w="19050">
            <a:solidFill>
              <a:srgbClr val="E90802"/>
            </a:solidFill>
            <a:prstDash val="solid"/>
          </a:ln>
        </p:spPr>
      </p:sp>
      <p:sp>
        <p:nvSpPr>
          <p:cNvPr id="7" name="insight-h"/>
          <p:cNvSpPr txBox="1"/>
          <p:nvPr/>
        </p:nvSpPr>
        <p:spPr>
          <a:xfrm>
            <a:off x="786384" y="3401568"/>
            <a:ext cx="6473952" cy="310896"/>
          </a:xfrm>
          <a:prstGeom prst="rect">
            <a:avLst/>
          </a:prstGeom>
          <a:noFill/>
          <a:ln/>
        </p:spPr>
        <p:txBody>
          <a:bodyPr wrap="square" lIns="0" tIns="0" rIns="0" bIns="0" rtlCol="0" anchor="ctr"/>
          <a:lstStyle/>
          <a:p>
            <a:pPr indent="0" marL="0">
              <a:buNone/>
            </a:pPr>
            <a:r>
              <a:rPr lang="en-US" sz="1500" b="1" dirty="0">
                <a:solidFill>
                  <a:srgbClr val="E90802"/>
                </a:solidFill>
              </a:rPr>
              <a:t>Nothing about the system changed in these rows</a:t>
            </a:r>
            <a:endParaRPr lang="en-US" sz="1500" dirty="0"/>
          </a:p>
        </p:txBody>
      </p:sp>
      <p:sp>
        <p:nvSpPr>
          <p:cNvPr id="8" name="insight-b"/>
          <p:cNvSpPr txBox="1"/>
          <p:nvPr/>
        </p:nvSpPr>
        <p:spPr>
          <a:xfrm>
            <a:off x="786384" y="3785616"/>
            <a:ext cx="6473952" cy="923544"/>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Same 12 answers, same extracted facts, same reference facts, same lexical gate. Only the model doing the judging changed. A stronger judge finds four times as many incomplete facts and credits the answer with a third fewer reference facts.</a:t>
            </a:r>
            <a:endParaRPr lang="en-US" sz="1300" dirty="0"/>
          </a:p>
        </p:txBody>
      </p:sp>
      <p:sp>
        <p:nvSpPr>
          <p:cNvPr id="9" name="i1"/>
          <p:cNvSpPr/>
          <p:nvPr/>
        </p:nvSpPr>
        <p:spPr>
          <a:xfrm>
            <a:off x="7726680" y="3200400"/>
            <a:ext cx="1828800" cy="1691640"/>
          </a:xfrm>
          <a:prstGeom prst="roundRect">
            <a:avLst>
              <a:gd name="adj" fmla="val 3243"/>
            </a:avLst>
          </a:prstGeom>
          <a:solidFill>
            <a:srgbClr val="333333"/>
          </a:solidFill>
          <a:ln w="12700">
            <a:solidFill>
              <a:srgbClr val="333333"/>
            </a:solidFill>
            <a:prstDash val="solid"/>
          </a:ln>
        </p:spPr>
      </p:sp>
      <p:sp>
        <p:nvSpPr>
          <p:cNvPr id="10" name="i1-l"/>
          <p:cNvSpPr txBox="1"/>
          <p:nvPr/>
        </p:nvSpPr>
        <p:spPr>
          <a:xfrm>
            <a:off x="7927848" y="3364992"/>
            <a:ext cx="142646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INCOMPLETE</a:t>
            </a:r>
            <a:endParaRPr lang="en-US" sz="1000" dirty="0"/>
          </a:p>
        </p:txBody>
      </p:sp>
      <p:sp>
        <p:nvSpPr>
          <p:cNvPr id="11" name="i1-v"/>
          <p:cNvSpPr txBox="1"/>
          <p:nvPr/>
        </p:nvSpPr>
        <p:spPr>
          <a:xfrm>
            <a:off x="7927848" y="3621024"/>
            <a:ext cx="1426464" cy="530352"/>
          </a:xfrm>
          <a:prstGeom prst="rect">
            <a:avLst/>
          </a:prstGeom>
          <a:noFill/>
          <a:ln/>
        </p:spPr>
        <p:txBody>
          <a:bodyPr wrap="square" lIns="0" tIns="0" rIns="0" bIns="0" rtlCol="0" anchor="ctr"/>
          <a:lstStyle/>
          <a:p>
            <a:pPr indent="0" marL="0">
              <a:buNone/>
            </a:pPr>
            <a:r>
              <a:rPr lang="en-US" sz="3200" b="1" dirty="0">
                <a:solidFill>
                  <a:srgbClr val="E90802"/>
                </a:solidFill>
              </a:rPr>
              <a:t>4.2×</a:t>
            </a:r>
            <a:endParaRPr lang="en-US" sz="3200" dirty="0"/>
          </a:p>
        </p:txBody>
      </p:sp>
      <p:sp>
        <p:nvSpPr>
          <p:cNvPr id="12" name="i1-f"/>
          <p:cNvSpPr txBox="1"/>
          <p:nvPr/>
        </p:nvSpPr>
        <p:spPr>
          <a:xfrm>
            <a:off x="7927848" y="4507992"/>
            <a:ext cx="142646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more found</a:t>
            </a:r>
            <a:endParaRPr lang="en-US" sz="1100" dirty="0"/>
          </a:p>
        </p:txBody>
      </p:sp>
      <p:sp>
        <p:nvSpPr>
          <p:cNvPr id="13" name="i2"/>
          <p:cNvSpPr/>
          <p:nvPr/>
        </p:nvSpPr>
        <p:spPr>
          <a:xfrm>
            <a:off x="9784080" y="3200400"/>
            <a:ext cx="1828800" cy="1691640"/>
          </a:xfrm>
          <a:prstGeom prst="roundRect">
            <a:avLst>
              <a:gd name="adj" fmla="val 3243"/>
            </a:avLst>
          </a:prstGeom>
          <a:solidFill>
            <a:srgbClr val="333333"/>
          </a:solidFill>
          <a:ln w="12700">
            <a:solidFill>
              <a:srgbClr val="333333"/>
            </a:solidFill>
            <a:prstDash val="solid"/>
          </a:ln>
        </p:spPr>
      </p:sp>
      <p:sp>
        <p:nvSpPr>
          <p:cNvPr id="14" name="i2-l"/>
          <p:cNvSpPr txBox="1"/>
          <p:nvPr/>
        </p:nvSpPr>
        <p:spPr>
          <a:xfrm>
            <a:off x="9985248" y="3364992"/>
            <a:ext cx="1426464" cy="237744"/>
          </a:xfrm>
          <a:prstGeom prst="rect">
            <a:avLst/>
          </a:prstGeom>
          <a:noFill/>
          <a:ln/>
        </p:spPr>
        <p:txBody>
          <a:bodyPr wrap="square" lIns="0" tIns="0" rIns="0" bIns="0" rtlCol="0" anchor="ctr"/>
          <a:lstStyle/>
          <a:p>
            <a:pPr indent="0" marL="0">
              <a:buNone/>
            </a:pPr>
            <a:r>
              <a:rPr lang="en-US" sz="1000" b="1" spc="100" kern="0" dirty="0">
                <a:solidFill>
                  <a:srgbClr val="EDEDED"/>
                </a:solidFill>
                <a:latin typeface="Arial" pitchFamily="34" charset="0"/>
                <a:ea typeface="Arial" pitchFamily="34" charset="-122"/>
                <a:cs typeface="Arial" pitchFamily="34" charset="-120"/>
              </a:rPr>
              <a:t>RECALL</a:t>
            </a:r>
            <a:endParaRPr lang="en-US" sz="1000" dirty="0"/>
          </a:p>
        </p:txBody>
      </p:sp>
      <p:sp>
        <p:nvSpPr>
          <p:cNvPr id="15" name="i2-v"/>
          <p:cNvSpPr txBox="1"/>
          <p:nvPr/>
        </p:nvSpPr>
        <p:spPr>
          <a:xfrm>
            <a:off x="9985248" y="3621024"/>
            <a:ext cx="1426464" cy="530352"/>
          </a:xfrm>
          <a:prstGeom prst="rect">
            <a:avLst/>
          </a:prstGeom>
          <a:noFill/>
          <a:ln/>
        </p:spPr>
        <p:txBody>
          <a:bodyPr wrap="square" lIns="0" tIns="0" rIns="0" bIns="0" rtlCol="0" anchor="ctr"/>
          <a:lstStyle/>
          <a:p>
            <a:pPr indent="0" marL="0">
              <a:buNone/>
            </a:pPr>
            <a:r>
              <a:rPr lang="en-US" sz="3200" b="1" dirty="0">
                <a:solidFill>
                  <a:srgbClr val="E90802"/>
                </a:solidFill>
              </a:rPr>
              <a:t>−31%</a:t>
            </a:r>
            <a:endParaRPr lang="en-US" sz="3200" dirty="0"/>
          </a:p>
        </p:txBody>
      </p:sp>
      <p:sp>
        <p:nvSpPr>
          <p:cNvPr id="16" name="i2-f"/>
          <p:cNvSpPr txBox="1"/>
          <p:nvPr/>
        </p:nvSpPr>
        <p:spPr>
          <a:xfrm>
            <a:off x="9985248" y="4507992"/>
            <a:ext cx="1426464" cy="274320"/>
          </a:xfrm>
          <a:prstGeom prst="rect">
            <a:avLst/>
          </a:prstGeom>
          <a:noFill/>
          <a:ln/>
        </p:spPr>
        <p:txBody>
          <a:bodyPr wrap="square" lIns="0" tIns="0" rIns="0" bIns="0" rtlCol="0" anchor="ctr"/>
          <a:lstStyle/>
          <a:p>
            <a:pPr indent="0" marL="0">
              <a:buNone/>
            </a:pPr>
            <a:r>
              <a:rPr lang="en-US" sz="1100" b="1" dirty="0">
                <a:solidFill>
                  <a:srgbClr val="EDEDED"/>
                </a:solidFill>
                <a:latin typeface="Arial" pitchFamily="34" charset="0"/>
                <a:ea typeface="Arial" pitchFamily="34" charset="-122"/>
                <a:cs typeface="Arial" pitchFamily="34" charset="-120"/>
              </a:rPr>
              <a:t>same answers</a:t>
            </a:r>
            <a:endParaRPr lang="en-US" sz="1100" dirty="0"/>
          </a:p>
        </p:txBody>
      </p:sp>
      <p:sp>
        <p:nvSpPr>
          <p:cNvPr id="17" name="consequence"/>
          <p:cNvSpPr/>
          <p:nvPr/>
        </p:nvSpPr>
        <p:spPr>
          <a:xfrm>
            <a:off x="548640" y="5029200"/>
            <a:ext cx="11064240" cy="822960"/>
          </a:xfrm>
          <a:prstGeom prst="roundRect">
            <a:avLst>
              <a:gd name="adj" fmla="val 6667"/>
            </a:avLst>
          </a:prstGeom>
          <a:solidFill>
            <a:srgbClr val="333333"/>
          </a:solidFill>
          <a:ln w="12700">
            <a:solidFill>
              <a:srgbClr val="333333"/>
            </a:solidFill>
            <a:prstDash val="solid"/>
          </a:ln>
        </p:spPr>
      </p:sp>
      <p:sp>
        <p:nvSpPr>
          <p:cNvPr id="18" name="consequence-b"/>
          <p:cNvSpPr txBox="1"/>
          <p:nvPr/>
        </p:nvSpPr>
        <p:spPr>
          <a:xfrm>
            <a:off x="786384" y="5230368"/>
            <a:ext cx="10588752" cy="438912"/>
          </a:xfrm>
          <a:prstGeom prst="rect">
            <a:avLst/>
          </a:prstGeom>
          <a:noFill/>
          <a:ln/>
        </p:spPr>
        <p:txBody>
          <a:bodyPr wrap="square" lIns="0" tIns="0" rIns="0" bIns="0" rtlCol="0" anchor="t"/>
          <a:lstStyle/>
          <a:p>
            <a:pPr indent="0" marL="0">
              <a:lnSpc>
                <a:spcPct val="120000"/>
              </a:lnSpc>
              <a:buNone/>
            </a:pPr>
            <a:r>
              <a:rPr lang="en-US" sz="1300" dirty="0">
                <a:solidFill>
                  <a:srgbClr val="EDEDED"/>
                </a:solidFill>
                <a:latin typeface="Arial" pitchFamily="34" charset="0"/>
                <a:ea typeface="Arial" pitchFamily="34" charset="-122"/>
                <a:cs typeface="Arial" pitchFamily="34" charset="-120"/>
              </a:rPr>
              <a:t>Our baseline looked cleaner than SAFE's 56.7% because our judge was weaker, not because our extractor was better. With a 7B judge the figure moves to 0.438 — two thirds of the way to the paper's.</a:t>
            </a:r>
            <a:endParaRPr lang="en-US" sz="1300" dirty="0"/>
          </a:p>
        </p:txBody>
      </p:sp>
      <p:sp>
        <p:nvSpPr>
          <p:cNvPr id="19"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Run A on a Colab T4: judges upgraded to Qwen2.5-7B + Llama-3.1-8B, everything else replayed from cache.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OUR CONTRIBUTION  ·  3 OF 3</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One finding held, one was a small-model artifact</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Testing the paper's union rule against a majority vote, at every model size</a:t>
            </a:r>
            <a:endParaRPr lang="en-US" sz="1500" dirty="0"/>
          </a:p>
        </p:txBody>
      </p:sp>
      <p:graphicFrame>
        <p:nvGraphicFramePr>
          <p:cNvPr id="13" name="rules"/>
          <p:cNvGraphicFramePr>
            <a:graphicFrameLocks noGrp="1"/>
          </p:cNvGraphicFramePr>
          <p:nvPr>
            <p:extLst>
              <p:ext uri="{D42A27DB-BD31-4B8C-83A1-F6EECF244321}">
                <p14:modId xmlns:p14="http://schemas.microsoft.com/office/powerpoint/2010/main" val="1579011935"/>
              </p:ext>
            </p:extLst>
          </p:nvPr>
        </p:nvGraphicFramePr>
        <p:xfrm>
          <a:off x="548640" y="1444752"/>
          <a:ext cx="5577840" cy="914400"/>
        </p:xfrm>
        <a:graphic>
          <a:graphicData uri="http://schemas.openxmlformats.org/drawingml/2006/table">
            <a:tbl>
              <a:tblPr/>
              <a:tblGrid>
                <a:gridCol w="1371600"/>
                <a:gridCol w="1097280"/>
                <a:gridCol w="1371600"/>
                <a:gridCol w="1097280"/>
                <a:gridCol w="64008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Rule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Incomplete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r" indent="0" marL="0">
                        <a:buNone/>
                      </a:pPr>
                      <a:r>
                        <a:rPr lang="en-US" sz="1200" b="1" dirty="0">
                          <a:solidFill>
                            <a:srgbClr val="FFFFFF"/>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0.091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0.3426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0.372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laptop-3B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0.042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0.4071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0.407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0.411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0.3018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0.347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0.393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0.4106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0.409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union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0.286</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0.4802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0.355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full-7B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majority</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0.287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b="1" dirty="0">
                          <a:solidFill>
                            <a:srgbClr val="E90802"/>
                          </a:solidFill>
                          <a:latin typeface="Arial" pitchFamily="34" charset="0"/>
                          <a:ea typeface="Arial" pitchFamily="34" charset="-122"/>
                          <a:cs typeface="Arial" pitchFamily="34" charset="-120"/>
                        </a:rPr>
                        <a:t>0.4985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r" indent="0" marL="0">
                        <a:buNone/>
                      </a:pPr>
                      <a:r>
                        <a:rPr lang="en-US" sz="1200" dirty="0">
                          <a:solidFill>
                            <a:srgbClr val="333333"/>
                          </a:solidFill>
                          <a:latin typeface="Arial" pitchFamily="34" charset="0"/>
                          <a:ea typeface="Arial" pitchFamily="34" charset="-122"/>
                          <a:cs typeface="Arial" pitchFamily="34" charset="-120"/>
                        </a:rPr>
                        <a:t>0.360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6" name="held"/>
          <p:cNvSpPr/>
          <p:nvPr/>
        </p:nvSpPr>
        <p:spPr>
          <a:xfrm>
            <a:off x="6355080" y="1444752"/>
            <a:ext cx="5257800" cy="1234440"/>
          </a:xfrm>
          <a:prstGeom prst="roundRect">
            <a:avLst>
              <a:gd name="adj" fmla="val 4444"/>
            </a:avLst>
          </a:prstGeom>
          <a:solidFill>
            <a:srgbClr val="FFFFFF"/>
          </a:solidFill>
          <a:ln w="19050">
            <a:solidFill>
              <a:srgbClr val="E90802"/>
            </a:solidFill>
            <a:prstDash val="solid"/>
          </a:ln>
        </p:spPr>
      </p:sp>
      <p:sp>
        <p:nvSpPr>
          <p:cNvPr id="7" name="held-h"/>
          <p:cNvSpPr txBox="1"/>
          <p:nvPr/>
        </p:nvSpPr>
        <p:spPr>
          <a:xfrm>
            <a:off x="6592824" y="1645920"/>
            <a:ext cx="4782312" cy="310896"/>
          </a:xfrm>
          <a:prstGeom prst="rect">
            <a:avLst/>
          </a:prstGeom>
          <a:noFill/>
          <a:ln/>
        </p:spPr>
        <p:txBody>
          <a:bodyPr wrap="square" lIns="0" tIns="0" rIns="0" bIns="0" rtlCol="0" anchor="ctr"/>
          <a:lstStyle/>
          <a:p>
            <a:pPr indent="0" marL="0">
              <a:buNone/>
            </a:pPr>
            <a:r>
              <a:rPr lang="en-US" sz="1400" b="1" dirty="0">
                <a:solidFill>
                  <a:srgbClr val="E90802"/>
                </a:solidFill>
              </a:rPr>
              <a:t>Held — majority beats union on precision</a:t>
            </a:r>
            <a:endParaRPr lang="en-US" sz="1400" dirty="0"/>
          </a:p>
        </p:txBody>
      </p:sp>
      <p:sp>
        <p:nvSpPr>
          <p:cNvPr id="8" name="held-b"/>
          <p:cNvSpPr txBox="1"/>
          <p:nvPr/>
        </p:nvSpPr>
        <p:spPr>
          <a:xfrm>
            <a:off x="6592824" y="2029968"/>
            <a:ext cx="4782312" cy="4663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In all three configurations, at every model size. The paper's recall-first union rule costs precision it does not need to.</a:t>
            </a:r>
            <a:endParaRPr lang="en-US" sz="1200" dirty="0"/>
          </a:p>
        </p:txBody>
      </p:sp>
      <p:sp>
        <p:nvSpPr>
          <p:cNvPr id="9" name="broke"/>
          <p:cNvSpPr/>
          <p:nvPr/>
        </p:nvSpPr>
        <p:spPr>
          <a:xfrm>
            <a:off x="6355080" y="2816352"/>
            <a:ext cx="5257800" cy="1234440"/>
          </a:xfrm>
          <a:prstGeom prst="roundRect">
            <a:avLst>
              <a:gd name="adj" fmla="val 4444"/>
            </a:avLst>
          </a:prstGeom>
          <a:solidFill>
            <a:srgbClr val="FFFFFF"/>
          </a:solidFill>
          <a:ln w="12700">
            <a:solidFill>
              <a:srgbClr val="EDEDED"/>
            </a:solidFill>
            <a:prstDash val="solid"/>
          </a:ln>
        </p:spPr>
      </p:sp>
      <p:sp>
        <p:nvSpPr>
          <p:cNvPr id="10" name="broke-h"/>
          <p:cNvSpPr txBox="1"/>
          <p:nvPr/>
        </p:nvSpPr>
        <p:spPr>
          <a:xfrm>
            <a:off x="6592824" y="3017520"/>
            <a:ext cx="4782312" cy="310896"/>
          </a:xfrm>
          <a:prstGeom prst="rect">
            <a:avLst/>
          </a:prstGeom>
          <a:noFill/>
          <a:ln/>
        </p:spPr>
        <p:txBody>
          <a:bodyPr wrap="square" lIns="0" tIns="0" rIns="0" bIns="0" rtlCol="0" anchor="ctr"/>
          <a:lstStyle/>
          <a:p>
            <a:pPr indent="0" marL="0">
              <a:buNone/>
            </a:pPr>
            <a:r>
              <a:rPr lang="en-US" sz="1400" b="1" dirty="0">
                <a:solidFill>
                  <a:srgbClr val="333333"/>
                </a:solidFill>
              </a:rPr>
              <a:t>Broke — the 60% incomplete-rate gap</a:t>
            </a:r>
            <a:endParaRPr lang="en-US" sz="1400" dirty="0"/>
          </a:p>
        </p:txBody>
      </p:sp>
      <p:sp>
        <p:nvSpPr>
          <p:cNvPr id="11" name="broke-b"/>
          <p:cNvSpPr txBox="1"/>
          <p:nvPr/>
        </p:nvSpPr>
        <p:spPr>
          <a:xfrm>
            <a:off x="6592824" y="3401568"/>
            <a:ext cx="4782312" cy="4663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 3B artifact. With 7–8B judges the two rules are within 4% (0.393 vs 0.411); with a 7B extractor they are identical.</a:t>
            </a:r>
            <a:endParaRPr lang="en-US" sz="1200" dirty="0"/>
          </a:p>
        </p:txBody>
      </p:sp>
      <p:graphicFrame>
        <p:nvGraphicFramePr>
          <p:cNvPr id="25" name="judges"/>
          <p:cNvGraphicFramePr>
            <a:graphicFrameLocks noGrp="1"/>
          </p:cNvGraphicFramePr>
          <p:nvPr>
            <p:extLst>
              <p:ext uri="{D42A27DB-BD31-4B8C-83A1-F6EECF244321}">
                <p14:modId xmlns:p14="http://schemas.microsoft.com/office/powerpoint/2010/main" val="1579011935"/>
              </p:ext>
            </p:extLst>
          </p:nvPr>
        </p:nvGraphicFramePr>
        <p:xfrm>
          <a:off x="548640" y="4206240"/>
          <a:ext cx="11064240" cy="914400"/>
        </p:xfrm>
        <a:graphic>
          <a:graphicData uri="http://schemas.openxmlformats.org/drawingml/2006/table">
            <a:tbl>
              <a:tblPr/>
              <a:tblGrid>
                <a:gridCol w="2834640"/>
                <a:gridCol w="2103120"/>
                <a:gridCol w="2103120"/>
                <a:gridCol w="2011680"/>
                <a:gridCol w="2011680"/>
              </a:tblGrid>
              <a:tr h="347472">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Facts flagged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Qwen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Ensemble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Reading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3B — incompleteness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7–8B — incompleteness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33</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exceeds both judges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3B — relations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47472">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7–8B — relations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54</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ensemble = Llama</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Relation detection: the ensemble equalled Llama exactly in all three runs — 51/51, 54/54, 21/21. Qwen never found a relation Llama missed.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COMPARISON WITH THE PAPER</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Directions match. Magnitudes do not.</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What a free reimplementation can and cannot claim</a:t>
            </a:r>
            <a:endParaRPr lang="en-US" sz="1500" dirty="0"/>
          </a:p>
        </p:txBody>
      </p:sp>
      <p:graphicFrame>
        <p:nvGraphicFramePr>
          <p:cNvPr id="14" name="vs"/>
          <p:cNvGraphicFramePr>
            <a:graphicFrameLocks noGrp="1"/>
          </p:cNvGraphicFramePr>
          <p:nvPr>
            <p:extLst>
              <p:ext uri="{D42A27DB-BD31-4B8C-83A1-F6EECF244321}">
                <p14:modId xmlns:p14="http://schemas.microsoft.com/office/powerpoint/2010/main" val="1579011935"/>
              </p:ext>
            </p:extLst>
          </p:nvPr>
        </p:nvGraphicFramePr>
        <p:xfrm>
          <a:off x="548640" y="1444752"/>
          <a:ext cx="11064240" cy="914400"/>
        </p:xfrm>
        <a:graphic>
          <a:graphicData uri="http://schemas.openxmlformats.org/drawingml/2006/table">
            <a:tbl>
              <a:tblPr/>
              <a:tblGrid>
                <a:gridCol w="3017520"/>
                <a:gridCol w="2743200"/>
                <a:gridCol w="3566160"/>
                <a:gridCol w="1737360"/>
              </a:tblGrid>
              <a:tr h="365760">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Measure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Paper</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VERIFACT-Lite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Agreement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baseline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56.7% (SAFE)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10.5% at 3B · 43.8%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closes with scale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Incomplete facts, refined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22.5%  (−19.2 pts)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9.1% at 3B · 41.1%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Missing relational facts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1.22 → 0.76 (−37%)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51 → 0 (−100%)</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direction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changing label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24.9%</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39.3% · 45.6% · 34.7%</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same phenomenon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Direction of that change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supported ↓, contradicted ↑</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both, once judges are 7–8B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reproduced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Precision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82.8 (Qwen2.5-32B)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30.2 – 49.9 across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44.1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40.8 at 3B · 28.1 at 7B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judge-dependent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365760">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F1</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57.5</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34.7 – 40.9 across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comparable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6" name="vs0"/>
          <p:cNvSpPr/>
          <p:nvPr/>
        </p:nvSpPr>
        <p:spPr>
          <a:xfrm>
            <a:off x="548640" y="4526280"/>
            <a:ext cx="3547872" cy="1325880"/>
          </a:xfrm>
          <a:prstGeom prst="roundRect">
            <a:avLst>
              <a:gd name="adj" fmla="val 4138"/>
            </a:avLst>
          </a:prstGeom>
          <a:solidFill>
            <a:srgbClr val="FFFFFF"/>
          </a:solidFill>
          <a:ln w="12700">
            <a:solidFill>
              <a:srgbClr val="EDEDED"/>
            </a:solidFill>
            <a:prstDash val="solid"/>
          </a:ln>
        </p:spPr>
      </p:sp>
      <p:sp>
        <p:nvSpPr>
          <p:cNvPr id="7" name="vs0-h"/>
          <p:cNvSpPr txBox="1"/>
          <p:nvPr/>
        </p:nvSpPr>
        <p:spPr>
          <a:xfrm>
            <a:off x="786384" y="4727448"/>
            <a:ext cx="3072384" cy="310896"/>
          </a:xfrm>
          <a:prstGeom prst="rect">
            <a:avLst/>
          </a:prstGeom>
          <a:noFill/>
          <a:ln/>
        </p:spPr>
        <p:txBody>
          <a:bodyPr wrap="square" lIns="0" tIns="0" rIns="0" bIns="0" rtlCol="0" anchor="ctr"/>
          <a:lstStyle/>
          <a:p>
            <a:pPr indent="0" marL="0">
              <a:buNone/>
            </a:pPr>
            <a:r>
              <a:rPr lang="en-US" sz="1400" b="1" dirty="0">
                <a:solidFill>
                  <a:srgbClr val="E90802"/>
                </a:solidFill>
              </a:rPr>
              <a:t>Reproduced</a:t>
            </a:r>
            <a:endParaRPr lang="en-US" sz="1400" dirty="0"/>
          </a:p>
        </p:txBody>
      </p:sp>
      <p:sp>
        <p:nvSpPr>
          <p:cNvPr id="8" name="vs0-b"/>
          <p:cNvSpPr txBox="1"/>
          <p:nvPr/>
        </p:nvSpPr>
        <p:spPr>
          <a:xfrm>
            <a:off x="786384" y="5111496"/>
            <a:ext cx="3072384" cy="5577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Both problem types detected and repaired; changing the facts changes the verdicts; supported falls and contradicted rises — the paper's central claim.</a:t>
            </a:r>
            <a:endParaRPr lang="en-US" sz="1200" dirty="0"/>
          </a:p>
        </p:txBody>
      </p:sp>
      <p:sp>
        <p:nvSpPr>
          <p:cNvPr id="9" name="vs1"/>
          <p:cNvSpPr/>
          <p:nvPr/>
        </p:nvSpPr>
        <p:spPr>
          <a:xfrm>
            <a:off x="4279392" y="4526280"/>
            <a:ext cx="3547872" cy="1325880"/>
          </a:xfrm>
          <a:prstGeom prst="roundRect">
            <a:avLst>
              <a:gd name="adj" fmla="val 4138"/>
            </a:avLst>
          </a:prstGeom>
          <a:solidFill>
            <a:srgbClr val="FFFFFF"/>
          </a:solidFill>
          <a:ln w="12700">
            <a:solidFill>
              <a:srgbClr val="EDEDED"/>
            </a:solidFill>
            <a:prstDash val="solid"/>
          </a:ln>
        </p:spPr>
      </p:sp>
      <p:sp>
        <p:nvSpPr>
          <p:cNvPr id="10" name="vs1-h"/>
          <p:cNvSpPr txBox="1"/>
          <p:nvPr/>
        </p:nvSpPr>
        <p:spPr>
          <a:xfrm>
            <a:off x="4517136" y="472744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Not reproduced</a:t>
            </a:r>
            <a:endParaRPr lang="en-US" sz="1400" dirty="0"/>
          </a:p>
        </p:txBody>
      </p:sp>
      <p:sp>
        <p:nvSpPr>
          <p:cNvPr id="11" name="vs1-b"/>
          <p:cNvSpPr txBox="1"/>
          <p:nvPr/>
        </p:nvSpPr>
        <p:spPr>
          <a:xfrm>
            <a:off x="4517136" y="5111496"/>
            <a:ext cx="3072384" cy="5577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Absolute precision, recall and F1. Different models, different evidence, 12 prompts instead of 1,096, no human annotation.</a:t>
            </a:r>
            <a:endParaRPr lang="en-US" sz="1200" dirty="0"/>
          </a:p>
        </p:txBody>
      </p:sp>
      <p:sp>
        <p:nvSpPr>
          <p:cNvPr id="12" name="vs2"/>
          <p:cNvSpPr/>
          <p:nvPr/>
        </p:nvSpPr>
        <p:spPr>
          <a:xfrm>
            <a:off x="8010144" y="4526280"/>
            <a:ext cx="3547872" cy="1325880"/>
          </a:xfrm>
          <a:prstGeom prst="roundRect">
            <a:avLst>
              <a:gd name="adj" fmla="val 4138"/>
            </a:avLst>
          </a:prstGeom>
          <a:solidFill>
            <a:srgbClr val="FFFFFF"/>
          </a:solidFill>
          <a:ln w="12700">
            <a:solidFill>
              <a:srgbClr val="EDEDED"/>
            </a:solidFill>
            <a:prstDash val="solid"/>
          </a:ln>
        </p:spPr>
      </p:sp>
      <p:sp>
        <p:nvSpPr>
          <p:cNvPr id="13" name="vs2-h"/>
          <p:cNvSpPr txBox="1"/>
          <p:nvPr/>
        </p:nvSpPr>
        <p:spPr>
          <a:xfrm>
            <a:off x="8247888" y="4727448"/>
            <a:ext cx="3072384" cy="310896"/>
          </a:xfrm>
          <a:prstGeom prst="rect">
            <a:avLst/>
          </a:prstGeom>
          <a:noFill/>
          <a:ln/>
        </p:spPr>
        <p:txBody>
          <a:bodyPr wrap="square" lIns="0" tIns="0" rIns="0" bIns="0" rtlCol="0" anchor="ctr"/>
          <a:lstStyle/>
          <a:p>
            <a:pPr indent="0" marL="0">
              <a:buNone/>
            </a:pPr>
            <a:r>
              <a:rPr lang="en-US" sz="1400" b="1" dirty="0">
                <a:solidFill>
                  <a:srgbClr val="757575"/>
                </a:solidFill>
              </a:rPr>
              <a:t>Now explained</a:t>
            </a:r>
            <a:endParaRPr lang="en-US" sz="1400" dirty="0"/>
          </a:p>
        </p:txBody>
      </p:sp>
      <p:sp>
        <p:nvSpPr>
          <p:cNvPr id="14" name="vs2-b"/>
          <p:cNvSpPr txBox="1"/>
          <p:nvPr/>
        </p:nvSpPr>
        <p:spPr>
          <a:xfrm>
            <a:off x="8247888" y="5111496"/>
            <a:ext cx="3072384" cy="55778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Our low baseline incomplete rate was the judge, not the extractor: the same facts score 10.5% at 3B and 43.8% at 7B against the paper's 56.7%.</a:t>
            </a:r>
            <a:endParaRPr lang="en-US" sz="1200" dirty="0"/>
          </a:p>
        </p:txBody>
      </p:sp>
      <p:sp>
        <p:nvSpPr>
          <p:cNvPr id="15"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Every VERIFACT-Lite value is measured by this repository; none is copied from the paper or estimated.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FUTURE PLANS &amp; NEXT STEPS</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Every limitation points at a next step</a:t>
            </a:r>
            <a:endParaRPr lang="en-US" sz="3000" dirty="0"/>
          </a:p>
        </p:txBody>
      </p:sp>
      <p:sp>
        <p:nvSpPr>
          <p:cNvPr id="4" name="subtitle"/>
          <p:cNvSpPr txBox="1"/>
          <p:nvPr/>
        </p:nvSpPr>
        <p:spPr>
          <a:xfrm>
            <a:off x="548640" y="1042416"/>
            <a:ext cx="11064240" cy="292608"/>
          </a:xfrm>
          <a:prstGeom prst="rect">
            <a:avLst/>
          </a:prstGeom>
          <a:noFill/>
          <a:ln/>
        </p:spPr>
        <p:txBody>
          <a:bodyPr wrap="square" lIns="0" tIns="0" rIns="0" bIns="0" rtlCol="0" anchor="ctr"/>
          <a:lstStyle/>
          <a:p>
            <a:pPr indent="0" marL="0">
              <a:buNone/>
            </a:pPr>
            <a:r>
              <a:rPr lang="en-US" sz="1500" dirty="0">
                <a:solidFill>
                  <a:srgbClr val="757575"/>
                </a:solidFill>
                <a:latin typeface="Arial" pitchFamily="34" charset="0"/>
                <a:ea typeface="Arial" pitchFamily="34" charset="-122"/>
                <a:cs typeface="Arial" pitchFamily="34" charset="-120"/>
              </a:rPr>
              <a:t>Two were tested on free hardware; the rest are proposals, labelled as such</a:t>
            </a:r>
            <a:endParaRPr lang="en-US" sz="1500" dirty="0"/>
          </a:p>
        </p:txBody>
      </p:sp>
      <p:sp>
        <p:nvSpPr>
          <p:cNvPr id="5" name="rubber"/>
          <p:cNvSpPr/>
          <p:nvPr/>
        </p:nvSpPr>
        <p:spPr>
          <a:xfrm>
            <a:off x="548640" y="1444752"/>
            <a:ext cx="11064240" cy="1188720"/>
          </a:xfrm>
          <a:prstGeom prst="roundRect">
            <a:avLst>
              <a:gd name="adj" fmla="val 4615"/>
            </a:avLst>
          </a:prstGeom>
          <a:solidFill>
            <a:srgbClr val="000000"/>
          </a:solidFill>
          <a:ln w="19050">
            <a:solidFill>
              <a:srgbClr val="E90802"/>
            </a:solidFill>
            <a:prstDash val="solid"/>
          </a:ln>
        </p:spPr>
      </p:sp>
      <p:sp>
        <p:nvSpPr>
          <p:cNvPr id="6" name="rubber-h"/>
          <p:cNvSpPr txBox="1"/>
          <p:nvPr/>
        </p:nvSpPr>
        <p:spPr>
          <a:xfrm>
            <a:off x="786384" y="1645920"/>
            <a:ext cx="10588752" cy="310896"/>
          </a:xfrm>
          <a:prstGeom prst="rect">
            <a:avLst/>
          </a:prstGeom>
          <a:noFill/>
          <a:ln/>
        </p:spPr>
        <p:txBody>
          <a:bodyPr wrap="square" lIns="0" tIns="0" rIns="0" bIns="0" rtlCol="0" anchor="ctr"/>
          <a:lstStyle/>
          <a:p>
            <a:pPr indent="0" marL="0">
              <a:buNone/>
            </a:pPr>
            <a:r>
              <a:rPr lang="en-US" sz="1400" b="1" dirty="0">
                <a:solidFill>
                  <a:srgbClr val="E90802"/>
                </a:solidFill>
              </a:rPr>
              <a:t>Found by breaking our own result: a 3B verifier rubber-stamps unless forced to quote</a:t>
            </a:r>
            <a:endParaRPr lang="en-US" sz="1400" dirty="0"/>
          </a:p>
        </p:txBody>
      </p:sp>
      <p:sp>
        <p:nvSpPr>
          <p:cNvPr id="7" name="rubber-b"/>
          <p:cNvSpPr txBox="1"/>
          <p:nvPr/>
        </p:nvSpPr>
        <p:spPr>
          <a:xfrm>
            <a:off x="786384" y="2029968"/>
            <a:ext cx="10588752" cy="42062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An earlier version reported precision 0.92 and zero contradictions across 258 facts, calling “Aluminium is the rarest metal in the Earth's crust” SUPPORTED with confidence 1.0. Requiring a verbatim quote from the evidence moved precision to 0.42 and made contradictions appear.</a:t>
            </a:r>
            <a:endParaRPr lang="en-US" sz="1200" dirty="0"/>
          </a:p>
        </p:txBody>
      </p:sp>
      <p:graphicFrame>
        <p:nvGraphicFramePr>
          <p:cNvPr id="15" name="fixes"/>
          <p:cNvGraphicFramePr>
            <a:graphicFrameLocks noGrp="1"/>
          </p:cNvGraphicFramePr>
          <p:nvPr>
            <p:extLst>
              <p:ext uri="{D42A27DB-BD31-4B8C-83A1-F6EECF244321}">
                <p14:modId xmlns:p14="http://schemas.microsoft.com/office/powerpoint/2010/main" val="1579011935"/>
              </p:ext>
            </p:extLst>
          </p:nvPr>
        </p:nvGraphicFramePr>
        <p:xfrm>
          <a:off x="548640" y="2788920"/>
          <a:ext cx="11064240" cy="914400"/>
        </p:xfrm>
        <a:graphic>
          <a:graphicData uri="http://schemas.openxmlformats.org/drawingml/2006/table">
            <a:tbl>
              <a:tblPr/>
              <a:tblGrid>
                <a:gridCol w="4206240"/>
                <a:gridCol w="4114800"/>
                <a:gridCol w="2743200"/>
              </a:tblGrid>
              <a:tr h="420624">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What would fix it</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c>
                  <a:txBody>
                    <a:bodyPr/>
                    <a:lstStyle/>
                    <a:p>
                      <a:pPr algn="l" indent="0" marL="0">
                        <a:buNone/>
                      </a:pPr>
                      <a:r>
                        <a:rPr lang="en-US" sz="1200" b="1" dirty="0">
                          <a:solidFill>
                            <a:srgbClr val="FFFFFF"/>
                          </a:solidFill>
                          <a:latin typeface="Arial" pitchFamily="34" charset="0"/>
                          <a:ea typeface="Arial" pitchFamily="34" charset="-122"/>
                          <a:cs typeface="Arial" pitchFamily="34" charset="-120"/>
                        </a:rPr>
                        <a:t>Status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000000"/>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Judges are 3B; metrics track the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Stronger local judge (7–14B)</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tested — 4.2× more found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Union is dominated by the permissive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Majority vote, or a third judge</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b="1" dirty="0">
                          <a:solidFill>
                            <a:srgbClr val="E90802"/>
                          </a:solidFill>
                          <a:latin typeface="Arial" pitchFamily="34" charset="0"/>
                          <a:ea typeface="Arial" pitchFamily="34" charset="-122"/>
                          <a:cs typeface="Arial" pitchFamily="34" charset="-120"/>
                        </a:rPr>
                        <a:t>tested — majority wins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Undecided dominates — 146 of 258 verdicts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Dense retrieval, query expansion, reranking</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Refined facts are sometimes still flagged</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Iterative refinement, maximum two passes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12 questions, 86 facts, no human annotation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Larger benchmark, human-verified references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420624">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Recall is itself judge-dependent (0.41 vs 0.28)</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Fixed entailment model across all runs</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c>
                  <a:txBody>
                    <a:bodyPr/>
                    <a:lstStyle/>
                    <a:p>
                      <a:pPr algn="l" indent="0" marL="0">
                        <a:buNone/>
                      </a:pPr>
                      <a:r>
                        <a:rPr lang="en-US" sz="1200" dirty="0">
                          <a:solidFill>
                            <a:srgbClr val="333333"/>
                          </a:solidFill>
                          <a:latin typeface="Arial" pitchFamily="34" charset="0"/>
                          <a:ea typeface="Arial" pitchFamily="34" charset="-122"/>
                          <a:cs typeface="Arial" pitchFamily="34" charset="-120"/>
                        </a:rPr>
                        <a:t>not yet run</a:t>
                      </a:r>
                      <a:endParaRPr lang="en-US" sz="1200" dirty="0">
                        <a:latin typeface="Arial" charset="0"/>
                        <a:ea typeface="Arial" charset="0"/>
                        <a:cs typeface="Arial" charset="0"/>
                      </a:endParaRPr>
                    </a:p>
                  </a:txBody>
                  <a:tcPr marL="91440" marR="91440" marT="36576" marB="36576"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EDEDED"/>
                    </a:solidFill>
                  </a:tcPr>
                </a:tc>
              </a:tr>
            </a:tbl>
          </a:graphicData>
        </a:graphic>
      </p:graphicFrame>
      <p:sp>
        <p:nvSpPr>
          <p:cNvPr id="9"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Full ranked list in the appendix. Nothing in the 'not yet run' rows is claimed as a result.</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y"/>
          <p:cNvSpPr txBox="1"/>
          <p:nvPr/>
        </p:nvSpPr>
        <p:spPr>
          <a:xfrm>
            <a:off x="685800" y="1371600"/>
            <a:ext cx="10789920" cy="1097280"/>
          </a:xfrm>
          <a:prstGeom prst="rect">
            <a:avLst/>
          </a:prstGeom>
          <a:noFill/>
          <a:ln/>
        </p:spPr>
        <p:txBody>
          <a:bodyPr wrap="square" lIns="0" tIns="0" rIns="0" bIns="0" rtlCol="0" anchor="ctr"/>
          <a:lstStyle/>
          <a:p>
            <a:pPr indent="0" marL="0">
              <a:buNone/>
            </a:pPr>
            <a:r>
              <a:rPr lang="en-US" sz="5400" b="1" dirty="0">
                <a:solidFill>
                  <a:srgbClr val="FFFFFF"/>
                </a:solidFill>
              </a:rPr>
              <a:t>THANK YOU</a:t>
            </a:r>
            <a:endParaRPr lang="en-US" sz="5400" dirty="0"/>
          </a:p>
        </p:txBody>
      </p:sp>
      <p:sp>
        <p:nvSpPr>
          <p:cNvPr id="3" name="ty-rule"/>
          <p:cNvSpPr/>
          <p:nvPr/>
        </p:nvSpPr>
        <p:spPr>
          <a:xfrm>
            <a:off x="713232" y="2560320"/>
            <a:ext cx="2011680" cy="73152"/>
          </a:xfrm>
          <a:prstGeom prst="rect">
            <a:avLst/>
          </a:prstGeom>
          <a:solidFill>
            <a:srgbClr val="E90802"/>
          </a:solidFill>
          <a:ln w="12700">
            <a:solidFill>
              <a:srgbClr val="E90802"/>
            </a:solidFill>
            <a:prstDash val="solid"/>
          </a:ln>
        </p:spPr>
      </p:sp>
      <p:sp>
        <p:nvSpPr>
          <p:cNvPr id="4" name="ty-b1"/>
          <p:cNvSpPr/>
          <p:nvPr/>
        </p:nvSpPr>
        <p:spPr>
          <a:xfrm>
            <a:off x="713232" y="3145536"/>
            <a:ext cx="402336" cy="402336"/>
          </a:xfrm>
          <a:prstGeom prst="ellipse">
            <a:avLst/>
          </a:prstGeom>
          <a:solidFill>
            <a:srgbClr val="E90802"/>
          </a:solidFill>
          <a:ln w="12700">
            <a:solidFill>
              <a:srgbClr val="E90802"/>
            </a:solidFill>
            <a:prstDash val="solid"/>
          </a:ln>
        </p:spPr>
      </p:sp>
      <p:sp>
        <p:nvSpPr>
          <p:cNvPr id="5" name="ty-n1"/>
          <p:cNvSpPr txBox="1"/>
          <p:nvPr/>
        </p:nvSpPr>
        <p:spPr>
          <a:xfrm>
            <a:off x="713232" y="314553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6" name="ty-t1"/>
          <p:cNvSpPr txBox="1"/>
          <p:nvPr/>
        </p:nvSpPr>
        <p:spPr>
          <a:xfrm>
            <a:off x="1325880" y="3063240"/>
            <a:ext cx="10149840" cy="566928"/>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The whole pipeline runs on a 4 GB consumer GPU and a free T4 — no API key, $0 total cost.</a:t>
            </a:r>
            <a:endParaRPr lang="en-US" sz="1400" dirty="0"/>
          </a:p>
        </p:txBody>
      </p:sp>
      <p:sp>
        <p:nvSpPr>
          <p:cNvPr id="7" name="ty-b2"/>
          <p:cNvSpPr/>
          <p:nvPr/>
        </p:nvSpPr>
        <p:spPr>
          <a:xfrm>
            <a:off x="713232" y="3913632"/>
            <a:ext cx="402336" cy="402336"/>
          </a:xfrm>
          <a:prstGeom prst="ellipse">
            <a:avLst/>
          </a:prstGeom>
          <a:solidFill>
            <a:srgbClr val="E90802"/>
          </a:solidFill>
          <a:ln w="12700">
            <a:solidFill>
              <a:srgbClr val="E90802"/>
            </a:solidFill>
            <a:prstDash val="solid"/>
          </a:ln>
        </p:spPr>
      </p:sp>
      <p:sp>
        <p:nvSpPr>
          <p:cNvPr id="8" name="ty-n2"/>
          <p:cNvSpPr txBox="1"/>
          <p:nvPr/>
        </p:nvSpPr>
        <p:spPr>
          <a:xfrm>
            <a:off x="713232" y="391363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9" name="ty-t2"/>
          <p:cNvSpPr txBox="1"/>
          <p:nvPr/>
        </p:nvSpPr>
        <p:spPr>
          <a:xfrm>
            <a:off x="1325880" y="3831336"/>
            <a:ext cx="10149840" cy="566928"/>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Refinement changed the verdict on 39–46% of refined facts in every configuration, against 24.9% in the paper.</a:t>
            </a:r>
            <a:endParaRPr lang="en-US" sz="1400" dirty="0"/>
          </a:p>
        </p:txBody>
      </p:sp>
      <p:sp>
        <p:nvSpPr>
          <p:cNvPr id="10" name="ty-b3"/>
          <p:cNvSpPr/>
          <p:nvPr/>
        </p:nvSpPr>
        <p:spPr>
          <a:xfrm>
            <a:off x="713232" y="4681728"/>
            <a:ext cx="402336" cy="402336"/>
          </a:xfrm>
          <a:prstGeom prst="ellipse">
            <a:avLst/>
          </a:prstGeom>
          <a:solidFill>
            <a:srgbClr val="E90802"/>
          </a:solidFill>
          <a:ln w="12700">
            <a:solidFill>
              <a:srgbClr val="E90802"/>
            </a:solidFill>
            <a:prstDash val="solid"/>
          </a:ln>
        </p:spPr>
      </p:sp>
      <p:sp>
        <p:nvSpPr>
          <p:cNvPr id="11" name="ty-n3"/>
          <p:cNvSpPr txBox="1"/>
          <p:nvPr/>
        </p:nvSpPr>
        <p:spPr>
          <a:xfrm>
            <a:off x="713232" y="46817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2" name="ty-t3"/>
          <p:cNvSpPr txBox="1"/>
          <p:nvPr/>
        </p:nvSpPr>
        <p:spPr>
          <a:xfrm>
            <a:off x="1325880" y="4599432"/>
            <a:ext cx="10149840" cy="566928"/>
          </a:xfrm>
          <a:prstGeom prst="rect">
            <a:avLst/>
          </a:prstGeom>
          <a:noFill/>
          <a:ln/>
        </p:spPr>
        <p:txBody>
          <a:bodyPr wrap="square" lIns="0" tIns="0" rIns="0" bIns="0" rtlCol="0" anchor="ctr"/>
          <a:lstStyle/>
          <a:p>
            <a:pPr indent="0" marL="0">
              <a:lnSpc>
                <a:spcPct val="115000"/>
              </a:lnSpc>
              <a:buNone/>
            </a:pPr>
            <a:r>
              <a:rPr lang="en-US" sz="1400" dirty="0">
                <a:solidFill>
                  <a:srgbClr val="EDEDED"/>
                </a:solidFill>
                <a:latin typeface="Arial" pitchFamily="34" charset="0"/>
                <a:ea typeface="Arial" pitchFamily="34" charset="-122"/>
                <a:cs typeface="Arial" pitchFamily="34" charset="-120"/>
              </a:rPr>
              <a:t>These metrics measure the judge as much as the system: the same facts score 0.105 incomplete at 3B and 0.438 at 7B.</a:t>
            </a:r>
            <a:endParaRPr lang="en-US" sz="1400" dirty="0"/>
          </a:p>
        </p:txBody>
      </p:sp>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Config-driven, fully cached, 59 unit tests  ·  all three runs reproduce from one command without a GPU</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Step 2B: word mapping, the paper's Algorithm 1</a:t>
            </a:r>
            <a:endParaRPr lang="en-US" sz="3000" dirty="0"/>
          </a:p>
        </p:txBody>
      </p:sp>
      <p:sp>
        <p:nvSpPr>
          <p:cNvPr id="4" name="algo"/>
          <p:cNvSpPr txBox="1"/>
          <p:nvPr/>
        </p:nvSpPr>
        <p:spPr>
          <a:xfrm>
            <a:off x="548640" y="1188720"/>
            <a:ext cx="5486400" cy="1463040"/>
          </a:xfrm>
          <a:prstGeom prst="rect">
            <a:avLst/>
          </a:prstGeom>
          <a:noFill/>
          <a:ln/>
        </p:spPr>
        <p:txBody>
          <a:bodyPr wrap="square" lIns="0" tIns="0" rIns="0" bIns="0" rtlCol="0" anchor="ctr"/>
          <a:lstStyle/>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For each fact, take its longest common substring with the response.</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Mark those response characters as 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Collect the contiguous runs that stayed uncovered.</a:t>
            </a:r>
            <a:endParaRPr lang="en-US" sz="1400" dirty="0"/>
          </a:p>
          <a:p>
            <a:pPr marL="342900" indent="-342900">
              <a:spcAft>
                <a:spcPts val="600"/>
              </a:spcAft>
              <a:buSzPct val="100000"/>
              <a:buFont typeface="+mj-lt"/>
              <a:buAutoNum type="arabicPeriod" startAt="1"/>
            </a:pPr>
            <a:r>
              <a:rPr lang="en-US" sz="1400" dirty="0">
                <a:solidFill>
                  <a:srgbClr val="333333"/>
                </a:solidFill>
                <a:latin typeface="Arial" pitchFamily="34" charset="0"/>
                <a:ea typeface="Arial" pitchFamily="34" charset="-122"/>
                <a:cs typeface="Arial" pitchFamily="34" charset="-120"/>
              </a:rPr>
              <a:t>Send those spans to the judges as missing-relation candidates.</a:t>
            </a:r>
            <a:endParaRPr lang="en-US" sz="1400" dirty="0"/>
          </a:p>
        </p:txBody>
      </p:sp>
      <p:sp>
        <p:nvSpPr>
          <p:cNvPr id="5" name="impl"/>
          <p:cNvSpPr/>
          <p:nvPr/>
        </p:nvSpPr>
        <p:spPr>
          <a:xfrm>
            <a:off x="548640" y="2788920"/>
            <a:ext cx="5486400" cy="1691640"/>
          </a:xfrm>
          <a:prstGeom prst="roundRect">
            <a:avLst>
              <a:gd name="adj" fmla="val 3243"/>
            </a:avLst>
          </a:prstGeom>
          <a:solidFill>
            <a:srgbClr val="EDEDED"/>
          </a:solidFill>
          <a:ln w="12700">
            <a:solidFill>
              <a:srgbClr val="EDEDED"/>
            </a:solidFill>
            <a:prstDash val="solid"/>
          </a:ln>
        </p:spPr>
      </p:sp>
      <p:sp>
        <p:nvSpPr>
          <p:cNvPr id="6" name="impl-h"/>
          <p:cNvSpPr txBox="1"/>
          <p:nvPr/>
        </p:nvSpPr>
        <p:spPr>
          <a:xfrm>
            <a:off x="786384" y="2990088"/>
            <a:ext cx="5010912" cy="310896"/>
          </a:xfrm>
          <a:prstGeom prst="rect">
            <a:avLst/>
          </a:prstGeom>
          <a:noFill/>
          <a:ln/>
        </p:spPr>
        <p:txBody>
          <a:bodyPr wrap="square" lIns="0" tIns="0" rIns="0" bIns="0" rtlCol="0" anchor="ctr"/>
          <a:lstStyle/>
          <a:p>
            <a:pPr indent="0" marL="0">
              <a:buNone/>
            </a:pPr>
            <a:r>
              <a:rPr lang="en-US" sz="1500" b="1" dirty="0">
                <a:solidFill>
                  <a:srgbClr val="000000"/>
                </a:solidFill>
              </a:rPr>
              <a:t>Implementation</a:t>
            </a:r>
            <a:endParaRPr lang="en-US" sz="1500" dirty="0"/>
          </a:p>
        </p:txBody>
      </p:sp>
      <p:sp>
        <p:nvSpPr>
          <p:cNvPr id="7" name="impl-b"/>
          <p:cNvSpPr txBox="1"/>
          <p:nvPr/>
        </p:nvSpPr>
        <p:spPr>
          <a:xfrm>
            <a:off x="786384" y="3374136"/>
            <a:ext cx="5010912" cy="9235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Normalization for case, whitespace and line breaks is index-preserving — one character in, one character out — so span offsets still point into the original answer.</a:t>
            </a:r>
            <a:endParaRPr lang="en-US" sz="1200" dirty="0"/>
          </a:p>
        </p:txBody>
      </p:sp>
      <p:sp>
        <p:nvSpPr>
          <p:cNvPr id="8" name="cov-box"/>
          <p:cNvSpPr/>
          <p:nvPr/>
        </p:nvSpPr>
        <p:spPr>
          <a:xfrm>
            <a:off x="6355080" y="1188720"/>
            <a:ext cx="5257800" cy="1691640"/>
          </a:xfrm>
          <a:prstGeom prst="roundRect">
            <a:avLst>
              <a:gd name="adj" fmla="val 3243"/>
            </a:avLst>
          </a:prstGeom>
          <a:solidFill>
            <a:srgbClr val="000000"/>
          </a:solidFill>
          <a:ln w="12700">
            <a:solidFill>
              <a:srgbClr val="000000"/>
            </a:solidFill>
            <a:prstDash val="solid"/>
          </a:ln>
        </p:spPr>
      </p:sp>
      <p:sp>
        <p:nvSpPr>
          <p:cNvPr id="9" name="cov-text"/>
          <p:cNvSpPr txBox="1"/>
          <p:nvPr/>
        </p:nvSpPr>
        <p:spPr>
          <a:xfrm>
            <a:off x="6592824" y="1353312"/>
            <a:ext cx="4800600" cy="1097280"/>
          </a:xfrm>
          <a:prstGeom prst="rect">
            <a:avLst/>
          </a:prstGeom>
          <a:noFill/>
          <a:ln/>
        </p:spPr>
        <p:txBody>
          <a:bodyPr wrap="square" lIns="0" tIns="0" rIns="0" bIns="0" rtlCol="0" anchor="ctr"/>
          <a:lstStyle/>
          <a:p>
            <a:pPr indent="0" marL="0">
              <a:lnSpc>
                <a:spcPct val="120000"/>
              </a:lnSpc>
              <a:buNone/>
            </a:pPr>
            <a:r>
              <a:rPr lang="en-US" sz="1300" dirty="0">
                <a:solidFill>
                  <a:srgbClr val="757575"/>
                </a:solidFill>
                <a:latin typeface="Arial" pitchFamily="34" charset="0"/>
                <a:ea typeface="Arial" pitchFamily="34" charset="-122"/>
                <a:cs typeface="Arial" pitchFamily="34" charset="-120"/>
              </a:rPr>
              <a:t>If the demand for gold as jewelry were to disappear, </a:t>
            </a:r>
            <a:pPr indent="0" marL="0">
              <a:lnSpc>
                <a:spcPct val="120000"/>
              </a:lnSpc>
              <a:buNone/>
            </a:pPr>
            <a:r>
              <a:rPr lang="en-US" sz="1300" b="1" dirty="0">
                <a:solidFill>
                  <a:srgbClr val="E90802"/>
                </a:solidFill>
                <a:latin typeface="Arial" pitchFamily="34" charset="0"/>
                <a:ea typeface="Arial" pitchFamily="34" charset="-122"/>
                <a:cs typeface="Arial" pitchFamily="34" charset="-120"/>
              </a:rPr>
              <a:t>making it more competitive with other materials like </a:t>
            </a:r>
            <a:pPr indent="0" marL="0">
              <a:lnSpc>
                <a:spcPct val="120000"/>
              </a:lnSpc>
              <a:buNone/>
            </a:pPr>
            <a:r>
              <a:rPr lang="en-US" sz="1300" dirty="0">
                <a:solidFill>
                  <a:srgbClr val="757575"/>
                </a:solidFill>
                <a:latin typeface="Arial" pitchFamily="34" charset="0"/>
                <a:ea typeface="Arial" pitchFamily="34" charset="-122"/>
                <a:cs typeface="Arial" pitchFamily="34" charset="-120"/>
              </a:rPr>
              <a:t>copper and silver.</a:t>
            </a:r>
            <a:endParaRPr lang="en-US" sz="1300" dirty="0"/>
          </a:p>
        </p:txBody>
      </p:sp>
      <p:sp>
        <p:nvSpPr>
          <p:cNvPr id="10" name="cov-key"/>
          <p:cNvSpPr txBox="1"/>
          <p:nvPr/>
        </p:nvSpPr>
        <p:spPr>
          <a:xfrm>
            <a:off x="6592824" y="2523744"/>
            <a:ext cx="4800600" cy="237744"/>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grey = matched by some fact   ·   scarlet = uncovered span</a:t>
            </a:r>
            <a:endParaRPr lang="en-US" sz="1000" dirty="0"/>
          </a:p>
        </p:txBody>
      </p:sp>
      <p:sp>
        <p:nvSpPr>
          <p:cNvPr id="11" name="twoq"/>
          <p:cNvSpPr/>
          <p:nvPr/>
        </p:nvSpPr>
        <p:spPr>
          <a:xfrm>
            <a:off x="6355080" y="3017520"/>
            <a:ext cx="5257800" cy="1463040"/>
          </a:xfrm>
          <a:prstGeom prst="roundRect">
            <a:avLst>
              <a:gd name="adj" fmla="val 3750"/>
            </a:avLst>
          </a:prstGeom>
          <a:solidFill>
            <a:srgbClr val="FFFFFF"/>
          </a:solidFill>
          <a:ln w="12700">
            <a:solidFill>
              <a:srgbClr val="EDEDED"/>
            </a:solidFill>
            <a:prstDash val="solid"/>
          </a:ln>
        </p:spPr>
      </p:sp>
      <p:sp>
        <p:nvSpPr>
          <p:cNvPr id="12" name="twoq-h"/>
          <p:cNvSpPr txBox="1"/>
          <p:nvPr/>
        </p:nvSpPr>
        <p:spPr>
          <a:xfrm>
            <a:off x="6592824" y="3218688"/>
            <a:ext cx="4782312" cy="310896"/>
          </a:xfrm>
          <a:prstGeom prst="rect">
            <a:avLst/>
          </a:prstGeom>
          <a:noFill/>
          <a:ln/>
        </p:spPr>
        <p:txBody>
          <a:bodyPr wrap="square" lIns="0" tIns="0" rIns="0" bIns="0" rtlCol="0" anchor="ctr"/>
          <a:lstStyle/>
          <a:p>
            <a:pPr indent="0" marL="0">
              <a:buNone/>
            </a:pPr>
            <a:r>
              <a:rPr lang="en-US" sz="1500" b="1" dirty="0">
                <a:solidFill>
                  <a:srgbClr val="000000"/>
                </a:solidFill>
              </a:rPr>
              <a:t>Then two judge questions</a:t>
            </a:r>
            <a:endParaRPr lang="en-US" sz="1500" dirty="0"/>
          </a:p>
        </p:txBody>
      </p:sp>
      <p:sp>
        <p:nvSpPr>
          <p:cNvPr id="13" name="twoq-b"/>
          <p:cNvSpPr txBox="1"/>
          <p:nvPr/>
        </p:nvSpPr>
        <p:spPr>
          <a:xfrm>
            <a:off x="6592824" y="3602736"/>
            <a:ext cx="4782312" cy="69494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1. Does the span express a temporal or contingency relation?</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2. Does any single existing fact already capture it?</a:t>
            </a:r>
            <a:endParaRPr lang="en-US" sz="1200" dirty="0"/>
          </a:p>
        </p:txBody>
      </p:sp>
      <p:sp>
        <p:nvSpPr>
          <p:cNvPr id="14" name="wm1"/>
          <p:cNvSpPr/>
          <p:nvPr/>
        </p:nvSpPr>
        <p:spPr>
          <a:xfrm>
            <a:off x="548640" y="4663440"/>
            <a:ext cx="3566160" cy="1188720"/>
          </a:xfrm>
          <a:prstGeom prst="roundRect">
            <a:avLst>
              <a:gd name="adj" fmla="val 4615"/>
            </a:avLst>
          </a:prstGeom>
          <a:solidFill>
            <a:srgbClr val="EDEDED"/>
          </a:solidFill>
          <a:ln w="12700">
            <a:solidFill>
              <a:srgbClr val="EDEDED"/>
            </a:solidFill>
            <a:prstDash val="solid"/>
          </a:ln>
        </p:spPr>
      </p:sp>
      <p:sp>
        <p:nvSpPr>
          <p:cNvPr id="15" name="wm1-l"/>
          <p:cNvSpPr txBox="1"/>
          <p:nvPr/>
        </p:nvSpPr>
        <p:spPr>
          <a:xfrm>
            <a:off x="74980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CHARACTER COVERAGE</a:t>
            </a:r>
            <a:endParaRPr lang="en-US" sz="1000" dirty="0"/>
          </a:p>
        </p:txBody>
      </p:sp>
      <p:sp>
        <p:nvSpPr>
          <p:cNvPr id="16" name="wm1-v"/>
          <p:cNvSpPr txBox="1"/>
          <p:nvPr/>
        </p:nvSpPr>
        <p:spPr>
          <a:xfrm>
            <a:off x="749808" y="508406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0.55–0.59</a:t>
            </a:r>
            <a:endParaRPr lang="en-US" sz="2400" dirty="0"/>
          </a:p>
        </p:txBody>
      </p:sp>
      <p:sp>
        <p:nvSpPr>
          <p:cNvPr id="17" name="wm2"/>
          <p:cNvSpPr/>
          <p:nvPr/>
        </p:nvSpPr>
        <p:spPr>
          <a:xfrm>
            <a:off x="4297680" y="4663440"/>
            <a:ext cx="3566160" cy="1188720"/>
          </a:xfrm>
          <a:prstGeom prst="roundRect">
            <a:avLst>
              <a:gd name="adj" fmla="val 4615"/>
            </a:avLst>
          </a:prstGeom>
          <a:solidFill>
            <a:srgbClr val="EDEDED"/>
          </a:solidFill>
          <a:ln w="12700">
            <a:solidFill>
              <a:srgbClr val="EDEDED"/>
            </a:solidFill>
            <a:prstDash val="solid"/>
          </a:ln>
        </p:spPr>
      </p:sp>
      <p:sp>
        <p:nvSpPr>
          <p:cNvPr id="18" name="wm2-l"/>
          <p:cNvSpPr txBox="1"/>
          <p:nvPr/>
        </p:nvSpPr>
        <p:spPr>
          <a:xfrm>
            <a:off x="449884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CANDIDATE SPANS FOUND</a:t>
            </a:r>
            <a:endParaRPr lang="en-US" sz="1000" dirty="0"/>
          </a:p>
        </p:txBody>
      </p:sp>
      <p:sp>
        <p:nvSpPr>
          <p:cNvPr id="19" name="wm2-v"/>
          <p:cNvSpPr txBox="1"/>
          <p:nvPr/>
        </p:nvSpPr>
        <p:spPr>
          <a:xfrm>
            <a:off x="4498848" y="5084064"/>
            <a:ext cx="3163824" cy="530352"/>
          </a:xfrm>
          <a:prstGeom prst="rect">
            <a:avLst/>
          </a:prstGeom>
          <a:noFill/>
          <a:ln/>
        </p:spPr>
        <p:txBody>
          <a:bodyPr wrap="square" lIns="0" tIns="0" rIns="0" bIns="0" rtlCol="0" anchor="ctr"/>
          <a:lstStyle/>
          <a:p>
            <a:pPr indent="0" marL="0">
              <a:buNone/>
            </a:pPr>
            <a:r>
              <a:rPr lang="en-US" sz="2400" b="1" dirty="0">
                <a:solidFill>
                  <a:srgbClr val="000000"/>
                </a:solidFill>
              </a:rPr>
              <a:t>73</a:t>
            </a:r>
            <a:endParaRPr lang="en-US" sz="2400" dirty="0"/>
          </a:p>
        </p:txBody>
      </p:sp>
      <p:sp>
        <p:nvSpPr>
          <p:cNvPr id="20" name="wm3"/>
          <p:cNvSpPr/>
          <p:nvPr/>
        </p:nvSpPr>
        <p:spPr>
          <a:xfrm>
            <a:off x="8046720" y="4663440"/>
            <a:ext cx="3566160" cy="1188720"/>
          </a:xfrm>
          <a:prstGeom prst="roundRect">
            <a:avLst>
              <a:gd name="adj" fmla="val 4615"/>
            </a:avLst>
          </a:prstGeom>
          <a:solidFill>
            <a:srgbClr val="EDEDED"/>
          </a:solidFill>
          <a:ln w="12700">
            <a:solidFill>
              <a:srgbClr val="EDEDED"/>
            </a:solidFill>
            <a:prstDash val="solid"/>
          </a:ln>
        </p:spPr>
      </p:sp>
      <p:sp>
        <p:nvSpPr>
          <p:cNvPr id="21" name="wm3-l"/>
          <p:cNvSpPr txBox="1"/>
          <p:nvPr/>
        </p:nvSpPr>
        <p:spPr>
          <a:xfrm>
            <a:off x="8247888" y="4828032"/>
            <a:ext cx="3163824" cy="237744"/>
          </a:xfrm>
          <a:prstGeom prst="rect">
            <a:avLst/>
          </a:prstGeom>
          <a:noFill/>
          <a:ln/>
        </p:spPr>
        <p:txBody>
          <a:bodyPr wrap="square" lIns="0" tIns="0" rIns="0" bIns="0" rtlCol="0" anchor="ctr"/>
          <a:lstStyle/>
          <a:p>
            <a:pPr indent="0" marL="0">
              <a:buNone/>
            </a:pPr>
            <a:r>
              <a:rPr lang="en-US" sz="1000" b="1" spc="100" kern="0" dirty="0">
                <a:solidFill>
                  <a:srgbClr val="757575"/>
                </a:solidFill>
                <a:latin typeface="Arial" pitchFamily="34" charset="0"/>
                <a:ea typeface="Arial" pitchFamily="34" charset="-122"/>
                <a:cs typeface="Arial" pitchFamily="34" charset="-120"/>
              </a:rPr>
              <a:t>FACT ADDED ONLY WHEN</a:t>
            </a:r>
            <a:endParaRPr lang="en-US" sz="1000" dirty="0"/>
          </a:p>
        </p:txBody>
      </p:sp>
      <p:sp>
        <p:nvSpPr>
          <p:cNvPr id="22" name="wm3-v"/>
          <p:cNvSpPr txBox="1"/>
          <p:nvPr/>
        </p:nvSpPr>
        <p:spPr>
          <a:xfrm>
            <a:off x="8247888" y="5084064"/>
            <a:ext cx="3163824" cy="530352"/>
          </a:xfrm>
          <a:prstGeom prst="rect">
            <a:avLst/>
          </a:prstGeom>
          <a:noFill/>
          <a:ln/>
        </p:spPr>
        <p:txBody>
          <a:bodyPr wrap="square" lIns="0" tIns="0" rIns="0" bIns="0" rtlCol="0" anchor="ctr"/>
          <a:lstStyle/>
          <a:p>
            <a:pPr indent="0" marL="0">
              <a:buNone/>
            </a:pPr>
            <a:r>
              <a:rPr lang="en-US" sz="1600" b="1" dirty="0">
                <a:solidFill>
                  <a:srgbClr val="E90802"/>
                </a:solidFill>
              </a:rPr>
              <a:t>relation ∧ ¬covered</a:t>
            </a:r>
            <a:endParaRPr lang="en-US" sz="1600" dirty="0"/>
          </a:p>
        </p:txBody>
      </p:sp>
      <p:sp>
        <p:nvSpPr>
          <p:cNvPr id="2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Kept lexical, as in the paper. A semantic variant is listed as future work rather than silently substituted.</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What a 3B refiner actually produces</a:t>
            </a:r>
            <a:endParaRPr lang="en-US" sz="3000" dirty="0"/>
          </a:p>
        </p:txBody>
      </p:sp>
      <p:sp>
        <p:nvSpPr>
          <p:cNvPr id="4" name="good"/>
          <p:cNvSpPr/>
          <p:nvPr/>
        </p:nvSpPr>
        <p:spPr>
          <a:xfrm>
            <a:off x="548640" y="1188720"/>
            <a:ext cx="5486400" cy="3108960"/>
          </a:xfrm>
          <a:prstGeom prst="roundRect">
            <a:avLst>
              <a:gd name="adj" fmla="val 1765"/>
            </a:avLst>
          </a:prstGeom>
          <a:solidFill>
            <a:srgbClr val="FFFFFF"/>
          </a:solidFill>
          <a:ln w="19050">
            <a:solidFill>
              <a:srgbClr val="E90802"/>
            </a:solidFill>
            <a:prstDash val="solid"/>
          </a:ln>
        </p:spPr>
      </p:sp>
      <p:sp>
        <p:nvSpPr>
          <p:cNvPr id="5" name="good-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Works — Q10, ozone layer</a:t>
            </a:r>
            <a:endParaRPr lang="en-US" sz="1500" dirty="0"/>
          </a:p>
        </p:txBody>
      </p:sp>
      <p:sp>
        <p:nvSpPr>
          <p:cNvPr id="6" name="good-t"/>
          <p:cNvSpPr txBox="1"/>
          <p:nvPr/>
        </p:nvSpPr>
        <p:spPr>
          <a:xfrm>
            <a:off x="786384" y="1691640"/>
            <a:ext cx="5029200" cy="246888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omitted_condition_or_source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“These substances are in the atmosphere.”</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 substances are in the atmosphere since the Montreal Protocol was signed.”</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missing_comparison</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 decrease is in the concentration of substances.”</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 compared to before the Montreal Protocol.”</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UNDECIDED → SUPPORTED</a:t>
            </a:r>
            <a:endParaRPr lang="en-US" sz="1200" dirty="0"/>
          </a:p>
        </p:txBody>
      </p:sp>
      <p:sp>
        <p:nvSpPr>
          <p:cNvPr id="7" name="bad"/>
          <p:cNvSpPr/>
          <p:nvPr/>
        </p:nvSpPr>
        <p:spPr>
          <a:xfrm>
            <a:off x="6355080" y="1188720"/>
            <a:ext cx="5257800" cy="3108960"/>
          </a:xfrm>
          <a:prstGeom prst="roundRect">
            <a:avLst>
              <a:gd name="adj" fmla="val 1765"/>
            </a:avLst>
          </a:prstGeom>
          <a:solidFill>
            <a:srgbClr val="FFFFFF"/>
          </a:solidFill>
          <a:ln w="12700">
            <a:solidFill>
              <a:srgbClr val="EDEDED"/>
            </a:solidFill>
            <a:prstDash val="solid"/>
          </a:ln>
        </p:spPr>
      </p:sp>
      <p:sp>
        <p:nvSpPr>
          <p:cNvPr id="8" name="bad-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333333"/>
                </a:solidFill>
              </a:rPr>
              <a:t>Fails — Q01, the paper's own example</a:t>
            </a:r>
            <a:endParaRPr lang="en-US" sz="1500" dirty="0"/>
          </a:p>
        </p:txBody>
      </p:sp>
      <p:sp>
        <p:nvSpPr>
          <p:cNvPr id="9" name="bad-t"/>
          <p:cNvSpPr txBox="1"/>
          <p:nvPr/>
        </p:nvSpPr>
        <p:spPr>
          <a:xfrm>
            <a:off x="6592824" y="1691640"/>
            <a:ext cx="4800600" cy="2468880"/>
          </a:xfrm>
          <a:prstGeom prst="rect">
            <a:avLst/>
          </a:prstGeom>
          <a:noFill/>
          <a:ln/>
        </p:spPr>
        <p:txBody>
          <a:bodyPr wrap="square" lIns="0" tIns="0" rIns="0" bIns="0" rtlCol="0" anchor="ctr"/>
          <a:lstStyle/>
          <a:p>
            <a:pPr indent="0" marL="0">
              <a:lnSpc>
                <a:spcPct val="115000"/>
              </a:lnSpc>
              <a:buNone/>
            </a:pPr>
            <a:r>
              <a:rPr lang="en-US" sz="1100" dirty="0">
                <a:solidFill>
                  <a:srgbClr val="757575"/>
                </a:solidFill>
                <a:latin typeface="Arial" pitchFamily="34" charset="0"/>
                <a:ea typeface="Arial" pitchFamily="34" charset="-122"/>
                <a:cs typeface="Arial" pitchFamily="34" charset="-120"/>
              </a:rPr>
              <a:t>the refiner flipped the meaning</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before   “There was demand for gold as jewelry.”</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after     “There was no demand for gold as jewelry.”</a:t>
            </a:r>
            <a:endParaRPr lang="en-US" sz="1200" dirty="0"/>
          </a:p>
          <a:p>
            <a:pPr indent="0" marL="0">
              <a:lnSpc>
                <a:spcPct val="115000"/>
              </a:lnSpc>
              <a:buNone/>
            </a:pPr>
            <a:r>
              <a:rPr lang="en-US" sz="1200" dirty="0">
                <a:solidFill>
                  <a:srgbClr val="E90802"/>
                </a:solidFill>
                <a:latin typeface="Arial" pitchFamily="34" charset="0"/>
                <a:ea typeface="Arial" pitchFamily="34" charset="-122"/>
                <a:cs typeface="Arial" pitchFamily="34" charset="-120"/>
              </a:rPr>
              <a:t>The hypothetical from the question was pasted into a fact stating the opposite.</a:t>
            </a:r>
            <a:endParaRPr lang="en-US" sz="1200" dirty="0"/>
          </a:p>
          <a:p>
            <a:pPr indent="0" marL="0">
              <a:lnSpc>
                <a:spcPct val="115000"/>
              </a:lnSpc>
              <a:buNone/>
            </a:pPr>
            <a:r>
              <a:rPr lang="en-US" sz="600" dirty="0">
                <a:solidFill>
                  <a:srgbClr val="333333"/>
                </a:solidFill>
                <a:latin typeface="Arial" pitchFamily="34" charset="0"/>
                <a:ea typeface="Arial" pitchFamily="34" charset="-122"/>
                <a:cs typeface="Arial" pitchFamily="34" charset="-120"/>
              </a:rPr>
              <a:t> </a:t>
            </a:r>
            <a:endParaRPr lang="en-US" sz="1200" dirty="0"/>
          </a:p>
          <a:p>
            <a:pPr indent="0" marL="0">
              <a:lnSpc>
                <a:spcPct val="115000"/>
              </a:lnSpc>
              <a:buNone/>
            </a:pPr>
            <a:r>
              <a:rPr lang="en-US" sz="1100" dirty="0">
                <a:solidFill>
                  <a:srgbClr val="757575"/>
                </a:solidFill>
                <a:latin typeface="Arial" pitchFamily="34" charset="0"/>
                <a:ea typeface="Arial" pitchFamily="34" charset="-122"/>
                <a:cs typeface="Arial" pitchFamily="34" charset="-120"/>
              </a:rPr>
              <a:t>condition attached to the wrong claim</a:t>
            </a:r>
            <a:endParaRPr lang="en-US" sz="1200" dirty="0"/>
          </a:p>
          <a:p>
            <a:pPr indent="0" marL="0">
              <a:lnSpc>
                <a:spcPct val="115000"/>
              </a:lnSpc>
              <a:buNone/>
            </a:pPr>
            <a:r>
              <a:rPr lang="en-US" sz="1200" dirty="0">
                <a:solidFill>
                  <a:srgbClr val="333333"/>
                </a:solidFill>
                <a:latin typeface="Arial" pitchFamily="34" charset="0"/>
                <a:ea typeface="Arial" pitchFamily="34" charset="-122"/>
                <a:cs typeface="Arial" pitchFamily="34" charset="-120"/>
              </a:rPr>
              <a:t>“Gold has unique properties of malleability if there was no demand for gold as jewelry.”</a:t>
            </a:r>
            <a:endParaRPr lang="en-US" sz="1200" dirty="0"/>
          </a:p>
          <a:p>
            <a:pPr indent="0" marL="0">
              <a:lnSpc>
                <a:spcPct val="115000"/>
              </a:lnSpc>
              <a:buNone/>
            </a:pPr>
            <a:r>
              <a:rPr lang="en-US" sz="1200" b="1" dirty="0">
                <a:solidFill>
                  <a:srgbClr val="E90802"/>
                </a:solidFill>
                <a:latin typeface="Arial" pitchFamily="34" charset="0"/>
                <a:ea typeface="Arial" pitchFamily="34" charset="-122"/>
                <a:cs typeface="Arial" pitchFamily="34" charset="-120"/>
              </a:rPr>
              <a:t>SUPPORTED → UNDECIDED</a:t>
            </a:r>
            <a:endParaRPr lang="en-US" sz="1200" dirty="0"/>
          </a:p>
        </p:txBody>
      </p:sp>
      <p:sp>
        <p:nvSpPr>
          <p:cNvPr id="10" name="added"/>
          <p:cNvSpPr/>
          <p:nvPr/>
        </p:nvSpPr>
        <p:spPr>
          <a:xfrm>
            <a:off x="548640" y="4480560"/>
            <a:ext cx="11064240" cy="1280160"/>
          </a:xfrm>
          <a:prstGeom prst="roundRect">
            <a:avLst>
              <a:gd name="adj" fmla="val 4286"/>
            </a:avLst>
          </a:prstGeom>
          <a:solidFill>
            <a:srgbClr val="000000"/>
          </a:solidFill>
          <a:ln w="12700">
            <a:solidFill>
              <a:srgbClr val="000000"/>
            </a:solidFill>
            <a:prstDash val="solid"/>
          </a:ln>
        </p:spPr>
      </p:sp>
      <p:sp>
        <p:nvSpPr>
          <p:cNvPr id="11" name="added-h"/>
          <p:cNvSpPr txBox="1"/>
          <p:nvPr/>
        </p:nvSpPr>
        <p:spPr>
          <a:xfrm>
            <a:off x="786384" y="4681728"/>
            <a:ext cx="10588752" cy="310896"/>
          </a:xfrm>
          <a:prstGeom prst="rect">
            <a:avLst/>
          </a:prstGeom>
          <a:noFill/>
          <a:ln/>
        </p:spPr>
        <p:txBody>
          <a:bodyPr wrap="square" lIns="0" tIns="0" rIns="0" bIns="0" rtlCol="0" anchor="ctr"/>
          <a:lstStyle/>
          <a:p>
            <a:pPr indent="0" marL="0">
              <a:buNone/>
            </a:pPr>
            <a:r>
              <a:rPr lang="en-US" sz="1300" b="1" dirty="0">
                <a:solidFill>
                  <a:srgbClr val="E90802"/>
                </a:solidFill>
              </a:rPr>
              <a:t>Added relational fact — Q04, Chernobyl, temporal</a:t>
            </a:r>
            <a:endParaRPr lang="en-US" sz="1300" dirty="0"/>
          </a:p>
        </p:txBody>
      </p:sp>
      <p:sp>
        <p:nvSpPr>
          <p:cNvPr id="12" name="added-b"/>
          <p:cNvSpPr txBox="1"/>
          <p:nvPr/>
        </p:nvSpPr>
        <p:spPr>
          <a:xfrm>
            <a:off x="786384" y="5065776"/>
            <a:ext cx="10588752" cy="512064"/>
          </a:xfrm>
          <a:prstGeom prst="rect">
            <a:avLst/>
          </a:prstGeom>
          <a:noFill/>
          <a:ln/>
        </p:spPr>
        <p:txBody>
          <a:bodyPr wrap="square" lIns="0" tIns="0" rIns="0" bIns="0" rtlCol="0" anchor="t"/>
          <a:lstStyle/>
          <a:p>
            <a:pPr indent="0" marL="0">
              <a:lnSpc>
                <a:spcPct val="120000"/>
              </a:lnSpc>
              <a:buNone/>
            </a:pPr>
            <a:r>
              <a:rPr lang="en-US" sz="1200" dirty="0">
                <a:solidFill>
                  <a:srgbClr val="EDEDED"/>
                </a:solidFill>
                <a:latin typeface="Arial" pitchFamily="34" charset="0"/>
                <a:ea typeface="Arial" pitchFamily="34" charset="-122"/>
                <a:cs typeface="Arial" pitchFamily="34" charset="-120"/>
              </a:rPr>
              <a:t>“The experiment just before the explosion caused the reactor to exceed its design limits, resulting in the explosion of hydrogen gas in the pressure vessel.”  The span that produced it was never covered by any extracted fact.</a:t>
            </a:r>
            <a:endParaRPr lang="en-US" sz="1200" dirty="0"/>
          </a:p>
        </p:txBody>
      </p:sp>
      <p:sp>
        <p:nvSpPr>
          <p:cNvPr id="13"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6 examples auto-selected into outputs/examples/presentation_examples.json, ranked by label changes and error type.</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Full ranked list of proposed improvements</a:t>
            </a:r>
            <a:endParaRPr lang="en-US" sz="3000" dirty="0"/>
          </a:p>
        </p:txBody>
      </p:sp>
      <p:sp>
        <p:nvSpPr>
          <p:cNvPr id="4" name="a-meas"/>
          <p:cNvSpPr/>
          <p:nvPr/>
        </p:nvSpPr>
        <p:spPr>
          <a:xfrm>
            <a:off x="548640" y="1188720"/>
            <a:ext cx="5486400" cy="4480560"/>
          </a:xfrm>
          <a:prstGeom prst="roundRect">
            <a:avLst>
              <a:gd name="adj" fmla="val 1224"/>
            </a:avLst>
          </a:prstGeom>
          <a:solidFill>
            <a:srgbClr val="FFFFFF"/>
          </a:solidFill>
          <a:ln w="12700">
            <a:solidFill>
              <a:srgbClr val="EDEDED"/>
            </a:solidFill>
            <a:prstDash val="solid"/>
          </a:ln>
        </p:spPr>
      </p:sp>
      <p:sp>
        <p:nvSpPr>
          <p:cNvPr id="5" name="a-meas-h"/>
          <p:cNvSpPr txBox="1"/>
          <p:nvPr/>
        </p:nvSpPr>
        <p:spPr>
          <a:xfrm>
            <a:off x="786384" y="1389888"/>
            <a:ext cx="5010912" cy="310896"/>
          </a:xfrm>
          <a:prstGeom prst="rect">
            <a:avLst/>
          </a:prstGeom>
          <a:noFill/>
          <a:ln/>
        </p:spPr>
        <p:txBody>
          <a:bodyPr wrap="square" lIns="0" tIns="0" rIns="0" bIns="0" rtlCol="0" anchor="ctr"/>
          <a:lstStyle/>
          <a:p>
            <a:pPr indent="0" marL="0">
              <a:buNone/>
            </a:pPr>
            <a:r>
              <a:rPr lang="en-US" sz="1500" b="1" dirty="0">
                <a:solidFill>
                  <a:srgbClr val="E90802"/>
                </a:solidFill>
              </a:rPr>
              <a:t>Measurement quality</a:t>
            </a:r>
            <a:endParaRPr lang="en-US" sz="1500" dirty="0"/>
          </a:p>
        </p:txBody>
      </p:sp>
      <p:sp>
        <p:nvSpPr>
          <p:cNvPr id="6" name="a-meas-l"/>
          <p:cNvSpPr txBox="1"/>
          <p:nvPr/>
        </p:nvSpPr>
        <p:spPr>
          <a:xfrm>
            <a:off x="786384" y="1737360"/>
            <a:ext cx="5029200" cy="37490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Stronger local judge — tested, 7–8B on a T4</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Majority vote over union — tested, higher precision</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Third judge plus self-consistency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Verification ensemble — LLM verdict plus an NLI model</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Evidence-aware verification — name the span, then judge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One fixed entailment model for recall across all runs</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Better reference sets — several answers, human verification</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Calibration of the three label thresholds</a:t>
            </a:r>
            <a:endParaRPr lang="en-US" sz="1300" dirty="0"/>
          </a:p>
        </p:txBody>
      </p:sp>
      <p:sp>
        <p:nvSpPr>
          <p:cNvPr id="7" name="a-econ"/>
          <p:cNvSpPr/>
          <p:nvPr/>
        </p:nvSpPr>
        <p:spPr>
          <a:xfrm>
            <a:off x="6355080" y="1188720"/>
            <a:ext cx="5257800" cy="4480560"/>
          </a:xfrm>
          <a:prstGeom prst="roundRect">
            <a:avLst>
              <a:gd name="adj" fmla="val 1224"/>
            </a:avLst>
          </a:prstGeom>
          <a:solidFill>
            <a:srgbClr val="FFFFFF"/>
          </a:solidFill>
          <a:ln w="12700">
            <a:solidFill>
              <a:srgbClr val="EDEDED"/>
            </a:solidFill>
            <a:prstDash val="solid"/>
          </a:ln>
        </p:spPr>
      </p:sp>
      <p:sp>
        <p:nvSpPr>
          <p:cNvPr id="8" name="a-econ-h"/>
          <p:cNvSpPr txBox="1"/>
          <p:nvPr/>
        </p:nvSpPr>
        <p:spPr>
          <a:xfrm>
            <a:off x="6592824" y="1389888"/>
            <a:ext cx="4782312" cy="310896"/>
          </a:xfrm>
          <a:prstGeom prst="rect">
            <a:avLst/>
          </a:prstGeom>
          <a:noFill/>
          <a:ln/>
        </p:spPr>
        <p:txBody>
          <a:bodyPr wrap="square" lIns="0" tIns="0" rIns="0" bIns="0" rtlCol="0" anchor="ctr"/>
          <a:lstStyle/>
          <a:p>
            <a:pPr indent="0" marL="0">
              <a:buNone/>
            </a:pPr>
            <a:r>
              <a:rPr lang="en-US" sz="1500" b="1" dirty="0">
                <a:solidFill>
                  <a:srgbClr val="E90802"/>
                </a:solidFill>
              </a:rPr>
              <a:t>Retrieval, cost and coverage</a:t>
            </a:r>
            <a:endParaRPr lang="en-US" sz="1500" dirty="0"/>
          </a:p>
        </p:txBody>
      </p:sp>
      <p:sp>
        <p:nvSpPr>
          <p:cNvPr id="9" name="a-econ-l"/>
          <p:cNvSpPr txBox="1"/>
          <p:nvPr/>
        </p:nvSpPr>
        <p:spPr>
          <a:xfrm>
            <a:off x="6592824" y="1737360"/>
            <a:ext cx="4800600" cy="3749040"/>
          </a:xfrm>
          <a:prstGeom prst="rect">
            <a:avLst/>
          </a:prstGeom>
          <a:noFill/>
          <a:ln/>
        </p:spPr>
        <p:txBody>
          <a:bodyPr wrap="square" lIns="0" tIns="0" rIns="0" bIns="0" rtlCol="0" anchor="ctr"/>
          <a:lstStyle/>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Query expansion, dense embeddings, cross-encoder reranking</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Iterative refinement, maximum two passes</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Hybrid rule + LLM relation detection (implemented, off)</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Adaptive evidence count, driven by uncertainty</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Knowledge-source diversification, routed by claim type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Claim difficulty routing — small model, then large</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Fine-tuned detector; distillation from a large open teacher</a:t>
            </a:r>
            <a:endParaRPr lang="en-US" sz="1300" dirty="0"/>
          </a:p>
          <a:p>
            <a:pPr marL="342900" indent="-342900">
              <a:spcAft>
                <a:spcPts val="800"/>
              </a:spcAft>
              <a:buSzPct val="100000"/>
              <a:buChar char="•"/>
            </a:pPr>
            <a:r>
              <a:rPr lang="en-US" sz="1300" dirty="0">
                <a:solidFill>
                  <a:srgbClr val="333333"/>
                </a:solidFill>
                <a:latin typeface="Arial" pitchFamily="34" charset="0"/>
                <a:ea typeface="Arial" pitchFamily="34" charset="-122"/>
                <a:cs typeface="Arial" pitchFamily="34" charset="-120"/>
              </a:rPr>
              <a:t>The remaining baselines: FactScore, FactCheck-GPT, VERIFY</a:t>
            </a:r>
            <a:endParaRPr lang="en-US" sz="1300" dirty="0"/>
          </a:p>
        </p:txBody>
      </p:sp>
      <p:sp>
        <p:nvSpPr>
          <p:cNvPr id="10"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The first two items are now measured. The rest are proposed directions with expected metric effects.</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eyebrow"/>
          <p:cNvSpPr txBox="1"/>
          <p:nvPr/>
        </p:nvSpPr>
        <p:spPr>
          <a:xfrm>
            <a:off x="548640" y="128016"/>
            <a:ext cx="11064240" cy="256032"/>
          </a:xfrm>
          <a:prstGeom prst="rect">
            <a:avLst/>
          </a:prstGeom>
          <a:noFill/>
          <a:ln/>
        </p:spPr>
        <p:txBody>
          <a:bodyPr wrap="square" lIns="0" tIns="0" rIns="0" bIns="0" rtlCol="0" anchor="ctr"/>
          <a:lstStyle/>
          <a:p>
            <a:pPr indent="0" marL="0">
              <a:buNone/>
            </a:pPr>
            <a:r>
              <a:rPr lang="en-US" sz="1100" b="1" spc="200" kern="0" dirty="0">
                <a:solidFill>
                  <a:srgbClr val="E90802"/>
                </a:solidFill>
                <a:latin typeface="Arial" pitchFamily="34" charset="0"/>
                <a:ea typeface="Arial" pitchFamily="34" charset="-122"/>
                <a:cs typeface="Arial" pitchFamily="34" charset="-120"/>
              </a:rPr>
              <a:t>APPENDIX — NOT PRESENTED</a:t>
            </a:r>
            <a:endParaRPr lang="en-US" sz="1100" dirty="0"/>
          </a:p>
        </p:txBody>
      </p:sp>
      <p:sp>
        <p:nvSpPr>
          <p:cNvPr id="3" name="title"/>
          <p:cNvSpPr txBox="1"/>
          <p:nvPr/>
        </p:nvSpPr>
        <p:spPr>
          <a:xfrm>
            <a:off x="548640" y="420624"/>
            <a:ext cx="11064240" cy="658368"/>
          </a:xfrm>
          <a:prstGeom prst="rect">
            <a:avLst/>
          </a:prstGeom>
          <a:noFill/>
          <a:ln/>
        </p:spPr>
        <p:txBody>
          <a:bodyPr wrap="square" lIns="0" tIns="0" rIns="0" bIns="0" rtlCol="0" anchor="ctr"/>
          <a:lstStyle/>
          <a:p>
            <a:pPr indent="0" marL="0">
              <a:buNone/>
            </a:pPr>
            <a:r>
              <a:rPr lang="en-US" sz="3000" b="1" dirty="0">
                <a:solidFill>
                  <a:srgbClr val="000000"/>
                </a:solidFill>
              </a:rPr>
              <a:t>Run B, and known hazards</a:t>
            </a:r>
            <a:endParaRPr lang="en-US" sz="3000" dirty="0"/>
          </a:p>
        </p:txBody>
      </p:sp>
      <p:sp>
        <p:nvSpPr>
          <p:cNvPr id="4" name="expb"/>
          <p:cNvSpPr/>
          <p:nvPr/>
        </p:nvSpPr>
        <p:spPr>
          <a:xfrm>
            <a:off x="548640" y="1188720"/>
            <a:ext cx="11064240" cy="1737360"/>
          </a:xfrm>
          <a:prstGeom prst="roundRect">
            <a:avLst>
              <a:gd name="adj" fmla="val 3158"/>
            </a:avLst>
          </a:prstGeom>
          <a:solidFill>
            <a:srgbClr val="FFFFFF"/>
          </a:solidFill>
          <a:ln w="12700">
            <a:solidFill>
              <a:srgbClr val="EDEDED"/>
            </a:solidFill>
            <a:prstDash val="solid"/>
          </a:ln>
        </p:spPr>
      </p:sp>
      <p:sp>
        <p:nvSpPr>
          <p:cNvPr id="5" name="expb-h"/>
          <p:cNvSpPr txBox="1"/>
          <p:nvPr/>
        </p:nvSpPr>
        <p:spPr>
          <a:xfrm>
            <a:off x="786384" y="1389888"/>
            <a:ext cx="10588752" cy="310896"/>
          </a:xfrm>
          <a:prstGeom prst="rect">
            <a:avLst/>
          </a:prstGeom>
          <a:noFill/>
          <a:ln/>
        </p:spPr>
        <p:txBody>
          <a:bodyPr wrap="square" lIns="0" tIns="0" rIns="0" bIns="0" rtlCol="0" anchor="ctr"/>
          <a:lstStyle/>
          <a:p>
            <a:pPr indent="0" marL="0">
              <a:buNone/>
            </a:pPr>
            <a:r>
              <a:rPr lang="en-US" sz="1400" b="1" dirty="0">
                <a:solidFill>
                  <a:srgbClr val="E90802"/>
                </a:solidFill>
              </a:rPr>
              <a:t>Run B — the whole pipeline at 7B, including the extractor</a:t>
            </a:r>
            <a:endParaRPr lang="en-US" sz="1400" dirty="0"/>
          </a:p>
        </p:txBody>
      </p:sp>
      <p:sp>
        <p:nvSpPr>
          <p:cNvPr id="6" name="expb-b"/>
          <p:cNvSpPr txBox="1"/>
          <p:nvPr/>
        </p:nvSpPr>
        <p:spPr>
          <a:xfrm>
            <a:off x="786384" y="1773936"/>
            <a:ext cx="10588752" cy="969264"/>
          </a:xfrm>
          <a:prstGeom prst="rect">
            <a:avLst/>
          </a:prstGeom>
          <a:noFill/>
          <a:ln/>
        </p:spPr>
        <p:txBody>
          <a:bodyPr wrap="square" lIns="0" tIns="0" rIns="0" bIns="0" rtlCol="0" anchor="t"/>
          <a:lstStyle/>
          <a:p>
            <a:pPr indent="0" marL="0">
              <a:lnSpc>
                <a:spcPct val="120000"/>
              </a:lnSpc>
              <a:buNone/>
            </a:pPr>
            <a:r>
              <a:rPr lang="en-US" sz="1200" dirty="0">
                <a:solidFill>
                  <a:srgbClr val="333333"/>
                </a:solidFill>
                <a:latin typeface="Arial" pitchFamily="34" charset="0"/>
                <a:ea typeface="Arial" pitchFamily="34" charset="-122"/>
                <a:cs typeface="Arial" pitchFamily="34" charset="-120"/>
              </a:rPr>
              <a:t>Baseline: 15.92 facts per answer against 21.50, incomplete rate 0.319, precision 0.5050. Refinement then costs far less precision (−0.025, against −0.118 in run A).</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A stronger extractor writes fewer, coarser, more self-contained facts, so there is less to repair — the same trade the paper notes for VERIFY (18.5 facts per response against VeriFact's 32.3).</a:t>
            </a:r>
            <a:endParaRPr lang="en-US" sz="1200" dirty="0"/>
          </a:p>
          <a:p>
            <a:pPr indent="0" marL="0">
              <a:lnSpc>
                <a:spcPct val="120000"/>
              </a:lnSpc>
              <a:buNone/>
            </a:pPr>
            <a:r>
              <a:rPr lang="en-US" sz="1200" dirty="0">
                <a:solidFill>
                  <a:srgbClr val="333333"/>
                </a:solidFill>
                <a:latin typeface="Arial" pitchFamily="34" charset="0"/>
                <a:ea typeface="Arial" pitchFamily="34" charset="-122"/>
                <a:cs typeface="Arial" pitchFamily="34" charset="-120"/>
              </a:rPr>
              <a:t>B changed the extractor, the judge, the verifier and the recall entailment model at once, so its columns read only against its own baseline.</a:t>
            </a:r>
            <a:endParaRPr lang="en-US" sz="1200" dirty="0"/>
          </a:p>
        </p:txBody>
      </p:sp>
      <p:sp>
        <p:nvSpPr>
          <p:cNvPr id="7" name="haz0"/>
          <p:cNvSpPr/>
          <p:nvPr/>
        </p:nvSpPr>
        <p:spPr>
          <a:xfrm>
            <a:off x="548640" y="3154680"/>
            <a:ext cx="3547872" cy="2606040"/>
          </a:xfrm>
          <a:prstGeom prst="roundRect">
            <a:avLst>
              <a:gd name="adj" fmla="val 2105"/>
            </a:avLst>
          </a:prstGeom>
          <a:solidFill>
            <a:srgbClr val="000000"/>
          </a:solidFill>
          <a:ln w="12700">
            <a:solidFill>
              <a:srgbClr val="000000"/>
            </a:solidFill>
            <a:prstDash val="solid"/>
          </a:ln>
        </p:spPr>
      </p:sp>
      <p:sp>
        <p:nvSpPr>
          <p:cNvPr id="8" name="haz0-h"/>
          <p:cNvSpPr txBox="1"/>
          <p:nvPr/>
        </p:nvSpPr>
        <p:spPr>
          <a:xfrm>
            <a:off x="786384"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GPU hazard</a:t>
            </a:r>
            <a:endParaRPr lang="en-US" sz="1300" dirty="0"/>
          </a:p>
        </p:txBody>
      </p:sp>
      <p:sp>
        <p:nvSpPr>
          <p:cNvPr id="9" name="haz0-b"/>
          <p:cNvSpPr txBox="1"/>
          <p:nvPr/>
        </p:nvSpPr>
        <p:spPr>
          <a:xfrm>
            <a:off x="786384"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Two 3B Q4_K_M judges do not fit in 4 GB. The pipeline drives one judge at a time over the whole fact list, then releases its weights — otherwise the backend waits for the resident model's keep-alive and every call pays a ~20 s model load.</a:t>
            </a:r>
            <a:endParaRPr lang="en-US" sz="1100" dirty="0"/>
          </a:p>
        </p:txBody>
      </p:sp>
      <p:sp>
        <p:nvSpPr>
          <p:cNvPr id="10" name="haz1"/>
          <p:cNvSpPr/>
          <p:nvPr/>
        </p:nvSpPr>
        <p:spPr>
          <a:xfrm>
            <a:off x="4279392" y="3154680"/>
            <a:ext cx="3547872" cy="2606040"/>
          </a:xfrm>
          <a:prstGeom prst="roundRect">
            <a:avLst>
              <a:gd name="adj" fmla="val 2105"/>
            </a:avLst>
          </a:prstGeom>
          <a:solidFill>
            <a:srgbClr val="000000"/>
          </a:solidFill>
          <a:ln w="12700">
            <a:solidFill>
              <a:srgbClr val="000000"/>
            </a:solidFill>
            <a:prstDash val="solid"/>
          </a:ln>
        </p:spPr>
      </p:sp>
      <p:sp>
        <p:nvSpPr>
          <p:cNvPr id="11" name="haz1-h"/>
          <p:cNvSpPr txBox="1"/>
          <p:nvPr/>
        </p:nvSpPr>
        <p:spPr>
          <a:xfrm>
            <a:off x="4517136"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Retrieval hazard</a:t>
            </a:r>
            <a:endParaRPr lang="en-US" sz="1300" dirty="0"/>
          </a:p>
        </p:txBody>
      </p:sp>
      <p:sp>
        <p:nvSpPr>
          <p:cNvPr id="12" name="haz1-b"/>
          <p:cNvSpPr txBox="1"/>
          <p:nvPr/>
        </p:nvSpPr>
        <p:spPr>
          <a:xfrm>
            <a:off x="4517136"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Wikipedia rate-limits unauthenticated clients. Failed requests are not cached, so without retries a 429 silently becomes “no evidence” and two runs of the same pipeline disagree. Fixed with retries, backoff and Retry-After.</a:t>
            </a:r>
            <a:endParaRPr lang="en-US" sz="1100" dirty="0"/>
          </a:p>
        </p:txBody>
      </p:sp>
      <p:sp>
        <p:nvSpPr>
          <p:cNvPr id="13" name="haz2"/>
          <p:cNvSpPr/>
          <p:nvPr/>
        </p:nvSpPr>
        <p:spPr>
          <a:xfrm>
            <a:off x="8010144" y="3154680"/>
            <a:ext cx="3547872" cy="2606040"/>
          </a:xfrm>
          <a:prstGeom prst="roundRect">
            <a:avLst>
              <a:gd name="adj" fmla="val 2105"/>
            </a:avLst>
          </a:prstGeom>
          <a:solidFill>
            <a:srgbClr val="000000"/>
          </a:solidFill>
          <a:ln w="12700">
            <a:solidFill>
              <a:srgbClr val="000000"/>
            </a:solidFill>
            <a:prstDash val="solid"/>
          </a:ln>
        </p:spPr>
      </p:sp>
      <p:sp>
        <p:nvSpPr>
          <p:cNvPr id="14" name="haz2-h"/>
          <p:cNvSpPr txBox="1"/>
          <p:nvPr/>
        </p:nvSpPr>
        <p:spPr>
          <a:xfrm>
            <a:off x="8247888" y="3355848"/>
            <a:ext cx="3072384" cy="310896"/>
          </a:xfrm>
          <a:prstGeom prst="rect">
            <a:avLst/>
          </a:prstGeom>
          <a:noFill/>
          <a:ln/>
        </p:spPr>
        <p:txBody>
          <a:bodyPr wrap="square" lIns="0" tIns="0" rIns="0" bIns="0" rtlCol="0" anchor="ctr"/>
          <a:lstStyle/>
          <a:p>
            <a:pPr indent="0" marL="0">
              <a:buNone/>
            </a:pPr>
            <a:r>
              <a:rPr lang="en-US" sz="1300" b="1" dirty="0">
                <a:solidFill>
                  <a:srgbClr val="E90802"/>
                </a:solidFill>
              </a:rPr>
              <a:t>Reproducibility</a:t>
            </a:r>
            <a:endParaRPr lang="en-US" sz="1300" dirty="0"/>
          </a:p>
        </p:txBody>
      </p:sp>
      <p:sp>
        <p:nvSpPr>
          <p:cNvPr id="15" name="haz2-b"/>
          <p:cNvSpPr txBox="1"/>
          <p:nvPr/>
        </p:nvSpPr>
        <p:spPr>
          <a:xfrm>
            <a:off x="8247888" y="3739896"/>
            <a:ext cx="3072384" cy="1837944"/>
          </a:xfrm>
          <a:prstGeom prst="rect">
            <a:avLst/>
          </a:prstGeom>
          <a:noFill/>
          <a:ln/>
        </p:spPr>
        <p:txBody>
          <a:bodyPr wrap="square" lIns="0" tIns="0" rIns="0" bIns="0" rtlCol="0" anchor="t"/>
          <a:lstStyle/>
          <a:p>
            <a:pPr indent="0" marL="0">
              <a:lnSpc>
                <a:spcPct val="120000"/>
              </a:lnSpc>
              <a:buNone/>
            </a:pPr>
            <a:r>
              <a:rPr lang="en-US" sz="1100" dirty="0">
                <a:solidFill>
                  <a:srgbClr val="EDEDED"/>
                </a:solidFill>
                <a:latin typeface="Arial" pitchFamily="34" charset="0"/>
                <a:ea typeface="Arial" pitchFamily="34" charset="-122"/>
                <a:cs typeface="Arial" pitchFamily="34" charset="-120"/>
              </a:rPr>
              <a:t>Every LLM call is cached under hash(model + prompt + parameters), every page on disk. Temperature-0 decoding is not bit-reproducible until the cache is warm; all three runs replay exactly from the shipped caches.</a:t>
            </a:r>
            <a:endParaRPr lang="en-US" sz="1100" dirty="0"/>
          </a:p>
        </p:txBody>
      </p:sp>
      <p:sp>
        <p:nvSpPr>
          <p:cNvPr id="16" name="note"/>
          <p:cNvSpPr txBox="1"/>
          <p:nvPr/>
        </p:nvSpPr>
        <p:spPr>
          <a:xfrm>
            <a:off x="548640" y="6254496"/>
            <a:ext cx="10607040" cy="274320"/>
          </a:xfrm>
          <a:prstGeom prst="rect">
            <a:avLst/>
          </a:prstGeom>
          <a:noFill/>
          <a:ln/>
        </p:spPr>
        <p:txBody>
          <a:bodyPr wrap="square" lIns="0" tIns="0" rIns="0" bIns="0" rtlCol="0" anchor="ctr"/>
          <a:lstStyle/>
          <a:p>
            <a:pPr indent="0" marL="0">
              <a:buNone/>
            </a:pPr>
            <a:r>
              <a:rPr lang="en-US" sz="1000" dirty="0">
                <a:solidFill>
                  <a:srgbClr val="757575"/>
                </a:solidFill>
                <a:latin typeface="Arial" pitchFamily="34" charset="0"/>
                <a:ea typeface="Arial" pitchFamily="34" charset="-122"/>
                <a:cs typeface="Arial" pitchFamily="34" charset="-120"/>
              </a:rPr>
              <a:t>Full write-up in colab/RESULTS.md; all three runs reproduce from one command with no GPU.</a:t>
            </a:r>
            <a:endParaRPr lang="en-US" sz="1000" dirty="0"/>
          </a:p>
        </p:txBody>
      </p:sp>
      <p:sp>
        <p:nvSpPr>
          <p:cNvPr id="25" name="Slide Number Placeholder 0"/>
          <p:cNvSpPr>
            <a:spLocks noGrp="1"/>
          </p:cNvSpPr>
          <p:nvPr>
            <p:ph type="sldNum" sz="quarter" idx="4294967295"/>
          </p:nvPr>
        </p:nvSpPr>
        <p:spPr>
          <a:xfrm>
            <a:off x="11430000" y="6236208"/>
            <a:ext cx="457200" cy="292608"/>
          </a:xfrm>
          <a:prstGeom prst="rect">
            <a:avLst/>
          </a:prstGeom>
          <a:extLst>
            <a:ext uri="{C572A759-6A51-4108-AA02-DFA0A04FC94B}">
              <ma14:wrappingTextBoxFlag xmlns:ma14="http://schemas.microsoft.com/office/mac/drawingml/2011/main" val="0"/>
            </a:ext>
          </a:extLst>
        </p:spPr>
        <p:txBody>
          <a:bodyPr/>
          <a:lstStyle>
            <a:lvl1pPr>
              <a:defRPr sz="1000">
                <a:solidFill>
                  <a:srgbClr val="75757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Texas Tech">
  <a:themeElements>
    <a:clrScheme name="Texas Tech">
      <a:dk1>
        <a:srgbClr val="000000"/>
      </a:dk1>
      <a:lt1>
        <a:srgbClr val="FFFFFF"/>
      </a:lt1>
      <a:dk2>
        <a:srgbClr val="333333"/>
      </a:dk2>
      <a:lt2>
        <a:srgbClr val="EDEDED"/>
      </a:lt2>
      <a:accent1>
        <a:srgbClr val="E90802"/>
      </a:accent1>
      <a:accent2>
        <a:srgbClr val="757575"/>
      </a:accent2>
      <a:accent3>
        <a:srgbClr val="333333"/>
      </a:accent3>
      <a:accent4>
        <a:srgbClr val="EDEDED"/>
      </a:accent4>
      <a:accent5>
        <a:srgbClr val="000000"/>
      </a:accent5>
      <a:accent6>
        <a:srgbClr val="E90802"/>
      </a:accent6>
      <a:hlink>
        <a:srgbClr val="E90802"/>
      </a:hlink>
      <a:folHlink>
        <a:srgbClr val="757575"/>
      </a:folHlink>
    </a:clrScheme>
    <a:fontScheme name="Texas Tech">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Texas Tech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VERIFACT-Lite</dc:title>
  <dc:subject>Reimplementation of VeriFact (EMNLP 2025)</dc:subject>
  <dc:creator>VERIFACT-Lite</dc:creator>
  <cp:lastModifiedBy>VERIFACT-Lite</cp:lastModifiedBy>
  <cp:revision>1</cp:revision>
  <dcterms:created xsi:type="dcterms:W3CDTF">2026-10-07T23:51:10Z</dcterms:created>
  <dcterms:modified xsi:type="dcterms:W3CDTF">2026-10-07T23:51:10Z</dcterms:modified>
</cp:coreProperties>
</file>