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eccf6d7-6155-a738-4e8b-6fcde3c88a7d}">
          <p14:sldIdLst>
            <p14:sldId id="256"/>
            <p14:sldId id="257"/>
            <p14:sldId id="258"/>
            <p14:sldId id="259"/>
            <p14:sldId id="260"/>
            <p14:sldId id="261"/>
            <p14:sldId id="262"/>
            <p14:sldId id="263"/>
            <p14:sldId id="264"/>
            <p14:sldId id="265"/>
            <p14:sldId id="266"/>
            <p14:sldId id="267"/>
            <p14:sldId id="268"/>
            <p14:sldId id="269"/>
            <p14:sldId id="270"/>
          </p14:sldIdLst>
        </p14:section>
        <p14:section name="Appendix" id="{3e284ecb-13b2-d08e-30d2-23c345bef478}">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757575"/>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Incomplete fact rate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Majority</c:v>
                  </c:pt>
                  <c:pt idx="1">
                    <c:v>Union</c:v>
                  </c:pt>
                  <c:pt idx="2">
                    <c:v>Baseline</c:v>
                  </c:pt>
                </c:lvl>
              </c:multiLvlStrCache>
            </c:multiLvlStrRef>
          </c:cat>
          <c:val>
            <c:numRef>
              <c:f>Sheet1!$B$2:$B$4</c:f>
              <c:numCache>
                <c:formatCode>General</c:formatCode>
                <c:ptCount val="3"/>
                <c:pt idx="0">
                  <c:v>0.042</c:v>
                </c:pt>
                <c:pt idx="1">
                  <c:v>0.091</c:v>
                </c:pt>
                <c:pt idx="2">
                  <c:v>0.105</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b"/>
        <c:majorGridlines>
          <c:spPr>
            <a:ln w="12700" cap="flat">
              <a:solidFill>
                <a:srgbClr val="EDED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One sentence: we rebuilt the paper's mechanism on hardware that costs nothing to run, and measured it honestly against its own baseline. We do not claim the paper's numbers. Move on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This example is the whole paper. Verifying the stripped claim gives a meaningless verdict, because it is not what the answer said. Read the two fact lists side by side, then point at the three numbers: this is measured on human annotation, not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Steps 1 and 4 are inherited from SAFE and FactCheck-GPT. Steps 2 and 3 are what is new. If anyone asks later: the twelve models in the paper's Table 3 are systems under evaluation, not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Do not read the table. Say: every paid or large component has a free local stand-in, the detection logic is unchanged, and the whole thing runs on one consumer GPU for nothing. Reference facts were written by hand from authoritative sources and deliberately not derived from the answer being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The key methodological point. If baseline and VeriFact saw different answers, any precision difference would be meaningless. One answer per question, generated once, stored, reused by every 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This is how missing relations are found without asking an LLM to read the whole answer. Nearly half the answer text is covered by no extracted fact, and that is where the dropped relations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Say the recall definition out loud — it explains why recall is identical in every result that follows. Refinement changes the fact set, not the answer, and recall scores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Your main results slide, so spend time here. The mechanism does what the paper says to the fact set. Measured precision goes down, and the next three slides explain why that is the expected direction rather than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Walk the table top to bottom once, then read the three cards. The point: each half of the contribution moves its own metric, and the two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result that is ours rather than the paper's, so flag it as such. With two weak judges, union is dominated by the permissive one; a majority rule recovers most of the benefit at a fraction of the precision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slide justifies the paper and explains the precision drop two slides back. A quarter to two fifths of verdicts are decided by whether the claim kept its context, so the baseline's higher precision was partly an illusion.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Read one example from each side only. Showing the failure is deliberate: the refiner has no guard against changing meaning, which is exactly why a stronger model is improvement number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Point at the Agreement column, not the numbers. Reproduced: the mechanism and the qualitative conclusions. Not reproduced: the absolute metrics, and the deck says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Open by owning the 0.92 mistake: it shows the evaluation harness was itself tested. Then read the left column down, and name the matching fix only for the first two rows — the rest are on the slide to be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Close on point 4 — it is the one result that is ours, it is measured, and it points straight at the first item of future work. Then stop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else you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about engineering problems or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E9080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685800" y="1371600"/>
            <a:ext cx="10789920" cy="310896"/>
          </a:xfrm>
          <a:prstGeom prst="rect">
            <a:avLst/>
          </a:prstGeom>
          <a:noFill/>
          <a:ln/>
        </p:spPr>
        <p:txBody>
          <a:bodyPr wrap="square" lIns="0" tIns="0" rIns="0" bIns="0" rtlCol="0" anchor="ctr"/>
          <a:lstStyle/>
          <a:p>
            <a:pPr indent="0" marL="0">
              <a:buNone/>
            </a:pPr>
            <a:r>
              <a:rPr lang="en-US" sz="1300" b="1" spc="200" kern="0" dirty="0">
                <a:solidFill>
                  <a:srgbClr val="E90802"/>
                </a:solidFill>
                <a:latin typeface="Arial" pitchFamily="34" charset="0"/>
                <a:ea typeface="Arial" pitchFamily="34" charset="-122"/>
                <a:cs typeface="Arial" pitchFamily="34" charset="-120"/>
              </a:rPr>
              <a:t>PAPER REIMPLEMENTATION</a:t>
            </a:r>
            <a:endParaRPr lang="en-US" sz="1300" dirty="0"/>
          </a:p>
        </p:txBody>
      </p:sp>
      <p:sp>
        <p:nvSpPr>
          <p:cNvPr id="3" name="cover-title"/>
          <p:cNvSpPr txBox="1"/>
          <p:nvPr/>
        </p:nvSpPr>
        <p:spPr>
          <a:xfrm>
            <a:off x="685800" y="1783080"/>
            <a:ext cx="10789920" cy="1234440"/>
          </a:xfrm>
          <a:prstGeom prst="rect">
            <a:avLst/>
          </a:prstGeom>
          <a:noFill/>
          <a:ln/>
        </p:spPr>
        <p:txBody>
          <a:bodyPr wrap="square" lIns="0" tIns="0" rIns="0" bIns="0" rtlCol="0" anchor="ctr"/>
          <a:lstStyle/>
          <a:p>
            <a:pPr indent="0" marL="0">
              <a:buNone/>
            </a:pPr>
            <a:r>
              <a:rPr lang="en-US" sz="5400" b="1" dirty="0">
                <a:solidFill>
                  <a:srgbClr val="FFFFFF"/>
                </a:solidFill>
              </a:rPr>
              <a:t>VERIFACT-Lite</a:t>
            </a:r>
            <a:endParaRPr lang="en-US" sz="5400" dirty="0"/>
          </a:p>
        </p:txBody>
      </p:sp>
      <p:sp>
        <p:nvSpPr>
          <p:cNvPr id="4" name="cover-body"/>
          <p:cNvSpPr txBox="1"/>
          <p:nvPr/>
        </p:nvSpPr>
        <p:spPr>
          <a:xfrm>
            <a:off x="685800" y="3154680"/>
            <a:ext cx="9052560" cy="1188720"/>
          </a:xfrm>
          <a:prstGeom prst="rect">
            <a:avLst/>
          </a:prstGeom>
          <a:noFill/>
          <a:ln/>
        </p:spPr>
        <p:txBody>
          <a:bodyPr wrap="square" lIns="0" tIns="0" rIns="0" bIns="0" rtlCol="0" anchor="ctr"/>
          <a:lstStyle/>
          <a:p>
            <a:pPr indent="0" marL="0">
              <a:lnSpc>
                <a:spcPct val="130000"/>
              </a:lnSpc>
              <a:buNone/>
            </a:pPr>
            <a:r>
              <a:rPr lang="en-US" sz="1700" dirty="0">
                <a:solidFill>
                  <a:srgbClr val="EDEDED"/>
                </a:solidFill>
                <a:latin typeface="Arial" pitchFamily="34" charset="0"/>
                <a:ea typeface="Arial" pitchFamily="34" charset="-122"/>
                <a:cs typeface="Arial" pitchFamily="34" charset="-120"/>
              </a:rPr>
              <a:t>A resource-constrained reimplementation of the core VeriFact methodology using open-source, locally hosted models</a:t>
            </a:r>
            <a:endParaRPr lang="en-US" sz="1700" dirty="0"/>
          </a:p>
        </p:txBody>
      </p:sp>
      <p:sp>
        <p:nvSpPr>
          <p:cNvPr id="5" name="chip0"/>
          <p:cNvSpPr/>
          <p:nvPr/>
        </p:nvSpPr>
        <p:spPr>
          <a:xfrm>
            <a:off x="685800" y="4800600"/>
            <a:ext cx="2857500" cy="420624"/>
          </a:xfrm>
          <a:prstGeom prst="roundRect">
            <a:avLst>
              <a:gd name="adj" fmla="val 50000"/>
            </a:avLst>
          </a:prstGeom>
          <a:solidFill>
            <a:srgbClr val="333333"/>
          </a:solidFill>
          <a:ln w="12700">
            <a:solidFill>
              <a:srgbClr val="333333"/>
            </a:solidFill>
            <a:prstDash val="solid"/>
          </a:ln>
        </p:spPr>
      </p:sp>
      <p:sp>
        <p:nvSpPr>
          <p:cNvPr id="6" name="chip-t0"/>
          <p:cNvSpPr txBox="1"/>
          <p:nvPr/>
        </p:nvSpPr>
        <p:spPr>
          <a:xfrm>
            <a:off x="685800" y="4800600"/>
            <a:ext cx="28575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Qwen2.5-3B + Llama-3.2-3B</a:t>
            </a:r>
            <a:endParaRPr lang="en-US" sz="1200" dirty="0"/>
          </a:p>
        </p:txBody>
      </p:sp>
      <p:sp>
        <p:nvSpPr>
          <p:cNvPr id="7" name="chip1"/>
          <p:cNvSpPr/>
          <p:nvPr/>
        </p:nvSpPr>
        <p:spPr>
          <a:xfrm>
            <a:off x="3611880" y="4800600"/>
            <a:ext cx="2569464" cy="420624"/>
          </a:xfrm>
          <a:prstGeom prst="roundRect">
            <a:avLst>
              <a:gd name="adj" fmla="val 50000"/>
            </a:avLst>
          </a:prstGeom>
          <a:solidFill>
            <a:srgbClr val="333333"/>
          </a:solidFill>
          <a:ln w="12700">
            <a:solidFill>
              <a:srgbClr val="333333"/>
            </a:solidFill>
            <a:prstDash val="solid"/>
          </a:ln>
        </p:spPr>
      </p:sp>
      <p:sp>
        <p:nvSpPr>
          <p:cNvPr id="8" name="chip-t1"/>
          <p:cNvSpPr txBox="1"/>
          <p:nvPr/>
        </p:nvSpPr>
        <p:spPr>
          <a:xfrm>
            <a:off x="3611880" y="4800600"/>
            <a:ext cx="256946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Q4_K_M on one 4 GB GPU</a:t>
            </a:r>
            <a:endParaRPr lang="en-US" sz="1200" dirty="0"/>
          </a:p>
        </p:txBody>
      </p:sp>
      <p:sp>
        <p:nvSpPr>
          <p:cNvPr id="9" name="chip2"/>
          <p:cNvSpPr/>
          <p:nvPr/>
        </p:nvSpPr>
        <p:spPr>
          <a:xfrm>
            <a:off x="6172200" y="4800600"/>
            <a:ext cx="2185416" cy="420624"/>
          </a:xfrm>
          <a:prstGeom prst="roundRect">
            <a:avLst>
              <a:gd name="adj" fmla="val 50000"/>
            </a:avLst>
          </a:prstGeom>
          <a:solidFill>
            <a:srgbClr val="333333"/>
          </a:solidFill>
          <a:ln w="12700">
            <a:solidFill>
              <a:srgbClr val="333333"/>
            </a:solidFill>
            <a:prstDash val="solid"/>
          </a:ln>
        </p:spPr>
      </p:sp>
      <p:sp>
        <p:nvSpPr>
          <p:cNvPr id="10" name="chip-t2"/>
          <p:cNvSpPr txBox="1"/>
          <p:nvPr/>
        </p:nvSpPr>
        <p:spPr>
          <a:xfrm>
            <a:off x="6172200" y="4800600"/>
            <a:ext cx="218541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Wikipedia evidence</a:t>
            </a:r>
            <a:endParaRPr lang="en-US" sz="1200" dirty="0"/>
          </a:p>
        </p:txBody>
      </p:sp>
      <p:sp>
        <p:nvSpPr>
          <p:cNvPr id="11" name="chip3"/>
          <p:cNvSpPr/>
          <p:nvPr/>
        </p:nvSpPr>
        <p:spPr>
          <a:xfrm>
            <a:off x="8321040" y="4800600"/>
            <a:ext cx="1705356" cy="420624"/>
          </a:xfrm>
          <a:prstGeom prst="roundRect">
            <a:avLst>
              <a:gd name="adj" fmla="val 50000"/>
            </a:avLst>
          </a:prstGeom>
          <a:solidFill>
            <a:srgbClr val="E90802"/>
          </a:solidFill>
          <a:ln w="12700">
            <a:solidFill>
              <a:srgbClr val="E90802"/>
            </a:solidFill>
            <a:prstDash val="solid"/>
          </a:ln>
        </p:spPr>
      </p:sp>
      <p:sp>
        <p:nvSpPr>
          <p:cNvPr id="12" name="chip-t3"/>
          <p:cNvSpPr txBox="1"/>
          <p:nvPr/>
        </p:nvSpPr>
        <p:spPr>
          <a:xfrm>
            <a:off x="8321040" y="4800600"/>
            <a:ext cx="170535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 total cost</a:t>
            </a:r>
            <a:endParaRPr lang="en-US" sz="1200" dirty="0"/>
          </a:p>
        </p:txBody>
      </p:sp>
      <p:sp>
        <p:nvSpPr>
          <p:cNvPr id="13" name="cover-foot"/>
          <p:cNvSpPr txBox="1"/>
          <p:nvPr/>
        </p:nvSpPr>
        <p:spPr>
          <a:xfrm>
            <a:off x="685800" y="5897880"/>
            <a:ext cx="10789920" cy="274320"/>
          </a:xfrm>
          <a:prstGeom prst="rect">
            <a:avLst/>
          </a:prstGeom>
          <a:noFill/>
          <a:ln/>
        </p:spPr>
        <p:txBody>
          <a:bodyPr wrap="square" lIns="0" tIns="0" rIns="0" bIns="0" rtlCol="0" anchor="ctr"/>
          <a:lstStyle/>
          <a:p>
            <a:pPr indent="0" marL="0">
              <a:buNone/>
            </a:pPr>
            <a:r>
              <a:rPr lang="en-US" sz="1100" dirty="0">
                <a:solidFill>
                  <a:srgbClr val="757575"/>
                </a:solidFill>
                <a:latin typeface="Arial" pitchFamily="34" charset="0"/>
                <a:ea typeface="Arial" pitchFamily="34" charset="-122"/>
                <a:cs typeface="Arial" pitchFamily="34" charset="-120"/>
              </a:rPr>
              <a:t>Liu, Zhang, Munir, Gu &amp; Wang — EMNLP 2025  ·  Not a reproduction of the paper's reported results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PROBLEM VERIFACT SOLVES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Atomic facts lose the context that makes them true</a:t>
            </a:r>
            <a:endParaRPr lang="en-US" sz="3000" dirty="0"/>
          </a:p>
        </p:txBody>
      </p:sp>
      <p:sp>
        <p:nvSpPr>
          <p:cNvPr id="4" name="quote-box"/>
          <p:cNvSpPr/>
          <p:nvPr/>
        </p:nvSpPr>
        <p:spPr>
          <a:xfrm>
            <a:off x="548640" y="1188720"/>
            <a:ext cx="11064240" cy="868680"/>
          </a:xfrm>
          <a:prstGeom prst="roundRect">
            <a:avLst>
              <a:gd name="adj" fmla="val 6316"/>
            </a:avLst>
          </a:prstGeom>
          <a:solidFill>
            <a:srgbClr val="EDEDED"/>
          </a:solidFill>
          <a:ln w="12700">
            <a:solidFill>
              <a:srgbClr val="EDEDED"/>
            </a:solidFill>
            <a:prstDash val="solid"/>
          </a:ln>
        </p:spPr>
      </p:sp>
      <p:sp>
        <p:nvSpPr>
          <p:cNvPr id="5" name="quote-text"/>
          <p:cNvSpPr txBox="1"/>
          <p:nvPr/>
        </p:nvSpPr>
        <p:spPr>
          <a:xfrm>
            <a:off x="777240" y="1280160"/>
            <a:ext cx="10607040" cy="685800"/>
          </a:xfrm>
          <a:prstGeom prst="rect">
            <a:avLst/>
          </a:prstGeom>
          <a:noFill/>
          <a:ln/>
        </p:spPr>
        <p:txBody>
          <a:bodyPr wrap="square" lIns="0" tIns="0" rIns="0" bIns="0" rtlCol="0" anchor="ctr"/>
          <a:lstStyle/>
          <a:p>
            <a:pPr indent="0" marL="0">
              <a:lnSpc>
                <a:spcPct val="115000"/>
              </a:lnSpc>
              <a:buNone/>
            </a:pPr>
            <a:r>
              <a:rPr lang="en-US" sz="1200" b="1" dirty="0">
                <a:solidFill>
                  <a:srgbClr val="757575"/>
                </a:solidFill>
                <a:latin typeface="Arial" pitchFamily="34" charset="0"/>
                <a:ea typeface="Arial" pitchFamily="34" charset="-122"/>
                <a:cs typeface="Arial" pitchFamily="34" charset="-120"/>
              </a:rPr>
              <a:t>Model answer:  </a:t>
            </a:r>
            <a:pPr indent="0" marL="0">
              <a:lnSpc>
                <a:spcPct val="115000"/>
              </a:lnSpc>
              <a:buNone/>
            </a:pPr>
            <a:r>
              <a:rPr lang="en-US" sz="1500" dirty="0">
                <a:solidFill>
                  <a:srgbClr val="000000"/>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5000"/>
              </a:lnSpc>
              <a:buNone/>
            </a:pPr>
            <a:r>
              <a:rPr lang="en-US" sz="1500" b="1" dirty="0">
                <a:solidFill>
                  <a:srgbClr val="E90802"/>
                </a:solidFill>
                <a:latin typeface="Arial" pitchFamily="34" charset="0"/>
                <a:ea typeface="Arial" pitchFamily="34" charset="-122"/>
                <a:cs typeface="Arial" pitchFamily="34" charset="-120"/>
              </a:rPr>
              <a:t>making</a:t>
            </a:r>
            <a:pPr indent="0" marL="0">
              <a:lnSpc>
                <a:spcPct val="115000"/>
              </a:lnSpc>
              <a:buNone/>
            </a:pPr>
            <a:r>
              <a:rPr lang="en-US" sz="1500" dirty="0">
                <a:solidFill>
                  <a:srgbClr val="000000"/>
                </a:solidFill>
                <a:latin typeface="Arial" pitchFamily="34" charset="0"/>
                <a:ea typeface="Arial" pitchFamily="34" charset="-122"/>
                <a:cs typeface="Arial" pitchFamily="34" charset="-120"/>
              </a:rPr>
              <a:t> it more competitive with other materials like copper and silver."</a:t>
            </a:r>
            <a:endParaRPr lang="en-US" sz="1200" dirty="0"/>
          </a:p>
        </p:txBody>
      </p:sp>
      <p:sp>
        <p:nvSpPr>
          <p:cNvPr id="6" name="safe"/>
          <p:cNvSpPr/>
          <p:nvPr/>
        </p:nvSpPr>
        <p:spPr>
          <a:xfrm>
            <a:off x="548640" y="2240280"/>
            <a:ext cx="5486400" cy="2331720"/>
          </a:xfrm>
          <a:prstGeom prst="roundRect">
            <a:avLst>
              <a:gd name="adj" fmla="val 2353"/>
            </a:avLst>
          </a:prstGeom>
          <a:solidFill>
            <a:srgbClr val="FFFFFF"/>
          </a:solidFill>
          <a:ln w="12700">
            <a:solidFill>
              <a:srgbClr val="EDEDED"/>
            </a:solidFill>
            <a:prstDash val="solid"/>
          </a:ln>
        </p:spPr>
      </p:sp>
      <p:sp>
        <p:nvSpPr>
          <p:cNvPr id="7" name="safe-h"/>
          <p:cNvSpPr txBox="1"/>
          <p:nvPr/>
        </p:nvSpPr>
        <p:spPr>
          <a:xfrm>
            <a:off x="786384" y="2441448"/>
            <a:ext cx="5010912" cy="310896"/>
          </a:xfrm>
          <a:prstGeom prst="rect">
            <a:avLst/>
          </a:prstGeom>
          <a:noFill/>
          <a:ln/>
        </p:spPr>
        <p:txBody>
          <a:bodyPr wrap="square" lIns="0" tIns="0" rIns="0" bIns="0" rtlCol="0" anchor="ctr"/>
          <a:lstStyle/>
          <a:p>
            <a:pPr indent="0" marL="0">
              <a:buNone/>
            </a:pPr>
            <a:r>
              <a:rPr lang="en-US" sz="1500" b="1" dirty="0">
                <a:solidFill>
                  <a:srgbClr val="333333"/>
                </a:solidFill>
              </a:rPr>
              <a:t>Extracted by SAFE</a:t>
            </a:r>
            <a:endParaRPr lang="en-US" sz="1500" dirty="0"/>
          </a:p>
        </p:txBody>
      </p:sp>
      <p:sp>
        <p:nvSpPr>
          <p:cNvPr id="8" name="safe-list"/>
          <p:cNvSpPr txBox="1"/>
          <p:nvPr/>
        </p:nvSpPr>
        <p:spPr>
          <a:xfrm>
            <a:off x="786384" y="2724912"/>
            <a:ext cx="5029200" cy="173736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 price of gold could drop by 20–50% or more.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dropped</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Copper and silver are competitive with gold in price.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300" dirty="0"/>
          </a:p>
        </p:txBody>
      </p:sp>
      <p:sp>
        <p:nvSpPr>
          <p:cNvPr id="9" name="vf"/>
          <p:cNvSpPr/>
          <p:nvPr/>
        </p:nvSpPr>
        <p:spPr>
          <a:xfrm>
            <a:off x="6355080" y="2240280"/>
            <a:ext cx="5257800" cy="2331720"/>
          </a:xfrm>
          <a:prstGeom prst="roundRect">
            <a:avLst>
              <a:gd name="adj" fmla="val 2353"/>
            </a:avLst>
          </a:prstGeom>
          <a:solidFill>
            <a:srgbClr val="FFFFFF"/>
          </a:solidFill>
          <a:ln w="19050">
            <a:solidFill>
              <a:srgbClr val="E90802"/>
            </a:solidFill>
            <a:prstDash val="solid"/>
          </a:ln>
        </p:spPr>
      </p:sp>
      <p:sp>
        <p:nvSpPr>
          <p:cNvPr id="10" name="vf-h"/>
          <p:cNvSpPr txBox="1"/>
          <p:nvPr/>
        </p:nvSpPr>
        <p:spPr>
          <a:xfrm>
            <a:off x="6592824" y="244144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Extracted by VeriFact</a:t>
            </a:r>
            <a:endParaRPr lang="en-US" sz="1500" dirty="0"/>
          </a:p>
        </p:txBody>
      </p:sp>
      <p:sp>
        <p:nvSpPr>
          <p:cNvPr id="11" name="vf-list"/>
          <p:cNvSpPr txBox="1"/>
          <p:nvPr/>
        </p:nvSpPr>
        <p:spPr>
          <a:xfrm>
            <a:off x="6592824" y="2724912"/>
            <a:ext cx="4800600" cy="173736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If the demand for gold as jewelry disappeared, the price of gold could drop by 20–50% or more.</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A 20–50% drop in the price of gold could make copper and silver competitive with gold.</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300" dirty="0"/>
          </a:p>
        </p:txBody>
      </p:sp>
      <p:sp>
        <p:nvSpPr>
          <p:cNvPr id="12" name="p1"/>
          <p:cNvSpPr/>
          <p:nvPr/>
        </p:nvSpPr>
        <p:spPr>
          <a:xfrm>
            <a:off x="548640" y="4754880"/>
            <a:ext cx="3566160" cy="1143000"/>
          </a:xfrm>
          <a:prstGeom prst="roundRect">
            <a:avLst>
              <a:gd name="adj" fmla="val 4800"/>
            </a:avLst>
          </a:prstGeom>
          <a:solidFill>
            <a:srgbClr val="EDEDED"/>
          </a:solidFill>
          <a:ln w="12700">
            <a:solidFill>
              <a:srgbClr val="EDEDED"/>
            </a:solidFill>
            <a:prstDash val="solid"/>
          </a:ln>
        </p:spPr>
      </p:sp>
      <p:sp>
        <p:nvSpPr>
          <p:cNvPr id="13" name="p1-l"/>
          <p:cNvSpPr txBox="1"/>
          <p:nvPr/>
        </p:nvSpPr>
        <p:spPr>
          <a:xfrm>
            <a:off x="74980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 IN SAFE</a:t>
            </a:r>
            <a:endParaRPr lang="en-US" sz="1000" dirty="0"/>
          </a:p>
        </p:txBody>
      </p:sp>
      <p:sp>
        <p:nvSpPr>
          <p:cNvPr id="14" name="p1-v"/>
          <p:cNvSpPr txBox="1"/>
          <p:nvPr/>
        </p:nvSpPr>
        <p:spPr>
          <a:xfrm>
            <a:off x="74980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12.68%</a:t>
            </a:r>
            <a:endParaRPr lang="en-US" sz="2600" dirty="0"/>
          </a:p>
        </p:txBody>
      </p:sp>
      <p:sp>
        <p:nvSpPr>
          <p:cNvPr id="15" name="p1-f"/>
          <p:cNvSpPr txBox="1"/>
          <p:nvPr/>
        </p:nvSpPr>
        <p:spPr>
          <a:xfrm>
            <a:off x="74980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451 facts, human-annotated</a:t>
            </a:r>
            <a:endParaRPr lang="en-US" sz="1100" dirty="0"/>
          </a:p>
        </p:txBody>
      </p:sp>
      <p:sp>
        <p:nvSpPr>
          <p:cNvPr id="16" name="p2"/>
          <p:cNvSpPr/>
          <p:nvPr/>
        </p:nvSpPr>
        <p:spPr>
          <a:xfrm>
            <a:off x="4297680" y="4754880"/>
            <a:ext cx="3566160" cy="1143000"/>
          </a:xfrm>
          <a:prstGeom prst="roundRect">
            <a:avLst>
              <a:gd name="adj" fmla="val 4800"/>
            </a:avLst>
          </a:prstGeom>
          <a:solidFill>
            <a:srgbClr val="EDEDED"/>
          </a:solidFill>
          <a:ln w="12700">
            <a:solidFill>
              <a:srgbClr val="EDEDED"/>
            </a:solidFill>
            <a:prstDash val="solid"/>
          </a:ln>
        </p:spPr>
      </p:sp>
      <p:sp>
        <p:nvSpPr>
          <p:cNvPr id="17" name="p2-l"/>
          <p:cNvSpPr txBox="1"/>
          <p:nvPr/>
        </p:nvSpPr>
        <p:spPr>
          <a:xfrm>
            <a:off x="449884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PER RESPONSE</a:t>
            </a:r>
            <a:endParaRPr lang="en-US" sz="1000" dirty="0"/>
          </a:p>
        </p:txBody>
      </p:sp>
      <p:sp>
        <p:nvSpPr>
          <p:cNvPr id="18" name="p2-v"/>
          <p:cNvSpPr txBox="1"/>
          <p:nvPr/>
        </p:nvSpPr>
        <p:spPr>
          <a:xfrm>
            <a:off x="449884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1.24</a:t>
            </a:r>
            <a:endParaRPr lang="en-US" sz="2600" dirty="0"/>
          </a:p>
        </p:txBody>
      </p:sp>
      <p:sp>
        <p:nvSpPr>
          <p:cNvPr id="19" name="p2-f"/>
          <p:cNvSpPr txBox="1"/>
          <p:nvPr/>
        </p:nvSpPr>
        <p:spPr>
          <a:xfrm>
            <a:off x="449884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relations never extracted</a:t>
            </a:r>
            <a:endParaRPr lang="en-US" sz="1100" dirty="0"/>
          </a:p>
        </p:txBody>
      </p:sp>
      <p:sp>
        <p:nvSpPr>
          <p:cNvPr id="20" name="p3"/>
          <p:cNvSpPr/>
          <p:nvPr/>
        </p:nvSpPr>
        <p:spPr>
          <a:xfrm>
            <a:off x="8046720" y="4754880"/>
            <a:ext cx="3566160" cy="1143000"/>
          </a:xfrm>
          <a:prstGeom prst="roundRect">
            <a:avLst>
              <a:gd name="adj" fmla="val 4800"/>
            </a:avLst>
          </a:prstGeom>
          <a:solidFill>
            <a:srgbClr val="EDEDED"/>
          </a:solidFill>
          <a:ln w="12700">
            <a:solidFill>
              <a:srgbClr val="EDEDED"/>
            </a:solidFill>
            <a:prstDash val="solid"/>
          </a:ln>
        </p:spPr>
      </p:sp>
      <p:sp>
        <p:nvSpPr>
          <p:cNvPr id="21" name="p3-l"/>
          <p:cNvSpPr txBox="1"/>
          <p:nvPr/>
        </p:nvSpPr>
        <p:spPr>
          <a:xfrm>
            <a:off x="824788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OF THOSE, OMITTED CONDITIONS</a:t>
            </a:r>
            <a:endParaRPr lang="en-US" sz="1000" dirty="0"/>
          </a:p>
        </p:txBody>
      </p:sp>
      <p:sp>
        <p:nvSpPr>
          <p:cNvPr id="22" name="p3-v"/>
          <p:cNvSpPr txBox="1"/>
          <p:nvPr/>
        </p:nvSpPr>
        <p:spPr>
          <a:xfrm>
            <a:off x="824788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51%</a:t>
            </a:r>
            <a:endParaRPr lang="en-US" sz="2600" dirty="0"/>
          </a:p>
        </p:txBody>
      </p:sp>
      <p:sp>
        <p:nvSpPr>
          <p:cNvPr id="23" name="p3-f"/>
          <p:cNvSpPr txBox="1"/>
          <p:nvPr/>
        </p:nvSpPr>
        <p:spPr>
          <a:xfrm>
            <a:off x="824788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the gold case above</a:t>
            </a:r>
            <a:endParaRPr lang="en-US" sz="1100" dirty="0"/>
          </a:p>
        </p:txBody>
      </p:sp>
      <p:sp>
        <p:nvSpPr>
          <p:cNvPr id="2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VeriFact: Liu, Zhang, Munir, Gu &amp; Wang, EMNLP 2025, pp. 17908–17925  ·  github.com/launchnlp/VeriFact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HOW THE PAPER WORKS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Four steps, three judges, union of detections</a:t>
            </a:r>
            <a:endParaRPr lang="en-US" sz="3000" dirty="0"/>
          </a:p>
        </p:txBody>
      </p:sp>
      <p:sp>
        <p:nvSpPr>
          <p:cNvPr id="4" name="step1"/>
          <p:cNvSpPr/>
          <p:nvPr/>
        </p:nvSpPr>
        <p:spPr>
          <a:xfrm>
            <a:off x="548640" y="1188720"/>
            <a:ext cx="2633472" cy="2240280"/>
          </a:xfrm>
          <a:prstGeom prst="roundRect">
            <a:avLst>
              <a:gd name="adj" fmla="val 2449"/>
            </a:avLst>
          </a:prstGeom>
          <a:solidFill>
            <a:srgbClr val="FFFFFF"/>
          </a:solidFill>
          <a:ln w="12700">
            <a:solidFill>
              <a:srgbClr val="EDEDED"/>
            </a:solidFill>
            <a:prstDash val="solid"/>
          </a:ln>
        </p:spPr>
      </p:sp>
      <p:sp>
        <p:nvSpPr>
          <p:cNvPr id="5" name="step1-badge"/>
          <p:cNvSpPr/>
          <p:nvPr/>
        </p:nvSpPr>
        <p:spPr>
          <a:xfrm>
            <a:off x="786384" y="1389888"/>
            <a:ext cx="420624" cy="420624"/>
          </a:xfrm>
          <a:prstGeom prst="ellipse">
            <a:avLst/>
          </a:prstGeom>
          <a:solidFill>
            <a:srgbClr val="757575"/>
          </a:solidFill>
          <a:ln w="12700">
            <a:solidFill>
              <a:srgbClr val="757575"/>
            </a:solidFill>
            <a:prstDash val="solid"/>
          </a:ln>
        </p:spPr>
      </p:sp>
      <p:sp>
        <p:nvSpPr>
          <p:cNvPr id="6" name="step1-badge-text"/>
          <p:cNvSpPr txBox="1"/>
          <p:nvPr/>
        </p:nvSpPr>
        <p:spPr>
          <a:xfrm>
            <a:off x="786384"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step1-h"/>
          <p:cNvSpPr txBox="1"/>
          <p:nvPr/>
        </p:nvSpPr>
        <p:spPr>
          <a:xfrm>
            <a:off x="786384"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Decompose</a:t>
            </a:r>
            <a:endParaRPr lang="en-US" sz="1500" dirty="0"/>
          </a:p>
        </p:txBody>
      </p:sp>
      <p:sp>
        <p:nvSpPr>
          <p:cNvPr id="8" name="step1-b"/>
          <p:cNvSpPr txBox="1"/>
          <p:nvPr/>
        </p:nvSpPr>
        <p:spPr>
          <a:xfrm>
            <a:off x="786384"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9" name="step2"/>
          <p:cNvSpPr/>
          <p:nvPr/>
        </p:nvSpPr>
        <p:spPr>
          <a:xfrm>
            <a:off x="3364992" y="1188720"/>
            <a:ext cx="2633472" cy="2240280"/>
          </a:xfrm>
          <a:prstGeom prst="roundRect">
            <a:avLst>
              <a:gd name="adj" fmla="val 2449"/>
            </a:avLst>
          </a:prstGeom>
          <a:solidFill>
            <a:srgbClr val="FFFFFF"/>
          </a:solidFill>
          <a:ln w="12700">
            <a:solidFill>
              <a:srgbClr val="E90802"/>
            </a:solidFill>
            <a:prstDash val="solid"/>
          </a:ln>
        </p:spPr>
      </p:sp>
      <p:sp>
        <p:nvSpPr>
          <p:cNvPr id="10" name="step2-badge"/>
          <p:cNvSpPr/>
          <p:nvPr/>
        </p:nvSpPr>
        <p:spPr>
          <a:xfrm>
            <a:off x="3602736" y="1389888"/>
            <a:ext cx="420624" cy="420624"/>
          </a:xfrm>
          <a:prstGeom prst="ellipse">
            <a:avLst/>
          </a:prstGeom>
          <a:solidFill>
            <a:srgbClr val="E90802"/>
          </a:solidFill>
          <a:ln w="12700">
            <a:solidFill>
              <a:srgbClr val="E90802"/>
            </a:solidFill>
            <a:prstDash val="solid"/>
          </a:ln>
        </p:spPr>
      </p:sp>
      <p:sp>
        <p:nvSpPr>
          <p:cNvPr id="11" name="step2-badge-text"/>
          <p:cNvSpPr txBox="1"/>
          <p:nvPr/>
        </p:nvSpPr>
        <p:spPr>
          <a:xfrm>
            <a:off x="3602736"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step2-h"/>
          <p:cNvSpPr txBox="1"/>
          <p:nvPr/>
        </p:nvSpPr>
        <p:spPr>
          <a:xfrm>
            <a:off x="3602736"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Detect</a:t>
            </a:r>
            <a:endParaRPr lang="en-US" sz="1500" dirty="0"/>
          </a:p>
        </p:txBody>
      </p:sp>
      <p:sp>
        <p:nvSpPr>
          <p:cNvPr id="13" name="step2-b"/>
          <p:cNvSpPr txBox="1"/>
          <p:nvPr/>
        </p:nvSpPr>
        <p:spPr>
          <a:xfrm>
            <a:off x="3602736"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4" name="step3"/>
          <p:cNvSpPr/>
          <p:nvPr/>
        </p:nvSpPr>
        <p:spPr>
          <a:xfrm>
            <a:off x="6181344" y="1188720"/>
            <a:ext cx="2633472" cy="2240280"/>
          </a:xfrm>
          <a:prstGeom prst="roundRect">
            <a:avLst>
              <a:gd name="adj" fmla="val 2449"/>
            </a:avLst>
          </a:prstGeom>
          <a:solidFill>
            <a:srgbClr val="FFFFFF"/>
          </a:solidFill>
          <a:ln w="12700">
            <a:solidFill>
              <a:srgbClr val="E90802"/>
            </a:solidFill>
            <a:prstDash val="solid"/>
          </a:ln>
        </p:spPr>
      </p:sp>
      <p:sp>
        <p:nvSpPr>
          <p:cNvPr id="15" name="step3-badge"/>
          <p:cNvSpPr/>
          <p:nvPr/>
        </p:nvSpPr>
        <p:spPr>
          <a:xfrm>
            <a:off x="6419088" y="1389888"/>
            <a:ext cx="420624" cy="420624"/>
          </a:xfrm>
          <a:prstGeom prst="ellipse">
            <a:avLst/>
          </a:prstGeom>
          <a:solidFill>
            <a:srgbClr val="E90802"/>
          </a:solidFill>
          <a:ln w="12700">
            <a:solidFill>
              <a:srgbClr val="E90802"/>
            </a:solidFill>
            <a:prstDash val="solid"/>
          </a:ln>
        </p:spPr>
      </p:sp>
      <p:sp>
        <p:nvSpPr>
          <p:cNvPr id="16" name="step3-badge-text"/>
          <p:cNvSpPr txBox="1"/>
          <p:nvPr/>
        </p:nvSpPr>
        <p:spPr>
          <a:xfrm>
            <a:off x="6419088"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step3-h"/>
          <p:cNvSpPr txBox="1"/>
          <p:nvPr/>
        </p:nvSpPr>
        <p:spPr>
          <a:xfrm>
            <a:off x="6419088"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Refine</a:t>
            </a:r>
            <a:endParaRPr lang="en-US" sz="1500" dirty="0"/>
          </a:p>
        </p:txBody>
      </p:sp>
      <p:sp>
        <p:nvSpPr>
          <p:cNvPr id="18" name="step3-b"/>
          <p:cNvSpPr txBox="1"/>
          <p:nvPr/>
        </p:nvSpPr>
        <p:spPr>
          <a:xfrm>
            <a:off x="6419088"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19" name="step4"/>
          <p:cNvSpPr/>
          <p:nvPr/>
        </p:nvSpPr>
        <p:spPr>
          <a:xfrm>
            <a:off x="8997696" y="1188720"/>
            <a:ext cx="2633472" cy="2240280"/>
          </a:xfrm>
          <a:prstGeom prst="roundRect">
            <a:avLst>
              <a:gd name="adj" fmla="val 2449"/>
            </a:avLst>
          </a:prstGeom>
          <a:solidFill>
            <a:srgbClr val="FFFFFF"/>
          </a:solidFill>
          <a:ln w="12700">
            <a:solidFill>
              <a:srgbClr val="EDEDED"/>
            </a:solidFill>
            <a:prstDash val="solid"/>
          </a:ln>
        </p:spPr>
      </p:sp>
      <p:sp>
        <p:nvSpPr>
          <p:cNvPr id="20" name="step4-badge"/>
          <p:cNvSpPr/>
          <p:nvPr/>
        </p:nvSpPr>
        <p:spPr>
          <a:xfrm>
            <a:off x="9235440" y="1389888"/>
            <a:ext cx="420624" cy="420624"/>
          </a:xfrm>
          <a:prstGeom prst="ellipse">
            <a:avLst/>
          </a:prstGeom>
          <a:solidFill>
            <a:srgbClr val="757575"/>
          </a:solidFill>
          <a:ln w="12700">
            <a:solidFill>
              <a:srgbClr val="757575"/>
            </a:solidFill>
            <a:prstDash val="solid"/>
          </a:ln>
        </p:spPr>
      </p:sp>
      <p:sp>
        <p:nvSpPr>
          <p:cNvPr id="21" name="step4-badge-text"/>
          <p:cNvSpPr txBox="1"/>
          <p:nvPr/>
        </p:nvSpPr>
        <p:spPr>
          <a:xfrm>
            <a:off x="9235440"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2" name="step4-h"/>
          <p:cNvSpPr txBox="1"/>
          <p:nvPr/>
        </p:nvSpPr>
        <p:spPr>
          <a:xfrm>
            <a:off x="9235440"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Verify</a:t>
            </a:r>
            <a:endParaRPr lang="en-US" sz="1500" dirty="0"/>
          </a:p>
        </p:txBody>
      </p:sp>
      <p:sp>
        <p:nvSpPr>
          <p:cNvPr id="23" name="step4-b"/>
          <p:cNvSpPr txBox="1"/>
          <p:nvPr/>
        </p:nvSpPr>
        <p:spPr>
          <a:xfrm>
            <a:off x="9235440"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4" name="ensemble"/>
          <p:cNvSpPr/>
          <p:nvPr/>
        </p:nvSpPr>
        <p:spPr>
          <a:xfrm>
            <a:off x="548640" y="3657600"/>
            <a:ext cx="7589520" cy="2194560"/>
          </a:xfrm>
          <a:prstGeom prst="roundRect">
            <a:avLst>
              <a:gd name="adj" fmla="val 2500"/>
            </a:avLst>
          </a:prstGeom>
          <a:solidFill>
            <a:srgbClr val="000000"/>
          </a:solidFill>
          <a:ln w="12700">
            <a:solidFill>
              <a:srgbClr val="000000"/>
            </a:solidFill>
            <a:prstDash val="solid"/>
          </a:ln>
        </p:spPr>
      </p:sp>
      <p:sp>
        <p:nvSpPr>
          <p:cNvPr id="25" name="ensemble-h"/>
          <p:cNvSpPr txBox="1"/>
          <p:nvPr/>
        </p:nvSpPr>
        <p:spPr>
          <a:xfrm>
            <a:off x="786384" y="3858768"/>
            <a:ext cx="7114032" cy="310896"/>
          </a:xfrm>
          <a:prstGeom prst="rect">
            <a:avLst/>
          </a:prstGeom>
          <a:noFill/>
          <a:ln/>
        </p:spPr>
        <p:txBody>
          <a:bodyPr wrap="square" lIns="0" tIns="0" rIns="0" bIns="0" rtlCol="0" anchor="ctr"/>
          <a:lstStyle/>
          <a:p>
            <a:pPr indent="0" marL="0">
              <a:buNone/>
            </a:pPr>
            <a:r>
              <a:rPr lang="en-US" sz="1500" b="1" dirty="0">
                <a:solidFill>
                  <a:srgbClr val="E90802"/>
                </a:solidFill>
              </a:rPr>
              <a:t>The detection ensemble</a:t>
            </a:r>
            <a:endParaRPr lang="en-US" sz="1500" dirty="0"/>
          </a:p>
        </p:txBody>
      </p:sp>
      <p:sp>
        <p:nvSpPr>
          <p:cNvPr id="26" name="ensemble-b"/>
          <p:cNvSpPr txBox="1"/>
          <p:nvPr/>
        </p:nvSpPr>
        <p:spPr>
          <a:xfrm>
            <a:off x="786384" y="4242816"/>
            <a:ext cx="7114032" cy="14264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GPT-4o + Llama 3.3-70B + Qwen 2.5-32B. Positive detections are unioned, not voted: one LLM agrees with human annotators at only κ = 0.33, so the paper trades precision for recall and lets refinement absorb the false positives.</a:t>
            </a:r>
            <a:endParaRPr lang="en-US" sz="1300" dirty="0"/>
          </a:p>
        </p:txBody>
      </p:sp>
      <p:sp>
        <p:nvSpPr>
          <p:cNvPr id="27" name="r1"/>
          <p:cNvSpPr/>
          <p:nvPr/>
        </p:nvSpPr>
        <p:spPr>
          <a:xfrm>
            <a:off x="8458200" y="3657600"/>
            <a:ext cx="1508760" cy="2194560"/>
          </a:xfrm>
          <a:prstGeom prst="roundRect">
            <a:avLst>
              <a:gd name="adj" fmla="val 3636"/>
            </a:avLst>
          </a:prstGeom>
          <a:solidFill>
            <a:srgbClr val="333333"/>
          </a:solidFill>
          <a:ln w="12700">
            <a:solidFill>
              <a:srgbClr val="333333"/>
            </a:solidFill>
            <a:prstDash val="solid"/>
          </a:ln>
        </p:spPr>
      </p:sp>
      <p:sp>
        <p:nvSpPr>
          <p:cNvPr id="28" name="r1-l"/>
          <p:cNvSpPr txBox="1"/>
          <p:nvPr/>
        </p:nvSpPr>
        <p:spPr>
          <a:xfrm>
            <a:off x="8659368" y="382219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29" name="r1-v"/>
          <p:cNvSpPr txBox="1"/>
          <p:nvPr/>
        </p:nvSpPr>
        <p:spPr>
          <a:xfrm>
            <a:off x="8659368" y="407822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0.89</a:t>
            </a:r>
            <a:endParaRPr lang="en-US" sz="2600" dirty="0"/>
          </a:p>
        </p:txBody>
      </p:sp>
      <p:sp>
        <p:nvSpPr>
          <p:cNvPr id="30" name="r1-f"/>
          <p:cNvSpPr txBox="1"/>
          <p:nvPr/>
        </p:nvSpPr>
        <p:spPr>
          <a:xfrm>
            <a:off x="8659368" y="546811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incomplete</a:t>
            </a:r>
            <a:endParaRPr lang="en-US" sz="1100" dirty="0"/>
          </a:p>
        </p:txBody>
      </p:sp>
      <p:sp>
        <p:nvSpPr>
          <p:cNvPr id="31" name="r2"/>
          <p:cNvSpPr/>
          <p:nvPr/>
        </p:nvSpPr>
        <p:spPr>
          <a:xfrm>
            <a:off x="10104120" y="3657600"/>
            <a:ext cx="1508760" cy="2194560"/>
          </a:xfrm>
          <a:prstGeom prst="roundRect">
            <a:avLst>
              <a:gd name="adj" fmla="val 3636"/>
            </a:avLst>
          </a:prstGeom>
          <a:solidFill>
            <a:srgbClr val="333333"/>
          </a:solidFill>
          <a:ln w="12700">
            <a:solidFill>
              <a:srgbClr val="333333"/>
            </a:solidFill>
            <a:prstDash val="solid"/>
          </a:ln>
        </p:spPr>
      </p:sp>
      <p:sp>
        <p:nvSpPr>
          <p:cNvPr id="32" name="r2-l"/>
          <p:cNvSpPr txBox="1"/>
          <p:nvPr/>
        </p:nvSpPr>
        <p:spPr>
          <a:xfrm>
            <a:off x="10305288" y="382219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33" name="r2-v"/>
          <p:cNvSpPr txBox="1"/>
          <p:nvPr/>
        </p:nvSpPr>
        <p:spPr>
          <a:xfrm>
            <a:off x="10305288" y="407822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0.85</a:t>
            </a:r>
            <a:endParaRPr lang="en-US" sz="2600" dirty="0"/>
          </a:p>
        </p:txBody>
      </p:sp>
      <p:sp>
        <p:nvSpPr>
          <p:cNvPr id="34" name="r2-f"/>
          <p:cNvSpPr txBox="1"/>
          <p:nvPr/>
        </p:nvSpPr>
        <p:spPr>
          <a:xfrm>
            <a:off x="10305288" y="546811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missing</a:t>
            </a:r>
            <a:endParaRPr lang="en-US" sz="1100" dirty="0"/>
          </a:p>
        </p:txBody>
      </p:sp>
      <p:sp>
        <p:nvSpPr>
          <p:cNvPr id="3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Steps 2 and 3 are the paper's contribution. These 3 judges are the detection ensemble — not the 12 models the paper separately benchmarks.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WHAT WE CHANGED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paid component replaced by a free local one</a:t>
            </a:r>
            <a:endParaRPr lang="en-US" sz="3000" dirty="0"/>
          </a:p>
        </p:txBody>
      </p:sp>
      <p:graphicFrame>
        <p:nvGraphicFramePr>
          <p:cNvPr id="5" name="map"/>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4023360"/>
                <a:gridCol w="4023360"/>
              </a:tblGrid>
              <a:tr h="38404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Judges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GPT-4o + Llama 3.3-70B + Qwen 2.5-32B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 Llama-3.2-3B, Q4_K_M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Extract / refine / verify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Llama 3.3-70B-Instruct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Qwen2.5-3B-Instruct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source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Google Search via Serper (paid)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Wikipedia API, cached for replay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ranking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cross-encoder reranker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BM25 over retrieved paragraphs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Benchmark</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FactRBench, 1,096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mini benchmark, 12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4 frontier LLMs + human answers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86 facts, written and verified by hand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Serving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vLLM, multi-GPU</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Ollama / llama.cpp, one 4 GB GPU</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sc0"/>
          <p:cNvSpPr/>
          <p:nvPr/>
        </p:nvSpPr>
        <p:spPr>
          <a:xfrm>
            <a:off x="548640" y="4343400"/>
            <a:ext cx="2633472" cy="1188720"/>
          </a:xfrm>
          <a:prstGeom prst="roundRect">
            <a:avLst>
              <a:gd name="adj" fmla="val 4615"/>
            </a:avLst>
          </a:prstGeom>
          <a:solidFill>
            <a:srgbClr val="EDEDED"/>
          </a:solidFill>
          <a:ln w="12700">
            <a:solidFill>
              <a:srgbClr val="EDEDED"/>
            </a:solidFill>
            <a:prstDash val="solid"/>
          </a:ln>
        </p:spPr>
      </p:sp>
      <p:sp>
        <p:nvSpPr>
          <p:cNvPr id="6" name="sc0-l"/>
          <p:cNvSpPr txBox="1"/>
          <p:nvPr/>
        </p:nvSpPr>
        <p:spPr>
          <a:xfrm>
            <a:off x="749808"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HARDWARE</a:t>
            </a:r>
            <a:endParaRPr lang="en-US" sz="1000" dirty="0"/>
          </a:p>
        </p:txBody>
      </p:sp>
      <p:sp>
        <p:nvSpPr>
          <p:cNvPr id="7" name="sc0-v"/>
          <p:cNvSpPr txBox="1"/>
          <p:nvPr/>
        </p:nvSpPr>
        <p:spPr>
          <a:xfrm>
            <a:off x="749808"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GTX 1650, 4 GB</a:t>
            </a:r>
            <a:endParaRPr lang="en-US" sz="2200" dirty="0"/>
          </a:p>
        </p:txBody>
      </p:sp>
      <p:sp>
        <p:nvSpPr>
          <p:cNvPr id="8" name="sc1"/>
          <p:cNvSpPr/>
          <p:nvPr/>
        </p:nvSpPr>
        <p:spPr>
          <a:xfrm>
            <a:off x="3364992" y="4343400"/>
            <a:ext cx="2633472" cy="1188720"/>
          </a:xfrm>
          <a:prstGeom prst="roundRect">
            <a:avLst>
              <a:gd name="adj" fmla="val 4615"/>
            </a:avLst>
          </a:prstGeom>
          <a:solidFill>
            <a:srgbClr val="EDEDED"/>
          </a:solidFill>
          <a:ln w="12700">
            <a:solidFill>
              <a:srgbClr val="EDEDED"/>
            </a:solidFill>
            <a:prstDash val="solid"/>
          </a:ln>
        </p:spPr>
      </p:sp>
      <p:sp>
        <p:nvSpPr>
          <p:cNvPr id="9" name="sc1-l"/>
          <p:cNvSpPr txBox="1"/>
          <p:nvPr/>
        </p:nvSpPr>
        <p:spPr>
          <a:xfrm>
            <a:off x="3566160"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API KEYS</a:t>
            </a:r>
            <a:endParaRPr lang="en-US" sz="1000" dirty="0"/>
          </a:p>
        </p:txBody>
      </p:sp>
      <p:sp>
        <p:nvSpPr>
          <p:cNvPr id="10" name="sc1-v"/>
          <p:cNvSpPr txBox="1"/>
          <p:nvPr/>
        </p:nvSpPr>
        <p:spPr>
          <a:xfrm>
            <a:off x="3566160"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None</a:t>
            </a:r>
            <a:endParaRPr lang="en-US" sz="2200" dirty="0"/>
          </a:p>
        </p:txBody>
      </p:sp>
      <p:sp>
        <p:nvSpPr>
          <p:cNvPr id="11" name="sc2"/>
          <p:cNvSpPr/>
          <p:nvPr/>
        </p:nvSpPr>
        <p:spPr>
          <a:xfrm>
            <a:off x="6181344" y="4343400"/>
            <a:ext cx="2633472" cy="1188720"/>
          </a:xfrm>
          <a:prstGeom prst="roundRect">
            <a:avLst>
              <a:gd name="adj" fmla="val 4615"/>
            </a:avLst>
          </a:prstGeom>
          <a:solidFill>
            <a:srgbClr val="EDEDED"/>
          </a:solidFill>
          <a:ln w="12700">
            <a:solidFill>
              <a:srgbClr val="EDEDED"/>
            </a:solidFill>
            <a:prstDash val="solid"/>
          </a:ln>
        </p:spPr>
      </p:sp>
      <p:sp>
        <p:nvSpPr>
          <p:cNvPr id="12" name="sc2-l"/>
          <p:cNvSpPr txBox="1"/>
          <p:nvPr/>
        </p:nvSpPr>
        <p:spPr>
          <a:xfrm>
            <a:off x="6382512"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TOTAL COST</a:t>
            </a:r>
            <a:endParaRPr lang="en-US" sz="1000" dirty="0"/>
          </a:p>
        </p:txBody>
      </p:sp>
      <p:sp>
        <p:nvSpPr>
          <p:cNvPr id="13" name="sc2-v"/>
          <p:cNvSpPr txBox="1"/>
          <p:nvPr/>
        </p:nvSpPr>
        <p:spPr>
          <a:xfrm>
            <a:off x="6382512" y="4764024"/>
            <a:ext cx="2231136" cy="530352"/>
          </a:xfrm>
          <a:prstGeom prst="rect">
            <a:avLst/>
          </a:prstGeom>
          <a:noFill/>
          <a:ln/>
        </p:spPr>
        <p:txBody>
          <a:bodyPr wrap="square" lIns="0" tIns="0" rIns="0" bIns="0" rtlCol="0" anchor="ctr"/>
          <a:lstStyle/>
          <a:p>
            <a:pPr indent="0" marL="0">
              <a:buNone/>
            </a:pPr>
            <a:r>
              <a:rPr lang="en-US" sz="2200" b="1" dirty="0">
                <a:solidFill>
                  <a:srgbClr val="E90802"/>
                </a:solidFill>
              </a:rPr>
              <a:t>$0</a:t>
            </a:r>
            <a:endParaRPr lang="en-US" sz="2200" dirty="0"/>
          </a:p>
        </p:txBody>
      </p:sp>
      <p:sp>
        <p:nvSpPr>
          <p:cNvPr id="14" name="sc3"/>
          <p:cNvSpPr/>
          <p:nvPr/>
        </p:nvSpPr>
        <p:spPr>
          <a:xfrm>
            <a:off x="8997696" y="4343400"/>
            <a:ext cx="2633472" cy="1188720"/>
          </a:xfrm>
          <a:prstGeom prst="roundRect">
            <a:avLst>
              <a:gd name="adj" fmla="val 4615"/>
            </a:avLst>
          </a:prstGeom>
          <a:solidFill>
            <a:srgbClr val="EDEDED"/>
          </a:solidFill>
          <a:ln w="12700">
            <a:solidFill>
              <a:srgbClr val="EDEDED"/>
            </a:solidFill>
            <a:prstDash val="solid"/>
          </a:ln>
        </p:spPr>
      </p:sp>
      <p:sp>
        <p:nvSpPr>
          <p:cNvPr id="15" name="sc3-l"/>
          <p:cNvSpPr txBox="1"/>
          <p:nvPr/>
        </p:nvSpPr>
        <p:spPr>
          <a:xfrm>
            <a:off x="9198864"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UNIT TESTS</a:t>
            </a:r>
            <a:endParaRPr lang="en-US" sz="1000" dirty="0"/>
          </a:p>
        </p:txBody>
      </p:sp>
      <p:sp>
        <p:nvSpPr>
          <p:cNvPr id="16" name="sc3-v"/>
          <p:cNvSpPr txBox="1"/>
          <p:nvPr/>
        </p:nvSpPr>
        <p:spPr>
          <a:xfrm>
            <a:off x="9198864"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59 passing</a:t>
            </a:r>
            <a:endParaRPr lang="en-US" sz="2200" dirty="0"/>
          </a:p>
        </p:txBody>
      </p:sp>
      <p:sp>
        <p:nvSpPr>
          <p:cNvPr id="17"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model names live in config.yaml; none is hard-coded. Backends: ollama, llama_cpp_server, llama_cpp_python.</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EXPERIMENTAL DESIGN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The answer is generated once and shared</a:t>
            </a:r>
            <a:endParaRPr lang="en-US" sz="3000" dirty="0"/>
          </a:p>
        </p:txBody>
      </p:sp>
      <p:sp>
        <p:nvSpPr>
          <p:cNvPr id="4" name="gen-box"/>
          <p:cNvSpPr/>
          <p:nvPr/>
        </p:nvSpPr>
        <p:spPr>
          <a:xfrm>
            <a:off x="2377440" y="1234440"/>
            <a:ext cx="7406640" cy="566928"/>
          </a:xfrm>
          <a:prstGeom prst="roundRect">
            <a:avLst>
              <a:gd name="adj" fmla="val 50000"/>
            </a:avLst>
          </a:prstGeom>
          <a:solidFill>
            <a:srgbClr val="E90802"/>
          </a:solidFill>
          <a:ln w="12700">
            <a:solidFill>
              <a:srgbClr val="E90802"/>
            </a:solidFill>
            <a:prstDash val="solid"/>
          </a:ln>
        </p:spPr>
      </p:sp>
      <p:sp>
        <p:nvSpPr>
          <p:cNvPr id="5" name="gen-text"/>
          <p:cNvSpPr txBox="1"/>
          <p:nvPr/>
        </p:nvSpPr>
        <p:spPr>
          <a:xfrm>
            <a:off x="2377440" y="1234440"/>
            <a:ext cx="74066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Question → local LLM generates the answer ONCE → outputs/answers.json</a:t>
            </a:r>
            <a:endParaRPr lang="en-US" sz="1400" dirty="0"/>
          </a:p>
        </p:txBody>
      </p:sp>
      <p:sp>
        <p:nvSpPr>
          <p:cNvPr id="6" name="base"/>
          <p:cNvSpPr/>
          <p:nvPr/>
        </p:nvSpPr>
        <p:spPr>
          <a:xfrm>
            <a:off x="1325880" y="2103120"/>
            <a:ext cx="4572000" cy="2194560"/>
          </a:xfrm>
          <a:prstGeom prst="roundRect">
            <a:avLst>
              <a:gd name="adj" fmla="val 2500"/>
            </a:avLst>
          </a:prstGeom>
          <a:solidFill>
            <a:srgbClr val="333333"/>
          </a:solidFill>
          <a:ln w="12700">
            <a:solidFill>
              <a:srgbClr val="333333"/>
            </a:solidFill>
            <a:prstDash val="solid"/>
          </a:ln>
        </p:spPr>
      </p:sp>
      <p:sp>
        <p:nvSpPr>
          <p:cNvPr id="7" name="base-h"/>
          <p:cNvSpPr txBox="1"/>
          <p:nvPr/>
        </p:nvSpPr>
        <p:spPr>
          <a:xfrm>
            <a:off x="1563624" y="2304288"/>
            <a:ext cx="4096512" cy="310896"/>
          </a:xfrm>
          <a:prstGeom prst="rect">
            <a:avLst/>
          </a:prstGeom>
          <a:noFill/>
          <a:ln/>
        </p:spPr>
        <p:txBody>
          <a:bodyPr wrap="square" lIns="0" tIns="0" rIns="0" bIns="0" rtlCol="0" anchor="ctr"/>
          <a:lstStyle/>
          <a:p>
            <a:pPr indent="0" marL="0">
              <a:buNone/>
            </a:pPr>
            <a:r>
              <a:rPr lang="en-US" sz="1500" b="1" dirty="0">
                <a:solidFill>
                  <a:srgbClr val="FFFFFF"/>
                </a:solidFill>
              </a:rPr>
              <a:t>Baseline — variant A</a:t>
            </a:r>
            <a:endParaRPr lang="en-US" sz="1500" dirty="0"/>
          </a:p>
        </p:txBody>
      </p:sp>
      <p:sp>
        <p:nvSpPr>
          <p:cNvPr id="8" name="base-b"/>
          <p:cNvSpPr txBox="1"/>
          <p:nvPr/>
        </p:nvSpPr>
        <p:spPr>
          <a:xfrm>
            <a:off x="1563624" y="2688336"/>
            <a:ext cx="4096512" cy="142646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SAFE-style extraction</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Retrieval and verification</a:t>
            </a:r>
            <a:endParaRPr lang="en-US" sz="1400" dirty="0"/>
          </a:p>
        </p:txBody>
      </p:sp>
      <p:sp>
        <p:nvSpPr>
          <p:cNvPr id="9" name="vfl"/>
          <p:cNvSpPr/>
          <p:nvPr/>
        </p:nvSpPr>
        <p:spPr>
          <a:xfrm>
            <a:off x="6309360" y="2103120"/>
            <a:ext cx="4572000" cy="2194560"/>
          </a:xfrm>
          <a:prstGeom prst="roundRect">
            <a:avLst>
              <a:gd name="adj" fmla="val 2500"/>
            </a:avLst>
          </a:prstGeom>
          <a:solidFill>
            <a:srgbClr val="333333"/>
          </a:solidFill>
          <a:ln w="19050">
            <a:solidFill>
              <a:srgbClr val="E90802"/>
            </a:solidFill>
            <a:prstDash val="solid"/>
          </a:ln>
        </p:spPr>
      </p:sp>
      <p:sp>
        <p:nvSpPr>
          <p:cNvPr id="10" name="vfl-h"/>
          <p:cNvSpPr txBox="1"/>
          <p:nvPr/>
        </p:nvSpPr>
        <p:spPr>
          <a:xfrm>
            <a:off x="6547104" y="2304288"/>
            <a:ext cx="4096512" cy="310896"/>
          </a:xfrm>
          <a:prstGeom prst="rect">
            <a:avLst/>
          </a:prstGeom>
          <a:noFill/>
          <a:ln/>
        </p:spPr>
        <p:txBody>
          <a:bodyPr wrap="square" lIns="0" tIns="0" rIns="0" bIns="0" rtlCol="0" anchor="ctr"/>
          <a:lstStyle/>
          <a:p>
            <a:pPr indent="0" marL="0">
              <a:buNone/>
            </a:pPr>
            <a:r>
              <a:rPr lang="en-US" sz="1500" b="1" dirty="0">
                <a:solidFill>
                  <a:srgbClr val="E90802"/>
                </a:solidFill>
              </a:rPr>
              <a:t>VERIFACT-Lite — variant D</a:t>
            </a:r>
            <a:endParaRPr lang="en-US" sz="1500" dirty="0"/>
          </a:p>
        </p:txBody>
      </p:sp>
      <p:sp>
        <p:nvSpPr>
          <p:cNvPr id="11" name="vfl-b"/>
          <p:cNvSpPr txBox="1"/>
          <p:nvPr/>
        </p:nvSpPr>
        <p:spPr>
          <a:xfrm>
            <a:off x="6547104" y="2688336"/>
            <a:ext cx="4096512" cy="142646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The same extraction, same facts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detect incomplete + missing relations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refine and add facts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the same retrieval and verification</a:t>
            </a:r>
            <a:endParaRPr lang="en-US" sz="1400" dirty="0"/>
          </a:p>
        </p:txBody>
      </p:sp>
      <p:sp>
        <p:nvSpPr>
          <p:cNvPr id="12" name="det0"/>
          <p:cNvSpPr/>
          <p:nvPr/>
        </p:nvSpPr>
        <p:spPr>
          <a:xfrm>
            <a:off x="548640" y="4526280"/>
            <a:ext cx="3547872" cy="1234440"/>
          </a:xfrm>
          <a:prstGeom prst="roundRect">
            <a:avLst>
              <a:gd name="adj" fmla="val 4444"/>
            </a:avLst>
          </a:prstGeom>
          <a:solidFill>
            <a:srgbClr val="333333"/>
          </a:solidFill>
          <a:ln w="12700">
            <a:solidFill>
              <a:srgbClr val="333333"/>
            </a:solidFill>
            <a:prstDash val="solid"/>
          </a:ln>
        </p:spPr>
      </p:sp>
      <p:sp>
        <p:nvSpPr>
          <p:cNvPr id="13" name="det0-h"/>
          <p:cNvSpPr txBox="1"/>
          <p:nvPr/>
        </p:nvSpPr>
        <p:spPr>
          <a:xfrm>
            <a:off x="786384" y="47274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Determinism</a:t>
            </a:r>
            <a:endParaRPr lang="en-US" sz="1300" dirty="0"/>
          </a:p>
        </p:txBody>
      </p:sp>
      <p:sp>
        <p:nvSpPr>
          <p:cNvPr id="14" name="det0-b"/>
          <p:cNvSpPr txBox="1"/>
          <p:nvPr/>
        </p:nvSpPr>
        <p:spPr>
          <a:xfrm>
            <a:off x="786384" y="511149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Every LLM call cached as hash(model + prompt + params)</a:t>
            </a:r>
            <a:endParaRPr lang="en-US" sz="1200" dirty="0"/>
          </a:p>
        </p:txBody>
      </p:sp>
      <p:sp>
        <p:nvSpPr>
          <p:cNvPr id="15" name="det1"/>
          <p:cNvSpPr/>
          <p:nvPr/>
        </p:nvSpPr>
        <p:spPr>
          <a:xfrm>
            <a:off x="4279392" y="4526280"/>
            <a:ext cx="3547872" cy="1234440"/>
          </a:xfrm>
          <a:prstGeom prst="roundRect">
            <a:avLst>
              <a:gd name="adj" fmla="val 4444"/>
            </a:avLst>
          </a:prstGeom>
          <a:solidFill>
            <a:srgbClr val="333333"/>
          </a:solidFill>
          <a:ln w="12700">
            <a:solidFill>
              <a:srgbClr val="333333"/>
            </a:solidFill>
            <a:prstDash val="solid"/>
          </a:ln>
        </p:spPr>
      </p:sp>
      <p:sp>
        <p:nvSpPr>
          <p:cNvPr id="16" name="det1-h"/>
          <p:cNvSpPr txBox="1"/>
          <p:nvPr/>
        </p:nvSpPr>
        <p:spPr>
          <a:xfrm>
            <a:off x="4517136" y="47274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Evidence</a:t>
            </a:r>
            <a:endParaRPr lang="en-US" sz="1300" dirty="0"/>
          </a:p>
        </p:txBody>
      </p:sp>
      <p:sp>
        <p:nvSpPr>
          <p:cNvPr id="17" name="det1-b"/>
          <p:cNvSpPr txBox="1"/>
          <p:nvPr/>
        </p:nvSpPr>
        <p:spPr>
          <a:xfrm>
            <a:off x="4517136" y="511149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Wikipedia pages cached on disk, replayable offline</a:t>
            </a:r>
            <a:endParaRPr lang="en-US" sz="1200" dirty="0"/>
          </a:p>
        </p:txBody>
      </p:sp>
      <p:sp>
        <p:nvSpPr>
          <p:cNvPr id="18" name="det2"/>
          <p:cNvSpPr/>
          <p:nvPr/>
        </p:nvSpPr>
        <p:spPr>
          <a:xfrm>
            <a:off x="8010144" y="4526280"/>
            <a:ext cx="3547872" cy="1234440"/>
          </a:xfrm>
          <a:prstGeom prst="roundRect">
            <a:avLst>
              <a:gd name="adj" fmla="val 4444"/>
            </a:avLst>
          </a:prstGeom>
          <a:solidFill>
            <a:srgbClr val="333333"/>
          </a:solidFill>
          <a:ln w="12700">
            <a:solidFill>
              <a:srgbClr val="333333"/>
            </a:solidFill>
            <a:prstDash val="solid"/>
          </a:ln>
        </p:spPr>
      </p:sp>
      <p:sp>
        <p:nvSpPr>
          <p:cNvPr id="19" name="det2-h"/>
          <p:cNvSpPr txBox="1"/>
          <p:nvPr/>
        </p:nvSpPr>
        <p:spPr>
          <a:xfrm>
            <a:off x="8247888" y="47274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Ablation</a:t>
            </a:r>
            <a:endParaRPr lang="en-US" sz="1300" dirty="0"/>
          </a:p>
        </p:txBody>
      </p:sp>
      <p:sp>
        <p:nvSpPr>
          <p:cNvPr id="20" name="det2-b"/>
          <p:cNvSpPr txBox="1"/>
          <p:nvPr/>
        </p:nvSpPr>
        <p:spPr>
          <a:xfrm>
            <a:off x="8247888" y="511149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 B, C and D scored on one identical answer set</a:t>
            </a:r>
            <a:endParaRPr lang="en-US" sz="1200" dirty="0"/>
          </a:p>
        </p:txBody>
      </p:sp>
      <p:sp>
        <p:nvSpPr>
          <p:cNvPr id="2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two pipelines differ in exactly one thing: whether the refinement stage runs.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STEP 2B — THE PAPER'S ALGORITHM 1</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Word mapping finds what the facts never covered</a:t>
            </a:r>
            <a:endParaRPr lang="en-US" sz="3000" dirty="0"/>
          </a:p>
        </p:txBody>
      </p:sp>
      <p:sp>
        <p:nvSpPr>
          <p:cNvPr id="4" name="algo"/>
          <p:cNvSpPr txBox="1"/>
          <p:nvPr/>
        </p:nvSpPr>
        <p:spPr>
          <a:xfrm>
            <a:off x="548640" y="1188720"/>
            <a:ext cx="5486400" cy="146304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For each fact, take its longest common substring with the response.</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Mark those response characters as 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Collect the contiguous runs that stayed uncovered.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Send those spans to the judges as missing-relation candidates.</a:t>
            </a:r>
            <a:endParaRPr lang="en-US" sz="1400" dirty="0"/>
          </a:p>
        </p:txBody>
      </p:sp>
      <p:sp>
        <p:nvSpPr>
          <p:cNvPr id="5" name="impl"/>
          <p:cNvSpPr/>
          <p:nvPr/>
        </p:nvSpPr>
        <p:spPr>
          <a:xfrm>
            <a:off x="548640" y="2788920"/>
            <a:ext cx="5486400" cy="1691640"/>
          </a:xfrm>
          <a:prstGeom prst="roundRect">
            <a:avLst>
              <a:gd name="adj" fmla="val 3243"/>
            </a:avLst>
          </a:prstGeom>
          <a:solidFill>
            <a:srgbClr val="EDEDED"/>
          </a:solidFill>
          <a:ln w="12700">
            <a:solidFill>
              <a:srgbClr val="EDEDED"/>
            </a:solidFill>
            <a:prstDash val="solid"/>
          </a:ln>
        </p:spPr>
      </p:sp>
      <p:sp>
        <p:nvSpPr>
          <p:cNvPr id="6" name="impl-h"/>
          <p:cNvSpPr txBox="1"/>
          <p:nvPr/>
        </p:nvSpPr>
        <p:spPr>
          <a:xfrm>
            <a:off x="786384" y="2990088"/>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Implementation</a:t>
            </a:r>
            <a:endParaRPr lang="en-US" sz="1500" dirty="0"/>
          </a:p>
        </p:txBody>
      </p:sp>
      <p:sp>
        <p:nvSpPr>
          <p:cNvPr id="7" name="impl-b"/>
          <p:cNvSpPr txBox="1"/>
          <p:nvPr/>
        </p:nvSpPr>
        <p:spPr>
          <a:xfrm>
            <a:off x="786384" y="3374136"/>
            <a:ext cx="5010912" cy="9235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a:t>
            </a:r>
            <a:endParaRPr lang="en-US" sz="1200" dirty="0"/>
          </a:p>
        </p:txBody>
      </p:sp>
      <p:sp>
        <p:nvSpPr>
          <p:cNvPr id="8" name="cov-box"/>
          <p:cNvSpPr/>
          <p:nvPr/>
        </p:nvSpPr>
        <p:spPr>
          <a:xfrm>
            <a:off x="6355080" y="1188720"/>
            <a:ext cx="5257800" cy="1691640"/>
          </a:xfrm>
          <a:prstGeom prst="roundRect">
            <a:avLst>
              <a:gd name="adj" fmla="val 3243"/>
            </a:avLst>
          </a:prstGeom>
          <a:solidFill>
            <a:srgbClr val="000000"/>
          </a:solidFill>
          <a:ln w="12700">
            <a:solidFill>
              <a:srgbClr val="000000"/>
            </a:solidFill>
            <a:prstDash val="solid"/>
          </a:ln>
        </p:spPr>
      </p:sp>
      <p:sp>
        <p:nvSpPr>
          <p:cNvPr id="9" name="cov-text"/>
          <p:cNvSpPr txBox="1"/>
          <p:nvPr/>
        </p:nvSpPr>
        <p:spPr>
          <a:xfrm>
            <a:off x="6592824" y="1353312"/>
            <a:ext cx="4800600" cy="1097280"/>
          </a:xfrm>
          <a:prstGeom prst="rect">
            <a:avLst/>
          </a:prstGeom>
          <a:noFill/>
          <a:ln/>
        </p:spPr>
        <p:txBody>
          <a:bodyPr wrap="square" lIns="0" tIns="0" rIns="0" bIns="0" rtlCol="0" anchor="ctr"/>
          <a:lstStyle/>
          <a:p>
            <a:pPr indent="0" marL="0">
              <a:lnSpc>
                <a:spcPct val="120000"/>
              </a:lnSpc>
              <a:buNone/>
            </a:pPr>
            <a:r>
              <a:rPr lang="en-US" sz="1300" dirty="0">
                <a:solidFill>
                  <a:srgbClr val="757575"/>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30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300" dirty="0">
                <a:solidFill>
                  <a:srgbClr val="757575"/>
                </a:solidFill>
                <a:latin typeface="Arial" pitchFamily="34" charset="0"/>
                <a:ea typeface="Arial" pitchFamily="34" charset="-122"/>
                <a:cs typeface="Arial" pitchFamily="34" charset="-120"/>
              </a:rPr>
              <a:t>copper and silver.</a:t>
            </a:r>
            <a:endParaRPr lang="en-US" sz="1300" dirty="0"/>
          </a:p>
        </p:txBody>
      </p:sp>
      <p:sp>
        <p:nvSpPr>
          <p:cNvPr id="10" name="cov-key"/>
          <p:cNvSpPr txBox="1"/>
          <p:nvPr/>
        </p:nvSpPr>
        <p:spPr>
          <a:xfrm>
            <a:off x="6592824" y="2523744"/>
            <a:ext cx="4800600" cy="237744"/>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grey = matched by some fact   ·   scarlet = uncovered span</a:t>
            </a:r>
            <a:endParaRPr lang="en-US" sz="1000" dirty="0"/>
          </a:p>
        </p:txBody>
      </p:sp>
      <p:sp>
        <p:nvSpPr>
          <p:cNvPr id="11" name="twoq"/>
          <p:cNvSpPr/>
          <p:nvPr/>
        </p:nvSpPr>
        <p:spPr>
          <a:xfrm>
            <a:off x="6355080" y="3017520"/>
            <a:ext cx="5257800" cy="1463040"/>
          </a:xfrm>
          <a:prstGeom prst="roundRect">
            <a:avLst>
              <a:gd name="adj" fmla="val 3750"/>
            </a:avLst>
          </a:prstGeom>
          <a:solidFill>
            <a:srgbClr val="FFFFFF"/>
          </a:solidFill>
          <a:ln w="12700">
            <a:solidFill>
              <a:srgbClr val="EDEDED"/>
            </a:solidFill>
            <a:prstDash val="solid"/>
          </a:ln>
        </p:spPr>
      </p:sp>
      <p:sp>
        <p:nvSpPr>
          <p:cNvPr id="12" name="twoq-h"/>
          <p:cNvSpPr txBox="1"/>
          <p:nvPr/>
        </p:nvSpPr>
        <p:spPr>
          <a:xfrm>
            <a:off x="6592824" y="3218688"/>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Then two judge questions</a:t>
            </a:r>
            <a:endParaRPr lang="en-US" sz="1500" dirty="0"/>
          </a:p>
        </p:txBody>
      </p:sp>
      <p:sp>
        <p:nvSpPr>
          <p:cNvPr id="13" name="twoq-b"/>
          <p:cNvSpPr txBox="1"/>
          <p:nvPr/>
        </p:nvSpPr>
        <p:spPr>
          <a:xfrm>
            <a:off x="6592824" y="3602736"/>
            <a:ext cx="4782312" cy="6949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2. Does any single existing fact already capture it?</a:t>
            </a:r>
            <a:endParaRPr lang="en-US" sz="1200" dirty="0"/>
          </a:p>
        </p:txBody>
      </p:sp>
      <p:sp>
        <p:nvSpPr>
          <p:cNvPr id="14" name="wm1"/>
          <p:cNvSpPr/>
          <p:nvPr/>
        </p:nvSpPr>
        <p:spPr>
          <a:xfrm>
            <a:off x="548640" y="4663440"/>
            <a:ext cx="3566160" cy="1188720"/>
          </a:xfrm>
          <a:prstGeom prst="roundRect">
            <a:avLst>
              <a:gd name="adj" fmla="val 4615"/>
            </a:avLst>
          </a:prstGeom>
          <a:solidFill>
            <a:srgbClr val="EDEDED"/>
          </a:solidFill>
          <a:ln w="12700">
            <a:solidFill>
              <a:srgbClr val="EDEDED"/>
            </a:solidFill>
            <a:prstDash val="solid"/>
          </a:ln>
        </p:spPr>
      </p:sp>
      <p:sp>
        <p:nvSpPr>
          <p:cNvPr id="15" name="wm1-l"/>
          <p:cNvSpPr txBox="1"/>
          <p:nvPr/>
        </p:nvSpPr>
        <p:spPr>
          <a:xfrm>
            <a:off x="74980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CHARACTER COVERAGE</a:t>
            </a:r>
            <a:endParaRPr lang="en-US" sz="1000" dirty="0"/>
          </a:p>
        </p:txBody>
      </p:sp>
      <p:sp>
        <p:nvSpPr>
          <p:cNvPr id="16" name="wm1-v"/>
          <p:cNvSpPr txBox="1"/>
          <p:nvPr/>
        </p:nvSpPr>
        <p:spPr>
          <a:xfrm>
            <a:off x="74980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0.55–0.59</a:t>
            </a:r>
            <a:endParaRPr lang="en-US" sz="2400" dirty="0"/>
          </a:p>
        </p:txBody>
      </p:sp>
      <p:sp>
        <p:nvSpPr>
          <p:cNvPr id="17" name="wm2"/>
          <p:cNvSpPr/>
          <p:nvPr/>
        </p:nvSpPr>
        <p:spPr>
          <a:xfrm>
            <a:off x="4297680" y="4663440"/>
            <a:ext cx="3566160" cy="1188720"/>
          </a:xfrm>
          <a:prstGeom prst="roundRect">
            <a:avLst>
              <a:gd name="adj" fmla="val 4615"/>
            </a:avLst>
          </a:prstGeom>
          <a:solidFill>
            <a:srgbClr val="EDEDED"/>
          </a:solidFill>
          <a:ln w="12700">
            <a:solidFill>
              <a:srgbClr val="EDEDED"/>
            </a:solidFill>
            <a:prstDash val="solid"/>
          </a:ln>
        </p:spPr>
      </p:sp>
      <p:sp>
        <p:nvSpPr>
          <p:cNvPr id="18" name="wm2-l"/>
          <p:cNvSpPr txBox="1"/>
          <p:nvPr/>
        </p:nvSpPr>
        <p:spPr>
          <a:xfrm>
            <a:off x="449884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CANDIDATE SPANS FOUND</a:t>
            </a:r>
            <a:endParaRPr lang="en-US" sz="1000" dirty="0"/>
          </a:p>
        </p:txBody>
      </p:sp>
      <p:sp>
        <p:nvSpPr>
          <p:cNvPr id="19" name="wm2-v"/>
          <p:cNvSpPr txBox="1"/>
          <p:nvPr/>
        </p:nvSpPr>
        <p:spPr>
          <a:xfrm>
            <a:off x="449884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73</a:t>
            </a:r>
            <a:endParaRPr lang="en-US" sz="2400" dirty="0"/>
          </a:p>
        </p:txBody>
      </p:sp>
      <p:sp>
        <p:nvSpPr>
          <p:cNvPr id="20" name="wm3"/>
          <p:cNvSpPr/>
          <p:nvPr/>
        </p:nvSpPr>
        <p:spPr>
          <a:xfrm>
            <a:off x="8046720" y="4663440"/>
            <a:ext cx="3566160" cy="1188720"/>
          </a:xfrm>
          <a:prstGeom prst="roundRect">
            <a:avLst>
              <a:gd name="adj" fmla="val 4615"/>
            </a:avLst>
          </a:prstGeom>
          <a:solidFill>
            <a:srgbClr val="EDEDED"/>
          </a:solidFill>
          <a:ln w="12700">
            <a:solidFill>
              <a:srgbClr val="EDEDED"/>
            </a:solidFill>
            <a:prstDash val="solid"/>
          </a:ln>
        </p:spPr>
      </p:sp>
      <p:sp>
        <p:nvSpPr>
          <p:cNvPr id="21" name="wm3-l"/>
          <p:cNvSpPr txBox="1"/>
          <p:nvPr/>
        </p:nvSpPr>
        <p:spPr>
          <a:xfrm>
            <a:off x="824788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FACT ADDED ONLY WHEN</a:t>
            </a:r>
            <a:endParaRPr lang="en-US" sz="1000" dirty="0"/>
          </a:p>
        </p:txBody>
      </p:sp>
      <p:sp>
        <p:nvSpPr>
          <p:cNvPr id="22" name="wm3-v"/>
          <p:cNvSpPr txBox="1"/>
          <p:nvPr/>
        </p:nvSpPr>
        <p:spPr>
          <a:xfrm>
            <a:off x="8247888" y="5084064"/>
            <a:ext cx="3163824" cy="530352"/>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MINI BENCHMARK</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12 questions chosen to contain the failure modes</a:t>
            </a:r>
            <a:endParaRPr lang="en-US" sz="3000" dirty="0"/>
          </a:p>
        </p:txBody>
      </p:sp>
      <p:sp>
        <p:nvSpPr>
          <p:cNvPr id="4" name="bm0"/>
          <p:cNvSpPr/>
          <p:nvPr/>
        </p:nvSpPr>
        <p:spPr>
          <a:xfrm>
            <a:off x="548640" y="1188720"/>
            <a:ext cx="3547872" cy="2103120"/>
          </a:xfrm>
          <a:prstGeom prst="roundRect">
            <a:avLst>
              <a:gd name="adj" fmla="val 2609"/>
            </a:avLst>
          </a:prstGeom>
          <a:solidFill>
            <a:srgbClr val="FFFFFF"/>
          </a:solidFill>
          <a:ln w="12700">
            <a:solidFill>
              <a:srgbClr val="EDEDED"/>
            </a:solidFill>
            <a:prstDash val="solid"/>
          </a:ln>
        </p:spPr>
      </p:sp>
      <p:sp>
        <p:nvSpPr>
          <p:cNvPr id="5" name="bm0-h"/>
          <p:cNvSpPr txBox="1"/>
          <p:nvPr/>
        </p:nvSpPr>
        <p:spPr>
          <a:xfrm>
            <a:off x="786384"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Question design</a:t>
            </a:r>
            <a:endParaRPr lang="en-US" sz="1500" dirty="0"/>
          </a:p>
        </p:txBody>
      </p:sp>
      <p:sp>
        <p:nvSpPr>
          <p:cNvPr id="6" name="bm0-b"/>
          <p:cNvSpPr txBox="1"/>
          <p:nvPr/>
        </p:nvSpPr>
        <p:spPr>
          <a:xfrm>
            <a:off x="786384"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Each prompt invites conditions, comparisons, event order or cause and effect. Gold and jewelry, aluminium vs silver, Chernobyl, Panama Canal, Concorde, sea ice.</a:t>
            </a:r>
            <a:endParaRPr lang="en-US" sz="1200" dirty="0"/>
          </a:p>
        </p:txBody>
      </p:sp>
      <p:sp>
        <p:nvSpPr>
          <p:cNvPr id="7" name="bm1"/>
          <p:cNvSpPr/>
          <p:nvPr/>
        </p:nvSpPr>
        <p:spPr>
          <a:xfrm>
            <a:off x="4279392" y="1188720"/>
            <a:ext cx="3547872" cy="2103120"/>
          </a:xfrm>
          <a:prstGeom prst="roundRect">
            <a:avLst>
              <a:gd name="adj" fmla="val 2609"/>
            </a:avLst>
          </a:prstGeom>
          <a:solidFill>
            <a:srgbClr val="FFFFFF"/>
          </a:solidFill>
          <a:ln w="12700">
            <a:solidFill>
              <a:srgbClr val="EDEDED"/>
            </a:solidFill>
            <a:prstDash val="solid"/>
          </a:ln>
        </p:spPr>
      </p:sp>
      <p:sp>
        <p:nvSpPr>
          <p:cNvPr id="8" name="bm1-h"/>
          <p:cNvSpPr txBox="1"/>
          <p:nvPr/>
        </p:nvSpPr>
        <p:spPr>
          <a:xfrm>
            <a:off x="4517136"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Reference facts</a:t>
            </a:r>
            <a:endParaRPr lang="en-US" sz="1500" dirty="0"/>
          </a:p>
        </p:txBody>
      </p:sp>
      <p:sp>
        <p:nvSpPr>
          <p:cNvPr id="9" name="bm1-b"/>
          <p:cNvSpPr txBox="1"/>
          <p:nvPr/>
        </p:nvSpPr>
        <p:spPr>
          <a:xfrm>
            <a:off x="4517136"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86 facts, 3–8 per question, written by hand from authoritative sources and not derived from the answer being evaluated. Sources recorded in the JSONL.</a:t>
            </a:r>
            <a:endParaRPr lang="en-US" sz="1200" dirty="0"/>
          </a:p>
        </p:txBody>
      </p:sp>
      <p:sp>
        <p:nvSpPr>
          <p:cNvPr id="10" name="bm2"/>
          <p:cNvSpPr/>
          <p:nvPr/>
        </p:nvSpPr>
        <p:spPr>
          <a:xfrm>
            <a:off x="8010144" y="1188720"/>
            <a:ext cx="3547872" cy="2103120"/>
          </a:xfrm>
          <a:prstGeom prst="roundRect">
            <a:avLst>
              <a:gd name="adj" fmla="val 2609"/>
            </a:avLst>
          </a:prstGeom>
          <a:solidFill>
            <a:srgbClr val="FFFFFF"/>
          </a:solidFill>
          <a:ln w="12700">
            <a:solidFill>
              <a:srgbClr val="EDEDED"/>
            </a:solidFill>
            <a:prstDash val="solid"/>
          </a:ln>
        </p:spPr>
      </p:sp>
      <p:sp>
        <p:nvSpPr>
          <p:cNvPr id="11" name="bm2-h"/>
          <p:cNvSpPr txBox="1"/>
          <p:nvPr/>
        </p:nvSpPr>
        <p:spPr>
          <a:xfrm>
            <a:off x="8247888"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Answers</a:t>
            </a:r>
            <a:endParaRPr lang="en-US" sz="1500" dirty="0"/>
          </a:p>
        </p:txBody>
      </p:sp>
      <p:sp>
        <p:nvSpPr>
          <p:cNvPr id="12" name="bm2-b"/>
          <p:cNvSpPr txBox="1"/>
          <p:nvPr/>
        </p:nvSpPr>
        <p:spPr>
          <a:xfrm>
            <a:off x="8247888"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One paragraph per question from Qwen2.5-3B at temperature 0.7, generated once. Every evaluation call runs at temperature 0.0–0.2.</a:t>
            </a:r>
            <a:endParaRPr lang="en-US" sz="1200" dirty="0"/>
          </a:p>
        </p:txBody>
      </p:sp>
      <p:sp>
        <p:nvSpPr>
          <p:cNvPr id="13" name="met0"/>
          <p:cNvSpPr/>
          <p:nvPr/>
        </p:nvSpPr>
        <p:spPr>
          <a:xfrm>
            <a:off x="548640" y="3520440"/>
            <a:ext cx="3547872" cy="2240280"/>
          </a:xfrm>
          <a:prstGeom prst="roundRect">
            <a:avLst>
              <a:gd name="adj" fmla="val 2449"/>
            </a:avLst>
          </a:prstGeom>
          <a:solidFill>
            <a:srgbClr val="000000"/>
          </a:solidFill>
          <a:ln w="12700">
            <a:solidFill>
              <a:srgbClr val="000000"/>
            </a:solidFill>
            <a:prstDash val="solid"/>
          </a:ln>
        </p:spPr>
      </p:sp>
      <p:sp>
        <p:nvSpPr>
          <p:cNvPr id="14" name="met0-h"/>
          <p:cNvSpPr txBox="1"/>
          <p:nvPr/>
        </p:nvSpPr>
        <p:spPr>
          <a:xfrm>
            <a:off x="786384"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Precision</a:t>
            </a:r>
            <a:endParaRPr lang="en-US" sz="1500" dirty="0"/>
          </a:p>
        </p:txBody>
      </p:sp>
      <p:sp>
        <p:nvSpPr>
          <p:cNvPr id="15" name="met0-b"/>
          <p:cNvSpPr txBox="1"/>
          <p:nvPr/>
        </p:nvSpPr>
        <p:spPr>
          <a:xfrm>
            <a:off x="786384"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6" name="met1"/>
          <p:cNvSpPr/>
          <p:nvPr/>
        </p:nvSpPr>
        <p:spPr>
          <a:xfrm>
            <a:off x="4279392" y="3520440"/>
            <a:ext cx="3547872" cy="2240280"/>
          </a:xfrm>
          <a:prstGeom prst="roundRect">
            <a:avLst>
              <a:gd name="adj" fmla="val 2449"/>
            </a:avLst>
          </a:prstGeom>
          <a:solidFill>
            <a:srgbClr val="000000"/>
          </a:solidFill>
          <a:ln w="12700">
            <a:solidFill>
              <a:srgbClr val="000000"/>
            </a:solidFill>
            <a:prstDash val="solid"/>
          </a:ln>
        </p:spPr>
      </p:sp>
      <p:sp>
        <p:nvSpPr>
          <p:cNvPr id="17" name="met1-h"/>
          <p:cNvSpPr txBox="1"/>
          <p:nvPr/>
        </p:nvSpPr>
        <p:spPr>
          <a:xfrm>
            <a:off x="4517136"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Recall</a:t>
            </a:r>
            <a:endParaRPr lang="en-US" sz="1500" dirty="0"/>
          </a:p>
        </p:txBody>
      </p:sp>
      <p:sp>
        <p:nvSpPr>
          <p:cNvPr id="18" name="met1-b"/>
          <p:cNvSpPr txBox="1"/>
          <p:nvPr/>
        </p:nvSpPr>
        <p:spPr>
          <a:xfrm>
            <a:off x="4517136"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Reference facts entailed by the answer ÷ all reference facts. It scores the answer, so refinement cannot move it.</a:t>
            </a:r>
            <a:endParaRPr lang="en-US" sz="1200" dirty="0"/>
          </a:p>
        </p:txBody>
      </p:sp>
      <p:sp>
        <p:nvSpPr>
          <p:cNvPr id="19" name="met2"/>
          <p:cNvSpPr/>
          <p:nvPr/>
        </p:nvSpPr>
        <p:spPr>
          <a:xfrm>
            <a:off x="8010144" y="3520440"/>
            <a:ext cx="3547872" cy="2240280"/>
          </a:xfrm>
          <a:prstGeom prst="roundRect">
            <a:avLst>
              <a:gd name="adj" fmla="val 2449"/>
            </a:avLst>
          </a:prstGeom>
          <a:solidFill>
            <a:srgbClr val="000000"/>
          </a:solidFill>
          <a:ln w="12700">
            <a:solidFill>
              <a:srgbClr val="000000"/>
            </a:solidFill>
            <a:prstDash val="solid"/>
          </a:ln>
        </p:spPr>
      </p:sp>
      <p:sp>
        <p:nvSpPr>
          <p:cNvPr id="20" name="met2-h"/>
          <p:cNvSpPr txBox="1"/>
          <p:nvPr/>
        </p:nvSpPr>
        <p:spPr>
          <a:xfrm>
            <a:off x="8247888"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Incomplete rate</a:t>
            </a:r>
            <a:endParaRPr lang="en-US" sz="1500" dirty="0"/>
          </a:p>
        </p:txBody>
      </p:sp>
      <p:sp>
        <p:nvSpPr>
          <p:cNvPr id="21" name="met2-b"/>
          <p:cNvSpPr txBox="1"/>
          <p:nvPr/>
        </p:nvSpPr>
        <p:spPr>
          <a:xfrm>
            <a:off x="8247888"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Measured by one designated judge, while refinement is driven by the union — facts are not scored by the ensemble that selected them.</a:t>
            </a:r>
            <a:endParaRPr lang="en-US" sz="12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 12-question benchmark cannot support the paper's conclusions; it can show whether the mechanism behaves as described.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1 — BASELINE VS VERIFACT-LITE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Extraction improves. Precision falls.</a:t>
            </a:r>
            <a:endParaRPr lang="en-US" sz="3000" dirty="0"/>
          </a:p>
        </p:txBody>
      </p:sp>
      <p:sp>
        <p:nvSpPr>
          <p:cNvPr id="4" name="h1"/>
          <p:cNvSpPr/>
          <p:nvPr/>
        </p:nvSpPr>
        <p:spPr>
          <a:xfrm>
            <a:off x="548640" y="1188720"/>
            <a:ext cx="2633472" cy="1371600"/>
          </a:xfrm>
          <a:prstGeom prst="roundRect">
            <a:avLst>
              <a:gd name="adj" fmla="val 4000"/>
            </a:avLst>
          </a:prstGeom>
          <a:solidFill>
            <a:srgbClr val="EDEDED"/>
          </a:solidFill>
          <a:ln w="12700">
            <a:solidFill>
              <a:srgbClr val="EDEDED"/>
            </a:solidFill>
            <a:prstDash val="solid"/>
          </a:ln>
        </p:spPr>
      </p:sp>
      <p:sp>
        <p:nvSpPr>
          <p:cNvPr id="5" name="h1-l"/>
          <p:cNvSpPr txBox="1"/>
          <p:nvPr/>
        </p:nvSpPr>
        <p:spPr>
          <a:xfrm>
            <a:off x="749808"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 RATE</a:t>
            </a:r>
            <a:endParaRPr lang="en-US" sz="1000" dirty="0"/>
          </a:p>
        </p:txBody>
      </p:sp>
      <p:sp>
        <p:nvSpPr>
          <p:cNvPr id="6" name="h1-v"/>
          <p:cNvSpPr txBox="1"/>
          <p:nvPr/>
        </p:nvSpPr>
        <p:spPr>
          <a:xfrm>
            <a:off x="749808"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0.105 → 0.091</a:t>
            </a:r>
            <a:endParaRPr lang="en-US" sz="2000" dirty="0"/>
          </a:p>
        </p:txBody>
      </p:sp>
      <p:sp>
        <p:nvSpPr>
          <p:cNvPr id="7" name="h1-f"/>
          <p:cNvSpPr txBox="1"/>
          <p:nvPr/>
        </p:nvSpPr>
        <p:spPr>
          <a:xfrm>
            <a:off x="749808"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−12.8%</a:t>
            </a:r>
            <a:endParaRPr lang="en-US" sz="1100" dirty="0"/>
          </a:p>
        </p:txBody>
      </p:sp>
      <p:sp>
        <p:nvSpPr>
          <p:cNvPr id="8" name="h2"/>
          <p:cNvSpPr/>
          <p:nvPr/>
        </p:nvSpPr>
        <p:spPr>
          <a:xfrm>
            <a:off x="3364992" y="1188720"/>
            <a:ext cx="2633472" cy="1371600"/>
          </a:xfrm>
          <a:prstGeom prst="roundRect">
            <a:avLst>
              <a:gd name="adj" fmla="val 4000"/>
            </a:avLst>
          </a:prstGeom>
          <a:solidFill>
            <a:srgbClr val="EDEDED"/>
          </a:solidFill>
          <a:ln w="12700">
            <a:solidFill>
              <a:srgbClr val="EDEDED"/>
            </a:solidFill>
            <a:prstDash val="solid"/>
          </a:ln>
        </p:spPr>
      </p:sp>
      <p:sp>
        <p:nvSpPr>
          <p:cNvPr id="9" name="h2-l"/>
          <p:cNvSpPr txBox="1"/>
          <p:nvPr/>
        </p:nvSpPr>
        <p:spPr>
          <a:xfrm>
            <a:off x="3566160"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RELATIONAL FACTS</a:t>
            </a:r>
            <a:endParaRPr lang="en-US" sz="1000" dirty="0"/>
          </a:p>
        </p:txBody>
      </p:sp>
      <p:sp>
        <p:nvSpPr>
          <p:cNvPr id="10" name="h2-v"/>
          <p:cNvSpPr txBox="1"/>
          <p:nvPr/>
        </p:nvSpPr>
        <p:spPr>
          <a:xfrm>
            <a:off x="3566160"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51 → 0</a:t>
            </a:r>
            <a:endParaRPr lang="en-US" sz="2000" dirty="0"/>
          </a:p>
        </p:txBody>
      </p:sp>
      <p:sp>
        <p:nvSpPr>
          <p:cNvPr id="11" name="h2-f"/>
          <p:cNvSpPr txBox="1"/>
          <p:nvPr/>
        </p:nvSpPr>
        <p:spPr>
          <a:xfrm>
            <a:off x="3566160"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all recovered</a:t>
            </a:r>
            <a:endParaRPr lang="en-US" sz="1100" dirty="0"/>
          </a:p>
        </p:txBody>
      </p:sp>
      <p:sp>
        <p:nvSpPr>
          <p:cNvPr id="12" name="h3"/>
          <p:cNvSpPr/>
          <p:nvPr/>
        </p:nvSpPr>
        <p:spPr>
          <a:xfrm>
            <a:off x="6181344" y="1188720"/>
            <a:ext cx="2633472" cy="1371600"/>
          </a:xfrm>
          <a:prstGeom prst="roundRect">
            <a:avLst>
              <a:gd name="adj" fmla="val 4000"/>
            </a:avLst>
          </a:prstGeom>
          <a:solidFill>
            <a:srgbClr val="EDEDED"/>
          </a:solidFill>
          <a:ln w="12700">
            <a:solidFill>
              <a:srgbClr val="EDEDED"/>
            </a:solidFill>
            <a:prstDash val="solid"/>
          </a:ln>
        </p:spPr>
      </p:sp>
      <p:sp>
        <p:nvSpPr>
          <p:cNvPr id="13" name="h3-l"/>
          <p:cNvSpPr txBox="1"/>
          <p:nvPr/>
        </p:nvSpPr>
        <p:spPr>
          <a:xfrm>
            <a:off x="6382512"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PRECISION</a:t>
            </a:r>
            <a:endParaRPr lang="en-US" sz="1000" dirty="0"/>
          </a:p>
        </p:txBody>
      </p:sp>
      <p:sp>
        <p:nvSpPr>
          <p:cNvPr id="14" name="h3-v"/>
          <p:cNvSpPr txBox="1"/>
          <p:nvPr/>
        </p:nvSpPr>
        <p:spPr>
          <a:xfrm>
            <a:off x="6382512"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0.420 → 0.343</a:t>
            </a:r>
            <a:endParaRPr lang="en-US" sz="2000" dirty="0"/>
          </a:p>
        </p:txBody>
      </p:sp>
      <p:sp>
        <p:nvSpPr>
          <p:cNvPr id="15" name="h3-f"/>
          <p:cNvSpPr txBox="1"/>
          <p:nvPr/>
        </p:nvSpPr>
        <p:spPr>
          <a:xfrm>
            <a:off x="6382512"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−0.077</a:t>
            </a:r>
            <a:endParaRPr lang="en-US" sz="1100" dirty="0"/>
          </a:p>
        </p:txBody>
      </p:sp>
      <p:sp>
        <p:nvSpPr>
          <p:cNvPr id="16" name="h4"/>
          <p:cNvSpPr/>
          <p:nvPr/>
        </p:nvSpPr>
        <p:spPr>
          <a:xfrm>
            <a:off x="8997696" y="1188720"/>
            <a:ext cx="2633472" cy="1371600"/>
          </a:xfrm>
          <a:prstGeom prst="roundRect">
            <a:avLst>
              <a:gd name="adj" fmla="val 4000"/>
            </a:avLst>
          </a:prstGeom>
          <a:solidFill>
            <a:srgbClr val="EDEDED"/>
          </a:solidFill>
          <a:ln w="12700">
            <a:solidFill>
              <a:srgbClr val="EDEDED"/>
            </a:solidFill>
            <a:prstDash val="solid"/>
          </a:ln>
        </p:spPr>
      </p:sp>
      <p:sp>
        <p:nvSpPr>
          <p:cNvPr id="17" name="h4-l"/>
          <p:cNvSpPr txBox="1"/>
          <p:nvPr/>
        </p:nvSpPr>
        <p:spPr>
          <a:xfrm>
            <a:off x="9198864"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RECALL · F1</a:t>
            </a:r>
            <a:endParaRPr lang="en-US" sz="1000" dirty="0"/>
          </a:p>
        </p:txBody>
      </p:sp>
      <p:sp>
        <p:nvSpPr>
          <p:cNvPr id="18" name="h4-v"/>
          <p:cNvSpPr txBox="1"/>
          <p:nvPr/>
        </p:nvSpPr>
        <p:spPr>
          <a:xfrm>
            <a:off x="9198864"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0.408 · 0.372</a:t>
            </a:r>
            <a:endParaRPr lang="en-US" sz="2000" dirty="0"/>
          </a:p>
        </p:txBody>
      </p:sp>
      <p:sp>
        <p:nvSpPr>
          <p:cNvPr id="19" name="h4-f"/>
          <p:cNvSpPr txBox="1"/>
          <p:nvPr/>
        </p:nvSpPr>
        <p:spPr>
          <a:xfrm>
            <a:off x="9198864" y="217627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recall fixed by design</a:t>
            </a:r>
            <a:endParaRPr lang="en-US" sz="1100" dirty="0"/>
          </a:p>
        </p:txBody>
      </p:sp>
      <p:graphicFrame>
        <p:nvGraphicFramePr>
          <p:cNvPr id="20" name="chart-prf" descr=""/>
          <p:cNvGraphicFramePr/>
          <p:nvPr/>
        </p:nvGraphicFramePr>
        <p:xfrm>
          <a:off x="548640" y="27432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21" name="where"/>
          <p:cNvSpPr/>
          <p:nvPr/>
        </p:nvSpPr>
        <p:spPr>
          <a:xfrm>
            <a:off x="6355080" y="2743200"/>
            <a:ext cx="5257800" cy="3108960"/>
          </a:xfrm>
          <a:prstGeom prst="roundRect">
            <a:avLst>
              <a:gd name="adj" fmla="val 1765"/>
            </a:avLst>
          </a:prstGeom>
          <a:solidFill>
            <a:srgbClr val="000000"/>
          </a:solidFill>
          <a:ln w="12700">
            <a:solidFill>
              <a:srgbClr val="000000"/>
            </a:solidFill>
            <a:prstDash val="solid"/>
          </a:ln>
        </p:spPr>
      </p:sp>
      <p:sp>
        <p:nvSpPr>
          <p:cNvPr id="22" name="where-h"/>
          <p:cNvSpPr txBox="1"/>
          <p:nvPr/>
        </p:nvSpPr>
        <p:spPr>
          <a:xfrm>
            <a:off x="6592824" y="294436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Where the precision went</a:t>
            </a:r>
            <a:endParaRPr lang="en-US" sz="1500" dirty="0"/>
          </a:p>
        </p:txBody>
      </p:sp>
      <p:sp>
        <p:nvSpPr>
          <p:cNvPr id="23" name="where-b"/>
          <p:cNvSpPr txBox="1"/>
          <p:nvPr/>
        </p:nvSpPr>
        <p:spPr>
          <a:xfrm>
            <a:off x="6592824" y="3328416"/>
            <a:ext cx="4782312" cy="23408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Supported 109 → 108.  Contradicted 3 → 3.  Undecided 146 → 185.</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Of the claims the verifier could decide, 97.3% were supported both before and after.</a:t>
            </a:r>
            <a:endParaRPr lang="en-US" sz="1300" dirty="0"/>
          </a:p>
        </p:txBody>
      </p:sp>
      <p:sp>
        <p:nvSpPr>
          <p:cNvPr id="2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answers, same retrieval, same verifier — only refinement differs. 163 facts refined, 51 added.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2 — ABLATION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Each mechanism moves the metric it targets</a:t>
            </a:r>
            <a:endParaRPr lang="en-US" sz="3000" dirty="0"/>
          </a:p>
        </p:txBody>
      </p:sp>
      <p:graphicFrame>
        <p:nvGraphicFramePr>
          <p:cNvPr id="10" name="abl"/>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383280"/>
                <a:gridCol w="1737360"/>
                <a:gridCol w="1463040"/>
                <a:gridCol w="1554480"/>
                <a:gridCol w="1463040"/>
                <a:gridCol w="146304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System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Incomplete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Missing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Precision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F1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  Baseline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0.4200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0.4138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  + incomplete refine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0.078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0.3680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0.3868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  + missing relation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0.113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0.3839</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0.3954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D  Full 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0.091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0.3426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0.3723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abl0"/>
          <p:cNvSpPr/>
          <p:nvPr/>
        </p:nvSpPr>
        <p:spPr>
          <a:xfrm>
            <a:off x="548640" y="3429000"/>
            <a:ext cx="3547872" cy="1783080"/>
          </a:xfrm>
          <a:prstGeom prst="roundRect">
            <a:avLst>
              <a:gd name="adj" fmla="val 3077"/>
            </a:avLst>
          </a:prstGeom>
          <a:solidFill>
            <a:srgbClr val="EDEDED"/>
          </a:solidFill>
          <a:ln w="12700">
            <a:solidFill>
              <a:srgbClr val="EDEDED"/>
            </a:solidFill>
            <a:prstDash val="solid"/>
          </a:ln>
        </p:spPr>
      </p:sp>
      <p:sp>
        <p:nvSpPr>
          <p:cNvPr id="6" name="abl0-h"/>
          <p:cNvSpPr txBox="1"/>
          <p:nvPr/>
        </p:nvSpPr>
        <p:spPr>
          <a:xfrm>
            <a:off x="786384" y="363016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B isolates the refiner</a:t>
            </a:r>
            <a:endParaRPr lang="en-US" sz="1400" dirty="0"/>
          </a:p>
        </p:txBody>
      </p:sp>
      <p:sp>
        <p:nvSpPr>
          <p:cNvPr id="7" name="abl0-b"/>
          <p:cNvSpPr txBox="1"/>
          <p:nvPr/>
        </p:nvSpPr>
        <p:spPr>
          <a:xfrm>
            <a:off x="786384" y="4014216"/>
            <a:ext cx="3072384" cy="10149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8" name="abl1"/>
          <p:cNvSpPr/>
          <p:nvPr/>
        </p:nvSpPr>
        <p:spPr>
          <a:xfrm>
            <a:off x="4279392" y="3429000"/>
            <a:ext cx="3547872" cy="1783080"/>
          </a:xfrm>
          <a:prstGeom prst="roundRect">
            <a:avLst>
              <a:gd name="adj" fmla="val 3077"/>
            </a:avLst>
          </a:prstGeom>
          <a:solidFill>
            <a:srgbClr val="EDEDED"/>
          </a:solidFill>
          <a:ln w="12700">
            <a:solidFill>
              <a:srgbClr val="EDEDED"/>
            </a:solidFill>
            <a:prstDash val="solid"/>
          </a:ln>
        </p:spPr>
      </p:sp>
      <p:sp>
        <p:nvSpPr>
          <p:cNvPr id="9" name="abl1-h"/>
          <p:cNvSpPr txBox="1"/>
          <p:nvPr/>
        </p:nvSpPr>
        <p:spPr>
          <a:xfrm>
            <a:off x="4517136" y="363016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C isolates relation recovery</a:t>
            </a:r>
            <a:endParaRPr lang="en-US" sz="1400" dirty="0"/>
          </a:p>
        </p:txBody>
      </p:sp>
      <p:sp>
        <p:nvSpPr>
          <p:cNvPr id="10" name="abl1-b"/>
          <p:cNvSpPr txBox="1"/>
          <p:nvPr/>
        </p:nvSpPr>
        <p:spPr>
          <a:xfrm>
            <a:off x="4517136" y="4014216"/>
            <a:ext cx="3072384" cy="10149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All 51 missing relations become facts. The incomplete rate ticks up to 0.113 because the new facts are judged too.</a:t>
            </a:r>
            <a:endParaRPr lang="en-US" sz="1200" dirty="0"/>
          </a:p>
        </p:txBody>
      </p:sp>
      <p:sp>
        <p:nvSpPr>
          <p:cNvPr id="11" name="abl2"/>
          <p:cNvSpPr/>
          <p:nvPr/>
        </p:nvSpPr>
        <p:spPr>
          <a:xfrm>
            <a:off x="8010144" y="3429000"/>
            <a:ext cx="3547872" cy="1783080"/>
          </a:xfrm>
          <a:prstGeom prst="roundRect">
            <a:avLst>
              <a:gd name="adj" fmla="val 3077"/>
            </a:avLst>
          </a:prstGeom>
          <a:solidFill>
            <a:srgbClr val="EDEDED"/>
          </a:solidFill>
          <a:ln w="12700">
            <a:solidFill>
              <a:srgbClr val="EDEDED"/>
            </a:solidFill>
            <a:prstDash val="solid"/>
          </a:ln>
        </p:spPr>
      </p:sp>
      <p:sp>
        <p:nvSpPr>
          <p:cNvPr id="12" name="abl2-h"/>
          <p:cNvSpPr txBox="1"/>
          <p:nvPr/>
        </p:nvSpPr>
        <p:spPr>
          <a:xfrm>
            <a:off x="8247888" y="363016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The effects are additive</a:t>
            </a:r>
            <a:endParaRPr lang="en-US" sz="1400" dirty="0"/>
          </a:p>
        </p:txBody>
      </p:sp>
      <p:sp>
        <p:nvSpPr>
          <p:cNvPr id="13" name="abl2-b"/>
          <p:cNvSpPr txBox="1"/>
          <p:nvPr/>
        </p:nvSpPr>
        <p:spPr>
          <a:xfrm>
            <a:off x="8247888" y="4014216"/>
            <a:ext cx="3072384" cy="10149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four variants scored on one identical answer set, union ensemble, as in the paper.</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3 — JUDGE ABLATION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Union collapses onto the permissive judge</a:t>
            </a:r>
            <a:endParaRPr lang="en-US" sz="3000" dirty="0"/>
          </a:p>
        </p:txBody>
      </p:sp>
      <p:graphicFrame>
        <p:nvGraphicFramePr>
          <p:cNvPr id="11" name="judges"/>
          <p:cNvGraphicFramePr>
            <a:graphicFrameLocks noGrp="1"/>
          </p:cNvGraphicFramePr>
          <p:nvPr>
            <p:extLst>
              <p:ext uri="{D42A27DB-BD31-4B8C-83A1-F6EECF244321}">
                <p14:modId xmlns:p14="http://schemas.microsoft.com/office/powerpoint/2010/main" val="1579011935"/>
              </p:ext>
            </p:extLst>
          </p:nvPr>
        </p:nvGraphicFramePr>
        <p:xfrm>
          <a:off x="548640" y="1234440"/>
          <a:ext cx="5486400" cy="914400"/>
        </p:xfrm>
        <a:graphic>
          <a:graphicData uri="http://schemas.openxmlformats.org/drawingml/2006/table">
            <a:tbl>
              <a:tblPr/>
              <a:tblGrid>
                <a:gridCol w="1920240"/>
                <a:gridCol w="1188720"/>
                <a:gridCol w="1188720"/>
                <a:gridCol w="118872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0.955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Llama-3.2-3B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0.200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 of both</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judge-note"/>
          <p:cNvSpPr txBox="1"/>
          <p:nvPr/>
        </p:nvSpPr>
        <p:spPr>
          <a:xfrm>
            <a:off x="548640" y="2926080"/>
            <a:ext cx="5486400" cy="1005840"/>
          </a:xfrm>
          <a:prstGeom prst="rect">
            <a:avLst/>
          </a:prstGeom>
          <a:noFill/>
          <a:ln/>
        </p:spPr>
        <p:txBody>
          <a:bodyPr wrap="square" lIns="0" tIns="0" rIns="0" bIns="0" rtlCol="0" anchor="ctr"/>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Precision is measured against the majority decision. Llama flags almost everything, so the union of two judges is just Llama's opinion — the paper's recall-first rule needs three judges to behave as intended.</a:t>
            </a:r>
            <a:endParaRPr lang="en-US" sz="1200" dirty="0"/>
          </a:p>
        </p:txBody>
      </p:sp>
      <p:graphicFrame>
        <p:nvGraphicFramePr>
          <p:cNvPr id="21" name="rules"/>
          <p:cNvGraphicFramePr>
            <a:graphicFrameLocks noGrp="1"/>
          </p:cNvGraphicFramePr>
          <p:nvPr>
            <p:extLst>
              <p:ext uri="{D42A27DB-BD31-4B8C-83A1-F6EECF244321}">
                <p14:modId xmlns:p14="http://schemas.microsoft.com/office/powerpoint/2010/main" val="1579011935"/>
              </p:ext>
            </p:extLst>
          </p:nvPr>
        </p:nvGraphicFramePr>
        <p:xfrm>
          <a:off x="6355080" y="1234440"/>
          <a:ext cx="5257800" cy="914400"/>
        </p:xfrm>
        <a:graphic>
          <a:graphicData uri="http://schemas.openxmlformats.org/drawingml/2006/table">
            <a:tbl>
              <a:tblPr/>
              <a:tblGrid>
                <a:gridCol w="1783080"/>
                <a:gridCol w="1188720"/>
                <a:gridCol w="1143000"/>
                <a:gridCol w="114300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0.105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0.4200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0.4138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0.091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0.3426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0.3723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0.042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7" name="finding"/>
          <p:cNvSpPr/>
          <p:nvPr/>
        </p:nvSpPr>
        <p:spPr>
          <a:xfrm>
            <a:off x="6355080" y="2926080"/>
            <a:ext cx="5257800" cy="1645920"/>
          </a:xfrm>
          <a:prstGeom prst="roundRect">
            <a:avLst>
              <a:gd name="adj" fmla="val 3333"/>
            </a:avLst>
          </a:prstGeom>
          <a:solidFill>
            <a:srgbClr val="000000"/>
          </a:solidFill>
          <a:ln w="12700">
            <a:solidFill>
              <a:srgbClr val="000000"/>
            </a:solidFill>
            <a:prstDash val="solid"/>
          </a:ln>
        </p:spPr>
      </p:sp>
      <p:sp>
        <p:nvSpPr>
          <p:cNvPr id="8" name="finding-h"/>
          <p:cNvSpPr txBox="1"/>
          <p:nvPr/>
        </p:nvSpPr>
        <p:spPr>
          <a:xfrm>
            <a:off x="6592824" y="312724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Our own finding</a:t>
            </a:r>
            <a:endParaRPr lang="en-US" sz="1500" dirty="0"/>
          </a:p>
        </p:txBody>
      </p:sp>
      <p:sp>
        <p:nvSpPr>
          <p:cNvPr id="9" name="finding-b"/>
          <p:cNvSpPr txBox="1"/>
          <p:nvPr/>
        </p:nvSpPr>
        <p:spPr>
          <a:xfrm>
            <a:off x="6592824" y="3511296"/>
            <a:ext cx="4782312" cy="87782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Majority vote cuts the incomplete rate by 60% (0.105 → 0.042) and costs almost no precision (−0.013). Union cuts it 12.8% and costs 0.077.</a:t>
            </a:r>
            <a:endParaRPr lang="en-US" sz="1300" dirty="0"/>
          </a:p>
        </p:txBody>
      </p:sp>
      <p:graphicFrame>
        <p:nvGraphicFramePr>
          <p:cNvPr id="10" name="chart-rule" descr=""/>
          <p:cNvGraphicFramePr/>
          <p:nvPr/>
        </p:nvGraphicFramePr>
        <p:xfrm>
          <a:off x="548640" y="4069080"/>
          <a:ext cx="5486400" cy="1783080"/>
        </p:xfrm>
        <a:graphic xmlns:a="http://schemas.openxmlformats.org/drawingml/2006/main">
          <a:graphicData uri="http://schemas.openxmlformats.org/drawingml/2006/chart">
            <c:chart xmlns:c="http://schemas.openxmlformats.org/drawingml/2006/chart" r:id="rId1"/>
          </a:graphicData>
        </a:graphic>
      </p:graphicFrame>
      <p:sp>
        <p:nvSpPr>
          <p:cNvPr id="1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Both tables use identical judge decisions — only the rule that turns votes into a refinement decision differs.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4 — THE RESEARCH QUESTION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Does fixing a claim change its verdict?</a:t>
            </a:r>
            <a:endParaRPr lang="en-US" sz="3000" dirty="0"/>
          </a:p>
        </p:txBody>
      </p:sp>
      <p:sp>
        <p:nvSpPr>
          <p:cNvPr id="4" name="big"/>
          <p:cNvSpPr/>
          <p:nvPr/>
        </p:nvSpPr>
        <p:spPr>
          <a:xfrm>
            <a:off x="548640" y="1234440"/>
            <a:ext cx="3200400" cy="2286000"/>
          </a:xfrm>
          <a:prstGeom prst="roundRect">
            <a:avLst>
              <a:gd name="adj" fmla="val 2400"/>
            </a:avLst>
          </a:prstGeom>
          <a:solidFill>
            <a:srgbClr val="E90802"/>
          </a:solidFill>
          <a:ln w="12700">
            <a:solidFill>
              <a:srgbClr val="E90802"/>
            </a:solidFill>
            <a:prstDash val="solid"/>
          </a:ln>
        </p:spPr>
      </p:sp>
      <p:sp>
        <p:nvSpPr>
          <p:cNvPr id="5" name="big-v"/>
          <p:cNvSpPr txBox="1"/>
          <p:nvPr/>
        </p:nvSpPr>
        <p:spPr>
          <a:xfrm>
            <a:off x="548640" y="1508760"/>
            <a:ext cx="3200400" cy="1005840"/>
          </a:xfrm>
          <a:prstGeom prst="rect">
            <a:avLst/>
          </a:prstGeom>
          <a:noFill/>
          <a:ln/>
        </p:spPr>
        <p:txBody>
          <a:bodyPr wrap="square" lIns="0" tIns="0" rIns="0" bIns="0" rtlCol="0" anchor="ctr"/>
          <a:lstStyle/>
          <a:p>
            <a:pPr algn="ctr" indent="0" marL="0">
              <a:buNone/>
            </a:pPr>
            <a:r>
              <a:rPr lang="en-US" sz="6000" b="1" dirty="0">
                <a:solidFill>
                  <a:srgbClr val="FFFFFF"/>
                </a:solidFill>
              </a:rPr>
              <a:t>39.3%</a:t>
            </a:r>
            <a:endParaRPr lang="en-US" sz="6000" dirty="0"/>
          </a:p>
        </p:txBody>
      </p:sp>
      <p:sp>
        <p:nvSpPr>
          <p:cNvPr id="6" name="big-l"/>
          <p:cNvSpPr txBox="1"/>
          <p:nvPr/>
        </p:nvSpPr>
        <p:spPr>
          <a:xfrm>
            <a:off x="548640" y="2560320"/>
            <a:ext cx="3200400" cy="822960"/>
          </a:xfrm>
          <a:prstGeom prst="rect">
            <a:avLst/>
          </a:prstGeom>
          <a:noFill/>
          <a:ln/>
        </p:spPr>
        <p:txBody>
          <a:bodyPr wrap="square" lIns="0" tIns="0" rIns="0" bIns="0" rtlCol="0" anchor="ctr"/>
          <a:lstStyle/>
          <a:p>
            <a:pPr algn="ctr" indent="0" marL="0">
              <a:lnSpc>
                <a:spcPct val="120000"/>
              </a:lnSpc>
              <a:buNone/>
            </a:pPr>
            <a:r>
              <a:rPr lang="en-US" sz="1400" dirty="0">
                <a:solidFill>
                  <a:srgbClr val="FFFFFF"/>
                </a:solidFill>
                <a:latin typeface="Arial" pitchFamily="34" charset="0"/>
                <a:ea typeface="Arial" pitchFamily="34" charset="-122"/>
                <a:cs typeface="Arial" pitchFamily="34" charset="-120"/>
              </a:rPr>
              <a:t>of refined facts changed label</a:t>
            </a:r>
            <a:endParaRPr lang="en-US" sz="1400" dirty="0"/>
          </a:p>
          <a:p>
            <a:pPr algn="ctr" indent="0" marL="0">
              <a:lnSpc>
                <a:spcPct val="120000"/>
              </a:lnSpc>
              <a:buNone/>
            </a:pPr>
            <a:r>
              <a:rPr lang="en-US" sz="1400" dirty="0">
                <a:solidFill>
                  <a:srgbClr val="FFFFFF"/>
                </a:solidFill>
                <a:latin typeface="Arial" pitchFamily="34" charset="0"/>
                <a:ea typeface="Arial" pitchFamily="34" charset="-122"/>
                <a:cs typeface="Arial" pitchFamily="34" charset="-120"/>
              </a:rPr>
              <a:t>70 of 178</a:t>
            </a:r>
            <a:endParaRPr lang="en-US" sz="1400" dirty="0"/>
          </a:p>
        </p:txBody>
      </p:sp>
      <p:graphicFrame>
        <p:nvGraphicFramePr>
          <p:cNvPr id="12" name="trans"/>
          <p:cNvGraphicFramePr>
            <a:graphicFrameLocks noGrp="1"/>
          </p:cNvGraphicFramePr>
          <p:nvPr>
            <p:extLst>
              <p:ext uri="{D42A27DB-BD31-4B8C-83A1-F6EECF244321}">
                <p14:modId xmlns:p14="http://schemas.microsoft.com/office/powerpoint/2010/main" val="1579011935"/>
              </p:ext>
            </p:extLst>
          </p:nvPr>
        </p:nvGraphicFramePr>
        <p:xfrm>
          <a:off x="4069080" y="1234440"/>
          <a:ext cx="7543800" cy="914400"/>
        </p:xfrm>
        <a:graphic>
          <a:graphicData uri="http://schemas.openxmlformats.org/drawingml/2006/table">
            <a:tbl>
              <a:tblPr/>
              <a:tblGrid>
                <a:gridCol w="3108960"/>
                <a:gridCol w="1051560"/>
                <a:gridCol w="3383280"/>
              </a:tblGrid>
              <a:tr h="33832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Count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CONTRADICTED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error exposed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mis-blamed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mis-blamed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unchanged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verdict stable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8" name="cmp-paper"/>
          <p:cNvSpPr/>
          <p:nvPr/>
        </p:nvSpPr>
        <p:spPr>
          <a:xfrm>
            <a:off x="548640" y="3840480"/>
            <a:ext cx="11064240" cy="1737360"/>
          </a:xfrm>
          <a:prstGeom prst="roundRect">
            <a:avLst>
              <a:gd name="adj" fmla="val 3158"/>
            </a:avLst>
          </a:prstGeom>
          <a:solidFill>
            <a:srgbClr val="333333"/>
          </a:solidFill>
          <a:ln w="12700">
            <a:solidFill>
              <a:srgbClr val="333333"/>
            </a:solidFill>
            <a:prstDash val="solid"/>
          </a:ln>
        </p:spPr>
      </p:sp>
      <p:sp>
        <p:nvSpPr>
          <p:cNvPr id="9" name="cmp-paper-h"/>
          <p:cNvSpPr txBox="1"/>
          <p:nvPr/>
        </p:nvSpPr>
        <p:spPr>
          <a:xfrm>
            <a:off x="786384" y="404164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Against the paper</a:t>
            </a:r>
            <a:endParaRPr lang="en-US" sz="1500" dirty="0"/>
          </a:p>
        </p:txBody>
      </p:sp>
      <p:sp>
        <p:nvSpPr>
          <p:cNvPr id="10" name="cmp-paper-b"/>
          <p:cNvSpPr txBox="1"/>
          <p:nvPr/>
        </p:nvSpPr>
        <p:spPr>
          <a:xfrm>
            <a:off x="786384" y="4425696"/>
            <a:ext cx="10588752" cy="9692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The paper reports 24.9% of refined facts changing label, with supported falling and contradicted rising, and concludes that ignoring incomplete facts overestimates model factuality.</a:t>
            </a: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We measure 39.3%, with supported falling into undecided rather than into contradicted — the same conclusion, reached with 3B models and Wikipedia.</a:t>
            </a:r>
            <a:endParaRPr lang="en-US" sz="1300" dirty="0"/>
          </a:p>
        </p:txBody>
      </p:sp>
      <p:sp>
        <p:nvSpPr>
          <p:cNvPr id="1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37 claims the baseline called SUPPORTED could not survive having their own context restored.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5 — QUALITATIVE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a 3B refiner actually produces</a:t>
            </a:r>
            <a:endParaRPr lang="en-US" sz="3000" dirty="0"/>
          </a:p>
        </p:txBody>
      </p:sp>
      <p:sp>
        <p:nvSpPr>
          <p:cNvPr id="4" name="good"/>
          <p:cNvSpPr/>
          <p:nvPr/>
        </p:nvSpPr>
        <p:spPr>
          <a:xfrm>
            <a:off x="548640" y="1188720"/>
            <a:ext cx="5486400" cy="3108960"/>
          </a:xfrm>
          <a:prstGeom prst="roundRect">
            <a:avLst>
              <a:gd name="adj" fmla="val 1765"/>
            </a:avLst>
          </a:prstGeom>
          <a:solidFill>
            <a:srgbClr val="FFFFFF"/>
          </a:solidFill>
          <a:ln w="19050">
            <a:solidFill>
              <a:srgbClr val="E90802"/>
            </a:solidFill>
            <a:prstDash val="solid"/>
          </a:ln>
        </p:spPr>
      </p:sp>
      <p:sp>
        <p:nvSpPr>
          <p:cNvPr id="5" name="good-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Works — Q10, ozone layer</a:t>
            </a:r>
            <a:endParaRPr lang="en-US" sz="1500" dirty="0"/>
          </a:p>
        </p:txBody>
      </p:sp>
      <p:sp>
        <p:nvSpPr>
          <p:cNvPr id="6" name="good-t"/>
          <p:cNvSpPr txBox="1"/>
          <p:nvPr/>
        </p:nvSpPr>
        <p:spPr>
          <a:xfrm>
            <a:off x="786384" y="1691640"/>
            <a:ext cx="50292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omitted_condition_or_source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“These substances are in the atmosphere.”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 substances are in the atmosphere since the Montreal Protocol was signed.”</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missing_comparison</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 decrease is in the concentration of substances.”</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 compared to before the Montreal Protocol.”</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p:txBody>
      </p:sp>
      <p:sp>
        <p:nvSpPr>
          <p:cNvPr id="7" name="bad"/>
          <p:cNvSpPr/>
          <p:nvPr/>
        </p:nvSpPr>
        <p:spPr>
          <a:xfrm>
            <a:off x="6355080" y="1188720"/>
            <a:ext cx="5257800" cy="3108960"/>
          </a:xfrm>
          <a:prstGeom prst="roundRect">
            <a:avLst>
              <a:gd name="adj" fmla="val 1765"/>
            </a:avLst>
          </a:prstGeom>
          <a:solidFill>
            <a:srgbClr val="FFFFFF"/>
          </a:solidFill>
          <a:ln w="12700">
            <a:solidFill>
              <a:srgbClr val="EDEDED"/>
            </a:solidFill>
            <a:prstDash val="solid"/>
          </a:ln>
        </p:spPr>
      </p:sp>
      <p:sp>
        <p:nvSpPr>
          <p:cNvPr id="8" name="ba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333333"/>
                </a:solidFill>
              </a:rPr>
              <a:t>Fails — Q01, the paper's own example</a:t>
            </a:r>
            <a:endParaRPr lang="en-US" sz="1500" dirty="0"/>
          </a:p>
        </p:txBody>
      </p:sp>
      <p:sp>
        <p:nvSpPr>
          <p:cNvPr id="9" name="bad-t"/>
          <p:cNvSpPr txBox="1"/>
          <p:nvPr/>
        </p:nvSpPr>
        <p:spPr>
          <a:xfrm>
            <a:off x="6592824" y="1691640"/>
            <a:ext cx="48006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the refiner flipped the meaning</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“There was demand for gold as jewelry.”</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“There was no demand for gold as jewelry.”</a:t>
            </a:r>
            <a:endParaRPr lang="en-US" sz="1200" dirty="0"/>
          </a:p>
          <a:p>
            <a:pPr indent="0" marL="0">
              <a:lnSpc>
                <a:spcPct val="115000"/>
              </a:lnSpc>
              <a:buNone/>
            </a:pPr>
            <a:r>
              <a:rPr lang="en-US" sz="120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condition attached to the wrong claim</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“Gold has unique properties of malleability if there was no demand for gold as jewelry.”</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SUPPORTED → UNDECIDED</a:t>
            </a:r>
            <a:endParaRPr lang="en-US" sz="1200" dirty="0"/>
          </a:p>
        </p:txBody>
      </p:sp>
      <p:sp>
        <p:nvSpPr>
          <p:cNvPr id="10" name="added"/>
          <p:cNvSpPr/>
          <p:nvPr/>
        </p:nvSpPr>
        <p:spPr>
          <a:xfrm>
            <a:off x="548640" y="4480560"/>
            <a:ext cx="11064240" cy="1280160"/>
          </a:xfrm>
          <a:prstGeom prst="roundRect">
            <a:avLst>
              <a:gd name="adj" fmla="val 4286"/>
            </a:avLst>
          </a:prstGeom>
          <a:solidFill>
            <a:srgbClr val="000000"/>
          </a:solidFill>
          <a:ln w="12700">
            <a:solidFill>
              <a:srgbClr val="000000"/>
            </a:solidFill>
            <a:prstDash val="solid"/>
          </a:ln>
        </p:spPr>
      </p:sp>
      <p:sp>
        <p:nvSpPr>
          <p:cNvPr id="11" name="added-h"/>
          <p:cNvSpPr txBox="1"/>
          <p:nvPr/>
        </p:nvSpPr>
        <p:spPr>
          <a:xfrm>
            <a:off x="786384" y="4681728"/>
            <a:ext cx="10588752" cy="310896"/>
          </a:xfrm>
          <a:prstGeom prst="rect">
            <a:avLst/>
          </a:prstGeom>
          <a:noFill/>
          <a:ln/>
        </p:spPr>
        <p:txBody>
          <a:bodyPr wrap="square" lIns="0" tIns="0" rIns="0" bIns="0" rtlCol="0" anchor="ctr"/>
          <a:lstStyle/>
          <a:p>
            <a:pPr indent="0" marL="0">
              <a:buNone/>
            </a:pPr>
            <a:r>
              <a:rPr lang="en-US" sz="1300" b="1" dirty="0">
                <a:solidFill>
                  <a:srgbClr val="E90802"/>
                </a:solidFill>
              </a:rPr>
              <a:t>Added relational fact — Q04, Chernobyl, temporal</a:t>
            </a:r>
            <a:endParaRPr lang="en-US" sz="1300" dirty="0"/>
          </a:p>
        </p:txBody>
      </p:sp>
      <p:sp>
        <p:nvSpPr>
          <p:cNvPr id="12" name="added-b"/>
          <p:cNvSpPr txBox="1"/>
          <p:nvPr/>
        </p:nvSpPr>
        <p:spPr>
          <a:xfrm>
            <a:off x="786384" y="5065776"/>
            <a:ext cx="10588752" cy="5120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COMPARISON WITH THE PAPER</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Directions match. Magnitudes do not.</a:t>
            </a:r>
            <a:endParaRPr lang="en-US" sz="3000" dirty="0"/>
          </a:p>
        </p:txBody>
      </p:sp>
      <p:graphicFrame>
        <p:nvGraphicFramePr>
          <p:cNvPr id="14" name="vs"/>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200400"/>
                <a:gridCol w="3108960"/>
                <a:gridCol w="3017520"/>
                <a:gridCol w="17373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Agreement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56.7% (SAFE)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scale differs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refined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22.5%  (−19.2 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9.1% union · 4.2%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Missing relational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1.22 → 0.76 (−37%)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 → 0 (−100%)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changing label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phenomenon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Direction of that 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contradicted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partial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82.8 (Qwen2.5-32B)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34.3 union · 40.7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44.1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40.8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coincidentally close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57.5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37.2 union · 40.7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vs0"/>
          <p:cNvSpPr/>
          <p:nvPr/>
        </p:nvSpPr>
        <p:spPr>
          <a:xfrm>
            <a:off x="548640" y="4480560"/>
            <a:ext cx="3547872" cy="1371600"/>
          </a:xfrm>
          <a:prstGeom prst="roundRect">
            <a:avLst>
              <a:gd name="adj" fmla="val 4000"/>
            </a:avLst>
          </a:prstGeom>
          <a:solidFill>
            <a:srgbClr val="FFFFFF"/>
          </a:solidFill>
          <a:ln w="12700">
            <a:solidFill>
              <a:srgbClr val="EDEDED"/>
            </a:solidFill>
            <a:prstDash val="solid"/>
          </a:ln>
        </p:spPr>
      </p:sp>
      <p:sp>
        <p:nvSpPr>
          <p:cNvPr id="6" name="vs0-h"/>
          <p:cNvSpPr txBox="1"/>
          <p:nvPr/>
        </p:nvSpPr>
        <p:spPr>
          <a:xfrm>
            <a:off x="786384" y="46817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Reproduced</a:t>
            </a:r>
            <a:endParaRPr lang="en-US" sz="1400" dirty="0"/>
          </a:p>
        </p:txBody>
      </p:sp>
      <p:sp>
        <p:nvSpPr>
          <p:cNvPr id="7" name="vs0-b"/>
          <p:cNvSpPr txBox="1"/>
          <p:nvPr/>
        </p:nvSpPr>
        <p:spPr>
          <a:xfrm>
            <a:off x="786384"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The mechanism detects both problem types, repairs them, and changing the facts changes the verdicts — the paper's central claim.</a:t>
            </a:r>
            <a:endParaRPr lang="en-US" sz="1200" dirty="0"/>
          </a:p>
        </p:txBody>
      </p:sp>
      <p:sp>
        <p:nvSpPr>
          <p:cNvPr id="8" name="vs1"/>
          <p:cNvSpPr/>
          <p:nvPr/>
        </p:nvSpPr>
        <p:spPr>
          <a:xfrm>
            <a:off x="4279392" y="4480560"/>
            <a:ext cx="3547872" cy="1371600"/>
          </a:xfrm>
          <a:prstGeom prst="roundRect">
            <a:avLst>
              <a:gd name="adj" fmla="val 4000"/>
            </a:avLst>
          </a:prstGeom>
          <a:solidFill>
            <a:srgbClr val="FFFFFF"/>
          </a:solidFill>
          <a:ln w="12700">
            <a:solidFill>
              <a:srgbClr val="EDEDED"/>
            </a:solidFill>
            <a:prstDash val="solid"/>
          </a:ln>
        </p:spPr>
      </p:sp>
      <p:sp>
        <p:nvSpPr>
          <p:cNvPr id="9" name="vs1-h"/>
          <p:cNvSpPr txBox="1"/>
          <p:nvPr/>
        </p:nvSpPr>
        <p:spPr>
          <a:xfrm>
            <a:off x="4517136" y="468172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Not reproduced</a:t>
            </a:r>
            <a:endParaRPr lang="en-US" sz="1400" dirty="0"/>
          </a:p>
        </p:txBody>
      </p:sp>
      <p:sp>
        <p:nvSpPr>
          <p:cNvPr id="10" name="vs1-b"/>
          <p:cNvSpPr txBox="1"/>
          <p:nvPr/>
        </p:nvSpPr>
        <p:spPr>
          <a:xfrm>
            <a:off x="4517136"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Absolute precision, recall and F1. Different models, different evidence, 12 prompts instead of 1,096, no human annotation.</a:t>
            </a:r>
            <a:endParaRPr lang="en-US" sz="1200" dirty="0"/>
          </a:p>
        </p:txBody>
      </p:sp>
      <p:sp>
        <p:nvSpPr>
          <p:cNvPr id="11" name="vs2"/>
          <p:cNvSpPr/>
          <p:nvPr/>
        </p:nvSpPr>
        <p:spPr>
          <a:xfrm>
            <a:off x="8010144" y="4480560"/>
            <a:ext cx="3547872" cy="1371600"/>
          </a:xfrm>
          <a:prstGeom prst="roundRect">
            <a:avLst>
              <a:gd name="adj" fmla="val 4000"/>
            </a:avLst>
          </a:prstGeom>
          <a:solidFill>
            <a:srgbClr val="FFFFFF"/>
          </a:solidFill>
          <a:ln w="12700">
            <a:solidFill>
              <a:srgbClr val="EDEDED"/>
            </a:solidFill>
            <a:prstDash val="solid"/>
          </a:ln>
        </p:spPr>
      </p:sp>
      <p:sp>
        <p:nvSpPr>
          <p:cNvPr id="12" name="vs2-h"/>
          <p:cNvSpPr txBox="1"/>
          <p:nvPr/>
        </p:nvSpPr>
        <p:spPr>
          <a:xfrm>
            <a:off x="8247888" y="468172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Why our baseline looks cleaner</a:t>
            </a:r>
            <a:endParaRPr lang="en-US" sz="1400" dirty="0"/>
          </a:p>
        </p:txBody>
      </p:sp>
      <p:sp>
        <p:nvSpPr>
          <p:cNvPr id="13" name="vs2-b"/>
          <p:cNvSpPr txBox="1"/>
          <p:nvPr/>
        </p:nvSpPr>
        <p:spPr>
          <a:xfrm>
            <a:off x="8247888"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10.5% vs 56.7% incomplete reflects a weaker 3B judge, not a better extractor. A judge that abstains finds fewer problems.</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right-hand value is measured by this repository; none is copied from the paper or estimated.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LIMITS, AND WHAT WOULD FIX THEM</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limitation points at a next step</a:t>
            </a:r>
            <a:endParaRPr lang="en-US" sz="3000" dirty="0"/>
          </a:p>
        </p:txBody>
      </p:sp>
      <p:sp>
        <p:nvSpPr>
          <p:cNvPr id="4" name="rubber"/>
          <p:cNvSpPr/>
          <p:nvPr/>
        </p:nvSpPr>
        <p:spPr>
          <a:xfrm>
            <a:off x="548640" y="1188720"/>
            <a:ext cx="11064240" cy="1325880"/>
          </a:xfrm>
          <a:prstGeom prst="roundRect">
            <a:avLst>
              <a:gd name="adj" fmla="val 4138"/>
            </a:avLst>
          </a:prstGeom>
          <a:solidFill>
            <a:srgbClr val="000000"/>
          </a:solidFill>
          <a:ln w="19050">
            <a:solidFill>
              <a:srgbClr val="E90802"/>
            </a:solidFill>
            <a:prstDash val="solid"/>
          </a:ln>
        </p:spPr>
      </p:sp>
      <p:sp>
        <p:nvSpPr>
          <p:cNvPr id="5" name="rubber-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Found by breaking our own result: a 3B verifier rubber-stamps unless forced to quote</a:t>
            </a:r>
            <a:endParaRPr lang="en-US" sz="1400" dirty="0"/>
          </a:p>
        </p:txBody>
      </p:sp>
      <p:sp>
        <p:nvSpPr>
          <p:cNvPr id="6" name="rubber-b"/>
          <p:cNvSpPr txBox="1"/>
          <p:nvPr/>
        </p:nvSpPr>
        <p:spPr>
          <a:xfrm>
            <a:off x="786384" y="1773936"/>
            <a:ext cx="10588752" cy="5577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An earlier version reported precision 0.92 and zero contradictions across 258 facts, calling “Aluminium is the rarest metal in the Earth's crust” SUPPORTED with confidence 1.0. Requiring a verbatim quote from the evidence moved precision to 0.42 and made contradictions appear. The honest number is the lower one.</a:t>
            </a:r>
            <a:endParaRPr lang="en-US" sz="1200" dirty="0"/>
          </a:p>
        </p:txBody>
      </p:sp>
      <p:graphicFrame>
        <p:nvGraphicFramePr>
          <p:cNvPr id="15" name="fixes"/>
          <p:cNvGraphicFramePr>
            <a:graphicFrameLocks noGrp="1"/>
          </p:cNvGraphicFramePr>
          <p:nvPr>
            <p:extLst>
              <p:ext uri="{D42A27DB-BD31-4B8C-83A1-F6EECF244321}">
                <p14:modId xmlns:p14="http://schemas.microsoft.com/office/powerpoint/2010/main" val="1579011935"/>
              </p:ext>
            </p:extLst>
          </p:nvPr>
        </p:nvGraphicFramePr>
        <p:xfrm>
          <a:off x="548640" y="2697480"/>
          <a:ext cx="11064240" cy="914400"/>
        </p:xfrm>
        <a:graphic>
          <a:graphicData uri="http://schemas.openxmlformats.org/drawingml/2006/table">
            <a:tbl>
              <a:tblPr/>
              <a:tblGrid>
                <a:gridCol w="4846320"/>
                <a:gridCol w="4480560"/>
                <a:gridCol w="1737360"/>
              </a:tblGrid>
              <a:tr h="42062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would fix it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dominates — 146 of 258 baseline verdicts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Dense retrieval, query expansion, cross-encoder reranking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 are 3B; one flags nearly everything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Stronger local judge (Qwen3, Gemma), or 7B–14B at Q4/Q5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 ↑ F1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is dominated by the permissive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 third judge, self-consistency, or confidence weighting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detection precision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are sometimes still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Iterative refinement, maximum two passes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rate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 questions, 86 reference facts, no human annotation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Larger benchmark; several answers per prompt, human-verified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measurement quality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cannot move between variants by construction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Semantic reference matching: embeddings plus entailment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validity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8"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Proposed directions, not validated results — none has been run. Full ranked list in the appendix and the README.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TAKEAWAYS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Four things this reimplementation establishes</a:t>
            </a:r>
            <a:endParaRPr lang="en-US" sz="3000" dirty="0"/>
          </a:p>
        </p:txBody>
      </p:sp>
      <p:sp>
        <p:nvSpPr>
          <p:cNvPr id="4" name="tk1"/>
          <p:cNvSpPr/>
          <p:nvPr/>
        </p:nvSpPr>
        <p:spPr>
          <a:xfrm>
            <a:off x="548640" y="1234440"/>
            <a:ext cx="11064240" cy="1024128"/>
          </a:xfrm>
          <a:prstGeom prst="roundRect">
            <a:avLst>
              <a:gd name="adj" fmla="val 5357"/>
            </a:avLst>
          </a:prstGeom>
          <a:solidFill>
            <a:srgbClr val="333333"/>
          </a:solidFill>
          <a:ln w="12700">
            <a:solidFill>
              <a:srgbClr val="333333"/>
            </a:solidFill>
            <a:prstDash val="solid"/>
          </a:ln>
        </p:spPr>
      </p:sp>
      <p:sp>
        <p:nvSpPr>
          <p:cNvPr id="5" name="tk-b1"/>
          <p:cNvSpPr/>
          <p:nvPr/>
        </p:nvSpPr>
        <p:spPr>
          <a:xfrm>
            <a:off x="777240" y="1517904"/>
            <a:ext cx="457200" cy="457200"/>
          </a:xfrm>
          <a:prstGeom prst="ellipse">
            <a:avLst/>
          </a:prstGeom>
          <a:solidFill>
            <a:srgbClr val="E90802"/>
          </a:solidFill>
          <a:ln w="12700">
            <a:solidFill>
              <a:srgbClr val="E90802"/>
            </a:solidFill>
            <a:prstDash val="solid"/>
          </a:ln>
        </p:spPr>
      </p:sp>
      <p:sp>
        <p:nvSpPr>
          <p:cNvPr id="6" name="tk-n1"/>
          <p:cNvSpPr txBox="1"/>
          <p:nvPr/>
        </p:nvSpPr>
        <p:spPr>
          <a:xfrm>
            <a:off x="777240" y="15179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k-t1"/>
          <p:cNvSpPr txBox="1"/>
          <p:nvPr/>
        </p:nvSpPr>
        <p:spPr>
          <a:xfrm>
            <a:off x="1417320" y="138074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The whole VeriFact pipeline runs on a 4 GB consumer GPU with two 3B quantized models, free Wikipedia evidence and no API key.</a:t>
            </a:r>
            <a:endParaRPr lang="en-US" sz="1400" dirty="0"/>
          </a:p>
        </p:txBody>
      </p:sp>
      <p:sp>
        <p:nvSpPr>
          <p:cNvPr id="8" name="tk2"/>
          <p:cNvSpPr/>
          <p:nvPr/>
        </p:nvSpPr>
        <p:spPr>
          <a:xfrm>
            <a:off x="548640" y="2423160"/>
            <a:ext cx="11064240" cy="1024128"/>
          </a:xfrm>
          <a:prstGeom prst="roundRect">
            <a:avLst>
              <a:gd name="adj" fmla="val 5357"/>
            </a:avLst>
          </a:prstGeom>
          <a:solidFill>
            <a:srgbClr val="333333"/>
          </a:solidFill>
          <a:ln w="12700">
            <a:solidFill>
              <a:srgbClr val="333333"/>
            </a:solidFill>
            <a:prstDash val="solid"/>
          </a:ln>
        </p:spPr>
      </p:sp>
      <p:sp>
        <p:nvSpPr>
          <p:cNvPr id="9" name="tk-b2"/>
          <p:cNvSpPr/>
          <p:nvPr/>
        </p:nvSpPr>
        <p:spPr>
          <a:xfrm>
            <a:off x="777240" y="2706624"/>
            <a:ext cx="457200" cy="457200"/>
          </a:xfrm>
          <a:prstGeom prst="ellipse">
            <a:avLst/>
          </a:prstGeom>
          <a:solidFill>
            <a:srgbClr val="E90802"/>
          </a:solidFill>
          <a:ln w="12700">
            <a:solidFill>
              <a:srgbClr val="E90802"/>
            </a:solidFill>
            <a:prstDash val="solid"/>
          </a:ln>
        </p:spPr>
      </p:sp>
      <p:sp>
        <p:nvSpPr>
          <p:cNvPr id="10" name="tk-n2"/>
          <p:cNvSpPr txBox="1"/>
          <p:nvPr/>
        </p:nvSpPr>
        <p:spPr>
          <a:xfrm>
            <a:off x="777240" y="27066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k-t2"/>
          <p:cNvSpPr txBox="1"/>
          <p:nvPr/>
        </p:nvSpPr>
        <p:spPr>
          <a:xfrm>
            <a:off x="1417320" y="256946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Refinement changed the verdict on 39.3% of refined facts, against 24.9% in the paper. Factuality scores depend on whether claims keep their context.</a:t>
            </a:r>
            <a:endParaRPr lang="en-US" sz="1400" dirty="0"/>
          </a:p>
        </p:txBody>
      </p:sp>
      <p:sp>
        <p:nvSpPr>
          <p:cNvPr id="12" name="tk3"/>
          <p:cNvSpPr/>
          <p:nvPr/>
        </p:nvSpPr>
        <p:spPr>
          <a:xfrm>
            <a:off x="548640" y="3611880"/>
            <a:ext cx="11064240" cy="1024128"/>
          </a:xfrm>
          <a:prstGeom prst="roundRect">
            <a:avLst>
              <a:gd name="adj" fmla="val 5357"/>
            </a:avLst>
          </a:prstGeom>
          <a:solidFill>
            <a:srgbClr val="333333"/>
          </a:solidFill>
          <a:ln w="12700">
            <a:solidFill>
              <a:srgbClr val="333333"/>
            </a:solidFill>
            <a:prstDash val="solid"/>
          </a:ln>
        </p:spPr>
      </p:sp>
      <p:sp>
        <p:nvSpPr>
          <p:cNvPr id="13" name="tk-b3"/>
          <p:cNvSpPr/>
          <p:nvPr/>
        </p:nvSpPr>
        <p:spPr>
          <a:xfrm>
            <a:off x="777240" y="3895344"/>
            <a:ext cx="457200" cy="457200"/>
          </a:xfrm>
          <a:prstGeom prst="ellipse">
            <a:avLst/>
          </a:prstGeom>
          <a:solidFill>
            <a:srgbClr val="E90802"/>
          </a:solidFill>
          <a:ln w="12700">
            <a:solidFill>
              <a:srgbClr val="E90802"/>
            </a:solidFill>
            <a:prstDash val="solid"/>
          </a:ln>
        </p:spPr>
      </p:sp>
      <p:sp>
        <p:nvSpPr>
          <p:cNvPr id="14" name="tk-n3"/>
          <p:cNvSpPr txBox="1"/>
          <p:nvPr/>
        </p:nvSpPr>
        <p:spPr>
          <a:xfrm>
            <a:off x="777240" y="3895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k-t3"/>
          <p:cNvSpPr txBox="1"/>
          <p:nvPr/>
        </p:nvSpPr>
        <p:spPr>
          <a:xfrm>
            <a:off x="1417320" y="375818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Precision falls after refinement, 0.420 → 0.343 — the paper's own finding. Unrefined atomic facts overstate factuality.</a:t>
            </a:r>
            <a:endParaRPr lang="en-US" sz="1400" dirty="0"/>
          </a:p>
        </p:txBody>
      </p:sp>
      <p:sp>
        <p:nvSpPr>
          <p:cNvPr id="16" name="tk4"/>
          <p:cNvSpPr/>
          <p:nvPr/>
        </p:nvSpPr>
        <p:spPr>
          <a:xfrm>
            <a:off x="548640" y="4800600"/>
            <a:ext cx="11064240" cy="1024128"/>
          </a:xfrm>
          <a:prstGeom prst="roundRect">
            <a:avLst>
              <a:gd name="adj" fmla="val 5357"/>
            </a:avLst>
          </a:prstGeom>
          <a:solidFill>
            <a:srgbClr val="333333"/>
          </a:solidFill>
          <a:ln w="19050">
            <a:solidFill>
              <a:srgbClr val="E90802"/>
            </a:solidFill>
            <a:prstDash val="solid"/>
          </a:ln>
        </p:spPr>
      </p:sp>
      <p:sp>
        <p:nvSpPr>
          <p:cNvPr id="17" name="tk-b4"/>
          <p:cNvSpPr/>
          <p:nvPr/>
        </p:nvSpPr>
        <p:spPr>
          <a:xfrm>
            <a:off x="777240" y="5084064"/>
            <a:ext cx="457200" cy="457200"/>
          </a:xfrm>
          <a:prstGeom prst="ellipse">
            <a:avLst/>
          </a:prstGeom>
          <a:solidFill>
            <a:srgbClr val="E90802"/>
          </a:solidFill>
          <a:ln w="12700">
            <a:solidFill>
              <a:srgbClr val="E90802"/>
            </a:solidFill>
            <a:prstDash val="solid"/>
          </a:ln>
        </p:spPr>
      </p:sp>
      <p:sp>
        <p:nvSpPr>
          <p:cNvPr id="18" name="tk-n4"/>
          <p:cNvSpPr txBox="1"/>
          <p:nvPr/>
        </p:nvSpPr>
        <p:spPr>
          <a:xfrm>
            <a:off x="777240" y="50840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9" name="tk-t4"/>
          <p:cNvSpPr txBox="1"/>
          <p:nvPr/>
        </p:nvSpPr>
        <p:spPr>
          <a:xfrm>
            <a:off x="1417320" y="494690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With weak judges the union rule is dominated by the most permissive one. Majority vote cut the incomplete rate 60% for 0.013 precision.</a:t>
            </a:r>
            <a:endParaRPr lang="en-US" sz="1400" dirty="0"/>
          </a:p>
        </p:txBody>
      </p:sp>
      <p:sp>
        <p:nvSpPr>
          <p:cNvPr id="2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Repository: config-driven, cached, 59 tests  ·  run_baseline · run_verifact · run_ablation · compare · demo.py</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Full ranked list of proposed improvements</a:t>
            </a:r>
            <a:endParaRPr lang="en-US" sz="3000" dirty="0"/>
          </a:p>
        </p:txBody>
      </p:sp>
      <p:sp>
        <p:nvSpPr>
          <p:cNvPr id="4" name="a-meas"/>
          <p:cNvSpPr/>
          <p:nvPr/>
        </p:nvSpPr>
        <p:spPr>
          <a:xfrm>
            <a:off x="548640" y="1188720"/>
            <a:ext cx="5486400" cy="4480560"/>
          </a:xfrm>
          <a:prstGeom prst="roundRect">
            <a:avLst>
              <a:gd name="adj" fmla="val 1224"/>
            </a:avLst>
          </a:prstGeom>
          <a:solidFill>
            <a:srgbClr val="FFFFFF"/>
          </a:solidFill>
          <a:ln w="12700">
            <a:solidFill>
              <a:srgbClr val="EDEDED"/>
            </a:solidFill>
            <a:prstDash val="solid"/>
          </a:ln>
        </p:spPr>
      </p:sp>
      <p:sp>
        <p:nvSpPr>
          <p:cNvPr id="5" name="a-meas-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Measurement quality</a:t>
            </a:r>
            <a:endParaRPr lang="en-US" sz="1500" dirty="0"/>
          </a:p>
        </p:txBody>
      </p:sp>
      <p:sp>
        <p:nvSpPr>
          <p:cNvPr id="6" name="a-meas-l"/>
          <p:cNvSpPr txBox="1"/>
          <p:nvPr/>
        </p:nvSpPr>
        <p:spPr>
          <a:xfrm>
            <a:off x="786384" y="1737360"/>
            <a:ext cx="50292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Stronger local judge — Qwen3, Llama 3.x, Gemma, Mistral</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7B–14B at Q4/Q5 instead of 3B</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Third judge plus self-consistency; union vs majority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Verification ensemble — LLM verdict plus an NLI model</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Evidence-aware verification — name the span, then judge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Semantic reference matching — embeddings plus entailment</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Better reference sets — several answers, human verification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Calibration of the three label thresholds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Semantic missing-span matching for paraphrases</a:t>
            </a:r>
            <a:endParaRPr lang="en-US" sz="1300" dirty="0"/>
          </a:p>
        </p:txBody>
      </p:sp>
      <p:sp>
        <p:nvSpPr>
          <p:cNvPr id="7" name="a-econ"/>
          <p:cNvSpPr/>
          <p:nvPr/>
        </p:nvSpPr>
        <p:spPr>
          <a:xfrm>
            <a:off x="6355080" y="1188720"/>
            <a:ext cx="5257800" cy="4480560"/>
          </a:xfrm>
          <a:prstGeom prst="roundRect">
            <a:avLst>
              <a:gd name="adj" fmla="val 1224"/>
            </a:avLst>
          </a:prstGeom>
          <a:solidFill>
            <a:srgbClr val="FFFFFF"/>
          </a:solidFill>
          <a:ln w="12700">
            <a:solidFill>
              <a:srgbClr val="EDEDED"/>
            </a:solidFill>
            <a:prstDash val="solid"/>
          </a:ln>
        </p:spPr>
      </p:sp>
      <p:sp>
        <p:nvSpPr>
          <p:cNvPr id="8" name="a-econ-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Retrieval, cost and coverage</a:t>
            </a:r>
            <a:endParaRPr lang="en-US" sz="1500" dirty="0"/>
          </a:p>
        </p:txBody>
      </p:sp>
      <p:sp>
        <p:nvSpPr>
          <p:cNvPr id="9" name="a-econ-l"/>
          <p:cNvSpPr txBox="1"/>
          <p:nvPr/>
        </p:nvSpPr>
        <p:spPr>
          <a:xfrm>
            <a:off x="6592824" y="1737360"/>
            <a:ext cx="48006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Query expansion, dense embeddings, cross-encoder reranking</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Iterative refinement, maximum two passes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Hybrid rule + LLM relation detection (implemented, off)</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Adaptive evidence count, driven by uncertainty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Query diversification — keyword, entity, paraphrase, relation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Knowledge-source diversification, routed by claim type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Claim difficulty routing — small model, then large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Fine-tuned detector; distillation from a large open teacher</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The remaining baselines: FactScore, FactCheck-GPT, VERIFY</a:t>
            </a:r>
            <a:endParaRPr lang="en-US" sz="1300" dirty="0"/>
          </a:p>
        </p:txBody>
      </p:sp>
      <p:sp>
        <p:nvSpPr>
          <p:cNvPr id="1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Proposed directions with expected metric effects; none has been run in this reimplementation.</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Implementation detail and known hazards</a:t>
            </a:r>
            <a:endParaRPr lang="en-US" sz="3000" dirty="0"/>
          </a:p>
        </p:txBody>
      </p:sp>
      <p:sp>
        <p:nvSpPr>
          <p:cNvPr id="4" name="ap0"/>
          <p:cNvSpPr/>
          <p:nvPr/>
        </p:nvSpPr>
        <p:spPr>
          <a:xfrm>
            <a:off x="548640" y="1188720"/>
            <a:ext cx="3547872" cy="2103120"/>
          </a:xfrm>
          <a:prstGeom prst="roundRect">
            <a:avLst>
              <a:gd name="adj" fmla="val 2609"/>
            </a:avLst>
          </a:prstGeom>
          <a:solidFill>
            <a:srgbClr val="FFFFFF"/>
          </a:solidFill>
          <a:ln w="12700">
            <a:solidFill>
              <a:srgbClr val="EDEDED"/>
            </a:solidFill>
            <a:prstDash val="solid"/>
          </a:ln>
        </p:spPr>
      </p:sp>
      <p:sp>
        <p:nvSpPr>
          <p:cNvPr id="5" name="ap0-h"/>
          <p:cNvSpPr txBox="1"/>
          <p:nvPr/>
        </p:nvSpPr>
        <p:spPr>
          <a:xfrm>
            <a:off x="786384" y="138988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Incompleteness subtypes</a:t>
            </a:r>
            <a:endParaRPr lang="en-US" sz="1400" dirty="0"/>
          </a:p>
        </p:txBody>
      </p:sp>
      <p:sp>
        <p:nvSpPr>
          <p:cNvPr id="6" name="ap0-b"/>
          <p:cNvSpPr txBox="1"/>
          <p:nvPr/>
        </p:nvSpPr>
        <p:spPr>
          <a:xfrm>
            <a:off x="786384"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ambiguous_concept_or_pronoun · missing_comparison · omitted_condition_or_source · other. Detection and refinement are separate stages; the refiner receives the subtype and the judge's reason.</a:t>
            </a:r>
            <a:endParaRPr lang="en-US" sz="1200" dirty="0"/>
          </a:p>
        </p:txBody>
      </p:sp>
      <p:sp>
        <p:nvSpPr>
          <p:cNvPr id="7" name="ap1"/>
          <p:cNvSpPr/>
          <p:nvPr/>
        </p:nvSpPr>
        <p:spPr>
          <a:xfrm>
            <a:off x="4279392" y="1188720"/>
            <a:ext cx="3547872" cy="2103120"/>
          </a:xfrm>
          <a:prstGeom prst="roundRect">
            <a:avLst>
              <a:gd name="adj" fmla="val 2609"/>
            </a:avLst>
          </a:prstGeom>
          <a:solidFill>
            <a:srgbClr val="FFFFFF"/>
          </a:solidFill>
          <a:ln w="12700">
            <a:solidFill>
              <a:srgbClr val="EDEDED"/>
            </a:solidFill>
            <a:prstDash val="solid"/>
          </a:ln>
        </p:spPr>
      </p:sp>
      <p:sp>
        <p:nvSpPr>
          <p:cNvPr id="8" name="ap1-h"/>
          <p:cNvSpPr txBox="1"/>
          <p:nvPr/>
        </p:nvSpPr>
        <p:spPr>
          <a:xfrm>
            <a:off x="4517136" y="138988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Relations</a:t>
            </a:r>
            <a:endParaRPr lang="en-US" sz="1400" dirty="0"/>
          </a:p>
        </p:txBody>
      </p:sp>
      <p:sp>
        <p:nvSpPr>
          <p:cNvPr id="9" name="ap1-b"/>
          <p:cNvSpPr txBox="1"/>
          <p:nvPr/>
        </p:nvSpPr>
        <p:spPr>
          <a:xfrm>
            <a:off x="4517136"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PDTB level-1, restricted to temporal and contingency. Two-stage check: does the span express a relation, and does any single existing fact already capture it?</a:t>
            </a:r>
            <a:endParaRPr lang="en-US" sz="1200" dirty="0"/>
          </a:p>
        </p:txBody>
      </p:sp>
      <p:sp>
        <p:nvSpPr>
          <p:cNvPr id="10" name="ap2"/>
          <p:cNvSpPr/>
          <p:nvPr/>
        </p:nvSpPr>
        <p:spPr>
          <a:xfrm>
            <a:off x="8010144" y="1188720"/>
            <a:ext cx="3547872" cy="2103120"/>
          </a:xfrm>
          <a:prstGeom prst="roundRect">
            <a:avLst>
              <a:gd name="adj" fmla="val 2609"/>
            </a:avLst>
          </a:prstGeom>
          <a:solidFill>
            <a:srgbClr val="FFFFFF"/>
          </a:solidFill>
          <a:ln w="12700">
            <a:solidFill>
              <a:srgbClr val="EDEDED"/>
            </a:solidFill>
            <a:prstDash val="solid"/>
          </a:ln>
        </p:spPr>
      </p:sp>
      <p:sp>
        <p:nvSpPr>
          <p:cNvPr id="11" name="ap2-h"/>
          <p:cNvSpPr txBox="1"/>
          <p:nvPr/>
        </p:nvSpPr>
        <p:spPr>
          <a:xfrm>
            <a:off x="8247888" y="138988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Reproducibility</a:t>
            </a:r>
            <a:endParaRPr lang="en-US" sz="1400" dirty="0"/>
          </a:p>
        </p:txBody>
      </p:sp>
      <p:sp>
        <p:nvSpPr>
          <p:cNvPr id="12" name="ap2-b"/>
          <p:cNvSpPr txBox="1"/>
          <p:nvPr/>
        </p:nvSpPr>
        <p:spPr>
          <a:xfrm>
            <a:off x="8247888"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Every LLM call cached under hash(model + prompt + parameters); every Wikipedia page cached on disk. offline_only replays a whole run with no network.</a:t>
            </a:r>
            <a:endParaRPr lang="en-US" sz="1200" dirty="0"/>
          </a:p>
        </p:txBody>
      </p:sp>
      <p:sp>
        <p:nvSpPr>
          <p:cNvPr id="13" name="haz0"/>
          <p:cNvSpPr/>
          <p:nvPr/>
        </p:nvSpPr>
        <p:spPr>
          <a:xfrm>
            <a:off x="548640" y="3520440"/>
            <a:ext cx="5468112" cy="2194560"/>
          </a:xfrm>
          <a:prstGeom prst="roundRect">
            <a:avLst>
              <a:gd name="adj" fmla="val 2500"/>
            </a:avLst>
          </a:prstGeom>
          <a:solidFill>
            <a:srgbClr val="000000"/>
          </a:solidFill>
          <a:ln w="12700">
            <a:solidFill>
              <a:srgbClr val="000000"/>
            </a:solidFill>
            <a:prstDash val="solid"/>
          </a:ln>
        </p:spPr>
      </p:sp>
      <p:sp>
        <p:nvSpPr>
          <p:cNvPr id="14" name="haz0-h"/>
          <p:cNvSpPr txBox="1"/>
          <p:nvPr/>
        </p:nvSpPr>
        <p:spPr>
          <a:xfrm>
            <a:off x="786384" y="3721608"/>
            <a:ext cx="4992624" cy="310896"/>
          </a:xfrm>
          <a:prstGeom prst="rect">
            <a:avLst/>
          </a:prstGeom>
          <a:noFill/>
          <a:ln/>
        </p:spPr>
        <p:txBody>
          <a:bodyPr wrap="square" lIns="0" tIns="0" rIns="0" bIns="0" rtlCol="0" anchor="ctr"/>
          <a:lstStyle/>
          <a:p>
            <a:pPr indent="0" marL="0">
              <a:buNone/>
            </a:pPr>
            <a:r>
              <a:rPr lang="en-US" sz="1400" b="1" dirty="0">
                <a:solidFill>
                  <a:srgbClr val="E90802"/>
                </a:solidFill>
              </a:rPr>
              <a:t>GPU hazard</a:t>
            </a:r>
            <a:endParaRPr lang="en-US" sz="1400" dirty="0"/>
          </a:p>
        </p:txBody>
      </p:sp>
      <p:sp>
        <p:nvSpPr>
          <p:cNvPr id="15" name="haz0-b"/>
          <p:cNvSpPr txBox="1"/>
          <p:nvPr/>
        </p:nvSpPr>
        <p:spPr>
          <a:xfrm>
            <a:off x="786384" y="4105656"/>
            <a:ext cx="4992624" cy="14264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Two 3B Q4_K_M judges do not fit in 4 GB. The pipeline drives one judge at a time over the whole fact list, then releases its weights — otherwise the backend waits for the resident model's keep-alive and every call pays a ~20 s model load.</a:t>
            </a:r>
            <a:endParaRPr lang="en-US" sz="1200" dirty="0"/>
          </a:p>
        </p:txBody>
      </p:sp>
      <p:sp>
        <p:nvSpPr>
          <p:cNvPr id="16" name="haz1"/>
          <p:cNvSpPr/>
          <p:nvPr/>
        </p:nvSpPr>
        <p:spPr>
          <a:xfrm>
            <a:off x="6199632" y="3520440"/>
            <a:ext cx="5468112" cy="2194560"/>
          </a:xfrm>
          <a:prstGeom prst="roundRect">
            <a:avLst>
              <a:gd name="adj" fmla="val 2500"/>
            </a:avLst>
          </a:prstGeom>
          <a:solidFill>
            <a:srgbClr val="000000"/>
          </a:solidFill>
          <a:ln w="12700">
            <a:solidFill>
              <a:srgbClr val="000000"/>
            </a:solidFill>
            <a:prstDash val="solid"/>
          </a:ln>
        </p:spPr>
      </p:sp>
      <p:sp>
        <p:nvSpPr>
          <p:cNvPr id="17" name="haz1-h"/>
          <p:cNvSpPr txBox="1"/>
          <p:nvPr/>
        </p:nvSpPr>
        <p:spPr>
          <a:xfrm>
            <a:off x="6437376" y="3721608"/>
            <a:ext cx="4992624" cy="310896"/>
          </a:xfrm>
          <a:prstGeom prst="rect">
            <a:avLst/>
          </a:prstGeom>
          <a:noFill/>
          <a:ln/>
        </p:spPr>
        <p:txBody>
          <a:bodyPr wrap="square" lIns="0" tIns="0" rIns="0" bIns="0" rtlCol="0" anchor="ctr"/>
          <a:lstStyle/>
          <a:p>
            <a:pPr indent="0" marL="0">
              <a:buNone/>
            </a:pPr>
            <a:r>
              <a:rPr lang="en-US" sz="1400" b="1" dirty="0">
                <a:solidFill>
                  <a:srgbClr val="E90802"/>
                </a:solidFill>
              </a:rPr>
              <a:t>Retrieval hazard</a:t>
            </a:r>
            <a:endParaRPr lang="en-US" sz="1400" dirty="0"/>
          </a:p>
        </p:txBody>
      </p:sp>
      <p:sp>
        <p:nvSpPr>
          <p:cNvPr id="18" name="haz1-b"/>
          <p:cNvSpPr txBox="1"/>
          <p:nvPr/>
        </p:nvSpPr>
        <p:spPr>
          <a:xfrm>
            <a:off x="6437376" y="4105656"/>
            <a:ext cx="4992624" cy="14264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Wikipedia rate-limits unauthenticated clients. Failed requests are not cached, so without retries a 429 silently becomes “no evidence” and two runs of the same pipeline disagree. Fixed with retries, backoff and Retry-After.</a:t>
            </a:r>
            <a:endParaRPr lang="en-US" sz="1200" dirty="0"/>
          </a:p>
        </p:txBody>
      </p:sp>
      <p:sp>
        <p:nvSpPr>
          <p:cNvPr id="1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Both hazards cost real time during this project and are documented in the README.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Texas Tech">
  <a:themeElements>
    <a:clrScheme name="Texas Tech">
      <a:dk1>
        <a:srgbClr val="000000"/>
      </a:dk1>
      <a:lt1>
        <a:srgbClr val="FFFFFF"/>
      </a:lt1>
      <a:dk2>
        <a:srgbClr val="333333"/>
      </a:dk2>
      <a:lt2>
        <a:srgbClr val="EDEDED"/>
      </a:lt2>
      <a:accent1>
        <a:srgbClr val="E90802"/>
      </a:accent1>
      <a:accent2>
        <a:srgbClr val="757575"/>
      </a:accent2>
      <a:accent3>
        <a:srgbClr val="333333"/>
      </a:accent3>
      <a:accent4>
        <a:srgbClr val="EDEDED"/>
      </a:accent4>
      <a:accent5>
        <a:srgbClr val="000000"/>
      </a:accent5>
      <a:accent6>
        <a:srgbClr val="E90802"/>
      </a:accent6>
      <a:hlink>
        <a:srgbClr val="E90802"/>
      </a:hlink>
      <a:folHlink>
        <a:srgbClr val="757575"/>
      </a:folHlink>
    </a:clrScheme>
    <a:fontScheme name="Texas Tech">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2026-10-07T17:30:26Z</dcterms:created>
  <dcterms:modified xsi:type="dcterms:W3CDTF">2026-10-07T17:30:26Z</dcterms:modified>
</cp:coreProperties>
</file>