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edc5321d-7450-763c-df96-5c9ca1652660}">
          <p14:sldIdLst>
            <p14:sldId id="256"/>
            <p14:sldId id="257"/>
            <p14:sldId id="258"/>
          </p14:sldIdLst>
        </p14:section>
        <p14:section name="Methodology" id="{23e80322-b925-007b-f68c-fa173919172a}">
          <p14:sldIdLst>
            <p14:sldId id="259"/>
            <p14:sldId id="260"/>
            <p14:sldId id="261"/>
            <p14:sldId id="262"/>
            <p14:sldId id="263"/>
            <p14:sldId id="264"/>
            <p14:sldId id="265"/>
          </p14:sldIdLst>
        </p14:section>
        <p14:section name="Results" id="{fbee8d77-e00f-a1e2-b4a8-0557f31a5bab}">
          <p14:sldIdLst>
            <p14:sldId id="266"/>
            <p14:sldId id="267"/>
            <p14:sldId id="268"/>
            <p14:sldId id="269"/>
            <p14:sldId id="270"/>
            <p14:sldId id="271"/>
          </p14:sldIdLst>
        </p14:section>
        <p14:section name="Comparison" id="{0f7d55f2-5b71-a76a-c7d7-5e166e08268b}">
          <p14:sldIdLst>
            <p14:sldId id="272"/>
            <p14:sldId id="273"/>
            <p14:sldId id="274"/>
          </p14:sldIdLst>
        </p14:section>
        <p14:section name="Future work" id="{06114756-f360-027d-c5bb-29e7df653f0d}">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757575"/>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Incomplete fact rate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Baseline</c:v>
                  </c:pt>
                  <c:pt idx="1">
                    <c:v>Union</c:v>
                  </c:pt>
                  <c:pt idx="2">
                    <c:v>Majority</c:v>
                  </c:pt>
                </c:lvl>
              </c:multiLvlStrCache>
            </c:multiLvlStrRef>
          </c:cat>
          <c:val>
            <c:numRef>
              <c:f>Sheet1!$B$2:$B$4</c:f>
              <c:numCache>
                <c:formatCode>General</c:formatCode>
                <c:ptCount val="3"/>
                <c:pt idx="0">
                  <c:v>0.105</c:v>
                </c:pt>
                <c:pt idx="1">
                  <c:v>0.091</c:v>
                </c:pt>
                <c:pt idx="2">
                  <c:v>0.042</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12"/>
          <c:min val="0"/>
        </c:scaling>
        <c:delete val="0"/>
        <c:axPos val="b"/>
        <c:majorGridlines>
          <c:spPr>
            <a:ln w="12700" cap="flat">
              <a:solidFill>
                <a:srgbClr val="EDEDE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framing: we rebuilt the paper's mechanism on hardware that costs nothing to run, and measured it honestly against its own baseline. We did not reproduce the paper's numbers and never claim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contributions. We rebuild the first. The second needs 1,096 prompts annotated by four frontier models plus curated human answers, which is out of reach at zero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example is the paper's whole thesis. Verifying the stripped claim gives a meaningless verdict, because it is not what the answer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in the paper, and how each was rebuilt locally.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question: the twelve models in the paper's Table 3 are systems under evaluation. We reimplement the judges, not that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nothing here claims the paper's numbers. It claims the mechanism was rebuilt and measured against its own baseline under identical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facts were written from authoritative sources and deliberately not derived from the answer under evaluation, which would inflate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methodological point. If baseline and VeriFact saw different answers, any precision difference would be meaningless.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Offsets matter: normalization must not shift indices, or every reported span would point at the wrong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is defined on the answer, not the fact set. That is why it cannot move between variants — state this before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measured by the repository on the 12-question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honestly: the mechanism does what the paper says to the fact set, and measured precision goes down. The next two slides explain why that is the expected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raising the incomplete rate is worth explaining: added relational facts are measured too, and a 3B model writing a relation sentence often produces something the judge then calls 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worth defending, and it is ours rather than the paper's. With two weak judges a majority rule recovers most of the benefit at a fraction of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justifies the paper. A quarter to two fifths of verdicts are decided by whether the claim kept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Showing a failure is deliberate. The refiner has no guard against changing meaning, which is exactly why a stronger model is improvement number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our numbers line up against the paper's, and what they cannot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we reproduced the paper: the mechanism and the qualitative conclusions yes, the numbers no, and the deck says so in three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Owning the 0.92 mistake openly is stronger than hiding it: it shows the evaluation harness was itself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honesty caveat out loud. The ranking is reasoned from where our measured losses actually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this slide. It exists so the question “what else would you do” has a written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point 4: it is the one result that is ours rather than the paper's, it is measured, and it points directly at the first item of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E9080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685800" y="1371600"/>
            <a:ext cx="10789920" cy="310896"/>
          </a:xfrm>
          <a:prstGeom prst="rect">
            <a:avLst/>
          </a:prstGeom>
          <a:noFill/>
          <a:ln/>
        </p:spPr>
        <p:txBody>
          <a:bodyPr wrap="square" lIns="0" tIns="0" rIns="0" bIns="0" rtlCol="0" anchor="ctr"/>
          <a:lstStyle/>
          <a:p>
            <a:pPr indent="0" marL="0">
              <a:buNone/>
            </a:pPr>
            <a:r>
              <a:rPr lang="en-US" sz="1300" b="1" spc="200" kern="0" dirty="0">
                <a:solidFill>
                  <a:srgbClr val="E90802"/>
                </a:solidFill>
                <a:latin typeface="Arial" pitchFamily="34" charset="0"/>
                <a:ea typeface="Arial" pitchFamily="34" charset="-122"/>
                <a:cs typeface="Arial" pitchFamily="34" charset="-120"/>
              </a:rPr>
              <a:t>PAPER REIMPLEMENTATION</a:t>
            </a:r>
            <a:endParaRPr lang="en-US" sz="1300" dirty="0"/>
          </a:p>
        </p:txBody>
      </p:sp>
      <p:sp>
        <p:nvSpPr>
          <p:cNvPr id="3" name="cover-title"/>
          <p:cNvSpPr txBox="1"/>
          <p:nvPr/>
        </p:nvSpPr>
        <p:spPr>
          <a:xfrm>
            <a:off x="685800" y="1783080"/>
            <a:ext cx="10789920" cy="1234440"/>
          </a:xfrm>
          <a:prstGeom prst="rect">
            <a:avLst/>
          </a:prstGeom>
          <a:noFill/>
          <a:ln/>
        </p:spPr>
        <p:txBody>
          <a:bodyPr wrap="square" lIns="0" tIns="0" rIns="0" bIns="0" rtlCol="0" anchor="ctr"/>
          <a:lstStyle/>
          <a:p>
            <a:pPr indent="0" marL="0">
              <a:buNone/>
            </a:pPr>
            <a:r>
              <a:rPr lang="en-US" sz="5400" b="1" dirty="0">
                <a:solidFill>
                  <a:srgbClr val="FFFFFF"/>
                </a:solidFill>
              </a:rPr>
              <a:t>VERIFACT-Lite</a:t>
            </a:r>
            <a:endParaRPr lang="en-US" sz="5400" dirty="0"/>
          </a:p>
        </p:txBody>
      </p:sp>
      <p:sp>
        <p:nvSpPr>
          <p:cNvPr id="4" name="cover-body"/>
          <p:cNvSpPr txBox="1"/>
          <p:nvPr/>
        </p:nvSpPr>
        <p:spPr>
          <a:xfrm>
            <a:off x="685800" y="3154680"/>
            <a:ext cx="9052560" cy="1188720"/>
          </a:xfrm>
          <a:prstGeom prst="rect">
            <a:avLst/>
          </a:prstGeom>
          <a:noFill/>
          <a:ln/>
        </p:spPr>
        <p:txBody>
          <a:bodyPr wrap="square" lIns="0" tIns="0" rIns="0" bIns="0" rtlCol="0" anchor="ctr"/>
          <a:lstStyle/>
          <a:p>
            <a:pPr indent="0" marL="0">
              <a:lnSpc>
                <a:spcPct val="130000"/>
              </a:lnSpc>
              <a:buNone/>
            </a:pPr>
            <a:r>
              <a:rPr lang="en-US" sz="1700" dirty="0">
                <a:solidFill>
                  <a:srgbClr val="EDEDED"/>
                </a:solidFill>
                <a:latin typeface="Arial" pitchFamily="34" charset="0"/>
                <a:ea typeface="Arial" pitchFamily="34" charset="-122"/>
                <a:cs typeface="Arial" pitchFamily="34" charset="-120"/>
              </a:rPr>
              <a:t>A resource-constrained reimplementation of the core VeriFact methodology using open-source, locally hosted models</a:t>
            </a:r>
            <a:endParaRPr lang="en-US" sz="1700" dirty="0"/>
          </a:p>
        </p:txBody>
      </p:sp>
      <p:sp>
        <p:nvSpPr>
          <p:cNvPr id="5" name="chip0"/>
          <p:cNvSpPr/>
          <p:nvPr/>
        </p:nvSpPr>
        <p:spPr>
          <a:xfrm>
            <a:off x="685800" y="4800600"/>
            <a:ext cx="2857500" cy="420624"/>
          </a:xfrm>
          <a:prstGeom prst="roundRect">
            <a:avLst>
              <a:gd name="adj" fmla="val 50000"/>
            </a:avLst>
          </a:prstGeom>
          <a:solidFill>
            <a:srgbClr val="333333"/>
          </a:solidFill>
          <a:ln w="12700">
            <a:solidFill>
              <a:srgbClr val="333333"/>
            </a:solidFill>
            <a:prstDash val="solid"/>
          </a:ln>
        </p:spPr>
      </p:sp>
      <p:sp>
        <p:nvSpPr>
          <p:cNvPr id="6" name="chip-t0"/>
          <p:cNvSpPr txBox="1"/>
          <p:nvPr/>
        </p:nvSpPr>
        <p:spPr>
          <a:xfrm>
            <a:off x="685800" y="4800600"/>
            <a:ext cx="28575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Qwen2.5-3B + Llama-3.2-3B</a:t>
            </a:r>
            <a:endParaRPr lang="en-US" sz="1200" dirty="0"/>
          </a:p>
        </p:txBody>
      </p:sp>
      <p:sp>
        <p:nvSpPr>
          <p:cNvPr id="7" name="chip1"/>
          <p:cNvSpPr/>
          <p:nvPr/>
        </p:nvSpPr>
        <p:spPr>
          <a:xfrm>
            <a:off x="3611880" y="4800600"/>
            <a:ext cx="2569464" cy="420624"/>
          </a:xfrm>
          <a:prstGeom prst="roundRect">
            <a:avLst>
              <a:gd name="adj" fmla="val 50000"/>
            </a:avLst>
          </a:prstGeom>
          <a:solidFill>
            <a:srgbClr val="333333"/>
          </a:solidFill>
          <a:ln w="12700">
            <a:solidFill>
              <a:srgbClr val="333333"/>
            </a:solidFill>
            <a:prstDash val="solid"/>
          </a:ln>
        </p:spPr>
      </p:sp>
      <p:sp>
        <p:nvSpPr>
          <p:cNvPr id="8" name="chip-t1"/>
          <p:cNvSpPr txBox="1"/>
          <p:nvPr/>
        </p:nvSpPr>
        <p:spPr>
          <a:xfrm>
            <a:off x="3611880" y="4800600"/>
            <a:ext cx="256946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Q4_K_M on one 4 GB GPU</a:t>
            </a:r>
            <a:endParaRPr lang="en-US" sz="1200" dirty="0"/>
          </a:p>
        </p:txBody>
      </p:sp>
      <p:sp>
        <p:nvSpPr>
          <p:cNvPr id="9" name="chip2"/>
          <p:cNvSpPr/>
          <p:nvPr/>
        </p:nvSpPr>
        <p:spPr>
          <a:xfrm>
            <a:off x="6172200" y="4800600"/>
            <a:ext cx="2185416" cy="420624"/>
          </a:xfrm>
          <a:prstGeom prst="roundRect">
            <a:avLst>
              <a:gd name="adj" fmla="val 50000"/>
            </a:avLst>
          </a:prstGeom>
          <a:solidFill>
            <a:srgbClr val="333333"/>
          </a:solidFill>
          <a:ln w="12700">
            <a:solidFill>
              <a:srgbClr val="333333"/>
            </a:solidFill>
            <a:prstDash val="solid"/>
          </a:ln>
        </p:spPr>
      </p:sp>
      <p:sp>
        <p:nvSpPr>
          <p:cNvPr id="10" name="chip-t2"/>
          <p:cNvSpPr txBox="1"/>
          <p:nvPr/>
        </p:nvSpPr>
        <p:spPr>
          <a:xfrm>
            <a:off x="6172200" y="4800600"/>
            <a:ext cx="218541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Wikipedia evidence</a:t>
            </a:r>
            <a:endParaRPr lang="en-US" sz="1200" dirty="0"/>
          </a:p>
        </p:txBody>
      </p:sp>
      <p:sp>
        <p:nvSpPr>
          <p:cNvPr id="11" name="chip3"/>
          <p:cNvSpPr/>
          <p:nvPr/>
        </p:nvSpPr>
        <p:spPr>
          <a:xfrm>
            <a:off x="8321040" y="4800600"/>
            <a:ext cx="1705356" cy="420624"/>
          </a:xfrm>
          <a:prstGeom prst="roundRect">
            <a:avLst>
              <a:gd name="adj" fmla="val 50000"/>
            </a:avLst>
          </a:prstGeom>
          <a:solidFill>
            <a:srgbClr val="E90802"/>
          </a:solidFill>
          <a:ln w="12700">
            <a:solidFill>
              <a:srgbClr val="E90802"/>
            </a:solidFill>
            <a:prstDash val="solid"/>
          </a:ln>
        </p:spPr>
      </p:sp>
      <p:sp>
        <p:nvSpPr>
          <p:cNvPr id="12" name="chip-t3"/>
          <p:cNvSpPr txBox="1"/>
          <p:nvPr/>
        </p:nvSpPr>
        <p:spPr>
          <a:xfrm>
            <a:off x="8321040" y="4800600"/>
            <a:ext cx="170535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 total cost</a:t>
            </a:r>
            <a:endParaRPr lang="en-US" sz="1200" dirty="0"/>
          </a:p>
        </p:txBody>
      </p:sp>
      <p:sp>
        <p:nvSpPr>
          <p:cNvPr id="13" name="cover-foot"/>
          <p:cNvSpPr txBox="1"/>
          <p:nvPr/>
        </p:nvSpPr>
        <p:spPr>
          <a:xfrm>
            <a:off x="685800" y="5897880"/>
            <a:ext cx="10789920" cy="274320"/>
          </a:xfrm>
          <a:prstGeom prst="rect">
            <a:avLst/>
          </a:prstGeom>
          <a:noFill/>
          <a:ln/>
        </p:spPr>
        <p:txBody>
          <a:bodyPr wrap="square" lIns="0" tIns="0" rIns="0" bIns="0" rtlCol="0" anchor="ctr"/>
          <a:lstStyle/>
          <a:p>
            <a:pPr indent="0" marL="0">
              <a:buNone/>
            </a:pPr>
            <a:r>
              <a:rPr lang="en-US" sz="1100" dirty="0">
                <a:solidFill>
                  <a:srgbClr val="757575"/>
                </a:solidFill>
                <a:latin typeface="Arial" pitchFamily="34" charset="0"/>
                <a:ea typeface="Arial" pitchFamily="34" charset="-122"/>
                <a:cs typeface="Arial" pitchFamily="34" charset="-120"/>
              </a:rPr>
              <a:t>Liu, Zhang, Munir, Gu &amp; Wang — EMNLP 2025  ·  Not a reproduction of the paper's reported results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SOURCE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VeriFact, EMNLP 2025</a:t>
            </a:r>
            <a:endParaRPr lang="en-US" sz="3000" dirty="0"/>
          </a:p>
        </p:txBody>
      </p:sp>
      <p:sp>
        <p:nvSpPr>
          <p:cNvPr id="4" name="c1"/>
          <p:cNvSpPr/>
          <p:nvPr/>
        </p:nvSpPr>
        <p:spPr>
          <a:xfrm>
            <a:off x="548640" y="1234440"/>
            <a:ext cx="5486400" cy="1920240"/>
          </a:xfrm>
          <a:prstGeom prst="roundRect">
            <a:avLst>
              <a:gd name="adj" fmla="val 2857"/>
            </a:avLst>
          </a:prstGeom>
          <a:solidFill>
            <a:srgbClr val="FFFFFF"/>
          </a:solidFill>
          <a:ln w="12700">
            <a:solidFill>
              <a:srgbClr val="EDEDED"/>
            </a:solidFill>
            <a:prstDash val="solid"/>
          </a:ln>
        </p:spPr>
      </p:sp>
      <p:sp>
        <p:nvSpPr>
          <p:cNvPr id="5" name="c1-badge"/>
          <p:cNvSpPr/>
          <p:nvPr/>
        </p:nvSpPr>
        <p:spPr>
          <a:xfrm>
            <a:off x="786384" y="1435608"/>
            <a:ext cx="420624" cy="420624"/>
          </a:xfrm>
          <a:prstGeom prst="ellipse">
            <a:avLst/>
          </a:prstGeom>
          <a:solidFill>
            <a:srgbClr val="E90802"/>
          </a:solidFill>
          <a:ln w="12700">
            <a:solidFill>
              <a:srgbClr val="E90802"/>
            </a:solidFill>
            <a:prstDash val="solid"/>
          </a:ln>
        </p:spPr>
      </p:sp>
      <p:sp>
        <p:nvSpPr>
          <p:cNvPr id="6" name="c1-badge-text"/>
          <p:cNvSpPr txBox="1"/>
          <p:nvPr/>
        </p:nvSpPr>
        <p:spPr>
          <a:xfrm>
            <a:off x="786384" y="14356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c1-h"/>
          <p:cNvSpPr txBox="1"/>
          <p:nvPr/>
        </p:nvSpPr>
        <p:spPr>
          <a:xfrm>
            <a:off x="786384" y="2002536"/>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A fact-extraction repair stage</a:t>
            </a:r>
            <a:endParaRPr lang="en-US" sz="1500" dirty="0"/>
          </a:p>
        </p:txBody>
      </p:sp>
      <p:sp>
        <p:nvSpPr>
          <p:cNvPr id="8" name="c1-b"/>
          <p:cNvSpPr txBox="1"/>
          <p:nvPr/>
        </p:nvSpPr>
        <p:spPr>
          <a:xfrm>
            <a:off x="786384" y="2386584"/>
            <a:ext cx="5010912" cy="585216"/>
          </a:xfrm>
          <a:prstGeom prst="rect">
            <a:avLst/>
          </a:prstGeom>
          <a:noFill/>
          <a:ln/>
        </p:spPr>
        <p:txBody>
          <a:bodyPr wrap="square" lIns="0" tIns="0" rIns="0" bIns="0" rtlCol="0" anchor="t"/>
          <a:lstStyle/>
          <a:p>
            <a:pPr indent="0" marL="0">
              <a:lnSpc>
                <a:spcPct val="120000"/>
              </a:lnSpc>
              <a:buNone/>
            </a:pPr>
            <a:r>
              <a:rPr lang="en-US" sz="1300" dirty="0">
                <a:solidFill>
                  <a:srgbClr val="333333"/>
                </a:solidFill>
                <a:latin typeface="Arial" pitchFamily="34" charset="0"/>
                <a:ea typeface="Arial" pitchFamily="34" charset="-122"/>
                <a:cs typeface="Arial" pitchFamily="34" charset="-120"/>
              </a:rPr>
              <a:t>Detects incomplete facts and missing relational facts inside an existing decompose-decontextualize-verify pipeline, then refines them before verification.</a:t>
            </a:r>
            <a:endParaRPr lang="en-US" sz="1300" dirty="0"/>
          </a:p>
        </p:txBody>
      </p:sp>
      <p:sp>
        <p:nvSpPr>
          <p:cNvPr id="9" name="c2"/>
          <p:cNvSpPr/>
          <p:nvPr/>
        </p:nvSpPr>
        <p:spPr>
          <a:xfrm>
            <a:off x="6355080" y="1234440"/>
            <a:ext cx="5257800" cy="1920240"/>
          </a:xfrm>
          <a:prstGeom prst="roundRect">
            <a:avLst>
              <a:gd name="adj" fmla="val 2857"/>
            </a:avLst>
          </a:prstGeom>
          <a:solidFill>
            <a:srgbClr val="FFFFFF"/>
          </a:solidFill>
          <a:ln w="12700">
            <a:solidFill>
              <a:srgbClr val="EDEDED"/>
            </a:solidFill>
            <a:prstDash val="solid"/>
          </a:ln>
        </p:spPr>
      </p:sp>
      <p:sp>
        <p:nvSpPr>
          <p:cNvPr id="10" name="c2-badge"/>
          <p:cNvSpPr/>
          <p:nvPr/>
        </p:nvSpPr>
        <p:spPr>
          <a:xfrm>
            <a:off x="6592824" y="1435608"/>
            <a:ext cx="420624" cy="420624"/>
          </a:xfrm>
          <a:prstGeom prst="ellipse">
            <a:avLst/>
          </a:prstGeom>
          <a:solidFill>
            <a:srgbClr val="E90802"/>
          </a:solidFill>
          <a:ln w="12700">
            <a:solidFill>
              <a:srgbClr val="E90802"/>
            </a:solidFill>
            <a:prstDash val="solid"/>
          </a:ln>
        </p:spPr>
      </p:sp>
      <p:sp>
        <p:nvSpPr>
          <p:cNvPr id="11" name="c2-badge-text"/>
          <p:cNvSpPr txBox="1"/>
          <p:nvPr/>
        </p:nvSpPr>
        <p:spPr>
          <a:xfrm>
            <a:off x="6592824" y="14356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c2-h"/>
          <p:cNvSpPr txBox="1"/>
          <p:nvPr/>
        </p:nvSpPr>
        <p:spPr>
          <a:xfrm>
            <a:off x="6592824" y="2002536"/>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FactRBench</a:t>
            </a:r>
            <a:endParaRPr lang="en-US" sz="1500" dirty="0"/>
          </a:p>
        </p:txBody>
      </p:sp>
      <p:sp>
        <p:nvSpPr>
          <p:cNvPr id="13" name="c2-b"/>
          <p:cNvSpPr txBox="1"/>
          <p:nvPr/>
        </p:nvSpPr>
        <p:spPr>
          <a:xfrm>
            <a:off x="6592824" y="2386584"/>
            <a:ext cx="4782312" cy="585216"/>
          </a:xfrm>
          <a:prstGeom prst="rect">
            <a:avLst/>
          </a:prstGeom>
          <a:noFill/>
          <a:ln/>
        </p:spPr>
        <p:txBody>
          <a:bodyPr wrap="square" lIns="0" tIns="0" rIns="0" bIns="0" rtlCol="0" anchor="t"/>
          <a:lstStyle/>
          <a:p>
            <a:pPr indent="0" marL="0">
              <a:lnSpc>
                <a:spcPct val="120000"/>
              </a:lnSpc>
              <a:buNone/>
            </a:pPr>
            <a:r>
              <a:rPr lang="en-US" sz="1300" dirty="0">
                <a:solidFill>
                  <a:srgbClr val="333333"/>
                </a:solidFill>
                <a:latin typeface="Arial" pitchFamily="34" charset="0"/>
                <a:ea typeface="Arial" pitchFamily="34" charset="-122"/>
                <a:cs typeface="Arial" pitchFamily="34" charset="-120"/>
              </a:rPr>
              <a:t>1,096 real-world prompts with reference fact sets, so recall can be measured. Prior benchmarks scored precision only.</a:t>
            </a:r>
            <a:endParaRPr lang="en-US" sz="1300" dirty="0"/>
          </a:p>
        </p:txBody>
      </p:sp>
      <p:sp>
        <p:nvSpPr>
          <p:cNvPr id="14" name="s1"/>
          <p:cNvSpPr/>
          <p:nvPr/>
        </p:nvSpPr>
        <p:spPr>
          <a:xfrm>
            <a:off x="548640" y="3429000"/>
            <a:ext cx="3520440" cy="1325880"/>
          </a:xfrm>
          <a:prstGeom prst="roundRect">
            <a:avLst>
              <a:gd name="adj" fmla="val 4138"/>
            </a:avLst>
          </a:prstGeom>
          <a:solidFill>
            <a:srgbClr val="EDEDED"/>
          </a:solidFill>
          <a:ln w="12700">
            <a:solidFill>
              <a:srgbClr val="EDEDED"/>
            </a:solidFill>
            <a:prstDash val="solid"/>
          </a:ln>
        </p:spPr>
      </p:sp>
      <p:sp>
        <p:nvSpPr>
          <p:cNvPr id="15" name="s1-l"/>
          <p:cNvSpPr txBox="1"/>
          <p:nvPr/>
        </p:nvSpPr>
        <p:spPr>
          <a:xfrm>
            <a:off x="749808" y="3593592"/>
            <a:ext cx="311810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FEWER INCOMPLETE FACTS</a:t>
            </a:r>
            <a:endParaRPr lang="en-US" sz="1000" dirty="0"/>
          </a:p>
        </p:txBody>
      </p:sp>
      <p:sp>
        <p:nvSpPr>
          <p:cNvPr id="16" name="s1-v"/>
          <p:cNvSpPr txBox="1"/>
          <p:nvPr/>
        </p:nvSpPr>
        <p:spPr>
          <a:xfrm>
            <a:off x="749808" y="3849624"/>
            <a:ext cx="3118104" cy="530352"/>
          </a:xfrm>
          <a:prstGeom prst="rect">
            <a:avLst/>
          </a:prstGeom>
          <a:noFill/>
          <a:ln/>
        </p:spPr>
        <p:txBody>
          <a:bodyPr wrap="square" lIns="0" tIns="0" rIns="0" bIns="0" rtlCol="0" anchor="ctr"/>
          <a:lstStyle/>
          <a:p>
            <a:pPr indent="0" marL="0">
              <a:buNone/>
            </a:pPr>
            <a:r>
              <a:rPr lang="en-US" sz="3000" b="1" dirty="0">
                <a:solidFill>
                  <a:srgbClr val="E90802"/>
                </a:solidFill>
              </a:rPr>
              <a:t>19.2%</a:t>
            </a:r>
            <a:endParaRPr lang="en-US" sz="3000" dirty="0"/>
          </a:p>
        </p:txBody>
      </p:sp>
      <p:sp>
        <p:nvSpPr>
          <p:cNvPr id="17" name="s1-f"/>
          <p:cNvSpPr txBox="1"/>
          <p:nvPr/>
        </p:nvSpPr>
        <p:spPr>
          <a:xfrm>
            <a:off x="749808" y="4370832"/>
            <a:ext cx="311810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vs best comparison method</a:t>
            </a:r>
            <a:endParaRPr lang="en-US" sz="1100" dirty="0"/>
          </a:p>
        </p:txBody>
      </p:sp>
      <p:sp>
        <p:nvSpPr>
          <p:cNvPr id="18" name="s2"/>
          <p:cNvSpPr/>
          <p:nvPr/>
        </p:nvSpPr>
        <p:spPr>
          <a:xfrm>
            <a:off x="4297680" y="3429000"/>
            <a:ext cx="3520440" cy="1325880"/>
          </a:xfrm>
          <a:prstGeom prst="roundRect">
            <a:avLst>
              <a:gd name="adj" fmla="val 4138"/>
            </a:avLst>
          </a:prstGeom>
          <a:solidFill>
            <a:srgbClr val="EDEDED"/>
          </a:solidFill>
          <a:ln w="12700">
            <a:solidFill>
              <a:srgbClr val="EDEDED"/>
            </a:solidFill>
            <a:prstDash val="solid"/>
          </a:ln>
        </p:spPr>
      </p:sp>
      <p:sp>
        <p:nvSpPr>
          <p:cNvPr id="19" name="s2-l"/>
          <p:cNvSpPr txBox="1"/>
          <p:nvPr/>
        </p:nvSpPr>
        <p:spPr>
          <a:xfrm>
            <a:off x="4498848" y="3593592"/>
            <a:ext cx="311810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FEWER MISSING FACTS</a:t>
            </a:r>
            <a:endParaRPr lang="en-US" sz="1000" dirty="0"/>
          </a:p>
        </p:txBody>
      </p:sp>
      <p:sp>
        <p:nvSpPr>
          <p:cNvPr id="20" name="s2-v"/>
          <p:cNvSpPr txBox="1"/>
          <p:nvPr/>
        </p:nvSpPr>
        <p:spPr>
          <a:xfrm>
            <a:off x="4498848" y="3849624"/>
            <a:ext cx="3118104" cy="530352"/>
          </a:xfrm>
          <a:prstGeom prst="rect">
            <a:avLst/>
          </a:prstGeom>
          <a:noFill/>
          <a:ln/>
        </p:spPr>
        <p:txBody>
          <a:bodyPr wrap="square" lIns="0" tIns="0" rIns="0" bIns="0" rtlCol="0" anchor="ctr"/>
          <a:lstStyle/>
          <a:p>
            <a:pPr indent="0" marL="0">
              <a:buNone/>
            </a:pPr>
            <a:r>
              <a:rPr lang="en-US" sz="3000" b="1" dirty="0">
                <a:solidFill>
                  <a:srgbClr val="E90802"/>
                </a:solidFill>
              </a:rPr>
              <a:t>37%</a:t>
            </a:r>
            <a:endParaRPr lang="en-US" sz="3000" dirty="0"/>
          </a:p>
        </p:txBody>
      </p:sp>
      <p:sp>
        <p:nvSpPr>
          <p:cNvPr id="21" name="s2-f"/>
          <p:cNvSpPr txBox="1"/>
          <p:nvPr/>
        </p:nvSpPr>
        <p:spPr>
          <a:xfrm>
            <a:off x="4498848" y="4370832"/>
            <a:ext cx="311810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1.22 → 0.76 per response</a:t>
            </a:r>
            <a:endParaRPr lang="en-US" sz="1100" dirty="0"/>
          </a:p>
        </p:txBody>
      </p:sp>
      <p:sp>
        <p:nvSpPr>
          <p:cNvPr id="22" name="s3"/>
          <p:cNvSpPr/>
          <p:nvPr/>
        </p:nvSpPr>
        <p:spPr>
          <a:xfrm>
            <a:off x="8046720" y="3429000"/>
            <a:ext cx="3566160" cy="1325880"/>
          </a:xfrm>
          <a:prstGeom prst="roundRect">
            <a:avLst>
              <a:gd name="adj" fmla="val 4138"/>
            </a:avLst>
          </a:prstGeom>
          <a:solidFill>
            <a:srgbClr val="EDEDED"/>
          </a:solidFill>
          <a:ln w="12700">
            <a:solidFill>
              <a:srgbClr val="EDEDED"/>
            </a:solidFill>
            <a:prstDash val="solid"/>
          </a:ln>
        </p:spPr>
      </p:sp>
      <p:sp>
        <p:nvSpPr>
          <p:cNvPr id="23" name="s3-l"/>
          <p:cNvSpPr txBox="1"/>
          <p:nvPr/>
        </p:nvSpPr>
        <p:spPr>
          <a:xfrm>
            <a:off x="8247888" y="359359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REFINED FACTS CHANGING LABEL</a:t>
            </a:r>
            <a:endParaRPr lang="en-US" sz="1000" dirty="0"/>
          </a:p>
        </p:txBody>
      </p:sp>
      <p:sp>
        <p:nvSpPr>
          <p:cNvPr id="24" name="s3-v"/>
          <p:cNvSpPr txBox="1"/>
          <p:nvPr/>
        </p:nvSpPr>
        <p:spPr>
          <a:xfrm>
            <a:off x="8247888" y="3849624"/>
            <a:ext cx="3163824" cy="530352"/>
          </a:xfrm>
          <a:prstGeom prst="rect">
            <a:avLst/>
          </a:prstGeom>
          <a:noFill/>
          <a:ln/>
        </p:spPr>
        <p:txBody>
          <a:bodyPr wrap="square" lIns="0" tIns="0" rIns="0" bIns="0" rtlCol="0" anchor="ctr"/>
          <a:lstStyle/>
          <a:p>
            <a:pPr indent="0" marL="0">
              <a:buNone/>
            </a:pPr>
            <a:r>
              <a:rPr lang="en-US" sz="3000" b="1" dirty="0">
                <a:solidFill>
                  <a:srgbClr val="E90802"/>
                </a:solidFill>
              </a:rPr>
              <a:t>24.9%</a:t>
            </a:r>
            <a:endParaRPr lang="en-US" sz="3000" dirty="0"/>
          </a:p>
        </p:txBody>
      </p:sp>
      <p:sp>
        <p:nvSpPr>
          <p:cNvPr id="25" name="s3-f"/>
          <p:cNvSpPr txBox="1"/>
          <p:nvPr/>
        </p:nvSpPr>
        <p:spPr>
          <a:xfrm>
            <a:off x="8247888" y="4370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verdict depends on context</a:t>
            </a:r>
            <a:endParaRPr lang="en-US" sz="1100" dirty="0"/>
          </a:p>
        </p:txBody>
      </p:sp>
      <p:sp>
        <p:nvSpPr>
          <p:cNvPr id="26"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Scope note: we reimplement contribution 1. Contribution 2 needs four frontier LLMs and human-written Reddit answers.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PROBLEM</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Atomic facts lose the context that makes them true</a:t>
            </a:r>
            <a:endParaRPr lang="en-US" sz="3000" dirty="0"/>
          </a:p>
        </p:txBody>
      </p:sp>
      <p:sp>
        <p:nvSpPr>
          <p:cNvPr id="4" name="quote-box"/>
          <p:cNvSpPr/>
          <p:nvPr/>
        </p:nvSpPr>
        <p:spPr>
          <a:xfrm>
            <a:off x="548640" y="1188720"/>
            <a:ext cx="11064240" cy="914400"/>
          </a:xfrm>
          <a:prstGeom prst="roundRect">
            <a:avLst>
              <a:gd name="adj" fmla="val 6000"/>
            </a:avLst>
          </a:prstGeom>
          <a:solidFill>
            <a:srgbClr val="EDEDED"/>
          </a:solidFill>
          <a:ln w="12700">
            <a:solidFill>
              <a:srgbClr val="EDEDED"/>
            </a:solidFill>
            <a:prstDash val="solid"/>
          </a:ln>
        </p:spPr>
      </p:sp>
      <p:sp>
        <p:nvSpPr>
          <p:cNvPr id="5" name="quote-text"/>
          <p:cNvSpPr txBox="1"/>
          <p:nvPr/>
        </p:nvSpPr>
        <p:spPr>
          <a:xfrm>
            <a:off x="777240" y="1298448"/>
            <a:ext cx="10607040" cy="713232"/>
          </a:xfrm>
          <a:prstGeom prst="rect">
            <a:avLst/>
          </a:prstGeom>
          <a:noFill/>
          <a:ln/>
        </p:spPr>
        <p:txBody>
          <a:bodyPr wrap="square" lIns="0" tIns="0" rIns="0" bIns="0" rtlCol="0" anchor="ctr"/>
          <a:lstStyle/>
          <a:p>
            <a:pPr indent="0" marL="0">
              <a:lnSpc>
                <a:spcPct val="115000"/>
              </a:lnSpc>
              <a:buNone/>
            </a:pPr>
            <a:r>
              <a:rPr lang="en-US" sz="1200" b="1" dirty="0">
                <a:solidFill>
                  <a:srgbClr val="757575"/>
                </a:solidFill>
                <a:latin typeface="Arial" pitchFamily="34" charset="0"/>
                <a:ea typeface="Arial" pitchFamily="34" charset="-122"/>
                <a:cs typeface="Arial" pitchFamily="34" charset="-120"/>
              </a:rPr>
              <a:t>Model answer:  </a:t>
            </a:r>
            <a:pPr indent="0" marL="0">
              <a:lnSpc>
                <a:spcPct val="115000"/>
              </a:lnSpc>
              <a:buNone/>
            </a:pPr>
            <a:r>
              <a:rPr lang="en-US" sz="1500" dirty="0">
                <a:solidFill>
                  <a:srgbClr val="000000"/>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5000"/>
              </a:lnSpc>
              <a:buNone/>
            </a:pPr>
            <a:r>
              <a:rPr lang="en-US" sz="1500" b="1" dirty="0">
                <a:solidFill>
                  <a:srgbClr val="E90802"/>
                </a:solidFill>
                <a:latin typeface="Arial" pitchFamily="34" charset="0"/>
                <a:ea typeface="Arial" pitchFamily="34" charset="-122"/>
                <a:cs typeface="Arial" pitchFamily="34" charset="-120"/>
              </a:rPr>
              <a:t>making</a:t>
            </a:r>
            <a:pPr indent="0" marL="0">
              <a:lnSpc>
                <a:spcPct val="115000"/>
              </a:lnSpc>
              <a:buNone/>
            </a:pPr>
            <a:r>
              <a:rPr lang="en-US" sz="1500" dirty="0">
                <a:solidFill>
                  <a:srgbClr val="000000"/>
                </a:solidFill>
                <a:latin typeface="Arial" pitchFamily="34" charset="0"/>
                <a:ea typeface="Arial" pitchFamily="34" charset="-122"/>
                <a:cs typeface="Arial" pitchFamily="34" charset="-120"/>
              </a:rPr>
              <a:t> it more competitive with other materials like copper and silver."</a:t>
            </a:r>
            <a:endParaRPr lang="en-US" sz="1200" dirty="0"/>
          </a:p>
        </p:txBody>
      </p:sp>
      <p:sp>
        <p:nvSpPr>
          <p:cNvPr id="6" name="safe"/>
          <p:cNvSpPr/>
          <p:nvPr/>
        </p:nvSpPr>
        <p:spPr>
          <a:xfrm>
            <a:off x="548640" y="2331720"/>
            <a:ext cx="5486400" cy="2743200"/>
          </a:xfrm>
          <a:prstGeom prst="roundRect">
            <a:avLst>
              <a:gd name="adj" fmla="val 2000"/>
            </a:avLst>
          </a:prstGeom>
          <a:solidFill>
            <a:srgbClr val="FFFFFF"/>
          </a:solidFill>
          <a:ln w="12700">
            <a:solidFill>
              <a:srgbClr val="EDEDED"/>
            </a:solidFill>
            <a:prstDash val="solid"/>
          </a:ln>
        </p:spPr>
      </p:sp>
      <p:sp>
        <p:nvSpPr>
          <p:cNvPr id="7" name="safe-h"/>
          <p:cNvSpPr txBox="1"/>
          <p:nvPr/>
        </p:nvSpPr>
        <p:spPr>
          <a:xfrm>
            <a:off x="786384" y="2532888"/>
            <a:ext cx="5010912" cy="310896"/>
          </a:xfrm>
          <a:prstGeom prst="rect">
            <a:avLst/>
          </a:prstGeom>
          <a:noFill/>
          <a:ln/>
        </p:spPr>
        <p:txBody>
          <a:bodyPr wrap="square" lIns="0" tIns="0" rIns="0" bIns="0" rtlCol="0" anchor="ctr"/>
          <a:lstStyle/>
          <a:p>
            <a:pPr indent="0" marL="0">
              <a:buNone/>
            </a:pPr>
            <a:r>
              <a:rPr lang="en-US" sz="1500" b="1" dirty="0">
                <a:solidFill>
                  <a:srgbClr val="333333"/>
                </a:solidFill>
              </a:rPr>
              <a:t>Extracted by SAFE</a:t>
            </a:r>
            <a:endParaRPr lang="en-US" sz="1500" dirty="0"/>
          </a:p>
        </p:txBody>
      </p:sp>
      <p:sp>
        <p:nvSpPr>
          <p:cNvPr id="8" name="safe-list"/>
          <p:cNvSpPr txBox="1"/>
          <p:nvPr/>
        </p:nvSpPr>
        <p:spPr>
          <a:xfrm>
            <a:off x="786384" y="2834640"/>
            <a:ext cx="5029200" cy="2103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The price of gold could drop by 20–50% or more.</a:t>
            </a:r>
            <a:endParaRPr lang="en-US" sz="1300" dirty="0"/>
          </a:p>
          <a:p>
            <a:pPr indent="0" marL="0">
              <a:spcAft>
                <a:spcPts val="500"/>
              </a:spcAft>
              <a:buNone/>
            </a:pPr>
            <a:r>
              <a:rPr lang="en-US" sz="1100" b="1" dirty="0">
                <a:solidFill>
                  <a:srgbClr val="E90802"/>
                </a:solidFill>
                <a:latin typeface="Arial" pitchFamily="34" charset="0"/>
                <a:ea typeface="Arial" pitchFamily="34" charset="-122"/>
                <a:cs typeface="Arial" pitchFamily="34" charset="-120"/>
              </a:rPr>
              <a:t>condition dropped</a:t>
            </a:r>
            <a:endParaRPr lang="en-US" sz="1300" dirty="0"/>
          </a:p>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Copper and silver are competitive with gold in price.</a:t>
            </a:r>
            <a:endParaRPr lang="en-US" sz="1300" dirty="0"/>
          </a:p>
          <a:p>
            <a:pPr indent="0" marL="0">
              <a:spcAft>
                <a:spcPts val="500"/>
              </a:spcAft>
              <a:buNone/>
            </a:pPr>
            <a:r>
              <a:rPr lang="en-US" sz="110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300" dirty="0"/>
          </a:p>
        </p:txBody>
      </p:sp>
      <p:sp>
        <p:nvSpPr>
          <p:cNvPr id="9" name="vf"/>
          <p:cNvSpPr/>
          <p:nvPr/>
        </p:nvSpPr>
        <p:spPr>
          <a:xfrm>
            <a:off x="6355080" y="2331720"/>
            <a:ext cx="5257800" cy="2743200"/>
          </a:xfrm>
          <a:prstGeom prst="roundRect">
            <a:avLst>
              <a:gd name="adj" fmla="val 2000"/>
            </a:avLst>
          </a:prstGeom>
          <a:solidFill>
            <a:srgbClr val="FFFFFF"/>
          </a:solidFill>
          <a:ln w="19050">
            <a:solidFill>
              <a:srgbClr val="E90802"/>
            </a:solidFill>
            <a:prstDash val="solid"/>
          </a:ln>
        </p:spPr>
      </p:sp>
      <p:sp>
        <p:nvSpPr>
          <p:cNvPr id="10" name="vf-h"/>
          <p:cNvSpPr txBox="1"/>
          <p:nvPr/>
        </p:nvSpPr>
        <p:spPr>
          <a:xfrm>
            <a:off x="6592824" y="2532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Extracted by VeriFact</a:t>
            </a:r>
            <a:endParaRPr lang="en-US" sz="1500" dirty="0"/>
          </a:p>
        </p:txBody>
      </p:sp>
      <p:sp>
        <p:nvSpPr>
          <p:cNvPr id="11" name="vf-list"/>
          <p:cNvSpPr txBox="1"/>
          <p:nvPr/>
        </p:nvSpPr>
        <p:spPr>
          <a:xfrm>
            <a:off x="6592824" y="2834640"/>
            <a:ext cx="4800600" cy="210312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If the demand for gold as jewelry disappeared, the price of gold could drop by 20–50% or more.</a:t>
            </a:r>
            <a:endParaRPr lang="en-US" sz="1300" dirty="0"/>
          </a:p>
          <a:p>
            <a:pPr marL="342900" indent="-342900">
              <a:spcAft>
                <a:spcPts val="500"/>
              </a:spcAft>
              <a:buSzPct val="100000"/>
              <a:buChar char="•"/>
            </a:pPr>
            <a:r>
              <a:rPr lang="en-US" sz="1300" dirty="0">
                <a:solidFill>
                  <a:srgbClr val="333333"/>
                </a:solidFill>
                <a:latin typeface="Arial" pitchFamily="34" charset="0"/>
                <a:ea typeface="Arial" pitchFamily="34" charset="-122"/>
                <a:cs typeface="Arial" pitchFamily="34" charset="-120"/>
              </a:rPr>
              <a:t>A 20–50% drop in the price of gold could make copper and silver competitive with gold.</a:t>
            </a:r>
            <a:endParaRPr lang="en-US" sz="1300" dirty="0"/>
          </a:p>
          <a:p>
            <a:pPr indent="0" marL="0">
              <a:spcAft>
                <a:spcPts val="500"/>
              </a:spcAft>
              <a:buNone/>
            </a:pPr>
            <a:r>
              <a:rPr lang="en-US" sz="110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300" dirty="0"/>
          </a:p>
        </p:txBody>
      </p:sp>
      <p:sp>
        <p:nvSpPr>
          <p:cNvPr id="1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Human annotation of 451 SAFE facts: 12.68% incomplete, 1.24 missing facts per response, 51% of them omitted conditions.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eyebrow"/>
          <p:cNvSpPr txBox="1"/>
          <p:nvPr/>
        </p:nvSpPr>
        <p:spPr>
          <a:xfrm>
            <a:off x="685800" y="2651760"/>
            <a:ext cx="10789920" cy="310896"/>
          </a:xfrm>
          <a:prstGeom prst="rect">
            <a:avLst/>
          </a:prstGeom>
          <a:noFill/>
          <a:ln/>
        </p:spPr>
        <p:txBody>
          <a:bodyPr wrap="square" lIns="0" tIns="0" rIns="0" bIns="0" rtlCol="0" anchor="ctr"/>
          <a:lstStyle/>
          <a:p>
            <a:pPr indent="0" marL="0">
              <a:buNone/>
            </a:pPr>
            <a:r>
              <a:rPr lang="en-US" sz="1300" b="1" spc="200" kern="0" dirty="0">
                <a:solidFill>
                  <a:srgbClr val="FFFFFF"/>
                </a:solidFill>
                <a:latin typeface="Arial" pitchFamily="34" charset="0"/>
                <a:ea typeface="Arial" pitchFamily="34" charset="-122"/>
                <a:cs typeface="Arial" pitchFamily="34" charset="-120"/>
              </a:rPr>
              <a:t>PART ONE</a:t>
            </a:r>
            <a:endParaRPr lang="en-US" sz="1300" dirty="0"/>
          </a:p>
        </p:txBody>
      </p:sp>
      <p:sp>
        <p:nvSpPr>
          <p:cNvPr id="3" name="sec-title"/>
          <p:cNvSpPr txBox="1"/>
          <p:nvPr/>
        </p:nvSpPr>
        <p:spPr>
          <a:xfrm>
            <a:off x="685800" y="3017520"/>
            <a:ext cx="10789920" cy="914400"/>
          </a:xfrm>
          <a:prstGeom prst="rect">
            <a:avLst/>
          </a:prstGeom>
          <a:noFill/>
          <a:ln/>
        </p:spPr>
        <p:txBody>
          <a:bodyPr wrap="square" lIns="0" tIns="0" rIns="0" bIns="0" rtlCol="0" anchor="ctr"/>
          <a:lstStyle/>
          <a:p>
            <a:pPr indent="0" marL="0">
              <a:buNone/>
            </a:pPr>
            <a:r>
              <a:rPr lang="en-US" sz="4200" b="1" dirty="0">
                <a:solidFill>
                  <a:srgbClr val="FFFFFF"/>
                </a:solidFill>
              </a:rPr>
              <a:t>Methodology</a:t>
            </a:r>
            <a:endParaRPr lang="en-US" sz="4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HOW THE PAPER WORKS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Four steps, three judges, union of detections</a:t>
            </a:r>
            <a:endParaRPr lang="en-US" sz="3000" dirty="0"/>
          </a:p>
        </p:txBody>
      </p:sp>
      <p:sp>
        <p:nvSpPr>
          <p:cNvPr id="4" name="step1"/>
          <p:cNvSpPr/>
          <p:nvPr/>
        </p:nvSpPr>
        <p:spPr>
          <a:xfrm>
            <a:off x="548640" y="1188720"/>
            <a:ext cx="2633472" cy="2286000"/>
          </a:xfrm>
          <a:prstGeom prst="roundRect">
            <a:avLst>
              <a:gd name="adj" fmla="val 2400"/>
            </a:avLst>
          </a:prstGeom>
          <a:solidFill>
            <a:srgbClr val="FFFFFF"/>
          </a:solidFill>
          <a:ln w="12700">
            <a:solidFill>
              <a:srgbClr val="EDEDED"/>
            </a:solidFill>
            <a:prstDash val="solid"/>
          </a:ln>
        </p:spPr>
      </p:sp>
      <p:sp>
        <p:nvSpPr>
          <p:cNvPr id="5" name="step1-badge"/>
          <p:cNvSpPr/>
          <p:nvPr/>
        </p:nvSpPr>
        <p:spPr>
          <a:xfrm>
            <a:off x="786384" y="1389888"/>
            <a:ext cx="420624" cy="420624"/>
          </a:xfrm>
          <a:prstGeom prst="ellipse">
            <a:avLst/>
          </a:prstGeom>
          <a:solidFill>
            <a:srgbClr val="757575"/>
          </a:solidFill>
          <a:ln w="12700">
            <a:solidFill>
              <a:srgbClr val="757575"/>
            </a:solidFill>
            <a:prstDash val="solid"/>
          </a:ln>
        </p:spPr>
      </p:sp>
      <p:sp>
        <p:nvSpPr>
          <p:cNvPr id="6" name="step1-badge-text"/>
          <p:cNvSpPr txBox="1"/>
          <p:nvPr/>
        </p:nvSpPr>
        <p:spPr>
          <a:xfrm>
            <a:off x="786384"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step1-h"/>
          <p:cNvSpPr txBox="1"/>
          <p:nvPr/>
        </p:nvSpPr>
        <p:spPr>
          <a:xfrm>
            <a:off x="786384"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Decompose</a:t>
            </a:r>
            <a:endParaRPr lang="en-US" sz="1500" dirty="0"/>
          </a:p>
        </p:txBody>
      </p:sp>
      <p:sp>
        <p:nvSpPr>
          <p:cNvPr id="8" name="step1-b"/>
          <p:cNvSpPr txBox="1"/>
          <p:nvPr/>
        </p:nvSpPr>
        <p:spPr>
          <a:xfrm>
            <a:off x="786384" y="2340864"/>
            <a:ext cx="2157984" cy="95097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9" name="step2"/>
          <p:cNvSpPr/>
          <p:nvPr/>
        </p:nvSpPr>
        <p:spPr>
          <a:xfrm>
            <a:off x="3364992" y="1188720"/>
            <a:ext cx="2633472" cy="2286000"/>
          </a:xfrm>
          <a:prstGeom prst="roundRect">
            <a:avLst>
              <a:gd name="adj" fmla="val 2400"/>
            </a:avLst>
          </a:prstGeom>
          <a:solidFill>
            <a:srgbClr val="FFFFFF"/>
          </a:solidFill>
          <a:ln w="12700">
            <a:solidFill>
              <a:srgbClr val="E90802"/>
            </a:solidFill>
            <a:prstDash val="solid"/>
          </a:ln>
        </p:spPr>
      </p:sp>
      <p:sp>
        <p:nvSpPr>
          <p:cNvPr id="10" name="step2-badge"/>
          <p:cNvSpPr/>
          <p:nvPr/>
        </p:nvSpPr>
        <p:spPr>
          <a:xfrm>
            <a:off x="3602736" y="1389888"/>
            <a:ext cx="420624" cy="420624"/>
          </a:xfrm>
          <a:prstGeom prst="ellipse">
            <a:avLst/>
          </a:prstGeom>
          <a:solidFill>
            <a:srgbClr val="E90802"/>
          </a:solidFill>
          <a:ln w="12700">
            <a:solidFill>
              <a:srgbClr val="E90802"/>
            </a:solidFill>
            <a:prstDash val="solid"/>
          </a:ln>
        </p:spPr>
      </p:sp>
      <p:sp>
        <p:nvSpPr>
          <p:cNvPr id="11" name="step2-badge-text"/>
          <p:cNvSpPr txBox="1"/>
          <p:nvPr/>
        </p:nvSpPr>
        <p:spPr>
          <a:xfrm>
            <a:off x="3602736"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step2-h"/>
          <p:cNvSpPr txBox="1"/>
          <p:nvPr/>
        </p:nvSpPr>
        <p:spPr>
          <a:xfrm>
            <a:off x="3602736"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Detect</a:t>
            </a:r>
            <a:endParaRPr lang="en-US" sz="1500" dirty="0"/>
          </a:p>
        </p:txBody>
      </p:sp>
      <p:sp>
        <p:nvSpPr>
          <p:cNvPr id="13" name="step2-b"/>
          <p:cNvSpPr txBox="1"/>
          <p:nvPr/>
        </p:nvSpPr>
        <p:spPr>
          <a:xfrm>
            <a:off x="3602736" y="2340864"/>
            <a:ext cx="2157984" cy="95097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4" name="step3"/>
          <p:cNvSpPr/>
          <p:nvPr/>
        </p:nvSpPr>
        <p:spPr>
          <a:xfrm>
            <a:off x="6181344" y="1188720"/>
            <a:ext cx="2633472" cy="2286000"/>
          </a:xfrm>
          <a:prstGeom prst="roundRect">
            <a:avLst>
              <a:gd name="adj" fmla="val 2400"/>
            </a:avLst>
          </a:prstGeom>
          <a:solidFill>
            <a:srgbClr val="FFFFFF"/>
          </a:solidFill>
          <a:ln w="12700">
            <a:solidFill>
              <a:srgbClr val="E90802"/>
            </a:solidFill>
            <a:prstDash val="solid"/>
          </a:ln>
        </p:spPr>
      </p:sp>
      <p:sp>
        <p:nvSpPr>
          <p:cNvPr id="15" name="step3-badge"/>
          <p:cNvSpPr/>
          <p:nvPr/>
        </p:nvSpPr>
        <p:spPr>
          <a:xfrm>
            <a:off x="6419088" y="1389888"/>
            <a:ext cx="420624" cy="420624"/>
          </a:xfrm>
          <a:prstGeom prst="ellipse">
            <a:avLst/>
          </a:prstGeom>
          <a:solidFill>
            <a:srgbClr val="E90802"/>
          </a:solidFill>
          <a:ln w="12700">
            <a:solidFill>
              <a:srgbClr val="E90802"/>
            </a:solidFill>
            <a:prstDash val="solid"/>
          </a:ln>
        </p:spPr>
      </p:sp>
      <p:sp>
        <p:nvSpPr>
          <p:cNvPr id="16" name="step3-badge-text"/>
          <p:cNvSpPr txBox="1"/>
          <p:nvPr/>
        </p:nvSpPr>
        <p:spPr>
          <a:xfrm>
            <a:off x="6419088"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7" name="step3-h"/>
          <p:cNvSpPr txBox="1"/>
          <p:nvPr/>
        </p:nvSpPr>
        <p:spPr>
          <a:xfrm>
            <a:off x="6419088"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Refine</a:t>
            </a:r>
            <a:endParaRPr lang="en-US" sz="1500" dirty="0"/>
          </a:p>
        </p:txBody>
      </p:sp>
      <p:sp>
        <p:nvSpPr>
          <p:cNvPr id="18" name="step3-b"/>
          <p:cNvSpPr txBox="1"/>
          <p:nvPr/>
        </p:nvSpPr>
        <p:spPr>
          <a:xfrm>
            <a:off x="6419088" y="2340864"/>
            <a:ext cx="2157984" cy="95097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19" name="step4"/>
          <p:cNvSpPr/>
          <p:nvPr/>
        </p:nvSpPr>
        <p:spPr>
          <a:xfrm>
            <a:off x="8997696" y="1188720"/>
            <a:ext cx="2633472" cy="2286000"/>
          </a:xfrm>
          <a:prstGeom prst="roundRect">
            <a:avLst>
              <a:gd name="adj" fmla="val 2400"/>
            </a:avLst>
          </a:prstGeom>
          <a:solidFill>
            <a:srgbClr val="FFFFFF"/>
          </a:solidFill>
          <a:ln w="12700">
            <a:solidFill>
              <a:srgbClr val="EDEDED"/>
            </a:solidFill>
            <a:prstDash val="solid"/>
          </a:ln>
        </p:spPr>
      </p:sp>
      <p:sp>
        <p:nvSpPr>
          <p:cNvPr id="20" name="step4-badge"/>
          <p:cNvSpPr/>
          <p:nvPr/>
        </p:nvSpPr>
        <p:spPr>
          <a:xfrm>
            <a:off x="9235440" y="1389888"/>
            <a:ext cx="420624" cy="420624"/>
          </a:xfrm>
          <a:prstGeom prst="ellipse">
            <a:avLst/>
          </a:prstGeom>
          <a:solidFill>
            <a:srgbClr val="757575"/>
          </a:solidFill>
          <a:ln w="12700">
            <a:solidFill>
              <a:srgbClr val="757575"/>
            </a:solidFill>
            <a:prstDash val="solid"/>
          </a:ln>
        </p:spPr>
      </p:sp>
      <p:sp>
        <p:nvSpPr>
          <p:cNvPr id="21" name="step4-badge-text"/>
          <p:cNvSpPr txBox="1"/>
          <p:nvPr/>
        </p:nvSpPr>
        <p:spPr>
          <a:xfrm>
            <a:off x="9235440" y="138988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2" name="step4-h"/>
          <p:cNvSpPr txBox="1"/>
          <p:nvPr/>
        </p:nvSpPr>
        <p:spPr>
          <a:xfrm>
            <a:off x="9235440" y="1956816"/>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Verify</a:t>
            </a:r>
            <a:endParaRPr lang="en-US" sz="1500" dirty="0"/>
          </a:p>
        </p:txBody>
      </p:sp>
      <p:sp>
        <p:nvSpPr>
          <p:cNvPr id="23" name="step4-b"/>
          <p:cNvSpPr txBox="1"/>
          <p:nvPr/>
        </p:nvSpPr>
        <p:spPr>
          <a:xfrm>
            <a:off x="9235440" y="2340864"/>
            <a:ext cx="2157984" cy="95097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4" name="ensemble"/>
          <p:cNvSpPr/>
          <p:nvPr/>
        </p:nvSpPr>
        <p:spPr>
          <a:xfrm>
            <a:off x="548640" y="3749040"/>
            <a:ext cx="7589520" cy="2194560"/>
          </a:xfrm>
          <a:prstGeom prst="roundRect">
            <a:avLst>
              <a:gd name="adj" fmla="val 2500"/>
            </a:avLst>
          </a:prstGeom>
          <a:solidFill>
            <a:srgbClr val="000000"/>
          </a:solidFill>
          <a:ln w="12700">
            <a:solidFill>
              <a:srgbClr val="000000"/>
            </a:solidFill>
            <a:prstDash val="solid"/>
          </a:ln>
        </p:spPr>
      </p:sp>
      <p:sp>
        <p:nvSpPr>
          <p:cNvPr id="25" name="ensemble-h"/>
          <p:cNvSpPr txBox="1"/>
          <p:nvPr/>
        </p:nvSpPr>
        <p:spPr>
          <a:xfrm>
            <a:off x="786384" y="3950208"/>
            <a:ext cx="7114032" cy="310896"/>
          </a:xfrm>
          <a:prstGeom prst="rect">
            <a:avLst/>
          </a:prstGeom>
          <a:noFill/>
          <a:ln/>
        </p:spPr>
        <p:txBody>
          <a:bodyPr wrap="square" lIns="0" tIns="0" rIns="0" bIns="0" rtlCol="0" anchor="ctr"/>
          <a:lstStyle/>
          <a:p>
            <a:pPr indent="0" marL="0">
              <a:buNone/>
            </a:pPr>
            <a:r>
              <a:rPr lang="en-US" sz="1500" b="1" dirty="0">
                <a:solidFill>
                  <a:srgbClr val="E90802"/>
                </a:solidFill>
              </a:rPr>
              <a:t>The detection ensemble</a:t>
            </a:r>
            <a:endParaRPr lang="en-US" sz="1500" dirty="0"/>
          </a:p>
        </p:txBody>
      </p:sp>
      <p:sp>
        <p:nvSpPr>
          <p:cNvPr id="26" name="ensemble-b"/>
          <p:cNvSpPr txBox="1"/>
          <p:nvPr/>
        </p:nvSpPr>
        <p:spPr>
          <a:xfrm>
            <a:off x="786384" y="4334256"/>
            <a:ext cx="7114032" cy="14264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GPT-4o + Llama 3.3-70B + Qwen 2.5-32B. Positive detections are unioned, not voted: one LLM agrees with human annotators at only κ = 0.33, so the paper trades precision for recall and lets refinement absorb false positives.</a:t>
            </a:r>
            <a:endParaRPr lang="en-US" sz="1300" dirty="0"/>
          </a:p>
        </p:txBody>
      </p:sp>
      <p:sp>
        <p:nvSpPr>
          <p:cNvPr id="27" name="r1"/>
          <p:cNvSpPr/>
          <p:nvPr/>
        </p:nvSpPr>
        <p:spPr>
          <a:xfrm>
            <a:off x="8458200" y="3749040"/>
            <a:ext cx="1508760" cy="2194560"/>
          </a:xfrm>
          <a:prstGeom prst="roundRect">
            <a:avLst>
              <a:gd name="adj" fmla="val 3636"/>
            </a:avLst>
          </a:prstGeom>
          <a:solidFill>
            <a:srgbClr val="333333"/>
          </a:solidFill>
          <a:ln w="12700">
            <a:solidFill>
              <a:srgbClr val="333333"/>
            </a:solidFill>
            <a:prstDash val="solid"/>
          </a:ln>
        </p:spPr>
      </p:sp>
      <p:sp>
        <p:nvSpPr>
          <p:cNvPr id="28" name="r1-l"/>
          <p:cNvSpPr txBox="1"/>
          <p:nvPr/>
        </p:nvSpPr>
        <p:spPr>
          <a:xfrm>
            <a:off x="8659368" y="391363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29" name="r1-v"/>
          <p:cNvSpPr txBox="1"/>
          <p:nvPr/>
        </p:nvSpPr>
        <p:spPr>
          <a:xfrm>
            <a:off x="8659368" y="416966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0.89</a:t>
            </a:r>
            <a:endParaRPr lang="en-US" sz="2600" dirty="0"/>
          </a:p>
        </p:txBody>
      </p:sp>
      <p:sp>
        <p:nvSpPr>
          <p:cNvPr id="30" name="r1-f"/>
          <p:cNvSpPr txBox="1"/>
          <p:nvPr/>
        </p:nvSpPr>
        <p:spPr>
          <a:xfrm>
            <a:off x="8659368" y="555955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incomplete</a:t>
            </a:r>
            <a:endParaRPr lang="en-US" sz="1100" dirty="0"/>
          </a:p>
        </p:txBody>
      </p:sp>
      <p:sp>
        <p:nvSpPr>
          <p:cNvPr id="31" name="r2"/>
          <p:cNvSpPr/>
          <p:nvPr/>
        </p:nvSpPr>
        <p:spPr>
          <a:xfrm>
            <a:off x="10104120" y="3749040"/>
            <a:ext cx="1508760" cy="2194560"/>
          </a:xfrm>
          <a:prstGeom prst="roundRect">
            <a:avLst>
              <a:gd name="adj" fmla="val 3636"/>
            </a:avLst>
          </a:prstGeom>
          <a:solidFill>
            <a:srgbClr val="333333"/>
          </a:solidFill>
          <a:ln w="12700">
            <a:solidFill>
              <a:srgbClr val="333333"/>
            </a:solidFill>
            <a:prstDash val="solid"/>
          </a:ln>
        </p:spPr>
      </p:sp>
      <p:sp>
        <p:nvSpPr>
          <p:cNvPr id="32" name="r2-l"/>
          <p:cNvSpPr txBox="1"/>
          <p:nvPr/>
        </p:nvSpPr>
        <p:spPr>
          <a:xfrm>
            <a:off x="10305288" y="3913632"/>
            <a:ext cx="110642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33" name="r2-v"/>
          <p:cNvSpPr txBox="1"/>
          <p:nvPr/>
        </p:nvSpPr>
        <p:spPr>
          <a:xfrm>
            <a:off x="10305288" y="4169664"/>
            <a:ext cx="1106424" cy="530352"/>
          </a:xfrm>
          <a:prstGeom prst="rect">
            <a:avLst/>
          </a:prstGeom>
          <a:noFill/>
          <a:ln/>
        </p:spPr>
        <p:txBody>
          <a:bodyPr wrap="square" lIns="0" tIns="0" rIns="0" bIns="0" rtlCol="0" anchor="ctr"/>
          <a:lstStyle/>
          <a:p>
            <a:pPr indent="0" marL="0">
              <a:buNone/>
            </a:pPr>
            <a:r>
              <a:rPr lang="en-US" sz="2600" b="1" dirty="0">
                <a:solidFill>
                  <a:srgbClr val="FFFFFF"/>
                </a:solidFill>
              </a:rPr>
              <a:t>0.85</a:t>
            </a:r>
            <a:endParaRPr lang="en-US" sz="2600" dirty="0"/>
          </a:p>
        </p:txBody>
      </p:sp>
      <p:sp>
        <p:nvSpPr>
          <p:cNvPr id="34" name="r2-f"/>
          <p:cNvSpPr txBox="1"/>
          <p:nvPr/>
        </p:nvSpPr>
        <p:spPr>
          <a:xfrm>
            <a:off x="10305288" y="5559552"/>
            <a:ext cx="110642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missing</a:t>
            </a:r>
            <a:endParaRPr lang="en-US" sz="1100" dirty="0"/>
          </a:p>
        </p:txBody>
      </p:sp>
      <p:sp>
        <p:nvSpPr>
          <p:cNvPr id="3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These 3 judges are the detection ensemble — not the 12 models the paper separately benchmarks.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SCOPE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Reproduce the mechanism, not the scale</a:t>
            </a:r>
            <a:endParaRPr lang="en-US" sz="3000" dirty="0"/>
          </a:p>
        </p:txBody>
      </p:sp>
      <p:sp>
        <p:nvSpPr>
          <p:cNvPr id="4" name="in"/>
          <p:cNvSpPr/>
          <p:nvPr/>
        </p:nvSpPr>
        <p:spPr>
          <a:xfrm>
            <a:off x="548640" y="1188720"/>
            <a:ext cx="5486400" cy="3291840"/>
          </a:xfrm>
          <a:prstGeom prst="roundRect">
            <a:avLst>
              <a:gd name="adj" fmla="val 1667"/>
            </a:avLst>
          </a:prstGeom>
          <a:solidFill>
            <a:srgbClr val="FFFFFF"/>
          </a:solidFill>
          <a:ln w="12700">
            <a:solidFill>
              <a:srgbClr val="EDEDED"/>
            </a:solidFill>
            <a:prstDash val="solid"/>
          </a:ln>
        </p:spPr>
      </p:sp>
      <p:sp>
        <p:nvSpPr>
          <p:cNvPr id="5" name="in-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In scope</a:t>
            </a:r>
            <a:endParaRPr lang="en-US" sz="1500" dirty="0"/>
          </a:p>
        </p:txBody>
      </p:sp>
      <p:sp>
        <p:nvSpPr>
          <p:cNvPr id="6" name="in-list"/>
          <p:cNvSpPr txBox="1"/>
          <p:nvPr/>
        </p:nvSpPr>
        <p:spPr>
          <a:xfrm>
            <a:off x="786384" y="1691640"/>
            <a:ext cx="5029200" cy="25603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Full four-step pipeline, end to end</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All four incompleteness subtypes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Word mapping, from Algorithm 1</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PDTB temporal and contingency detection</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Multi-judge ensemble, union of positives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Precision, recall and F1 on reference facts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Ablation of each refinement mechanism</a:t>
            </a:r>
            <a:endParaRPr lang="en-US" sz="1300" dirty="0"/>
          </a:p>
        </p:txBody>
      </p:sp>
      <p:sp>
        <p:nvSpPr>
          <p:cNvPr id="7" name="out"/>
          <p:cNvSpPr/>
          <p:nvPr/>
        </p:nvSpPr>
        <p:spPr>
          <a:xfrm>
            <a:off x="6355080" y="1188720"/>
            <a:ext cx="5257800" cy="3291840"/>
          </a:xfrm>
          <a:prstGeom prst="roundRect">
            <a:avLst>
              <a:gd name="adj" fmla="val 1667"/>
            </a:avLst>
          </a:prstGeom>
          <a:solidFill>
            <a:srgbClr val="FFFFFF"/>
          </a:solidFill>
          <a:ln w="12700">
            <a:solidFill>
              <a:srgbClr val="EDEDED"/>
            </a:solidFill>
            <a:prstDash val="solid"/>
          </a:ln>
        </p:spPr>
      </p:sp>
      <p:sp>
        <p:nvSpPr>
          <p:cNvPr id="8" name="out-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757575"/>
                </a:solidFill>
              </a:rPr>
              <a:t>Out of scope</a:t>
            </a:r>
            <a:endParaRPr lang="en-US" sz="1500" dirty="0"/>
          </a:p>
        </p:txBody>
      </p:sp>
      <p:sp>
        <p:nvSpPr>
          <p:cNvPr id="9" name="out-list"/>
          <p:cNvSpPr txBox="1"/>
          <p:nvPr/>
        </p:nvSpPr>
        <p:spPr>
          <a:xfrm>
            <a:off x="6592824" y="1691640"/>
            <a:ext cx="4800600" cy="256032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GPT-4o, Llama 3.3-70B, Qwen 2.5-32B</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FactRBench, 1,096 prompts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Benchmarking the 12 frontier models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FactScore, FactCheck-GPT, VERIFY baselines</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Human annotation of extraction quality</a:t>
            </a:r>
            <a:endParaRPr lang="en-US" sz="1300" dirty="0"/>
          </a:p>
          <a:p>
            <a:pPr marL="342900" indent="-342900">
              <a:spcAft>
                <a:spcPts val="600"/>
              </a:spcAft>
              <a:buSzPct val="100000"/>
              <a:buChar char="•"/>
            </a:pPr>
            <a:r>
              <a:rPr lang="en-US" sz="1300" dirty="0">
                <a:solidFill>
                  <a:srgbClr val="333333"/>
                </a:solidFill>
                <a:latin typeface="Arial" pitchFamily="34" charset="0"/>
                <a:ea typeface="Arial" pitchFamily="34" charset="-122"/>
                <a:cs typeface="Arial" pitchFamily="34" charset="-120"/>
              </a:rPr>
              <a:t>Any numeric result of the paper</a:t>
            </a:r>
            <a:endParaRPr lang="en-US" sz="1300" dirty="0"/>
          </a:p>
        </p:txBody>
      </p:sp>
      <p:sp>
        <p:nvSpPr>
          <p:cNvPr id="10" name="sc0"/>
          <p:cNvSpPr/>
          <p:nvPr/>
        </p:nvSpPr>
        <p:spPr>
          <a:xfrm>
            <a:off x="548640" y="4709160"/>
            <a:ext cx="2633472" cy="1188720"/>
          </a:xfrm>
          <a:prstGeom prst="roundRect">
            <a:avLst>
              <a:gd name="adj" fmla="val 4615"/>
            </a:avLst>
          </a:prstGeom>
          <a:solidFill>
            <a:srgbClr val="EDEDED"/>
          </a:solidFill>
          <a:ln w="12700">
            <a:solidFill>
              <a:srgbClr val="EDEDED"/>
            </a:solidFill>
            <a:prstDash val="solid"/>
          </a:ln>
        </p:spPr>
      </p:sp>
      <p:sp>
        <p:nvSpPr>
          <p:cNvPr id="11" name="sc0-l"/>
          <p:cNvSpPr txBox="1"/>
          <p:nvPr/>
        </p:nvSpPr>
        <p:spPr>
          <a:xfrm>
            <a:off x="749808" y="487375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HARDWARE</a:t>
            </a:r>
            <a:endParaRPr lang="en-US" sz="1000" dirty="0"/>
          </a:p>
        </p:txBody>
      </p:sp>
      <p:sp>
        <p:nvSpPr>
          <p:cNvPr id="12" name="sc0-v"/>
          <p:cNvSpPr txBox="1"/>
          <p:nvPr/>
        </p:nvSpPr>
        <p:spPr>
          <a:xfrm>
            <a:off x="749808" y="512978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GTX 1650, 4 GB</a:t>
            </a:r>
            <a:endParaRPr lang="en-US" sz="2200" dirty="0"/>
          </a:p>
        </p:txBody>
      </p:sp>
      <p:sp>
        <p:nvSpPr>
          <p:cNvPr id="13" name="sc1"/>
          <p:cNvSpPr/>
          <p:nvPr/>
        </p:nvSpPr>
        <p:spPr>
          <a:xfrm>
            <a:off x="3364992" y="4709160"/>
            <a:ext cx="2633472" cy="1188720"/>
          </a:xfrm>
          <a:prstGeom prst="roundRect">
            <a:avLst>
              <a:gd name="adj" fmla="val 4615"/>
            </a:avLst>
          </a:prstGeom>
          <a:solidFill>
            <a:srgbClr val="EDEDED"/>
          </a:solidFill>
          <a:ln w="12700">
            <a:solidFill>
              <a:srgbClr val="EDEDED"/>
            </a:solidFill>
            <a:prstDash val="solid"/>
          </a:ln>
        </p:spPr>
      </p:sp>
      <p:sp>
        <p:nvSpPr>
          <p:cNvPr id="14" name="sc1-l"/>
          <p:cNvSpPr txBox="1"/>
          <p:nvPr/>
        </p:nvSpPr>
        <p:spPr>
          <a:xfrm>
            <a:off x="3566160" y="487375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API KEYS</a:t>
            </a:r>
            <a:endParaRPr lang="en-US" sz="1000" dirty="0"/>
          </a:p>
        </p:txBody>
      </p:sp>
      <p:sp>
        <p:nvSpPr>
          <p:cNvPr id="15" name="sc1-v"/>
          <p:cNvSpPr txBox="1"/>
          <p:nvPr/>
        </p:nvSpPr>
        <p:spPr>
          <a:xfrm>
            <a:off x="3566160" y="512978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None</a:t>
            </a:r>
            <a:endParaRPr lang="en-US" sz="2200" dirty="0"/>
          </a:p>
        </p:txBody>
      </p:sp>
      <p:sp>
        <p:nvSpPr>
          <p:cNvPr id="16" name="sc2"/>
          <p:cNvSpPr/>
          <p:nvPr/>
        </p:nvSpPr>
        <p:spPr>
          <a:xfrm>
            <a:off x="6181344" y="4709160"/>
            <a:ext cx="2633472" cy="1188720"/>
          </a:xfrm>
          <a:prstGeom prst="roundRect">
            <a:avLst>
              <a:gd name="adj" fmla="val 4615"/>
            </a:avLst>
          </a:prstGeom>
          <a:solidFill>
            <a:srgbClr val="EDEDED"/>
          </a:solidFill>
          <a:ln w="12700">
            <a:solidFill>
              <a:srgbClr val="EDEDED"/>
            </a:solidFill>
            <a:prstDash val="solid"/>
          </a:ln>
        </p:spPr>
      </p:sp>
      <p:sp>
        <p:nvSpPr>
          <p:cNvPr id="17" name="sc2-l"/>
          <p:cNvSpPr txBox="1"/>
          <p:nvPr/>
        </p:nvSpPr>
        <p:spPr>
          <a:xfrm>
            <a:off x="6382512" y="487375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TOTAL COST</a:t>
            </a:r>
            <a:endParaRPr lang="en-US" sz="1000" dirty="0"/>
          </a:p>
        </p:txBody>
      </p:sp>
      <p:sp>
        <p:nvSpPr>
          <p:cNvPr id="18" name="sc2-v"/>
          <p:cNvSpPr txBox="1"/>
          <p:nvPr/>
        </p:nvSpPr>
        <p:spPr>
          <a:xfrm>
            <a:off x="6382512" y="5129784"/>
            <a:ext cx="2231136" cy="530352"/>
          </a:xfrm>
          <a:prstGeom prst="rect">
            <a:avLst/>
          </a:prstGeom>
          <a:noFill/>
          <a:ln/>
        </p:spPr>
        <p:txBody>
          <a:bodyPr wrap="square" lIns="0" tIns="0" rIns="0" bIns="0" rtlCol="0" anchor="ctr"/>
          <a:lstStyle/>
          <a:p>
            <a:pPr indent="0" marL="0">
              <a:buNone/>
            </a:pPr>
            <a:r>
              <a:rPr lang="en-US" sz="2200" b="1" dirty="0">
                <a:solidFill>
                  <a:srgbClr val="E90802"/>
                </a:solidFill>
              </a:rPr>
              <a:t>$0</a:t>
            </a:r>
            <a:endParaRPr lang="en-US" sz="2200" dirty="0"/>
          </a:p>
        </p:txBody>
      </p:sp>
      <p:sp>
        <p:nvSpPr>
          <p:cNvPr id="19" name="sc3"/>
          <p:cNvSpPr/>
          <p:nvPr/>
        </p:nvSpPr>
        <p:spPr>
          <a:xfrm>
            <a:off x="8997696" y="4709160"/>
            <a:ext cx="2633472" cy="1188720"/>
          </a:xfrm>
          <a:prstGeom prst="roundRect">
            <a:avLst>
              <a:gd name="adj" fmla="val 4615"/>
            </a:avLst>
          </a:prstGeom>
          <a:solidFill>
            <a:srgbClr val="EDEDED"/>
          </a:solidFill>
          <a:ln w="12700">
            <a:solidFill>
              <a:srgbClr val="EDEDED"/>
            </a:solidFill>
            <a:prstDash val="solid"/>
          </a:ln>
        </p:spPr>
      </p:sp>
      <p:sp>
        <p:nvSpPr>
          <p:cNvPr id="20" name="sc3-l"/>
          <p:cNvSpPr txBox="1"/>
          <p:nvPr/>
        </p:nvSpPr>
        <p:spPr>
          <a:xfrm>
            <a:off x="9198864" y="487375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UNIT TESTS</a:t>
            </a:r>
            <a:endParaRPr lang="en-US" sz="1000" dirty="0"/>
          </a:p>
        </p:txBody>
      </p:sp>
      <p:sp>
        <p:nvSpPr>
          <p:cNvPr id="21" name="sc3-v"/>
          <p:cNvSpPr txBox="1"/>
          <p:nvPr/>
        </p:nvSpPr>
        <p:spPr>
          <a:xfrm>
            <a:off x="9198864" y="5129784"/>
            <a:ext cx="2231136" cy="530352"/>
          </a:xfrm>
          <a:prstGeom prst="rect">
            <a:avLst/>
          </a:prstGeom>
          <a:noFill/>
          <a:ln/>
        </p:spPr>
        <p:txBody>
          <a:bodyPr wrap="square" lIns="0" tIns="0" rIns="0" bIns="0" rtlCol="0" anchor="ctr"/>
          <a:lstStyle/>
          <a:p>
            <a:pPr indent="0" marL="0">
              <a:buNone/>
            </a:pPr>
            <a:r>
              <a:rPr lang="en-US" sz="2200" b="1" dirty="0">
                <a:solidFill>
                  <a:srgbClr val="000000"/>
                </a:solidFill>
              </a:rPr>
              <a:t>59 passing</a:t>
            </a:r>
            <a:endParaRPr lang="en-US" sz="22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COMPONENT SUBSTITUTIONS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paid component replaced by a free local one</a:t>
            </a:r>
            <a:endParaRPr lang="en-US" sz="3000" dirty="0"/>
          </a:p>
        </p:txBody>
      </p:sp>
      <p:graphicFrame>
        <p:nvGraphicFramePr>
          <p:cNvPr id="8" name="map"/>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017520"/>
                <a:gridCol w="4023360"/>
                <a:gridCol w="4023360"/>
              </a:tblGrid>
              <a:tr h="32918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Component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 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GPT-4o (paid API)</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Qwen2.5-3B-Instruct, Q4_K_M</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 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Llama 3.3-70B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Llama-3.2-3B-Instruct, Q4_K_M</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 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 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used — two 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Extract / refine / verify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Llama 3.3-70B-Instruct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Qwen2.5-3B-Instruct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Detection 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of 3 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of 2 judges; majority also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Evidence source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Google Search via Serper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Wikipedia API, cached for replay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Evidence 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cross-encoder reranker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BM25 over retrieved paragraphs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Benchmark</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FactRBench, 1,096 prompts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mini benchmark, 12 prompts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Reference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 frontier LLMs + human answers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86 facts, written and verified by hand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2918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Serving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vLLM, multi-GPU</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Ollama / llama.cpp, one 4 GB GPU</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model names live in config.yaml; none is hard-coded. Backends: ollama, llama_cpp_server, llama_cpp_python.</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EXPERIMENTAL DESIGN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The answer is generated once and shared</a:t>
            </a:r>
            <a:endParaRPr lang="en-US" sz="3000" dirty="0"/>
          </a:p>
        </p:txBody>
      </p:sp>
      <p:sp>
        <p:nvSpPr>
          <p:cNvPr id="4" name="gen-box"/>
          <p:cNvSpPr/>
          <p:nvPr/>
        </p:nvSpPr>
        <p:spPr>
          <a:xfrm>
            <a:off x="2377440" y="1234440"/>
            <a:ext cx="7406640" cy="566928"/>
          </a:xfrm>
          <a:prstGeom prst="roundRect">
            <a:avLst>
              <a:gd name="adj" fmla="val 50000"/>
            </a:avLst>
          </a:prstGeom>
          <a:solidFill>
            <a:srgbClr val="E90802"/>
          </a:solidFill>
          <a:ln w="12700">
            <a:solidFill>
              <a:srgbClr val="E90802"/>
            </a:solidFill>
            <a:prstDash val="solid"/>
          </a:ln>
        </p:spPr>
      </p:sp>
      <p:sp>
        <p:nvSpPr>
          <p:cNvPr id="5" name="gen-text"/>
          <p:cNvSpPr txBox="1"/>
          <p:nvPr/>
        </p:nvSpPr>
        <p:spPr>
          <a:xfrm>
            <a:off x="2377440" y="1234440"/>
            <a:ext cx="7406640"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Question → local LLM generates the answer ONCE → outputs/answers.json</a:t>
            </a:r>
            <a:endParaRPr lang="en-US" sz="1400" dirty="0"/>
          </a:p>
        </p:txBody>
      </p:sp>
      <p:sp>
        <p:nvSpPr>
          <p:cNvPr id="6" name="base"/>
          <p:cNvSpPr/>
          <p:nvPr/>
        </p:nvSpPr>
        <p:spPr>
          <a:xfrm>
            <a:off x="1325880" y="2103120"/>
            <a:ext cx="4572000" cy="2286000"/>
          </a:xfrm>
          <a:prstGeom prst="roundRect">
            <a:avLst>
              <a:gd name="adj" fmla="val 2400"/>
            </a:avLst>
          </a:prstGeom>
          <a:solidFill>
            <a:srgbClr val="333333"/>
          </a:solidFill>
          <a:ln w="12700">
            <a:solidFill>
              <a:srgbClr val="333333"/>
            </a:solidFill>
            <a:prstDash val="solid"/>
          </a:ln>
        </p:spPr>
      </p:sp>
      <p:sp>
        <p:nvSpPr>
          <p:cNvPr id="7" name="base-h"/>
          <p:cNvSpPr txBox="1"/>
          <p:nvPr/>
        </p:nvSpPr>
        <p:spPr>
          <a:xfrm>
            <a:off x="1563624" y="2304288"/>
            <a:ext cx="4096512" cy="310896"/>
          </a:xfrm>
          <a:prstGeom prst="rect">
            <a:avLst/>
          </a:prstGeom>
          <a:noFill/>
          <a:ln/>
        </p:spPr>
        <p:txBody>
          <a:bodyPr wrap="square" lIns="0" tIns="0" rIns="0" bIns="0" rtlCol="0" anchor="ctr"/>
          <a:lstStyle/>
          <a:p>
            <a:pPr indent="0" marL="0">
              <a:buNone/>
            </a:pPr>
            <a:r>
              <a:rPr lang="en-US" sz="1500" b="1" dirty="0">
                <a:solidFill>
                  <a:srgbClr val="FFFFFF"/>
                </a:solidFill>
              </a:rPr>
              <a:t>Baseline — variant A</a:t>
            </a:r>
            <a:endParaRPr lang="en-US" sz="1500" dirty="0"/>
          </a:p>
        </p:txBody>
      </p:sp>
      <p:sp>
        <p:nvSpPr>
          <p:cNvPr id="8" name="base-b"/>
          <p:cNvSpPr txBox="1"/>
          <p:nvPr/>
        </p:nvSpPr>
        <p:spPr>
          <a:xfrm>
            <a:off x="1563624" y="2688336"/>
            <a:ext cx="4096512" cy="151790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SAFE-style extraction</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Retrieval and verification</a:t>
            </a:r>
            <a:endParaRPr lang="en-US" sz="1400" dirty="0"/>
          </a:p>
        </p:txBody>
      </p:sp>
      <p:sp>
        <p:nvSpPr>
          <p:cNvPr id="9" name="vfl"/>
          <p:cNvSpPr/>
          <p:nvPr/>
        </p:nvSpPr>
        <p:spPr>
          <a:xfrm>
            <a:off x="6309360" y="2103120"/>
            <a:ext cx="4572000" cy="2286000"/>
          </a:xfrm>
          <a:prstGeom prst="roundRect">
            <a:avLst>
              <a:gd name="adj" fmla="val 2400"/>
            </a:avLst>
          </a:prstGeom>
          <a:solidFill>
            <a:srgbClr val="333333"/>
          </a:solidFill>
          <a:ln w="19050">
            <a:solidFill>
              <a:srgbClr val="E90802"/>
            </a:solidFill>
            <a:prstDash val="solid"/>
          </a:ln>
        </p:spPr>
      </p:sp>
      <p:sp>
        <p:nvSpPr>
          <p:cNvPr id="10" name="vfl-h"/>
          <p:cNvSpPr txBox="1"/>
          <p:nvPr/>
        </p:nvSpPr>
        <p:spPr>
          <a:xfrm>
            <a:off x="6547104" y="2304288"/>
            <a:ext cx="4096512" cy="310896"/>
          </a:xfrm>
          <a:prstGeom prst="rect">
            <a:avLst/>
          </a:prstGeom>
          <a:noFill/>
          <a:ln/>
        </p:spPr>
        <p:txBody>
          <a:bodyPr wrap="square" lIns="0" tIns="0" rIns="0" bIns="0" rtlCol="0" anchor="ctr"/>
          <a:lstStyle/>
          <a:p>
            <a:pPr indent="0" marL="0">
              <a:buNone/>
            </a:pPr>
            <a:r>
              <a:rPr lang="en-US" sz="1500" b="1" dirty="0">
                <a:solidFill>
                  <a:srgbClr val="E90802"/>
                </a:solidFill>
              </a:rPr>
              <a:t>VERIFACT-Lite — variant D</a:t>
            </a:r>
            <a:endParaRPr lang="en-US" sz="1500" dirty="0"/>
          </a:p>
        </p:txBody>
      </p:sp>
      <p:sp>
        <p:nvSpPr>
          <p:cNvPr id="11" name="vfl-b"/>
          <p:cNvSpPr txBox="1"/>
          <p:nvPr/>
        </p:nvSpPr>
        <p:spPr>
          <a:xfrm>
            <a:off x="6547104" y="2688336"/>
            <a:ext cx="4096512" cy="151790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The same extraction, same facts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detect incomplete + missing relations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refine and add facts</a:t>
            </a:r>
            <a:endParaRPr lang="en-US" sz="1400" dirty="0"/>
          </a:p>
          <a:p>
            <a:pPr indent="0" marL="0">
              <a:lnSpc>
                <a:spcPct val="120000"/>
              </a:lnSpc>
              <a:buNone/>
            </a:pPr>
            <a:r>
              <a:rPr lang="en-US" sz="1400" dirty="0">
                <a:solidFill>
                  <a:srgbClr val="EDEDED"/>
                </a:solidFill>
                <a:latin typeface="Arial" pitchFamily="34" charset="0"/>
                <a:ea typeface="Arial" pitchFamily="34" charset="-122"/>
                <a:cs typeface="Arial" pitchFamily="34" charset="-120"/>
              </a:rPr>
              <a:t>↓  the same retrieval and verification</a:t>
            </a:r>
            <a:endParaRPr lang="en-US" sz="1400" dirty="0"/>
          </a:p>
        </p:txBody>
      </p:sp>
      <p:sp>
        <p:nvSpPr>
          <p:cNvPr id="12" name="det0"/>
          <p:cNvSpPr/>
          <p:nvPr/>
        </p:nvSpPr>
        <p:spPr>
          <a:xfrm>
            <a:off x="548640" y="4617720"/>
            <a:ext cx="3547872" cy="1234440"/>
          </a:xfrm>
          <a:prstGeom prst="roundRect">
            <a:avLst>
              <a:gd name="adj" fmla="val 4444"/>
            </a:avLst>
          </a:prstGeom>
          <a:solidFill>
            <a:srgbClr val="333333"/>
          </a:solidFill>
          <a:ln w="12700">
            <a:solidFill>
              <a:srgbClr val="333333"/>
            </a:solidFill>
            <a:prstDash val="solid"/>
          </a:ln>
        </p:spPr>
      </p:sp>
      <p:sp>
        <p:nvSpPr>
          <p:cNvPr id="13" name="det0-h"/>
          <p:cNvSpPr txBox="1"/>
          <p:nvPr/>
        </p:nvSpPr>
        <p:spPr>
          <a:xfrm>
            <a:off x="786384" y="481888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Determinism</a:t>
            </a:r>
            <a:endParaRPr lang="en-US" sz="1300" dirty="0"/>
          </a:p>
        </p:txBody>
      </p:sp>
      <p:sp>
        <p:nvSpPr>
          <p:cNvPr id="14" name="det0-b"/>
          <p:cNvSpPr txBox="1"/>
          <p:nvPr/>
        </p:nvSpPr>
        <p:spPr>
          <a:xfrm>
            <a:off x="786384" y="520293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Every LLM call cached as hash(model + prompt + params)</a:t>
            </a:r>
            <a:endParaRPr lang="en-US" sz="1200" dirty="0"/>
          </a:p>
        </p:txBody>
      </p:sp>
      <p:sp>
        <p:nvSpPr>
          <p:cNvPr id="15" name="det1"/>
          <p:cNvSpPr/>
          <p:nvPr/>
        </p:nvSpPr>
        <p:spPr>
          <a:xfrm>
            <a:off x="4279392" y="4617720"/>
            <a:ext cx="3547872" cy="1234440"/>
          </a:xfrm>
          <a:prstGeom prst="roundRect">
            <a:avLst>
              <a:gd name="adj" fmla="val 4444"/>
            </a:avLst>
          </a:prstGeom>
          <a:solidFill>
            <a:srgbClr val="333333"/>
          </a:solidFill>
          <a:ln w="12700">
            <a:solidFill>
              <a:srgbClr val="333333"/>
            </a:solidFill>
            <a:prstDash val="solid"/>
          </a:ln>
        </p:spPr>
      </p:sp>
      <p:sp>
        <p:nvSpPr>
          <p:cNvPr id="16" name="det1-h"/>
          <p:cNvSpPr txBox="1"/>
          <p:nvPr/>
        </p:nvSpPr>
        <p:spPr>
          <a:xfrm>
            <a:off x="4517136" y="481888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Evidence</a:t>
            </a:r>
            <a:endParaRPr lang="en-US" sz="1300" dirty="0"/>
          </a:p>
        </p:txBody>
      </p:sp>
      <p:sp>
        <p:nvSpPr>
          <p:cNvPr id="17" name="det1-b"/>
          <p:cNvSpPr txBox="1"/>
          <p:nvPr/>
        </p:nvSpPr>
        <p:spPr>
          <a:xfrm>
            <a:off x="4517136" y="520293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Wikipedia pages cached on disk, replayable offline</a:t>
            </a:r>
            <a:endParaRPr lang="en-US" sz="1200" dirty="0"/>
          </a:p>
        </p:txBody>
      </p:sp>
      <p:sp>
        <p:nvSpPr>
          <p:cNvPr id="18" name="det2"/>
          <p:cNvSpPr/>
          <p:nvPr/>
        </p:nvSpPr>
        <p:spPr>
          <a:xfrm>
            <a:off x="8010144" y="4617720"/>
            <a:ext cx="3547872" cy="1234440"/>
          </a:xfrm>
          <a:prstGeom prst="roundRect">
            <a:avLst>
              <a:gd name="adj" fmla="val 4444"/>
            </a:avLst>
          </a:prstGeom>
          <a:solidFill>
            <a:srgbClr val="333333"/>
          </a:solidFill>
          <a:ln w="12700">
            <a:solidFill>
              <a:srgbClr val="333333"/>
            </a:solidFill>
            <a:prstDash val="solid"/>
          </a:ln>
        </p:spPr>
      </p:sp>
      <p:sp>
        <p:nvSpPr>
          <p:cNvPr id="19" name="det2-h"/>
          <p:cNvSpPr txBox="1"/>
          <p:nvPr/>
        </p:nvSpPr>
        <p:spPr>
          <a:xfrm>
            <a:off x="8247888" y="481888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Ablation</a:t>
            </a:r>
            <a:endParaRPr lang="en-US" sz="1300" dirty="0"/>
          </a:p>
        </p:txBody>
      </p:sp>
      <p:sp>
        <p:nvSpPr>
          <p:cNvPr id="20" name="det2-b"/>
          <p:cNvSpPr txBox="1"/>
          <p:nvPr/>
        </p:nvSpPr>
        <p:spPr>
          <a:xfrm>
            <a:off x="8247888" y="5202936"/>
            <a:ext cx="3072384"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 B, C and D scored on one identical answer set</a:t>
            </a:r>
            <a:endParaRPr lang="en-US" sz="1200" dirty="0"/>
          </a:p>
        </p:txBody>
      </p:sp>
      <p:sp>
        <p:nvSpPr>
          <p:cNvPr id="2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two pipelines differ in exactly one thing: whether the refinement stage runs.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STEP 2B — THE PAPER'S ALGORITHM 1</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Word mapping finds what the facts never covered</a:t>
            </a:r>
            <a:endParaRPr lang="en-US" sz="3000" dirty="0"/>
          </a:p>
        </p:txBody>
      </p:sp>
      <p:sp>
        <p:nvSpPr>
          <p:cNvPr id="4" name="algo"/>
          <p:cNvSpPr txBox="1"/>
          <p:nvPr/>
        </p:nvSpPr>
        <p:spPr>
          <a:xfrm>
            <a:off x="548640" y="1188720"/>
            <a:ext cx="5486400" cy="137160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For each fact, take its longest common substring with the response.</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Mark those response characters as 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Collect the contiguous runs that stayed uncovered.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Send those spans to the judges as missing-relation candidates.</a:t>
            </a:r>
            <a:endParaRPr lang="en-US" sz="1400" dirty="0"/>
          </a:p>
        </p:txBody>
      </p:sp>
      <p:sp>
        <p:nvSpPr>
          <p:cNvPr id="5" name="impl"/>
          <p:cNvSpPr/>
          <p:nvPr/>
        </p:nvSpPr>
        <p:spPr>
          <a:xfrm>
            <a:off x="548640" y="2697480"/>
            <a:ext cx="5486400" cy="1828800"/>
          </a:xfrm>
          <a:prstGeom prst="roundRect">
            <a:avLst>
              <a:gd name="adj" fmla="val 3000"/>
            </a:avLst>
          </a:prstGeom>
          <a:solidFill>
            <a:srgbClr val="EDEDED"/>
          </a:solidFill>
          <a:ln w="12700">
            <a:solidFill>
              <a:srgbClr val="EDEDED"/>
            </a:solidFill>
            <a:prstDash val="solid"/>
          </a:ln>
        </p:spPr>
      </p:sp>
      <p:sp>
        <p:nvSpPr>
          <p:cNvPr id="6" name="impl-h"/>
          <p:cNvSpPr txBox="1"/>
          <p:nvPr/>
        </p:nvSpPr>
        <p:spPr>
          <a:xfrm>
            <a:off x="786384" y="2898648"/>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Implementation</a:t>
            </a:r>
            <a:endParaRPr lang="en-US" sz="1500" dirty="0"/>
          </a:p>
        </p:txBody>
      </p:sp>
      <p:sp>
        <p:nvSpPr>
          <p:cNvPr id="7" name="impl-b"/>
          <p:cNvSpPr txBox="1"/>
          <p:nvPr/>
        </p:nvSpPr>
        <p:spPr>
          <a:xfrm>
            <a:off x="786384" y="3282696"/>
            <a:ext cx="5010912" cy="106070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 Mapping runs per sentence, as the official repo does.</a:t>
            </a:r>
            <a:endParaRPr lang="en-US" sz="1200" dirty="0"/>
          </a:p>
        </p:txBody>
      </p:sp>
      <p:sp>
        <p:nvSpPr>
          <p:cNvPr id="8" name="cov-box"/>
          <p:cNvSpPr/>
          <p:nvPr/>
        </p:nvSpPr>
        <p:spPr>
          <a:xfrm>
            <a:off x="6355080" y="1188720"/>
            <a:ext cx="5257800" cy="1783080"/>
          </a:xfrm>
          <a:prstGeom prst="roundRect">
            <a:avLst>
              <a:gd name="adj" fmla="val 3077"/>
            </a:avLst>
          </a:prstGeom>
          <a:solidFill>
            <a:srgbClr val="000000"/>
          </a:solidFill>
          <a:ln w="12700">
            <a:solidFill>
              <a:srgbClr val="000000"/>
            </a:solidFill>
            <a:prstDash val="solid"/>
          </a:ln>
        </p:spPr>
      </p:sp>
      <p:sp>
        <p:nvSpPr>
          <p:cNvPr id="9" name="cov-text"/>
          <p:cNvSpPr txBox="1"/>
          <p:nvPr/>
        </p:nvSpPr>
        <p:spPr>
          <a:xfrm>
            <a:off x="6592824" y="1371600"/>
            <a:ext cx="4800600" cy="1143000"/>
          </a:xfrm>
          <a:prstGeom prst="rect">
            <a:avLst/>
          </a:prstGeom>
          <a:noFill/>
          <a:ln/>
        </p:spPr>
        <p:txBody>
          <a:bodyPr wrap="square" lIns="0" tIns="0" rIns="0" bIns="0" rtlCol="0" anchor="ctr"/>
          <a:lstStyle/>
          <a:p>
            <a:pPr indent="0" marL="0">
              <a:lnSpc>
                <a:spcPct val="120000"/>
              </a:lnSpc>
              <a:buNone/>
            </a:pPr>
            <a:r>
              <a:rPr lang="en-US" sz="1300" dirty="0">
                <a:solidFill>
                  <a:srgbClr val="757575"/>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30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300" dirty="0">
                <a:solidFill>
                  <a:srgbClr val="757575"/>
                </a:solidFill>
                <a:latin typeface="Arial" pitchFamily="34" charset="0"/>
                <a:ea typeface="Arial" pitchFamily="34" charset="-122"/>
                <a:cs typeface="Arial" pitchFamily="34" charset="-120"/>
              </a:rPr>
              <a:t>copper and silver.</a:t>
            </a:r>
            <a:endParaRPr lang="en-US" sz="1300" dirty="0"/>
          </a:p>
        </p:txBody>
      </p:sp>
      <p:sp>
        <p:nvSpPr>
          <p:cNvPr id="10" name="cov-key"/>
          <p:cNvSpPr txBox="1"/>
          <p:nvPr/>
        </p:nvSpPr>
        <p:spPr>
          <a:xfrm>
            <a:off x="6592824" y="2578608"/>
            <a:ext cx="4800600" cy="237744"/>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grey = matched by some fact   ·   scarlet = uncovered span</a:t>
            </a:r>
            <a:endParaRPr lang="en-US" sz="1000" dirty="0"/>
          </a:p>
        </p:txBody>
      </p:sp>
      <p:sp>
        <p:nvSpPr>
          <p:cNvPr id="11" name="twoq"/>
          <p:cNvSpPr/>
          <p:nvPr/>
        </p:nvSpPr>
        <p:spPr>
          <a:xfrm>
            <a:off x="6355080" y="3108960"/>
            <a:ext cx="5257800" cy="1417320"/>
          </a:xfrm>
          <a:prstGeom prst="roundRect">
            <a:avLst>
              <a:gd name="adj" fmla="val 3871"/>
            </a:avLst>
          </a:prstGeom>
          <a:solidFill>
            <a:srgbClr val="FFFFFF"/>
          </a:solidFill>
          <a:ln w="12700">
            <a:solidFill>
              <a:srgbClr val="EDEDED"/>
            </a:solidFill>
            <a:prstDash val="solid"/>
          </a:ln>
        </p:spPr>
      </p:sp>
      <p:sp>
        <p:nvSpPr>
          <p:cNvPr id="12" name="twoq-h"/>
          <p:cNvSpPr txBox="1"/>
          <p:nvPr/>
        </p:nvSpPr>
        <p:spPr>
          <a:xfrm>
            <a:off x="6592824" y="3310128"/>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Then two judge questions</a:t>
            </a:r>
            <a:endParaRPr lang="en-US" sz="1500" dirty="0"/>
          </a:p>
        </p:txBody>
      </p:sp>
      <p:sp>
        <p:nvSpPr>
          <p:cNvPr id="13" name="twoq-b"/>
          <p:cNvSpPr txBox="1"/>
          <p:nvPr/>
        </p:nvSpPr>
        <p:spPr>
          <a:xfrm>
            <a:off x="6592824" y="3694176"/>
            <a:ext cx="4782312" cy="64922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2. Does any single existing fact already capture it?</a:t>
            </a:r>
            <a:endParaRPr lang="en-US" sz="1200" dirty="0"/>
          </a:p>
        </p:txBody>
      </p:sp>
      <p:sp>
        <p:nvSpPr>
          <p:cNvPr id="14" name="wm1"/>
          <p:cNvSpPr/>
          <p:nvPr/>
        </p:nvSpPr>
        <p:spPr>
          <a:xfrm>
            <a:off x="548640" y="4754880"/>
            <a:ext cx="3566160" cy="1143000"/>
          </a:xfrm>
          <a:prstGeom prst="roundRect">
            <a:avLst>
              <a:gd name="adj" fmla="val 4800"/>
            </a:avLst>
          </a:prstGeom>
          <a:solidFill>
            <a:srgbClr val="EDEDED"/>
          </a:solidFill>
          <a:ln w="12700">
            <a:solidFill>
              <a:srgbClr val="EDEDED"/>
            </a:solidFill>
            <a:prstDash val="solid"/>
          </a:ln>
        </p:spPr>
      </p:sp>
      <p:sp>
        <p:nvSpPr>
          <p:cNvPr id="15" name="wm1-l"/>
          <p:cNvSpPr txBox="1"/>
          <p:nvPr/>
        </p:nvSpPr>
        <p:spPr>
          <a:xfrm>
            <a:off x="74980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CHARACTER COVERAGE</a:t>
            </a:r>
            <a:endParaRPr lang="en-US" sz="1000" dirty="0"/>
          </a:p>
        </p:txBody>
      </p:sp>
      <p:sp>
        <p:nvSpPr>
          <p:cNvPr id="16" name="wm1-v"/>
          <p:cNvSpPr txBox="1"/>
          <p:nvPr/>
        </p:nvSpPr>
        <p:spPr>
          <a:xfrm>
            <a:off x="749808" y="517550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0.55–0.59</a:t>
            </a:r>
            <a:endParaRPr lang="en-US" sz="2400" dirty="0"/>
          </a:p>
        </p:txBody>
      </p:sp>
      <p:sp>
        <p:nvSpPr>
          <p:cNvPr id="17" name="wm2"/>
          <p:cNvSpPr/>
          <p:nvPr/>
        </p:nvSpPr>
        <p:spPr>
          <a:xfrm>
            <a:off x="4297680" y="4754880"/>
            <a:ext cx="3566160" cy="1143000"/>
          </a:xfrm>
          <a:prstGeom prst="roundRect">
            <a:avLst>
              <a:gd name="adj" fmla="val 4800"/>
            </a:avLst>
          </a:prstGeom>
          <a:solidFill>
            <a:srgbClr val="EDEDED"/>
          </a:solidFill>
          <a:ln w="12700">
            <a:solidFill>
              <a:srgbClr val="EDEDED"/>
            </a:solidFill>
            <a:prstDash val="solid"/>
          </a:ln>
        </p:spPr>
      </p:sp>
      <p:sp>
        <p:nvSpPr>
          <p:cNvPr id="18" name="wm2-l"/>
          <p:cNvSpPr txBox="1"/>
          <p:nvPr/>
        </p:nvSpPr>
        <p:spPr>
          <a:xfrm>
            <a:off x="449884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CANDIDATE SPANS FOUND</a:t>
            </a:r>
            <a:endParaRPr lang="en-US" sz="1000" dirty="0"/>
          </a:p>
        </p:txBody>
      </p:sp>
      <p:sp>
        <p:nvSpPr>
          <p:cNvPr id="19" name="wm2-v"/>
          <p:cNvSpPr txBox="1"/>
          <p:nvPr/>
        </p:nvSpPr>
        <p:spPr>
          <a:xfrm>
            <a:off x="4498848" y="517550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73</a:t>
            </a:r>
            <a:endParaRPr lang="en-US" sz="2400" dirty="0"/>
          </a:p>
        </p:txBody>
      </p:sp>
      <p:sp>
        <p:nvSpPr>
          <p:cNvPr id="20" name="wm3"/>
          <p:cNvSpPr/>
          <p:nvPr/>
        </p:nvSpPr>
        <p:spPr>
          <a:xfrm>
            <a:off x="8046720" y="4754880"/>
            <a:ext cx="3566160" cy="1143000"/>
          </a:xfrm>
          <a:prstGeom prst="roundRect">
            <a:avLst>
              <a:gd name="adj" fmla="val 4800"/>
            </a:avLst>
          </a:prstGeom>
          <a:solidFill>
            <a:srgbClr val="EDEDED"/>
          </a:solidFill>
          <a:ln w="12700">
            <a:solidFill>
              <a:srgbClr val="EDEDED"/>
            </a:solidFill>
            <a:prstDash val="solid"/>
          </a:ln>
        </p:spPr>
      </p:sp>
      <p:sp>
        <p:nvSpPr>
          <p:cNvPr id="21" name="wm3-l"/>
          <p:cNvSpPr txBox="1"/>
          <p:nvPr/>
        </p:nvSpPr>
        <p:spPr>
          <a:xfrm>
            <a:off x="824788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FACT ADDED ONLY WHEN</a:t>
            </a:r>
            <a:endParaRPr lang="en-US" sz="1000" dirty="0"/>
          </a:p>
        </p:txBody>
      </p:sp>
      <p:sp>
        <p:nvSpPr>
          <p:cNvPr id="22" name="wm3-v"/>
          <p:cNvSpPr txBox="1"/>
          <p:nvPr/>
        </p:nvSpPr>
        <p:spPr>
          <a:xfrm>
            <a:off x="8247888" y="5175504"/>
            <a:ext cx="3163824" cy="530352"/>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MINI BENCHMARK</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12 questions chosen to contain the failure modes</a:t>
            </a:r>
            <a:endParaRPr lang="en-US" sz="3000" dirty="0"/>
          </a:p>
        </p:txBody>
      </p:sp>
      <p:sp>
        <p:nvSpPr>
          <p:cNvPr id="4" name="bm0"/>
          <p:cNvSpPr/>
          <p:nvPr/>
        </p:nvSpPr>
        <p:spPr>
          <a:xfrm>
            <a:off x="548640" y="1188720"/>
            <a:ext cx="3547872" cy="2148840"/>
          </a:xfrm>
          <a:prstGeom prst="roundRect">
            <a:avLst>
              <a:gd name="adj" fmla="val 2553"/>
            </a:avLst>
          </a:prstGeom>
          <a:solidFill>
            <a:srgbClr val="FFFFFF"/>
          </a:solidFill>
          <a:ln w="12700">
            <a:solidFill>
              <a:srgbClr val="EDEDED"/>
            </a:solidFill>
            <a:prstDash val="solid"/>
          </a:ln>
        </p:spPr>
      </p:sp>
      <p:sp>
        <p:nvSpPr>
          <p:cNvPr id="5" name="bm0-h"/>
          <p:cNvSpPr txBox="1"/>
          <p:nvPr/>
        </p:nvSpPr>
        <p:spPr>
          <a:xfrm>
            <a:off x="786384"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Question design</a:t>
            </a:r>
            <a:endParaRPr lang="en-US" sz="1500" dirty="0"/>
          </a:p>
        </p:txBody>
      </p:sp>
      <p:sp>
        <p:nvSpPr>
          <p:cNvPr id="6" name="bm0-b"/>
          <p:cNvSpPr txBox="1"/>
          <p:nvPr/>
        </p:nvSpPr>
        <p:spPr>
          <a:xfrm>
            <a:off x="786384" y="1773936"/>
            <a:ext cx="3072384" cy="13807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Each prompt invites conditions, comparisons, event order or cause and effect. Gold and jewelry, aluminium vs silver, Chernobyl, Panama Canal, Concorde, sea ice.</a:t>
            </a:r>
            <a:endParaRPr lang="en-US" sz="1200" dirty="0"/>
          </a:p>
        </p:txBody>
      </p:sp>
      <p:sp>
        <p:nvSpPr>
          <p:cNvPr id="7" name="bm1"/>
          <p:cNvSpPr/>
          <p:nvPr/>
        </p:nvSpPr>
        <p:spPr>
          <a:xfrm>
            <a:off x="4279392" y="1188720"/>
            <a:ext cx="3547872" cy="2148840"/>
          </a:xfrm>
          <a:prstGeom prst="roundRect">
            <a:avLst>
              <a:gd name="adj" fmla="val 2553"/>
            </a:avLst>
          </a:prstGeom>
          <a:solidFill>
            <a:srgbClr val="FFFFFF"/>
          </a:solidFill>
          <a:ln w="12700">
            <a:solidFill>
              <a:srgbClr val="EDEDED"/>
            </a:solidFill>
            <a:prstDash val="solid"/>
          </a:ln>
        </p:spPr>
      </p:sp>
      <p:sp>
        <p:nvSpPr>
          <p:cNvPr id="8" name="bm1-h"/>
          <p:cNvSpPr txBox="1"/>
          <p:nvPr/>
        </p:nvSpPr>
        <p:spPr>
          <a:xfrm>
            <a:off x="4517136"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Reference facts</a:t>
            </a:r>
            <a:endParaRPr lang="en-US" sz="1500" dirty="0"/>
          </a:p>
        </p:txBody>
      </p:sp>
      <p:sp>
        <p:nvSpPr>
          <p:cNvPr id="9" name="bm1-b"/>
          <p:cNvSpPr txBox="1"/>
          <p:nvPr/>
        </p:nvSpPr>
        <p:spPr>
          <a:xfrm>
            <a:off x="4517136" y="1773936"/>
            <a:ext cx="3072384" cy="13807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86 facts, 3–8 per question, written by hand from authoritative sources and not derived from the answer being evaluated. Sources recorded in the JSONL.</a:t>
            </a:r>
            <a:endParaRPr lang="en-US" sz="1200" dirty="0"/>
          </a:p>
        </p:txBody>
      </p:sp>
      <p:sp>
        <p:nvSpPr>
          <p:cNvPr id="10" name="bm2"/>
          <p:cNvSpPr/>
          <p:nvPr/>
        </p:nvSpPr>
        <p:spPr>
          <a:xfrm>
            <a:off x="8010144" y="1188720"/>
            <a:ext cx="3547872" cy="2148840"/>
          </a:xfrm>
          <a:prstGeom prst="roundRect">
            <a:avLst>
              <a:gd name="adj" fmla="val 2553"/>
            </a:avLst>
          </a:prstGeom>
          <a:solidFill>
            <a:srgbClr val="FFFFFF"/>
          </a:solidFill>
          <a:ln w="12700">
            <a:solidFill>
              <a:srgbClr val="EDEDED"/>
            </a:solidFill>
            <a:prstDash val="solid"/>
          </a:ln>
        </p:spPr>
      </p:sp>
      <p:sp>
        <p:nvSpPr>
          <p:cNvPr id="11" name="bm2-h"/>
          <p:cNvSpPr txBox="1"/>
          <p:nvPr/>
        </p:nvSpPr>
        <p:spPr>
          <a:xfrm>
            <a:off x="8247888" y="1389888"/>
            <a:ext cx="3072384" cy="310896"/>
          </a:xfrm>
          <a:prstGeom prst="rect">
            <a:avLst/>
          </a:prstGeom>
          <a:noFill/>
          <a:ln/>
        </p:spPr>
        <p:txBody>
          <a:bodyPr wrap="square" lIns="0" tIns="0" rIns="0" bIns="0" rtlCol="0" anchor="ctr"/>
          <a:lstStyle/>
          <a:p>
            <a:pPr indent="0" marL="0">
              <a:buNone/>
            </a:pPr>
            <a:r>
              <a:rPr lang="en-US" sz="1500" b="1" dirty="0">
                <a:solidFill>
                  <a:srgbClr val="000000"/>
                </a:solidFill>
              </a:rPr>
              <a:t>Answers</a:t>
            </a:r>
            <a:endParaRPr lang="en-US" sz="1500" dirty="0"/>
          </a:p>
        </p:txBody>
      </p:sp>
      <p:sp>
        <p:nvSpPr>
          <p:cNvPr id="12" name="bm2-b"/>
          <p:cNvSpPr txBox="1"/>
          <p:nvPr/>
        </p:nvSpPr>
        <p:spPr>
          <a:xfrm>
            <a:off x="8247888" y="1773936"/>
            <a:ext cx="3072384" cy="13807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One paragraph per question from Qwen2.5-3B at temperature 0.7, generated once. Every evaluation call runs at temperature 0.0–0.2.</a:t>
            </a:r>
            <a:endParaRPr lang="en-US" sz="1200" dirty="0"/>
          </a:p>
        </p:txBody>
      </p:sp>
      <p:sp>
        <p:nvSpPr>
          <p:cNvPr id="13" name="met0"/>
          <p:cNvSpPr/>
          <p:nvPr/>
        </p:nvSpPr>
        <p:spPr>
          <a:xfrm>
            <a:off x="548640" y="3566160"/>
            <a:ext cx="3547872" cy="2286000"/>
          </a:xfrm>
          <a:prstGeom prst="roundRect">
            <a:avLst>
              <a:gd name="adj" fmla="val 2400"/>
            </a:avLst>
          </a:prstGeom>
          <a:solidFill>
            <a:srgbClr val="000000"/>
          </a:solidFill>
          <a:ln w="12700">
            <a:solidFill>
              <a:srgbClr val="000000"/>
            </a:solidFill>
            <a:prstDash val="solid"/>
          </a:ln>
        </p:spPr>
      </p:sp>
      <p:sp>
        <p:nvSpPr>
          <p:cNvPr id="14" name="met0-h"/>
          <p:cNvSpPr txBox="1"/>
          <p:nvPr/>
        </p:nvSpPr>
        <p:spPr>
          <a:xfrm>
            <a:off x="786384" y="376732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Precision</a:t>
            </a:r>
            <a:endParaRPr lang="en-US" sz="1500" dirty="0"/>
          </a:p>
        </p:txBody>
      </p:sp>
      <p:sp>
        <p:nvSpPr>
          <p:cNvPr id="15" name="met0-b"/>
          <p:cNvSpPr txBox="1"/>
          <p:nvPr/>
        </p:nvSpPr>
        <p:spPr>
          <a:xfrm>
            <a:off x="786384" y="4151376"/>
            <a:ext cx="3072384" cy="151790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6" name="met1"/>
          <p:cNvSpPr/>
          <p:nvPr/>
        </p:nvSpPr>
        <p:spPr>
          <a:xfrm>
            <a:off x="4279392" y="3566160"/>
            <a:ext cx="3547872" cy="2286000"/>
          </a:xfrm>
          <a:prstGeom prst="roundRect">
            <a:avLst>
              <a:gd name="adj" fmla="val 2400"/>
            </a:avLst>
          </a:prstGeom>
          <a:solidFill>
            <a:srgbClr val="000000"/>
          </a:solidFill>
          <a:ln w="12700">
            <a:solidFill>
              <a:srgbClr val="000000"/>
            </a:solidFill>
            <a:prstDash val="solid"/>
          </a:ln>
        </p:spPr>
      </p:sp>
      <p:sp>
        <p:nvSpPr>
          <p:cNvPr id="17" name="met1-h"/>
          <p:cNvSpPr txBox="1"/>
          <p:nvPr/>
        </p:nvSpPr>
        <p:spPr>
          <a:xfrm>
            <a:off x="4517136" y="376732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Recall</a:t>
            </a:r>
            <a:endParaRPr lang="en-US" sz="1500" dirty="0"/>
          </a:p>
        </p:txBody>
      </p:sp>
      <p:sp>
        <p:nvSpPr>
          <p:cNvPr id="18" name="met1-b"/>
          <p:cNvSpPr txBox="1"/>
          <p:nvPr/>
        </p:nvSpPr>
        <p:spPr>
          <a:xfrm>
            <a:off x="4517136" y="4151376"/>
            <a:ext cx="3072384" cy="151790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Reference facts entailed by the answer ÷ all reference facts. Lexical gate, then local-LLM entailment.</a:t>
            </a:r>
            <a:endParaRPr lang="en-US" sz="1200" dirty="0"/>
          </a:p>
        </p:txBody>
      </p:sp>
      <p:sp>
        <p:nvSpPr>
          <p:cNvPr id="19" name="met2"/>
          <p:cNvSpPr/>
          <p:nvPr/>
        </p:nvSpPr>
        <p:spPr>
          <a:xfrm>
            <a:off x="8010144" y="3566160"/>
            <a:ext cx="3547872" cy="2286000"/>
          </a:xfrm>
          <a:prstGeom prst="roundRect">
            <a:avLst>
              <a:gd name="adj" fmla="val 2400"/>
            </a:avLst>
          </a:prstGeom>
          <a:solidFill>
            <a:srgbClr val="000000"/>
          </a:solidFill>
          <a:ln w="12700">
            <a:solidFill>
              <a:srgbClr val="000000"/>
            </a:solidFill>
            <a:prstDash val="solid"/>
          </a:ln>
        </p:spPr>
      </p:sp>
      <p:sp>
        <p:nvSpPr>
          <p:cNvPr id="20" name="met2-h"/>
          <p:cNvSpPr txBox="1"/>
          <p:nvPr/>
        </p:nvSpPr>
        <p:spPr>
          <a:xfrm>
            <a:off x="8247888" y="3767328"/>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Incomplete rate</a:t>
            </a:r>
            <a:endParaRPr lang="en-US" sz="1500" dirty="0"/>
          </a:p>
        </p:txBody>
      </p:sp>
      <p:sp>
        <p:nvSpPr>
          <p:cNvPr id="21" name="met2-b"/>
          <p:cNvSpPr txBox="1"/>
          <p:nvPr/>
        </p:nvSpPr>
        <p:spPr>
          <a:xfrm>
            <a:off x="8247888" y="4151376"/>
            <a:ext cx="3072384" cy="151790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Measured by one designated judge, while refinement is driven by the union — facts are not scored by the ensemble that selected them.</a:t>
            </a:r>
            <a:endParaRPr lang="en-US" sz="12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 12-question benchmark cannot support the paper's conclusions; it can show whether the mechanism behaves as described.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eyebrow"/>
          <p:cNvSpPr txBox="1"/>
          <p:nvPr/>
        </p:nvSpPr>
        <p:spPr>
          <a:xfrm>
            <a:off x="685800" y="2651760"/>
            <a:ext cx="10789920" cy="310896"/>
          </a:xfrm>
          <a:prstGeom prst="rect">
            <a:avLst/>
          </a:prstGeom>
          <a:noFill/>
          <a:ln/>
        </p:spPr>
        <p:txBody>
          <a:bodyPr wrap="square" lIns="0" tIns="0" rIns="0" bIns="0" rtlCol="0" anchor="ctr"/>
          <a:lstStyle/>
          <a:p>
            <a:pPr indent="0" marL="0">
              <a:buNone/>
            </a:pPr>
            <a:r>
              <a:rPr lang="en-US" sz="1300" b="1" spc="200" kern="0" dirty="0">
                <a:solidFill>
                  <a:srgbClr val="FFFFFF"/>
                </a:solidFill>
                <a:latin typeface="Arial" pitchFamily="34" charset="0"/>
                <a:ea typeface="Arial" pitchFamily="34" charset="-122"/>
                <a:cs typeface="Arial" pitchFamily="34" charset="-120"/>
              </a:rPr>
              <a:t>PART TWO</a:t>
            </a:r>
            <a:endParaRPr lang="en-US" sz="1300" dirty="0"/>
          </a:p>
        </p:txBody>
      </p:sp>
      <p:sp>
        <p:nvSpPr>
          <p:cNvPr id="3" name="sec-title"/>
          <p:cNvSpPr txBox="1"/>
          <p:nvPr/>
        </p:nvSpPr>
        <p:spPr>
          <a:xfrm>
            <a:off x="685800" y="3017520"/>
            <a:ext cx="10789920" cy="914400"/>
          </a:xfrm>
          <a:prstGeom prst="rect">
            <a:avLst/>
          </a:prstGeom>
          <a:noFill/>
          <a:ln/>
        </p:spPr>
        <p:txBody>
          <a:bodyPr wrap="square" lIns="0" tIns="0" rIns="0" bIns="0" rtlCol="0" anchor="ctr"/>
          <a:lstStyle/>
          <a:p>
            <a:pPr indent="0" marL="0">
              <a:buNone/>
            </a:pPr>
            <a:r>
              <a:rPr lang="en-US" sz="4200" b="1" dirty="0">
                <a:solidFill>
                  <a:srgbClr val="FFFFFF"/>
                </a:solidFill>
              </a:rPr>
              <a:t>Measured results</a:t>
            </a:r>
            <a:endParaRPr lang="en-US" sz="4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BASELINE VS VERIFACT-LITE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Extraction improves. Precision falls.</a:t>
            </a:r>
            <a:endParaRPr lang="en-US" sz="3000" dirty="0"/>
          </a:p>
        </p:txBody>
      </p:sp>
      <p:sp>
        <p:nvSpPr>
          <p:cNvPr id="4" name="h1"/>
          <p:cNvSpPr/>
          <p:nvPr/>
        </p:nvSpPr>
        <p:spPr>
          <a:xfrm>
            <a:off x="548640" y="1188720"/>
            <a:ext cx="2633472" cy="1371600"/>
          </a:xfrm>
          <a:prstGeom prst="roundRect">
            <a:avLst>
              <a:gd name="adj" fmla="val 4000"/>
            </a:avLst>
          </a:prstGeom>
          <a:solidFill>
            <a:srgbClr val="EDEDED"/>
          </a:solidFill>
          <a:ln w="12700">
            <a:solidFill>
              <a:srgbClr val="EDEDED"/>
            </a:solidFill>
            <a:prstDash val="solid"/>
          </a:ln>
        </p:spPr>
      </p:sp>
      <p:sp>
        <p:nvSpPr>
          <p:cNvPr id="5" name="h1-l"/>
          <p:cNvSpPr txBox="1"/>
          <p:nvPr/>
        </p:nvSpPr>
        <p:spPr>
          <a:xfrm>
            <a:off x="749808"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 RATE</a:t>
            </a:r>
            <a:endParaRPr lang="en-US" sz="1000" dirty="0"/>
          </a:p>
        </p:txBody>
      </p:sp>
      <p:sp>
        <p:nvSpPr>
          <p:cNvPr id="6" name="h1-v"/>
          <p:cNvSpPr txBox="1"/>
          <p:nvPr/>
        </p:nvSpPr>
        <p:spPr>
          <a:xfrm>
            <a:off x="749808"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0.105 → 0.091</a:t>
            </a:r>
            <a:endParaRPr lang="en-US" sz="2000" dirty="0"/>
          </a:p>
        </p:txBody>
      </p:sp>
      <p:sp>
        <p:nvSpPr>
          <p:cNvPr id="7" name="h1-f"/>
          <p:cNvSpPr txBox="1"/>
          <p:nvPr/>
        </p:nvSpPr>
        <p:spPr>
          <a:xfrm>
            <a:off x="749808"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−12.8%</a:t>
            </a:r>
            <a:endParaRPr lang="en-US" sz="1100" dirty="0"/>
          </a:p>
        </p:txBody>
      </p:sp>
      <p:sp>
        <p:nvSpPr>
          <p:cNvPr id="8" name="h2"/>
          <p:cNvSpPr/>
          <p:nvPr/>
        </p:nvSpPr>
        <p:spPr>
          <a:xfrm>
            <a:off x="3364992" y="1188720"/>
            <a:ext cx="2633472" cy="1371600"/>
          </a:xfrm>
          <a:prstGeom prst="roundRect">
            <a:avLst>
              <a:gd name="adj" fmla="val 4000"/>
            </a:avLst>
          </a:prstGeom>
          <a:solidFill>
            <a:srgbClr val="EDEDED"/>
          </a:solidFill>
          <a:ln w="12700">
            <a:solidFill>
              <a:srgbClr val="EDEDED"/>
            </a:solidFill>
            <a:prstDash val="solid"/>
          </a:ln>
        </p:spPr>
      </p:sp>
      <p:sp>
        <p:nvSpPr>
          <p:cNvPr id="9" name="h2-l"/>
          <p:cNvSpPr txBox="1"/>
          <p:nvPr/>
        </p:nvSpPr>
        <p:spPr>
          <a:xfrm>
            <a:off x="3566160"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RELATIONAL FACTS</a:t>
            </a:r>
            <a:endParaRPr lang="en-US" sz="1000" dirty="0"/>
          </a:p>
        </p:txBody>
      </p:sp>
      <p:sp>
        <p:nvSpPr>
          <p:cNvPr id="10" name="h2-v"/>
          <p:cNvSpPr txBox="1"/>
          <p:nvPr/>
        </p:nvSpPr>
        <p:spPr>
          <a:xfrm>
            <a:off x="3566160"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51 → 0</a:t>
            </a:r>
            <a:endParaRPr lang="en-US" sz="2000" dirty="0"/>
          </a:p>
        </p:txBody>
      </p:sp>
      <p:sp>
        <p:nvSpPr>
          <p:cNvPr id="11" name="h2-f"/>
          <p:cNvSpPr txBox="1"/>
          <p:nvPr/>
        </p:nvSpPr>
        <p:spPr>
          <a:xfrm>
            <a:off x="3566160"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all recovered</a:t>
            </a:r>
            <a:endParaRPr lang="en-US" sz="1100" dirty="0"/>
          </a:p>
        </p:txBody>
      </p:sp>
      <p:sp>
        <p:nvSpPr>
          <p:cNvPr id="12" name="h3"/>
          <p:cNvSpPr/>
          <p:nvPr/>
        </p:nvSpPr>
        <p:spPr>
          <a:xfrm>
            <a:off x="6181344" y="1188720"/>
            <a:ext cx="2633472" cy="1371600"/>
          </a:xfrm>
          <a:prstGeom prst="roundRect">
            <a:avLst>
              <a:gd name="adj" fmla="val 4000"/>
            </a:avLst>
          </a:prstGeom>
          <a:solidFill>
            <a:srgbClr val="EDEDED"/>
          </a:solidFill>
          <a:ln w="12700">
            <a:solidFill>
              <a:srgbClr val="EDEDED"/>
            </a:solidFill>
            <a:prstDash val="solid"/>
          </a:ln>
        </p:spPr>
      </p:sp>
      <p:sp>
        <p:nvSpPr>
          <p:cNvPr id="13" name="h3-l"/>
          <p:cNvSpPr txBox="1"/>
          <p:nvPr/>
        </p:nvSpPr>
        <p:spPr>
          <a:xfrm>
            <a:off x="6382512"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PRECISION</a:t>
            </a:r>
            <a:endParaRPr lang="en-US" sz="1000" dirty="0"/>
          </a:p>
        </p:txBody>
      </p:sp>
      <p:sp>
        <p:nvSpPr>
          <p:cNvPr id="14" name="h3-v"/>
          <p:cNvSpPr txBox="1"/>
          <p:nvPr/>
        </p:nvSpPr>
        <p:spPr>
          <a:xfrm>
            <a:off x="6382512"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0.420 → 0.343</a:t>
            </a:r>
            <a:endParaRPr lang="en-US" sz="2000" dirty="0"/>
          </a:p>
        </p:txBody>
      </p:sp>
      <p:sp>
        <p:nvSpPr>
          <p:cNvPr id="15" name="h3-f"/>
          <p:cNvSpPr txBox="1"/>
          <p:nvPr/>
        </p:nvSpPr>
        <p:spPr>
          <a:xfrm>
            <a:off x="6382512" y="2176272"/>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−0.077</a:t>
            </a:r>
            <a:endParaRPr lang="en-US" sz="1100" dirty="0"/>
          </a:p>
        </p:txBody>
      </p:sp>
      <p:sp>
        <p:nvSpPr>
          <p:cNvPr id="16" name="h4"/>
          <p:cNvSpPr/>
          <p:nvPr/>
        </p:nvSpPr>
        <p:spPr>
          <a:xfrm>
            <a:off x="8997696" y="1188720"/>
            <a:ext cx="2633472" cy="1371600"/>
          </a:xfrm>
          <a:prstGeom prst="roundRect">
            <a:avLst>
              <a:gd name="adj" fmla="val 4000"/>
            </a:avLst>
          </a:prstGeom>
          <a:solidFill>
            <a:srgbClr val="EDEDED"/>
          </a:solidFill>
          <a:ln w="12700">
            <a:solidFill>
              <a:srgbClr val="EDEDED"/>
            </a:solidFill>
            <a:prstDash val="solid"/>
          </a:ln>
        </p:spPr>
      </p:sp>
      <p:sp>
        <p:nvSpPr>
          <p:cNvPr id="17" name="h4-l"/>
          <p:cNvSpPr txBox="1"/>
          <p:nvPr/>
        </p:nvSpPr>
        <p:spPr>
          <a:xfrm>
            <a:off x="9198864" y="135331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RECALL · F1</a:t>
            </a:r>
            <a:endParaRPr lang="en-US" sz="1000" dirty="0"/>
          </a:p>
        </p:txBody>
      </p:sp>
      <p:sp>
        <p:nvSpPr>
          <p:cNvPr id="18" name="h4-v"/>
          <p:cNvSpPr txBox="1"/>
          <p:nvPr/>
        </p:nvSpPr>
        <p:spPr>
          <a:xfrm>
            <a:off x="9198864" y="160934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0.408 · 0.372</a:t>
            </a:r>
            <a:endParaRPr lang="en-US" sz="2000" dirty="0"/>
          </a:p>
        </p:txBody>
      </p:sp>
      <p:sp>
        <p:nvSpPr>
          <p:cNvPr id="19" name="h4-f"/>
          <p:cNvSpPr txBox="1"/>
          <p:nvPr/>
        </p:nvSpPr>
        <p:spPr>
          <a:xfrm>
            <a:off x="9198864" y="217627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recall fixed by design</a:t>
            </a:r>
            <a:endParaRPr lang="en-US" sz="1100" dirty="0"/>
          </a:p>
        </p:txBody>
      </p:sp>
      <p:graphicFrame>
        <p:nvGraphicFramePr>
          <p:cNvPr id="20" name="chart-prf" descr=""/>
          <p:cNvGraphicFramePr/>
          <p:nvPr/>
        </p:nvGraphicFramePr>
        <p:xfrm>
          <a:off x="548640" y="27432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21" name="where"/>
          <p:cNvSpPr/>
          <p:nvPr/>
        </p:nvSpPr>
        <p:spPr>
          <a:xfrm>
            <a:off x="6355080" y="2743200"/>
            <a:ext cx="5257800" cy="3108960"/>
          </a:xfrm>
          <a:prstGeom prst="roundRect">
            <a:avLst>
              <a:gd name="adj" fmla="val 1765"/>
            </a:avLst>
          </a:prstGeom>
          <a:solidFill>
            <a:srgbClr val="000000"/>
          </a:solidFill>
          <a:ln w="12700">
            <a:solidFill>
              <a:srgbClr val="000000"/>
            </a:solidFill>
            <a:prstDash val="solid"/>
          </a:ln>
        </p:spPr>
      </p:sp>
      <p:sp>
        <p:nvSpPr>
          <p:cNvPr id="22" name="where-h"/>
          <p:cNvSpPr txBox="1"/>
          <p:nvPr/>
        </p:nvSpPr>
        <p:spPr>
          <a:xfrm>
            <a:off x="6592824" y="294436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Where the precision went</a:t>
            </a:r>
            <a:endParaRPr lang="en-US" sz="1500" dirty="0"/>
          </a:p>
        </p:txBody>
      </p:sp>
      <p:sp>
        <p:nvSpPr>
          <p:cNvPr id="23" name="where-b"/>
          <p:cNvSpPr txBox="1"/>
          <p:nvPr/>
        </p:nvSpPr>
        <p:spPr>
          <a:xfrm>
            <a:off x="6592824" y="3328416"/>
            <a:ext cx="4782312" cy="23408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Supported 109 → 108.  Contradicted 3 → 3.  Undecided 146 → 185.</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Of the claims the verifier could decide, 97.3% were supported both before and after.</a:t>
            </a:r>
            <a:endParaRPr lang="en-US" sz="1300" dirty="0"/>
          </a:p>
        </p:txBody>
      </p:sp>
      <p:sp>
        <p:nvSpPr>
          <p:cNvPr id="2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answers, same retrieval, same verifier — only refinement differs. 163 facts refined, 51 added.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ABLATION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Each mechanism moves the metric it targets</a:t>
            </a:r>
            <a:endParaRPr lang="en-US" sz="3000" dirty="0"/>
          </a:p>
        </p:txBody>
      </p:sp>
      <p:graphicFrame>
        <p:nvGraphicFramePr>
          <p:cNvPr id="14" name="abl"/>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383280"/>
                <a:gridCol w="1737360"/>
                <a:gridCol w="1463040"/>
                <a:gridCol w="1554480"/>
                <a:gridCol w="1463040"/>
                <a:gridCol w="1463040"/>
              </a:tblGrid>
              <a:tr h="384048">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System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Incomplete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Missing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Precision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F1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  Baseline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0.4200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0.4138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  + incomplete refine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0.078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0.3680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0.3868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  + missing relation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0.113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0.3839</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0.3954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D  Full 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0.091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0.3426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0.3723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abl0"/>
          <p:cNvSpPr/>
          <p:nvPr/>
        </p:nvSpPr>
        <p:spPr>
          <a:xfrm>
            <a:off x="548640" y="3291840"/>
            <a:ext cx="3547872" cy="1737360"/>
          </a:xfrm>
          <a:prstGeom prst="roundRect">
            <a:avLst>
              <a:gd name="adj" fmla="val 3158"/>
            </a:avLst>
          </a:prstGeom>
          <a:solidFill>
            <a:srgbClr val="EDEDED"/>
          </a:solidFill>
          <a:ln w="12700">
            <a:solidFill>
              <a:srgbClr val="EDEDED"/>
            </a:solidFill>
            <a:prstDash val="solid"/>
          </a:ln>
        </p:spPr>
      </p:sp>
      <p:sp>
        <p:nvSpPr>
          <p:cNvPr id="6" name="abl0-h"/>
          <p:cNvSpPr txBox="1"/>
          <p:nvPr/>
        </p:nvSpPr>
        <p:spPr>
          <a:xfrm>
            <a:off x="786384"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B isolates the refiner</a:t>
            </a:r>
            <a:endParaRPr lang="en-US" sz="1400" dirty="0"/>
          </a:p>
        </p:txBody>
      </p:sp>
      <p:sp>
        <p:nvSpPr>
          <p:cNvPr id="7" name="abl0-b"/>
          <p:cNvSpPr txBox="1"/>
          <p:nvPr/>
        </p:nvSpPr>
        <p:spPr>
          <a:xfrm>
            <a:off x="786384"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8" name="abl1"/>
          <p:cNvSpPr/>
          <p:nvPr/>
        </p:nvSpPr>
        <p:spPr>
          <a:xfrm>
            <a:off x="4279392" y="3291840"/>
            <a:ext cx="3547872" cy="1737360"/>
          </a:xfrm>
          <a:prstGeom prst="roundRect">
            <a:avLst>
              <a:gd name="adj" fmla="val 3158"/>
            </a:avLst>
          </a:prstGeom>
          <a:solidFill>
            <a:srgbClr val="EDEDED"/>
          </a:solidFill>
          <a:ln w="12700">
            <a:solidFill>
              <a:srgbClr val="EDEDED"/>
            </a:solidFill>
            <a:prstDash val="solid"/>
          </a:ln>
        </p:spPr>
      </p:sp>
      <p:sp>
        <p:nvSpPr>
          <p:cNvPr id="9" name="abl1-h"/>
          <p:cNvSpPr txBox="1"/>
          <p:nvPr/>
        </p:nvSpPr>
        <p:spPr>
          <a:xfrm>
            <a:off x="4517136"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C isolates relation recovery</a:t>
            </a:r>
            <a:endParaRPr lang="en-US" sz="1400" dirty="0"/>
          </a:p>
        </p:txBody>
      </p:sp>
      <p:sp>
        <p:nvSpPr>
          <p:cNvPr id="10" name="abl1-b"/>
          <p:cNvSpPr txBox="1"/>
          <p:nvPr/>
        </p:nvSpPr>
        <p:spPr>
          <a:xfrm>
            <a:off x="4517136"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All 51 missing relations become facts. The incomplete rate ticks up to 0.113 because the new facts are judged too.</a:t>
            </a:r>
            <a:endParaRPr lang="en-US" sz="1200" dirty="0"/>
          </a:p>
        </p:txBody>
      </p:sp>
      <p:sp>
        <p:nvSpPr>
          <p:cNvPr id="11" name="abl2"/>
          <p:cNvSpPr/>
          <p:nvPr/>
        </p:nvSpPr>
        <p:spPr>
          <a:xfrm>
            <a:off x="8010144" y="3291840"/>
            <a:ext cx="3547872" cy="1737360"/>
          </a:xfrm>
          <a:prstGeom prst="roundRect">
            <a:avLst>
              <a:gd name="adj" fmla="val 3158"/>
            </a:avLst>
          </a:prstGeom>
          <a:solidFill>
            <a:srgbClr val="EDEDED"/>
          </a:solidFill>
          <a:ln w="12700">
            <a:solidFill>
              <a:srgbClr val="EDEDED"/>
            </a:solidFill>
            <a:prstDash val="solid"/>
          </a:ln>
        </p:spPr>
      </p:sp>
      <p:sp>
        <p:nvSpPr>
          <p:cNvPr id="12" name="abl2-h"/>
          <p:cNvSpPr txBox="1"/>
          <p:nvPr/>
        </p:nvSpPr>
        <p:spPr>
          <a:xfrm>
            <a:off x="8247888" y="34930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The effects are additive</a:t>
            </a:r>
            <a:endParaRPr lang="en-US" sz="1400" dirty="0"/>
          </a:p>
        </p:txBody>
      </p:sp>
      <p:sp>
        <p:nvSpPr>
          <p:cNvPr id="13" name="abl2-b"/>
          <p:cNvSpPr txBox="1"/>
          <p:nvPr/>
        </p:nvSpPr>
        <p:spPr>
          <a:xfrm>
            <a:off x="8247888" y="38770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four variants scored on one identical answer set, union ensemble, as in the paper.</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JUDGE ABLATION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Union collapses onto the permissive judge</a:t>
            </a:r>
            <a:endParaRPr lang="en-US" sz="3000" dirty="0"/>
          </a:p>
        </p:txBody>
      </p:sp>
      <p:graphicFrame>
        <p:nvGraphicFramePr>
          <p:cNvPr id="15" name="judges"/>
          <p:cNvGraphicFramePr>
            <a:graphicFrameLocks noGrp="1"/>
          </p:cNvGraphicFramePr>
          <p:nvPr>
            <p:extLst>
              <p:ext uri="{D42A27DB-BD31-4B8C-83A1-F6EECF244321}">
                <p14:modId xmlns:p14="http://schemas.microsoft.com/office/powerpoint/2010/main" val="1579011935"/>
              </p:ext>
            </p:extLst>
          </p:nvPr>
        </p:nvGraphicFramePr>
        <p:xfrm>
          <a:off x="548640" y="1234440"/>
          <a:ext cx="5486400" cy="914400"/>
        </p:xfrm>
        <a:graphic>
          <a:graphicData uri="http://schemas.openxmlformats.org/drawingml/2006/table">
            <a:tbl>
              <a:tblPr/>
              <a:tblGrid>
                <a:gridCol w="1920240"/>
                <a:gridCol w="1188720"/>
                <a:gridCol w="1188720"/>
                <a:gridCol w="118872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0.955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Llama-3.2-3B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0.200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 of both</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19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1.000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5" name="judge-note"/>
          <p:cNvSpPr txBox="1"/>
          <p:nvPr/>
        </p:nvSpPr>
        <p:spPr>
          <a:xfrm>
            <a:off x="548640" y="2880360"/>
            <a:ext cx="5486400" cy="1005840"/>
          </a:xfrm>
          <a:prstGeom prst="rect">
            <a:avLst/>
          </a:prstGeom>
          <a:noFill/>
          <a:ln/>
        </p:spPr>
        <p:txBody>
          <a:bodyPr wrap="square" lIns="0" tIns="0" rIns="0" bIns="0" rtlCol="0" anchor="ctr"/>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Precision is measured against the majority decision. Llama flags almost everything, so the union of two judges is just Llama's opinion — the paper's recall-first rule needs three judges to behave as intended.</a:t>
            </a:r>
            <a:endParaRPr lang="en-US" sz="1200" dirty="0"/>
          </a:p>
        </p:txBody>
      </p:sp>
      <p:graphicFrame>
        <p:nvGraphicFramePr>
          <p:cNvPr id="29" name="rules"/>
          <p:cNvGraphicFramePr>
            <a:graphicFrameLocks noGrp="1"/>
          </p:cNvGraphicFramePr>
          <p:nvPr>
            <p:extLst>
              <p:ext uri="{D42A27DB-BD31-4B8C-83A1-F6EECF244321}">
                <p14:modId xmlns:p14="http://schemas.microsoft.com/office/powerpoint/2010/main" val="1579011935"/>
              </p:ext>
            </p:extLst>
          </p:nvPr>
        </p:nvGraphicFramePr>
        <p:xfrm>
          <a:off x="6355080" y="1234440"/>
          <a:ext cx="5257800" cy="914400"/>
        </p:xfrm>
        <a:graphic>
          <a:graphicData uri="http://schemas.openxmlformats.org/drawingml/2006/table">
            <a:tbl>
              <a:tblPr/>
              <a:tblGrid>
                <a:gridCol w="1783080"/>
                <a:gridCol w="1188720"/>
                <a:gridCol w="1143000"/>
                <a:gridCol w="114300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0.105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0.4200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0.4138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0.091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0.3426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0.3723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0.042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7" name="finding"/>
          <p:cNvSpPr/>
          <p:nvPr/>
        </p:nvSpPr>
        <p:spPr>
          <a:xfrm>
            <a:off x="6355080" y="2880360"/>
            <a:ext cx="5257800" cy="1691640"/>
          </a:xfrm>
          <a:prstGeom prst="roundRect">
            <a:avLst>
              <a:gd name="adj" fmla="val 3243"/>
            </a:avLst>
          </a:prstGeom>
          <a:solidFill>
            <a:srgbClr val="000000"/>
          </a:solidFill>
          <a:ln w="12700">
            <a:solidFill>
              <a:srgbClr val="000000"/>
            </a:solidFill>
            <a:prstDash val="solid"/>
          </a:ln>
        </p:spPr>
      </p:sp>
      <p:sp>
        <p:nvSpPr>
          <p:cNvPr id="8" name="finding-h"/>
          <p:cNvSpPr txBox="1"/>
          <p:nvPr/>
        </p:nvSpPr>
        <p:spPr>
          <a:xfrm>
            <a:off x="6592824" y="308152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The clearest finding</a:t>
            </a:r>
            <a:endParaRPr lang="en-US" sz="1500" dirty="0"/>
          </a:p>
        </p:txBody>
      </p:sp>
      <p:sp>
        <p:nvSpPr>
          <p:cNvPr id="9" name="finding-b"/>
          <p:cNvSpPr txBox="1"/>
          <p:nvPr/>
        </p:nvSpPr>
        <p:spPr>
          <a:xfrm>
            <a:off x="6592824" y="3465576"/>
            <a:ext cx="4782312" cy="92354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Majority vote cuts the incomplete rate by 60% (0.105 → 0.042) and costs almost no precision (−0.013). Union cuts it 12.8% and costs 0.077.</a:t>
            </a:r>
            <a:endParaRPr lang="en-US" sz="1300" dirty="0"/>
          </a:p>
        </p:txBody>
      </p:sp>
      <p:graphicFrame>
        <p:nvGraphicFramePr>
          <p:cNvPr id="10" name="chart-rule" descr=""/>
          <p:cNvGraphicFramePr/>
          <p:nvPr/>
        </p:nvGraphicFramePr>
        <p:xfrm>
          <a:off x="548640" y="4069080"/>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Both tables use identical judge decisions — only the rule that turns votes into a refinement decision differs.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RESEARCH QUESTION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Does fixing a claim change its verdict?</a:t>
            </a:r>
            <a:endParaRPr lang="en-US" sz="3000" dirty="0"/>
          </a:p>
        </p:txBody>
      </p:sp>
      <p:sp>
        <p:nvSpPr>
          <p:cNvPr id="4" name="big"/>
          <p:cNvSpPr/>
          <p:nvPr/>
        </p:nvSpPr>
        <p:spPr>
          <a:xfrm>
            <a:off x="548640" y="1234440"/>
            <a:ext cx="3200400" cy="2377440"/>
          </a:xfrm>
          <a:prstGeom prst="roundRect">
            <a:avLst>
              <a:gd name="adj" fmla="val 2308"/>
            </a:avLst>
          </a:prstGeom>
          <a:solidFill>
            <a:srgbClr val="E90802"/>
          </a:solidFill>
          <a:ln w="12700">
            <a:solidFill>
              <a:srgbClr val="E90802"/>
            </a:solidFill>
            <a:prstDash val="solid"/>
          </a:ln>
        </p:spPr>
      </p:sp>
      <p:sp>
        <p:nvSpPr>
          <p:cNvPr id="5" name="big-v"/>
          <p:cNvSpPr txBox="1"/>
          <p:nvPr/>
        </p:nvSpPr>
        <p:spPr>
          <a:xfrm>
            <a:off x="548640" y="1554480"/>
            <a:ext cx="3200400" cy="1005840"/>
          </a:xfrm>
          <a:prstGeom prst="rect">
            <a:avLst/>
          </a:prstGeom>
          <a:noFill/>
          <a:ln/>
        </p:spPr>
        <p:txBody>
          <a:bodyPr wrap="square" lIns="0" tIns="0" rIns="0" bIns="0" rtlCol="0" anchor="ctr"/>
          <a:lstStyle/>
          <a:p>
            <a:pPr algn="ctr" indent="0" marL="0">
              <a:buNone/>
            </a:pPr>
            <a:r>
              <a:rPr lang="en-US" sz="6000" b="1" dirty="0">
                <a:solidFill>
                  <a:srgbClr val="FFFFFF"/>
                </a:solidFill>
              </a:rPr>
              <a:t>39.3%</a:t>
            </a:r>
            <a:endParaRPr lang="en-US" sz="6000" dirty="0"/>
          </a:p>
        </p:txBody>
      </p:sp>
      <p:sp>
        <p:nvSpPr>
          <p:cNvPr id="6" name="big-l"/>
          <p:cNvSpPr txBox="1"/>
          <p:nvPr/>
        </p:nvSpPr>
        <p:spPr>
          <a:xfrm>
            <a:off x="548640" y="2606040"/>
            <a:ext cx="3200400" cy="822960"/>
          </a:xfrm>
          <a:prstGeom prst="rect">
            <a:avLst/>
          </a:prstGeom>
          <a:noFill/>
          <a:ln/>
        </p:spPr>
        <p:txBody>
          <a:bodyPr wrap="square" lIns="0" tIns="0" rIns="0" bIns="0" rtlCol="0" anchor="ctr"/>
          <a:lstStyle/>
          <a:p>
            <a:pPr algn="ctr" indent="0" marL="0">
              <a:lnSpc>
                <a:spcPct val="120000"/>
              </a:lnSpc>
              <a:buNone/>
            </a:pPr>
            <a:r>
              <a:rPr lang="en-US" sz="1400" dirty="0">
                <a:solidFill>
                  <a:srgbClr val="FFFFFF"/>
                </a:solidFill>
                <a:latin typeface="Arial" pitchFamily="34" charset="0"/>
                <a:ea typeface="Arial" pitchFamily="34" charset="-122"/>
                <a:cs typeface="Arial" pitchFamily="34" charset="-120"/>
              </a:rPr>
              <a:t>of refined facts changed label</a:t>
            </a:r>
            <a:endParaRPr lang="en-US" sz="1400" dirty="0"/>
          </a:p>
          <a:p>
            <a:pPr algn="ctr" indent="0" marL="0">
              <a:lnSpc>
                <a:spcPct val="120000"/>
              </a:lnSpc>
              <a:buNone/>
            </a:pPr>
            <a:r>
              <a:rPr lang="en-US" sz="1400" dirty="0">
                <a:solidFill>
                  <a:srgbClr val="FFFFFF"/>
                </a:solidFill>
                <a:latin typeface="Arial" pitchFamily="34" charset="0"/>
                <a:ea typeface="Arial" pitchFamily="34" charset="-122"/>
                <a:cs typeface="Arial" pitchFamily="34" charset="-120"/>
              </a:rPr>
              <a:t>70 of 178</a:t>
            </a:r>
            <a:endParaRPr lang="en-US" sz="1400" dirty="0"/>
          </a:p>
        </p:txBody>
      </p:sp>
      <p:graphicFrame>
        <p:nvGraphicFramePr>
          <p:cNvPr id="16" name="trans"/>
          <p:cNvGraphicFramePr>
            <a:graphicFrameLocks noGrp="1"/>
          </p:cNvGraphicFramePr>
          <p:nvPr>
            <p:extLst>
              <p:ext uri="{D42A27DB-BD31-4B8C-83A1-F6EECF244321}">
                <p14:modId xmlns:p14="http://schemas.microsoft.com/office/powerpoint/2010/main" val="1579011935"/>
              </p:ext>
            </p:extLst>
          </p:nvPr>
        </p:nvGraphicFramePr>
        <p:xfrm>
          <a:off x="4069080" y="1234440"/>
          <a:ext cx="7543800" cy="914400"/>
        </p:xfrm>
        <a:graphic>
          <a:graphicData uri="http://schemas.openxmlformats.org/drawingml/2006/table">
            <a:tbl>
              <a:tblPr/>
              <a:tblGrid>
                <a:gridCol w="3108960"/>
                <a:gridCol w="1051560"/>
                <a:gridCol w="3383280"/>
              </a:tblGrid>
              <a:tr h="33832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Count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CONTRADICTED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error exposed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mis-blamed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mis-blamed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unchanged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verdict stable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8" name="cmp-paper"/>
          <p:cNvSpPr/>
          <p:nvPr/>
        </p:nvSpPr>
        <p:spPr>
          <a:xfrm>
            <a:off x="548640" y="3931920"/>
            <a:ext cx="11064240" cy="1737360"/>
          </a:xfrm>
          <a:prstGeom prst="roundRect">
            <a:avLst>
              <a:gd name="adj" fmla="val 3158"/>
            </a:avLst>
          </a:prstGeom>
          <a:solidFill>
            <a:srgbClr val="333333"/>
          </a:solidFill>
          <a:ln w="12700">
            <a:solidFill>
              <a:srgbClr val="333333"/>
            </a:solidFill>
            <a:prstDash val="solid"/>
          </a:ln>
        </p:spPr>
      </p:sp>
      <p:sp>
        <p:nvSpPr>
          <p:cNvPr id="9" name="cmp-paper-h"/>
          <p:cNvSpPr txBox="1"/>
          <p:nvPr/>
        </p:nvSpPr>
        <p:spPr>
          <a:xfrm>
            <a:off x="786384" y="413308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Against the paper</a:t>
            </a:r>
            <a:endParaRPr lang="en-US" sz="1500" dirty="0"/>
          </a:p>
        </p:txBody>
      </p:sp>
      <p:sp>
        <p:nvSpPr>
          <p:cNvPr id="10" name="cmp-paper-b"/>
          <p:cNvSpPr txBox="1"/>
          <p:nvPr/>
        </p:nvSpPr>
        <p:spPr>
          <a:xfrm>
            <a:off x="786384" y="4517136"/>
            <a:ext cx="10588752" cy="96926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The paper reports 24.9% of refined facts changing label, with supported falling and contradicted rising, and concludes that ignoring incomplete facts overestimates model factuality.</a:t>
            </a: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We measure 39.3%, with supported falling into undecided rather than into contradicted — the same conclusion, reached with 3B models and Wikipedia.</a:t>
            </a:r>
            <a:endParaRPr lang="en-US" sz="1300" dirty="0"/>
          </a:p>
        </p:txBody>
      </p:sp>
      <p:sp>
        <p:nvSpPr>
          <p:cNvPr id="1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37 claims the baseline called SUPPORTED could not survive having their own context restored.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QUALITATIVE</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a 3B refiner actually produces</a:t>
            </a:r>
            <a:endParaRPr lang="en-US" sz="3000" dirty="0"/>
          </a:p>
        </p:txBody>
      </p:sp>
      <p:sp>
        <p:nvSpPr>
          <p:cNvPr id="4" name="good"/>
          <p:cNvSpPr/>
          <p:nvPr/>
        </p:nvSpPr>
        <p:spPr>
          <a:xfrm>
            <a:off x="548640" y="1188720"/>
            <a:ext cx="5486400" cy="3200400"/>
          </a:xfrm>
          <a:prstGeom prst="roundRect">
            <a:avLst>
              <a:gd name="adj" fmla="val 1714"/>
            </a:avLst>
          </a:prstGeom>
          <a:solidFill>
            <a:srgbClr val="FFFFFF"/>
          </a:solidFill>
          <a:ln w="19050">
            <a:solidFill>
              <a:srgbClr val="E90802"/>
            </a:solidFill>
            <a:prstDash val="solid"/>
          </a:ln>
        </p:spPr>
      </p:sp>
      <p:sp>
        <p:nvSpPr>
          <p:cNvPr id="5" name="good-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Works — Q10, ozone layer</a:t>
            </a:r>
            <a:endParaRPr lang="en-US" sz="1500" dirty="0"/>
          </a:p>
        </p:txBody>
      </p:sp>
      <p:sp>
        <p:nvSpPr>
          <p:cNvPr id="6" name="good-t"/>
          <p:cNvSpPr txBox="1"/>
          <p:nvPr/>
        </p:nvSpPr>
        <p:spPr>
          <a:xfrm>
            <a:off x="786384" y="1691640"/>
            <a:ext cx="5029200" cy="256032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omitted_condition_or_source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“These substances are in the atmosphere.”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 substances are in the atmosphere since the Montreal Protocol was signed.”</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missing_comparison</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 decrease is in the concentration of substances.”</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 compared to before the Montreal Protocol.”</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p:txBody>
      </p:sp>
      <p:sp>
        <p:nvSpPr>
          <p:cNvPr id="7" name="bad"/>
          <p:cNvSpPr/>
          <p:nvPr/>
        </p:nvSpPr>
        <p:spPr>
          <a:xfrm>
            <a:off x="6355080" y="1188720"/>
            <a:ext cx="5257800" cy="3200400"/>
          </a:xfrm>
          <a:prstGeom prst="roundRect">
            <a:avLst>
              <a:gd name="adj" fmla="val 1714"/>
            </a:avLst>
          </a:prstGeom>
          <a:solidFill>
            <a:srgbClr val="FFFFFF"/>
          </a:solidFill>
          <a:ln w="12700">
            <a:solidFill>
              <a:srgbClr val="EDEDED"/>
            </a:solidFill>
            <a:prstDash val="solid"/>
          </a:ln>
        </p:spPr>
      </p:sp>
      <p:sp>
        <p:nvSpPr>
          <p:cNvPr id="8" name="ba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333333"/>
                </a:solidFill>
              </a:rPr>
              <a:t>Fails — Q01, the paper's own example</a:t>
            </a:r>
            <a:endParaRPr lang="en-US" sz="1500" dirty="0"/>
          </a:p>
        </p:txBody>
      </p:sp>
      <p:sp>
        <p:nvSpPr>
          <p:cNvPr id="9" name="bad-t"/>
          <p:cNvSpPr txBox="1"/>
          <p:nvPr/>
        </p:nvSpPr>
        <p:spPr>
          <a:xfrm>
            <a:off x="6592824" y="1691640"/>
            <a:ext cx="4800600" cy="256032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the refiner flipped the meaning</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“There was demand for gold as jewelry.”</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“There was no demand for gold as jewelry.”</a:t>
            </a:r>
            <a:endParaRPr lang="en-US" sz="1200" dirty="0"/>
          </a:p>
          <a:p>
            <a:pPr indent="0" marL="0">
              <a:lnSpc>
                <a:spcPct val="115000"/>
              </a:lnSpc>
              <a:buNone/>
            </a:pPr>
            <a:r>
              <a:rPr lang="en-US" sz="120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condition attached to the wrong claim</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“Gold has unique properties of malleability if there was no demand for gold as jewelry.”</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SUPPORTED → UNDECIDED</a:t>
            </a:r>
            <a:endParaRPr lang="en-US" sz="1200" dirty="0"/>
          </a:p>
        </p:txBody>
      </p:sp>
      <p:sp>
        <p:nvSpPr>
          <p:cNvPr id="10" name="added"/>
          <p:cNvSpPr/>
          <p:nvPr/>
        </p:nvSpPr>
        <p:spPr>
          <a:xfrm>
            <a:off x="548640" y="4617720"/>
            <a:ext cx="11064240" cy="1234440"/>
          </a:xfrm>
          <a:prstGeom prst="roundRect">
            <a:avLst>
              <a:gd name="adj" fmla="val 4444"/>
            </a:avLst>
          </a:prstGeom>
          <a:solidFill>
            <a:srgbClr val="000000"/>
          </a:solidFill>
          <a:ln w="12700">
            <a:solidFill>
              <a:srgbClr val="000000"/>
            </a:solidFill>
            <a:prstDash val="solid"/>
          </a:ln>
        </p:spPr>
      </p:sp>
      <p:sp>
        <p:nvSpPr>
          <p:cNvPr id="11" name="added-h"/>
          <p:cNvSpPr txBox="1"/>
          <p:nvPr/>
        </p:nvSpPr>
        <p:spPr>
          <a:xfrm>
            <a:off x="786384" y="4818888"/>
            <a:ext cx="10588752" cy="310896"/>
          </a:xfrm>
          <a:prstGeom prst="rect">
            <a:avLst/>
          </a:prstGeom>
          <a:noFill/>
          <a:ln/>
        </p:spPr>
        <p:txBody>
          <a:bodyPr wrap="square" lIns="0" tIns="0" rIns="0" bIns="0" rtlCol="0" anchor="ctr"/>
          <a:lstStyle/>
          <a:p>
            <a:pPr indent="0" marL="0">
              <a:buNone/>
            </a:pPr>
            <a:r>
              <a:rPr lang="en-US" sz="1300" b="1" dirty="0">
                <a:solidFill>
                  <a:srgbClr val="E90802"/>
                </a:solidFill>
              </a:rPr>
              <a:t>Added relational fact — Q04, Chernobyl, temporal</a:t>
            </a:r>
            <a:endParaRPr lang="en-US" sz="1300" dirty="0"/>
          </a:p>
        </p:txBody>
      </p:sp>
      <p:sp>
        <p:nvSpPr>
          <p:cNvPr id="12" name="added-b"/>
          <p:cNvSpPr txBox="1"/>
          <p:nvPr/>
        </p:nvSpPr>
        <p:spPr>
          <a:xfrm>
            <a:off x="786384" y="5202936"/>
            <a:ext cx="10588752" cy="4663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eyebrow"/>
          <p:cNvSpPr txBox="1"/>
          <p:nvPr/>
        </p:nvSpPr>
        <p:spPr>
          <a:xfrm>
            <a:off x="685800" y="2651760"/>
            <a:ext cx="10789920" cy="310896"/>
          </a:xfrm>
          <a:prstGeom prst="rect">
            <a:avLst/>
          </a:prstGeom>
          <a:noFill/>
          <a:ln/>
        </p:spPr>
        <p:txBody>
          <a:bodyPr wrap="square" lIns="0" tIns="0" rIns="0" bIns="0" rtlCol="0" anchor="ctr"/>
          <a:lstStyle/>
          <a:p>
            <a:pPr indent="0" marL="0">
              <a:buNone/>
            </a:pPr>
            <a:r>
              <a:rPr lang="en-US" sz="1300" b="1" spc="200" kern="0" dirty="0">
                <a:solidFill>
                  <a:srgbClr val="FFFFFF"/>
                </a:solidFill>
                <a:latin typeface="Arial" pitchFamily="34" charset="0"/>
                <a:ea typeface="Arial" pitchFamily="34" charset="-122"/>
                <a:cs typeface="Arial" pitchFamily="34" charset="-120"/>
              </a:rPr>
              <a:t>PART THREE</a:t>
            </a:r>
            <a:endParaRPr lang="en-US" sz="1300" dirty="0"/>
          </a:p>
        </p:txBody>
      </p:sp>
      <p:sp>
        <p:nvSpPr>
          <p:cNvPr id="3" name="sec-title"/>
          <p:cNvSpPr txBox="1"/>
          <p:nvPr/>
        </p:nvSpPr>
        <p:spPr>
          <a:xfrm>
            <a:off x="685800" y="3017520"/>
            <a:ext cx="10789920" cy="914400"/>
          </a:xfrm>
          <a:prstGeom prst="rect">
            <a:avLst/>
          </a:prstGeom>
          <a:noFill/>
          <a:ln/>
        </p:spPr>
        <p:txBody>
          <a:bodyPr wrap="square" lIns="0" tIns="0" rIns="0" bIns="0" rtlCol="0" anchor="ctr"/>
          <a:lstStyle/>
          <a:p>
            <a:pPr indent="0" marL="0">
              <a:buNone/>
            </a:pPr>
            <a:r>
              <a:rPr lang="en-US" sz="4200" b="1" dirty="0">
                <a:solidFill>
                  <a:srgbClr val="FFFFFF"/>
                </a:solidFill>
              </a:rPr>
              <a:t>Comparison and limits</a:t>
            </a:r>
            <a:endParaRPr lang="en-US" sz="4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COMPARISON WITH THE PAPER</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Directions match. Magnitudes do not.</a:t>
            </a:r>
            <a:endParaRPr lang="en-US" sz="3000" dirty="0"/>
          </a:p>
        </p:txBody>
      </p:sp>
      <p:graphicFrame>
        <p:nvGraphicFramePr>
          <p:cNvPr id="19" name="vs"/>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200400"/>
                <a:gridCol w="3108960"/>
                <a:gridCol w="3017520"/>
                <a:gridCol w="173736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Agreement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56.7% (SAFE)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scale differs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refined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22.5%  (−19.2 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9.1% union · 4.2%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Missing relational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1.22 → 0.76 (−37%)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 → 0 (−100%)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changing label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phenomenon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Direction of that 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contradicted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partial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82.8 (Qwen2.5-32B)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34.3 union · 40.7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44.1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40.8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coincidentally close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57.5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37.2 union · 40.7 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vs0"/>
          <p:cNvSpPr/>
          <p:nvPr/>
        </p:nvSpPr>
        <p:spPr>
          <a:xfrm>
            <a:off x="548640" y="4343400"/>
            <a:ext cx="3547872" cy="1508760"/>
          </a:xfrm>
          <a:prstGeom prst="roundRect">
            <a:avLst>
              <a:gd name="adj" fmla="val 3636"/>
            </a:avLst>
          </a:prstGeom>
          <a:solidFill>
            <a:srgbClr val="FFFFFF"/>
          </a:solidFill>
          <a:ln w="12700">
            <a:solidFill>
              <a:srgbClr val="EDEDED"/>
            </a:solidFill>
            <a:prstDash val="solid"/>
          </a:ln>
        </p:spPr>
      </p:sp>
      <p:sp>
        <p:nvSpPr>
          <p:cNvPr id="6" name="vs0-h"/>
          <p:cNvSpPr txBox="1"/>
          <p:nvPr/>
        </p:nvSpPr>
        <p:spPr>
          <a:xfrm>
            <a:off x="786384" y="454456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Reproduced</a:t>
            </a:r>
            <a:endParaRPr lang="en-US" sz="1400" dirty="0"/>
          </a:p>
        </p:txBody>
      </p:sp>
      <p:sp>
        <p:nvSpPr>
          <p:cNvPr id="7" name="vs0-b"/>
          <p:cNvSpPr txBox="1"/>
          <p:nvPr/>
        </p:nvSpPr>
        <p:spPr>
          <a:xfrm>
            <a:off x="786384" y="4928616"/>
            <a:ext cx="3072384" cy="7406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The mechanism detects both problem types, repairs them, and changing the facts changes the verdicts — the paper's central claim.</a:t>
            </a:r>
            <a:endParaRPr lang="en-US" sz="1200" dirty="0"/>
          </a:p>
        </p:txBody>
      </p:sp>
      <p:sp>
        <p:nvSpPr>
          <p:cNvPr id="8" name="vs1"/>
          <p:cNvSpPr/>
          <p:nvPr/>
        </p:nvSpPr>
        <p:spPr>
          <a:xfrm>
            <a:off x="4279392" y="4343400"/>
            <a:ext cx="3547872" cy="1508760"/>
          </a:xfrm>
          <a:prstGeom prst="roundRect">
            <a:avLst>
              <a:gd name="adj" fmla="val 3636"/>
            </a:avLst>
          </a:prstGeom>
          <a:solidFill>
            <a:srgbClr val="FFFFFF"/>
          </a:solidFill>
          <a:ln w="12700">
            <a:solidFill>
              <a:srgbClr val="EDEDED"/>
            </a:solidFill>
            <a:prstDash val="solid"/>
          </a:ln>
        </p:spPr>
      </p:sp>
      <p:sp>
        <p:nvSpPr>
          <p:cNvPr id="9" name="vs1-h"/>
          <p:cNvSpPr txBox="1"/>
          <p:nvPr/>
        </p:nvSpPr>
        <p:spPr>
          <a:xfrm>
            <a:off x="4517136" y="454456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Not reproduced</a:t>
            </a:r>
            <a:endParaRPr lang="en-US" sz="1400" dirty="0"/>
          </a:p>
        </p:txBody>
      </p:sp>
      <p:sp>
        <p:nvSpPr>
          <p:cNvPr id="10" name="vs1-b"/>
          <p:cNvSpPr txBox="1"/>
          <p:nvPr/>
        </p:nvSpPr>
        <p:spPr>
          <a:xfrm>
            <a:off x="4517136" y="4928616"/>
            <a:ext cx="3072384" cy="7406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Absolute precision, recall and F1. Different models, different evidence, 12 prompts instead of 1,096, no human annotation.</a:t>
            </a:r>
            <a:endParaRPr lang="en-US" sz="1200" dirty="0"/>
          </a:p>
        </p:txBody>
      </p:sp>
      <p:sp>
        <p:nvSpPr>
          <p:cNvPr id="11" name="vs2"/>
          <p:cNvSpPr/>
          <p:nvPr/>
        </p:nvSpPr>
        <p:spPr>
          <a:xfrm>
            <a:off x="8010144" y="4343400"/>
            <a:ext cx="3547872" cy="1508760"/>
          </a:xfrm>
          <a:prstGeom prst="roundRect">
            <a:avLst>
              <a:gd name="adj" fmla="val 3636"/>
            </a:avLst>
          </a:prstGeom>
          <a:solidFill>
            <a:srgbClr val="FFFFFF"/>
          </a:solidFill>
          <a:ln w="12700">
            <a:solidFill>
              <a:srgbClr val="EDEDED"/>
            </a:solidFill>
            <a:prstDash val="solid"/>
          </a:ln>
        </p:spPr>
      </p:sp>
      <p:sp>
        <p:nvSpPr>
          <p:cNvPr id="12" name="vs2-h"/>
          <p:cNvSpPr txBox="1"/>
          <p:nvPr/>
        </p:nvSpPr>
        <p:spPr>
          <a:xfrm>
            <a:off x="8247888" y="454456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Why our baseline looks cleaner</a:t>
            </a:r>
            <a:endParaRPr lang="en-US" sz="1400" dirty="0"/>
          </a:p>
        </p:txBody>
      </p:sp>
      <p:sp>
        <p:nvSpPr>
          <p:cNvPr id="13" name="vs2-b"/>
          <p:cNvSpPr txBox="1"/>
          <p:nvPr/>
        </p:nvSpPr>
        <p:spPr>
          <a:xfrm>
            <a:off x="8247888" y="4928616"/>
            <a:ext cx="3072384" cy="7406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10.5% vs 56.7% incomplete reflects a weaker 3B judge, not a better extractor. A judge that abstains finds fewer problems.</a:t>
            </a:r>
            <a:endParaRPr lang="en-US" sz="1200" dirty="0"/>
          </a:p>
        </p:txBody>
      </p:sp>
      <p:sp>
        <p:nvSpPr>
          <p:cNvPr id="14"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right-hand value is measured by this repository; none is copied from the paper or estimated.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LIMITATIONS FOUND BY BREAKING OUR OWN RESULT</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these numbers cannot tell you</a:t>
            </a:r>
            <a:endParaRPr lang="en-US" sz="3000" dirty="0"/>
          </a:p>
        </p:txBody>
      </p:sp>
      <p:sp>
        <p:nvSpPr>
          <p:cNvPr id="4" name="rubber"/>
          <p:cNvSpPr/>
          <p:nvPr/>
        </p:nvSpPr>
        <p:spPr>
          <a:xfrm>
            <a:off x="548640" y="1188720"/>
            <a:ext cx="11064240" cy="1600200"/>
          </a:xfrm>
          <a:prstGeom prst="roundRect">
            <a:avLst>
              <a:gd name="adj" fmla="val 3429"/>
            </a:avLst>
          </a:prstGeom>
          <a:solidFill>
            <a:srgbClr val="000000"/>
          </a:solidFill>
          <a:ln w="19050">
            <a:solidFill>
              <a:srgbClr val="E90802"/>
            </a:solidFill>
            <a:prstDash val="solid"/>
          </a:ln>
        </p:spPr>
      </p:sp>
      <p:sp>
        <p:nvSpPr>
          <p:cNvPr id="5" name="rubber-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A 3B verifier rubber-stamps unless you force it to quote</a:t>
            </a:r>
            <a:endParaRPr lang="en-US" sz="1500" dirty="0"/>
          </a:p>
        </p:txBody>
      </p:sp>
      <p:sp>
        <p:nvSpPr>
          <p:cNvPr id="6" name="rubber-b"/>
          <p:cNvSpPr txBox="1"/>
          <p:nvPr/>
        </p:nvSpPr>
        <p:spPr>
          <a:xfrm>
            <a:off x="786384" y="1773936"/>
            <a:ext cx="10588752" cy="83210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An earlier version reported precision 0.92 and zero contradictions across 258 facts. It called “Aluminium is the rarest metal in the Earth's crust” SUPPORTED with confidence 1.0. Requiring a verbatim quote from the evidence, and discarding verdicts whose quote cannot be found, moved precision to 0.42 and made contradictions appear. The honest number is the lower one.</a:t>
            </a:r>
            <a:endParaRPr lang="en-US" sz="1200" dirty="0"/>
          </a:p>
        </p:txBody>
      </p:sp>
      <p:sp>
        <p:nvSpPr>
          <p:cNvPr id="7" name="lim-l"/>
          <p:cNvSpPr txBox="1"/>
          <p:nvPr/>
        </p:nvSpPr>
        <p:spPr>
          <a:xfrm>
            <a:off x="548640" y="3017520"/>
            <a:ext cx="5486400" cy="19202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Undecided dominates — 146 of 258 baseline verdicts. Precision partly measures retrieval coverage.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Recall cannot move between variants: it scores the answer, which is fixed.</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The incomplete rate is judged by a 3B model, far weaker than the paper's GPT-4o.</a:t>
            </a:r>
            <a:endParaRPr lang="en-US" sz="1300" dirty="0"/>
          </a:p>
        </p:txBody>
      </p:sp>
      <p:sp>
        <p:nvSpPr>
          <p:cNvPr id="8" name="lim-r"/>
          <p:cNvSpPr txBox="1"/>
          <p:nvPr/>
        </p:nvSpPr>
        <p:spPr>
          <a:xfrm>
            <a:off x="6355080" y="3017520"/>
            <a:ext cx="5257800" cy="19202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12 questions, 86 reference facts. Trends only — no significance claim.</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No human annotation, so no ground truth for extraction quality.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Retrieval was initially non-deterministic: Wikipedia rate-limited us and failures read as “no evidence”. Fixed with retries, backoff and an on-disk cache.</a:t>
            </a:r>
            <a:endParaRPr lang="en-US" sz="1300" dirty="0"/>
          </a:p>
        </p:txBody>
      </p:sp>
      <p:sp>
        <p:nvSpPr>
          <p:cNvPr id="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of these are written up in the README under Deviations. 59 unit tests cover word mapping, parsing, metrics and refinement.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FUTURE WORK — HIGHEST EXPECTED RETURN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Where the headroom is</a:t>
            </a:r>
            <a:endParaRPr lang="en-US" sz="3000" dirty="0"/>
          </a:p>
        </p:txBody>
      </p:sp>
      <p:graphicFrame>
        <p:nvGraphicFramePr>
          <p:cNvPr id="21" name="imp"/>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457200"/>
                <a:gridCol w="3291840"/>
                <a:gridCol w="4937760"/>
                <a:gridCol w="2377440"/>
              </a:tblGrid>
              <a:tr h="47548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Why it should help here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Metric</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Stronger local judge — Qwen3, Llama 3.x, Gemma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Our weakest link is a 3B judge that flags almost everything. Detection gates every later stage.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 ↑ recall ↑ F1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7B–14B at Q4/Q5 instead of 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Still local. Better handling of conditions and comparanda, better refinement wording.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 ↑ F1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Third judge and self-consistency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With two judges the union collapses onto the permissive one. A third breaks ties.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detection precision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Better retrieval — dense embeddings, reranking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Most lost precision is Undecided, not Contradicted: the evidence simply is not there.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precision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Iterative refinement, max 2 passes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are sometimes still flagged. One more cycle should converge them.</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rate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7548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Hybrid rule + LLM relation detection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Cue words pre-screen spans. Implemented behind a flag, off by default.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 latency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Proposed directions, not validated results — none has been run in this reimplementation.</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FUTURE WORK — THE REST OF THE LIST</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Measurement quality, then model economics</a:t>
            </a:r>
            <a:endParaRPr lang="en-US" sz="3000" dirty="0"/>
          </a:p>
        </p:txBody>
      </p:sp>
      <p:sp>
        <p:nvSpPr>
          <p:cNvPr id="4" name="meas"/>
          <p:cNvSpPr/>
          <p:nvPr/>
        </p:nvSpPr>
        <p:spPr>
          <a:xfrm>
            <a:off x="548640" y="1188720"/>
            <a:ext cx="5486400" cy="4206240"/>
          </a:xfrm>
          <a:prstGeom prst="roundRect">
            <a:avLst>
              <a:gd name="adj" fmla="val 1304"/>
            </a:avLst>
          </a:prstGeom>
          <a:solidFill>
            <a:srgbClr val="FFFFFF"/>
          </a:solidFill>
          <a:ln w="12700">
            <a:solidFill>
              <a:srgbClr val="EDEDED"/>
            </a:solidFill>
            <a:prstDash val="solid"/>
          </a:ln>
        </p:spPr>
      </p:sp>
      <p:sp>
        <p:nvSpPr>
          <p:cNvPr id="5" name="meas-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Make the measurement trustworthy</a:t>
            </a:r>
            <a:endParaRPr lang="en-US" sz="1500" dirty="0"/>
          </a:p>
        </p:txBody>
      </p:sp>
      <p:sp>
        <p:nvSpPr>
          <p:cNvPr id="6" name="meas-l"/>
          <p:cNvSpPr txBox="1"/>
          <p:nvPr/>
        </p:nvSpPr>
        <p:spPr>
          <a:xfrm>
            <a:off x="786384" y="1737360"/>
            <a:ext cx="5029200" cy="347472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Verification ensemble — LLM verdict plus an NLI model</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Evidence-aware verification — name the span, then judge</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Adaptive evidence count, driven by uncertainty</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Semantic reference matching — embeddings plus entailment</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Better reference sets — several answers, human verification</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Calibration of the three label thresholds</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Semantic missing-span matching for paraphrases</a:t>
            </a:r>
            <a:endParaRPr lang="en-US" sz="1300" dirty="0"/>
          </a:p>
        </p:txBody>
      </p:sp>
      <p:sp>
        <p:nvSpPr>
          <p:cNvPr id="7" name="econ"/>
          <p:cNvSpPr/>
          <p:nvPr/>
        </p:nvSpPr>
        <p:spPr>
          <a:xfrm>
            <a:off x="6355080" y="1188720"/>
            <a:ext cx="5257800" cy="4206240"/>
          </a:xfrm>
          <a:prstGeom prst="roundRect">
            <a:avLst>
              <a:gd name="adj" fmla="val 1304"/>
            </a:avLst>
          </a:prstGeom>
          <a:solidFill>
            <a:srgbClr val="FFFFFF"/>
          </a:solidFill>
          <a:ln w="12700">
            <a:solidFill>
              <a:srgbClr val="EDEDED"/>
            </a:solidFill>
            <a:prstDash val="solid"/>
          </a:ln>
        </p:spPr>
      </p:sp>
      <p:sp>
        <p:nvSpPr>
          <p:cNvPr id="8" name="econ-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Make it cheaper or sharper</a:t>
            </a:r>
            <a:endParaRPr lang="en-US" sz="1500" dirty="0"/>
          </a:p>
        </p:txBody>
      </p:sp>
      <p:sp>
        <p:nvSpPr>
          <p:cNvPr id="9" name="econ-l"/>
          <p:cNvSpPr txBox="1"/>
          <p:nvPr/>
        </p:nvSpPr>
        <p:spPr>
          <a:xfrm>
            <a:off x="6592824" y="1737360"/>
            <a:ext cx="4800600" cy="3474720"/>
          </a:xfrm>
          <a:prstGeom prst="rect">
            <a:avLst/>
          </a:prstGeom>
          <a:noFill/>
          <a:ln/>
        </p:spPr>
        <p:txBody>
          <a:bodyPr wrap="square" lIns="0" tIns="0" rIns="0" bIns="0" rtlCol="0" anchor="ctr"/>
          <a:lstStyle/>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Query diversification — keyword, entity, paraphrase, relation</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Knowledge-source diversification, routed by claim type</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Claim difficulty routing — small model, then large</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Confidence-weighted ensemble — selectable, untuned</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Fine-tuned detector on labelled claims</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Distillation from a large open teacher</a:t>
            </a:r>
            <a:endParaRPr lang="en-US" sz="1300" dirty="0"/>
          </a:p>
          <a:p>
            <a:pPr marL="342900" indent="-342900">
              <a:spcAft>
                <a:spcPts val="900"/>
              </a:spcAft>
              <a:buSzPct val="100000"/>
              <a:buChar char="•"/>
            </a:pPr>
            <a:r>
              <a:rPr lang="en-US" sz="1300" dirty="0">
                <a:solidFill>
                  <a:srgbClr val="333333"/>
                </a:solidFill>
                <a:latin typeface="Arial" pitchFamily="34" charset="0"/>
                <a:ea typeface="Arial" pitchFamily="34" charset="-122"/>
                <a:cs typeface="Arial" pitchFamily="34" charset="-120"/>
              </a:rPr>
              <a:t>The remaining baselines: FactScore, FactCheck-GPT, VERIFY</a:t>
            </a:r>
            <a:endParaRPr lang="en-US" sz="1300" dirty="0"/>
          </a:p>
        </p:txBody>
      </p:sp>
      <p:sp>
        <p:nvSpPr>
          <p:cNvPr id="1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list with expected metric effects in the repository README.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TAKEAWAYS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Four things this reimplementation establishes</a:t>
            </a:r>
            <a:endParaRPr lang="en-US" sz="3000" dirty="0"/>
          </a:p>
        </p:txBody>
      </p:sp>
      <p:sp>
        <p:nvSpPr>
          <p:cNvPr id="4" name="tk1"/>
          <p:cNvSpPr/>
          <p:nvPr/>
        </p:nvSpPr>
        <p:spPr>
          <a:xfrm>
            <a:off x="548640" y="1234440"/>
            <a:ext cx="11064240" cy="1024128"/>
          </a:xfrm>
          <a:prstGeom prst="roundRect">
            <a:avLst>
              <a:gd name="adj" fmla="val 5357"/>
            </a:avLst>
          </a:prstGeom>
          <a:solidFill>
            <a:srgbClr val="333333"/>
          </a:solidFill>
          <a:ln w="12700">
            <a:solidFill>
              <a:srgbClr val="333333"/>
            </a:solidFill>
            <a:prstDash val="solid"/>
          </a:ln>
        </p:spPr>
      </p:sp>
      <p:sp>
        <p:nvSpPr>
          <p:cNvPr id="5" name="tk-b1"/>
          <p:cNvSpPr/>
          <p:nvPr/>
        </p:nvSpPr>
        <p:spPr>
          <a:xfrm>
            <a:off x="777240" y="1517904"/>
            <a:ext cx="457200" cy="457200"/>
          </a:xfrm>
          <a:prstGeom prst="ellipse">
            <a:avLst/>
          </a:prstGeom>
          <a:solidFill>
            <a:srgbClr val="E90802"/>
          </a:solidFill>
          <a:ln w="12700">
            <a:solidFill>
              <a:srgbClr val="E90802"/>
            </a:solidFill>
            <a:prstDash val="solid"/>
          </a:ln>
        </p:spPr>
      </p:sp>
      <p:sp>
        <p:nvSpPr>
          <p:cNvPr id="6" name="tk-n1"/>
          <p:cNvSpPr txBox="1"/>
          <p:nvPr/>
        </p:nvSpPr>
        <p:spPr>
          <a:xfrm>
            <a:off x="777240" y="151790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k-t1"/>
          <p:cNvSpPr txBox="1"/>
          <p:nvPr/>
        </p:nvSpPr>
        <p:spPr>
          <a:xfrm>
            <a:off x="1417320" y="138074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The whole VeriFact pipeline runs on a 4 GB consumer GPU with two 3B quantized models, free Wikipedia evidence and no API key.</a:t>
            </a:r>
            <a:endParaRPr lang="en-US" sz="1400" dirty="0"/>
          </a:p>
        </p:txBody>
      </p:sp>
      <p:sp>
        <p:nvSpPr>
          <p:cNvPr id="8" name="tk2"/>
          <p:cNvSpPr/>
          <p:nvPr/>
        </p:nvSpPr>
        <p:spPr>
          <a:xfrm>
            <a:off x="548640" y="2423160"/>
            <a:ext cx="11064240" cy="1024128"/>
          </a:xfrm>
          <a:prstGeom prst="roundRect">
            <a:avLst>
              <a:gd name="adj" fmla="val 5357"/>
            </a:avLst>
          </a:prstGeom>
          <a:solidFill>
            <a:srgbClr val="333333"/>
          </a:solidFill>
          <a:ln w="12700">
            <a:solidFill>
              <a:srgbClr val="333333"/>
            </a:solidFill>
            <a:prstDash val="solid"/>
          </a:ln>
        </p:spPr>
      </p:sp>
      <p:sp>
        <p:nvSpPr>
          <p:cNvPr id="9" name="tk-b2"/>
          <p:cNvSpPr/>
          <p:nvPr/>
        </p:nvSpPr>
        <p:spPr>
          <a:xfrm>
            <a:off x="777240" y="2706624"/>
            <a:ext cx="457200" cy="457200"/>
          </a:xfrm>
          <a:prstGeom prst="ellipse">
            <a:avLst/>
          </a:prstGeom>
          <a:solidFill>
            <a:srgbClr val="E90802"/>
          </a:solidFill>
          <a:ln w="12700">
            <a:solidFill>
              <a:srgbClr val="E90802"/>
            </a:solidFill>
            <a:prstDash val="solid"/>
          </a:ln>
        </p:spPr>
      </p:sp>
      <p:sp>
        <p:nvSpPr>
          <p:cNvPr id="10" name="tk-n2"/>
          <p:cNvSpPr txBox="1"/>
          <p:nvPr/>
        </p:nvSpPr>
        <p:spPr>
          <a:xfrm>
            <a:off x="777240" y="27066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k-t2"/>
          <p:cNvSpPr txBox="1"/>
          <p:nvPr/>
        </p:nvSpPr>
        <p:spPr>
          <a:xfrm>
            <a:off x="1417320" y="256946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Refinement changed the verdict on 39.3% of refined facts, against 24.9% in the paper. Factuality scores depend on whether claims keep their context.</a:t>
            </a:r>
            <a:endParaRPr lang="en-US" sz="1400" dirty="0"/>
          </a:p>
        </p:txBody>
      </p:sp>
      <p:sp>
        <p:nvSpPr>
          <p:cNvPr id="12" name="tk3"/>
          <p:cNvSpPr/>
          <p:nvPr/>
        </p:nvSpPr>
        <p:spPr>
          <a:xfrm>
            <a:off x="548640" y="3611880"/>
            <a:ext cx="11064240" cy="1024128"/>
          </a:xfrm>
          <a:prstGeom prst="roundRect">
            <a:avLst>
              <a:gd name="adj" fmla="val 5357"/>
            </a:avLst>
          </a:prstGeom>
          <a:solidFill>
            <a:srgbClr val="333333"/>
          </a:solidFill>
          <a:ln w="12700">
            <a:solidFill>
              <a:srgbClr val="333333"/>
            </a:solidFill>
            <a:prstDash val="solid"/>
          </a:ln>
        </p:spPr>
      </p:sp>
      <p:sp>
        <p:nvSpPr>
          <p:cNvPr id="13" name="tk-b3"/>
          <p:cNvSpPr/>
          <p:nvPr/>
        </p:nvSpPr>
        <p:spPr>
          <a:xfrm>
            <a:off x="777240" y="3895344"/>
            <a:ext cx="457200" cy="457200"/>
          </a:xfrm>
          <a:prstGeom prst="ellipse">
            <a:avLst/>
          </a:prstGeom>
          <a:solidFill>
            <a:srgbClr val="E90802"/>
          </a:solidFill>
          <a:ln w="12700">
            <a:solidFill>
              <a:srgbClr val="E90802"/>
            </a:solidFill>
            <a:prstDash val="solid"/>
          </a:ln>
        </p:spPr>
      </p:sp>
      <p:sp>
        <p:nvSpPr>
          <p:cNvPr id="14" name="tk-n3"/>
          <p:cNvSpPr txBox="1"/>
          <p:nvPr/>
        </p:nvSpPr>
        <p:spPr>
          <a:xfrm>
            <a:off x="777240" y="389534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5" name="tk-t3"/>
          <p:cNvSpPr txBox="1"/>
          <p:nvPr/>
        </p:nvSpPr>
        <p:spPr>
          <a:xfrm>
            <a:off x="1417320" y="375818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Precision falls after refinement, 0.420 → 0.343 — the paper's own finding. Unrefined atomic facts overstate factuality.</a:t>
            </a:r>
            <a:endParaRPr lang="en-US" sz="1400" dirty="0"/>
          </a:p>
        </p:txBody>
      </p:sp>
      <p:sp>
        <p:nvSpPr>
          <p:cNvPr id="16" name="tk4"/>
          <p:cNvSpPr/>
          <p:nvPr/>
        </p:nvSpPr>
        <p:spPr>
          <a:xfrm>
            <a:off x="548640" y="4800600"/>
            <a:ext cx="11064240" cy="1024128"/>
          </a:xfrm>
          <a:prstGeom prst="roundRect">
            <a:avLst>
              <a:gd name="adj" fmla="val 5357"/>
            </a:avLst>
          </a:prstGeom>
          <a:solidFill>
            <a:srgbClr val="333333"/>
          </a:solidFill>
          <a:ln w="19050">
            <a:solidFill>
              <a:srgbClr val="E90802"/>
            </a:solidFill>
            <a:prstDash val="solid"/>
          </a:ln>
        </p:spPr>
      </p:sp>
      <p:sp>
        <p:nvSpPr>
          <p:cNvPr id="17" name="tk-b4"/>
          <p:cNvSpPr/>
          <p:nvPr/>
        </p:nvSpPr>
        <p:spPr>
          <a:xfrm>
            <a:off x="777240" y="5084064"/>
            <a:ext cx="457200" cy="457200"/>
          </a:xfrm>
          <a:prstGeom prst="ellipse">
            <a:avLst/>
          </a:prstGeom>
          <a:solidFill>
            <a:srgbClr val="E90802"/>
          </a:solidFill>
          <a:ln w="12700">
            <a:solidFill>
              <a:srgbClr val="E90802"/>
            </a:solidFill>
            <a:prstDash val="solid"/>
          </a:ln>
        </p:spPr>
      </p:sp>
      <p:sp>
        <p:nvSpPr>
          <p:cNvPr id="18" name="tk-n4"/>
          <p:cNvSpPr txBox="1"/>
          <p:nvPr/>
        </p:nvSpPr>
        <p:spPr>
          <a:xfrm>
            <a:off x="777240" y="50840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9" name="tk-t4"/>
          <p:cNvSpPr txBox="1"/>
          <p:nvPr/>
        </p:nvSpPr>
        <p:spPr>
          <a:xfrm>
            <a:off x="1417320" y="4946904"/>
            <a:ext cx="9966960" cy="731520"/>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With weak judges the union rule is dominated by the most permissive one. Majority vote cut the incomplete rate 60% for 0.013 precision.</a:t>
            </a:r>
            <a:endParaRPr lang="en-US" sz="1400" dirty="0"/>
          </a:p>
        </p:txBody>
      </p:sp>
      <p:sp>
        <p:nvSpPr>
          <p:cNvPr id="2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Repository: config-driven, cached, 59 tests  ·  run_baseline · run_verifact · run_ablation · compare · demo.py · Streamlit app</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Texas Tech">
  <a:themeElements>
    <a:clrScheme name="Texas Tech">
      <a:dk1>
        <a:srgbClr val="000000"/>
      </a:dk1>
      <a:lt1>
        <a:srgbClr val="FFFFFF"/>
      </a:lt1>
      <a:dk2>
        <a:srgbClr val="333333"/>
      </a:dk2>
      <a:lt2>
        <a:srgbClr val="EDEDED"/>
      </a:lt2>
      <a:accent1>
        <a:srgbClr val="E90802"/>
      </a:accent1>
      <a:accent2>
        <a:srgbClr val="757575"/>
      </a:accent2>
      <a:accent3>
        <a:srgbClr val="333333"/>
      </a:accent3>
      <a:accent4>
        <a:srgbClr val="EDEDED"/>
      </a:accent4>
      <a:accent5>
        <a:srgbClr val="000000"/>
      </a:accent5>
      <a:accent6>
        <a:srgbClr val="E90802"/>
      </a:accent6>
      <a:hlink>
        <a:srgbClr val="E90802"/>
      </a:hlink>
      <a:folHlink>
        <a:srgbClr val="757575"/>
      </a:folHlink>
    </a:clrScheme>
    <a:fontScheme name="Texas Tech">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2026-10-07T06:34:35Z</dcterms:created>
  <dcterms:modified xsi:type="dcterms:W3CDTF">2026-10-07T06:34:35Z</dcterms:modified>
</cp:coreProperties>
</file>