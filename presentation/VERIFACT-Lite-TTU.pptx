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71b4084-bc1c-c36a-676d-1ab0264dad6c}">
          <p14:sldIdLst>
            <p14:sldId id="256"/>
            <p14:sldId id="257"/>
            <p14:sldId id="258"/>
            <p14:sldId id="259"/>
            <p14:sldId id="260"/>
            <p14:sldId id="261"/>
            <p14:sldId id="262"/>
            <p14:sldId id="263"/>
            <p14:sldId id="264"/>
            <p14:sldId id="265"/>
            <p14:sldId id="266"/>
            <p14:sldId id="267"/>
            <p14:sldId id="268"/>
            <p14:sldId id="269"/>
            <p14:sldId id="270"/>
          </p14:sldIdLst>
        </p14:section>
        <p14:section name="Appendix" id="{e3824fcf-c566-2718-5d4d-63e6a1177ef3}">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757575"/>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One sentence: we rebuilt the paper's mechanism on hardware that costs nothing to run, measured it against its own baseline, then re-ran the whole thing with larger judges to find out which conclusions were real. Move on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example is the whole paper. Verifying the stripped claim gives a meaningless verdict, because it is not what the answer said. Read the two fact lists side by side, then point at the three numbers: measured on human annotation, not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Three sentences on what the framework is, then the bottom strip: this is what the paper claims. Say explicitly that the bottom row is the paper's, not ours — the rest of the talk is about which of these behaviours survive on free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Walk the four boxes left to right in about thirty seconds. Spend the rest on the two bottom cards: these are the two mechanisms we reimplemented. The union rule matters later — we test whether it is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Do not read the table. Say: every paid or large component has a free local stand-in, and the detection logic itself is unchanged. Then the bottom strip — twelve questions written to contain conditions, comparisons and event order, and an answer key written by hand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The key methodological point: the answer is generated once, so baseline and VERIFACT-Lite differ only in whether refinement runs. Read the recall definition out loud — it explains why recall never moves between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main reproduction slide. The mechanism does what the paper says to the fact set, and measured precision goes down. Flag that contradicted did not move at all — that becomes the tell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Walk the table once, then read the three card headings only. Each half of the contribution moves its own metric, and the two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slide justifies the paper and explains the precision drop. A quarter to nearly half of verdicts are decided by whether the claim kept its context. Dwell on the contradicted row — it is the result we could not get until the judges were bigger, which is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Frame this as the contribution: the paper ran one configuration, we ran three and asked which results were real. Be explicit that A is the controlled comparison and B is not — that distinction is why the next two slides can say anything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strongest finding of the project, and it is a methodological one. Any factuality score of this kind is a property of the judge as much as of the system under test. Say plainly: this is why we do not compare our absolute numbers with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claims, opposite fates. Majority beating union survives everywhere. The dramatic incomplete-rate gap was a 3B artifact and we say so. Then the bottom table: for relations the union really is one judge's opinion at every size, but for incompleteness bigger judges finally complement each other — 33 exceeds both 32 and 27, which is the behaviour the union rule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Point at the Agreement column, not the numbers. The claim is that the mechanism behaves as described; the claim is explicitly not that the numbers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Open by owning the 0.92 mistake — it shows the harness was itself tested. Then the table: the top two rows started as proposals on the first version of this talk and are now experiments with results. The rest are still proposals, and are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Close on points 3 and 4. Point 3 is the finding that generalises beyond this paper. Point 4 is where we corrected ourselves between versions of this talk, which is the honest thing to show. Leave the slide up for the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how missing relations are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the refiner actually writes, or why a stronger model was the first thing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else you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about run B or about engineering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E9080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685800" y="1371600"/>
            <a:ext cx="10789920" cy="310896"/>
          </a:xfrm>
          <a:prstGeom prst="rect">
            <a:avLst/>
          </a:prstGeom>
          <a:noFill/>
          <a:ln/>
        </p:spPr>
        <p:txBody>
          <a:bodyPr wrap="square" lIns="0" tIns="0" rIns="0" bIns="0" rtlCol="0" anchor="ctr"/>
          <a:lstStyle/>
          <a:p>
            <a:pPr indent="0" marL="0">
              <a:buNone/>
            </a:pPr>
            <a:r>
              <a:rPr lang="en-US" sz="1300" b="1" spc="200" kern="0" dirty="0">
                <a:solidFill>
                  <a:srgbClr val="E90802"/>
                </a:solidFill>
                <a:latin typeface="Arial" pitchFamily="34" charset="0"/>
                <a:ea typeface="Arial" pitchFamily="34" charset="-122"/>
                <a:cs typeface="Arial" pitchFamily="34" charset="-120"/>
              </a:rPr>
              <a:t>PAPER REIMPLEMENTATION  ·  NEURAL NETWORKS</a:t>
            </a:r>
            <a:endParaRPr lang="en-US" sz="1300" dirty="0"/>
          </a:p>
        </p:txBody>
      </p:sp>
      <p:sp>
        <p:nvSpPr>
          <p:cNvPr id="3" name="cover-title"/>
          <p:cNvSpPr txBox="1"/>
          <p:nvPr/>
        </p:nvSpPr>
        <p:spPr>
          <a:xfrm>
            <a:off x="685800" y="1783080"/>
            <a:ext cx="10789920" cy="1234440"/>
          </a:xfrm>
          <a:prstGeom prst="rect">
            <a:avLst/>
          </a:prstGeom>
          <a:noFill/>
          <a:ln/>
        </p:spPr>
        <p:txBody>
          <a:bodyPr wrap="square" lIns="0" tIns="0" rIns="0" bIns="0" rtlCol="0" anchor="ctr"/>
          <a:lstStyle/>
          <a:p>
            <a:pPr indent="0" marL="0">
              <a:buNone/>
            </a:pPr>
            <a:r>
              <a:rPr lang="en-US" sz="5400" b="1" dirty="0">
                <a:solidFill>
                  <a:srgbClr val="FFFFFF"/>
                </a:solidFill>
              </a:rPr>
              <a:t>VERIFACT-Lite</a:t>
            </a:r>
            <a:endParaRPr lang="en-US" sz="5400" dirty="0"/>
          </a:p>
        </p:txBody>
      </p:sp>
      <p:sp>
        <p:nvSpPr>
          <p:cNvPr id="4" name="cover-body"/>
          <p:cNvSpPr txBox="1"/>
          <p:nvPr/>
        </p:nvSpPr>
        <p:spPr>
          <a:xfrm>
            <a:off x="685800" y="3154680"/>
            <a:ext cx="9052560" cy="1188720"/>
          </a:xfrm>
          <a:prstGeom prst="rect">
            <a:avLst/>
          </a:prstGeom>
          <a:noFill/>
          <a:ln/>
        </p:spPr>
        <p:txBody>
          <a:bodyPr wrap="square" lIns="0" tIns="0" rIns="0" bIns="0" rtlCol="0" anchor="ctr"/>
          <a:lstStyle/>
          <a:p>
            <a:pPr indent="0" marL="0">
              <a:lnSpc>
                <a:spcPct val="130000"/>
              </a:lnSpc>
              <a:buNone/>
            </a:pPr>
            <a:r>
              <a:rPr lang="en-US" sz="1700" dirty="0">
                <a:solidFill>
                  <a:srgbClr val="EDEDED"/>
                </a:solidFill>
                <a:latin typeface="Arial" pitchFamily="34" charset="0"/>
                <a:ea typeface="Arial" pitchFamily="34" charset="-122"/>
                <a:cs typeface="Arial" pitchFamily="34" charset="-120"/>
              </a:rPr>
              <a:t>Reproducing a context-preserving fact-verification pipeline with open-source, locally hosted models</a:t>
            </a:r>
            <a:endParaRPr lang="en-US" sz="1700" dirty="0"/>
          </a:p>
        </p:txBody>
      </p:sp>
      <p:sp>
        <p:nvSpPr>
          <p:cNvPr id="5" name="cover-by"/>
          <p:cNvSpPr txBox="1"/>
          <p:nvPr/>
        </p:nvSpPr>
        <p:spPr>
          <a:xfrm>
            <a:off x="685800" y="4206240"/>
            <a:ext cx="90525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By:  Madhav Krishna</a:t>
            </a:r>
            <a:endParaRPr lang="en-US" sz="1500" dirty="0"/>
          </a:p>
        </p:txBody>
      </p:sp>
      <p:sp>
        <p:nvSpPr>
          <p:cNvPr id="6" name="chip0"/>
          <p:cNvSpPr/>
          <p:nvPr/>
        </p:nvSpPr>
        <p:spPr>
          <a:xfrm>
            <a:off x="685800" y="4892040"/>
            <a:ext cx="2953512" cy="420624"/>
          </a:xfrm>
          <a:prstGeom prst="roundRect">
            <a:avLst>
              <a:gd name="adj" fmla="val 50000"/>
            </a:avLst>
          </a:prstGeom>
          <a:solidFill>
            <a:srgbClr val="333333"/>
          </a:solidFill>
          <a:ln w="12700">
            <a:solidFill>
              <a:srgbClr val="333333"/>
            </a:solidFill>
            <a:prstDash val="solid"/>
          </a:ln>
        </p:spPr>
      </p:sp>
      <p:sp>
        <p:nvSpPr>
          <p:cNvPr id="7" name="chip-t0"/>
          <p:cNvSpPr txBox="1"/>
          <p:nvPr/>
        </p:nvSpPr>
        <p:spPr>
          <a:xfrm>
            <a:off x="685800" y="4892040"/>
            <a:ext cx="29535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Qwen2.5-3B to Llama-3.1-8B</a:t>
            </a:r>
            <a:endParaRPr lang="en-US" sz="1200" dirty="0"/>
          </a:p>
        </p:txBody>
      </p:sp>
      <p:sp>
        <p:nvSpPr>
          <p:cNvPr id="8" name="chip1"/>
          <p:cNvSpPr/>
          <p:nvPr/>
        </p:nvSpPr>
        <p:spPr>
          <a:xfrm>
            <a:off x="3749040" y="4892040"/>
            <a:ext cx="2857500" cy="420624"/>
          </a:xfrm>
          <a:prstGeom prst="roundRect">
            <a:avLst>
              <a:gd name="adj" fmla="val 50000"/>
            </a:avLst>
          </a:prstGeom>
          <a:solidFill>
            <a:srgbClr val="333333"/>
          </a:solidFill>
          <a:ln w="12700">
            <a:solidFill>
              <a:srgbClr val="333333"/>
            </a:solidFill>
            <a:prstDash val="solid"/>
          </a:ln>
        </p:spPr>
      </p:sp>
      <p:sp>
        <p:nvSpPr>
          <p:cNvPr id="9" name="chip-t1"/>
          <p:cNvSpPr txBox="1"/>
          <p:nvPr/>
        </p:nvSpPr>
        <p:spPr>
          <a:xfrm>
            <a:off x="3749040" y="4892040"/>
            <a:ext cx="28575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Q4_K_M, 4 GB GPU and a T4</a:t>
            </a:r>
            <a:endParaRPr lang="en-US" sz="1200" dirty="0"/>
          </a:p>
        </p:txBody>
      </p:sp>
      <p:sp>
        <p:nvSpPr>
          <p:cNvPr id="10" name="chip2"/>
          <p:cNvSpPr/>
          <p:nvPr/>
        </p:nvSpPr>
        <p:spPr>
          <a:xfrm>
            <a:off x="6492240" y="4892040"/>
            <a:ext cx="2185416" cy="420624"/>
          </a:xfrm>
          <a:prstGeom prst="roundRect">
            <a:avLst>
              <a:gd name="adj" fmla="val 50000"/>
            </a:avLst>
          </a:prstGeom>
          <a:solidFill>
            <a:srgbClr val="333333"/>
          </a:solidFill>
          <a:ln w="12700">
            <a:solidFill>
              <a:srgbClr val="333333"/>
            </a:solidFill>
            <a:prstDash val="solid"/>
          </a:ln>
        </p:spPr>
      </p:sp>
      <p:sp>
        <p:nvSpPr>
          <p:cNvPr id="11" name="chip-t2"/>
          <p:cNvSpPr txBox="1"/>
          <p:nvPr/>
        </p:nvSpPr>
        <p:spPr>
          <a:xfrm>
            <a:off x="6492240" y="4892040"/>
            <a:ext cx="218541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Wikipedia evidence</a:t>
            </a:r>
            <a:endParaRPr lang="en-US" sz="1200" dirty="0"/>
          </a:p>
        </p:txBody>
      </p:sp>
      <p:sp>
        <p:nvSpPr>
          <p:cNvPr id="12" name="chip3"/>
          <p:cNvSpPr/>
          <p:nvPr/>
        </p:nvSpPr>
        <p:spPr>
          <a:xfrm>
            <a:off x="8641080" y="4892040"/>
            <a:ext cx="1705356" cy="420624"/>
          </a:xfrm>
          <a:prstGeom prst="roundRect">
            <a:avLst>
              <a:gd name="adj" fmla="val 50000"/>
            </a:avLst>
          </a:prstGeom>
          <a:solidFill>
            <a:srgbClr val="E90802"/>
          </a:solidFill>
          <a:ln w="12700">
            <a:solidFill>
              <a:srgbClr val="E90802"/>
            </a:solidFill>
            <a:prstDash val="solid"/>
          </a:ln>
        </p:spPr>
      </p:sp>
      <p:sp>
        <p:nvSpPr>
          <p:cNvPr id="13" name="chip-t3"/>
          <p:cNvSpPr txBox="1"/>
          <p:nvPr/>
        </p:nvSpPr>
        <p:spPr>
          <a:xfrm>
            <a:off x="8641080" y="4892040"/>
            <a:ext cx="170535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 total cost</a:t>
            </a:r>
            <a:endParaRPr lang="en-US" sz="1200" dirty="0"/>
          </a:p>
        </p:txBody>
      </p:sp>
      <p:sp>
        <p:nvSpPr>
          <p:cNvPr id="14" name="cover-foot"/>
          <p:cNvSpPr txBox="1"/>
          <p:nvPr/>
        </p:nvSpPr>
        <p:spPr>
          <a:xfrm>
            <a:off x="685800" y="5897880"/>
            <a:ext cx="10789920" cy="274320"/>
          </a:xfrm>
          <a:prstGeom prst="rect">
            <a:avLst/>
          </a:prstGeom>
          <a:noFill/>
          <a:ln/>
        </p:spPr>
        <p:txBody>
          <a:bodyPr wrap="square" lIns="0" tIns="0" rIns="0" bIns="0" rtlCol="0" anchor="ctr"/>
          <a:lstStyle/>
          <a:p>
            <a:pPr indent="0" marL="0">
              <a:buNone/>
            </a:pPr>
            <a:r>
              <a:rPr lang="en-US" sz="1100" dirty="0">
                <a:solidFill>
                  <a:srgbClr val="757575"/>
                </a:solidFill>
                <a:latin typeface="Arial" pitchFamily="34" charset="0"/>
                <a:ea typeface="Arial" pitchFamily="34" charset="-122"/>
                <a:cs typeface="Arial" pitchFamily="34" charset="-120"/>
              </a:rPr>
              <a:t>Liu, Zhang, Munir, Gu &amp; Wang — EMNLP 2025  ·  Not a reproduction of the paper's reported results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PROBLEM</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Atomic facts lose the context that makes them true</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The challenge of context-free fact verification</a:t>
            </a:r>
            <a:endParaRPr lang="en-US" sz="1500" dirty="0"/>
          </a:p>
        </p:txBody>
      </p:sp>
      <p:sp>
        <p:nvSpPr>
          <p:cNvPr id="5" name="quote-box"/>
          <p:cNvSpPr/>
          <p:nvPr/>
        </p:nvSpPr>
        <p:spPr>
          <a:xfrm>
            <a:off x="548640" y="1444752"/>
            <a:ext cx="11064240" cy="749808"/>
          </a:xfrm>
          <a:prstGeom prst="roundRect">
            <a:avLst>
              <a:gd name="adj" fmla="val 7317"/>
            </a:avLst>
          </a:prstGeom>
          <a:solidFill>
            <a:srgbClr val="EDEDED"/>
          </a:solidFill>
          <a:ln w="12700">
            <a:solidFill>
              <a:srgbClr val="EDEDED"/>
            </a:solidFill>
            <a:prstDash val="solid"/>
          </a:ln>
        </p:spPr>
      </p:sp>
      <p:sp>
        <p:nvSpPr>
          <p:cNvPr id="6" name="quote-text"/>
          <p:cNvSpPr txBox="1"/>
          <p:nvPr/>
        </p:nvSpPr>
        <p:spPr>
          <a:xfrm>
            <a:off x="777240" y="1517904"/>
            <a:ext cx="10607040" cy="603504"/>
          </a:xfrm>
          <a:prstGeom prst="rect">
            <a:avLst/>
          </a:prstGeom>
          <a:noFill/>
          <a:ln/>
        </p:spPr>
        <p:txBody>
          <a:bodyPr wrap="square" lIns="0" tIns="0" rIns="0" bIns="0" rtlCol="0" anchor="ctr"/>
          <a:lstStyle/>
          <a:p>
            <a:pPr indent="0" marL="0">
              <a:lnSpc>
                <a:spcPct val="112000"/>
              </a:lnSpc>
              <a:buNone/>
            </a:pPr>
            <a:r>
              <a:rPr lang="en-US" sz="1200" b="1" dirty="0">
                <a:solidFill>
                  <a:srgbClr val="757575"/>
                </a:solidFill>
                <a:latin typeface="Arial" pitchFamily="34" charset="0"/>
                <a:ea typeface="Arial" pitchFamily="34" charset="-122"/>
                <a:cs typeface="Arial" pitchFamily="34" charset="-120"/>
              </a:rPr>
              <a:t>Model answer:  </a:t>
            </a:r>
            <a:pPr indent="0" marL="0">
              <a:lnSpc>
                <a:spcPct val="112000"/>
              </a:lnSpc>
              <a:buNone/>
            </a:pPr>
            <a:r>
              <a:rPr lang="en-US" sz="1400" dirty="0">
                <a:solidFill>
                  <a:srgbClr val="000000"/>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2000"/>
              </a:lnSpc>
              <a:buNone/>
            </a:pPr>
            <a:r>
              <a:rPr lang="en-US" sz="1400" b="1" dirty="0">
                <a:solidFill>
                  <a:srgbClr val="E90802"/>
                </a:solidFill>
                <a:latin typeface="Arial" pitchFamily="34" charset="0"/>
                <a:ea typeface="Arial" pitchFamily="34" charset="-122"/>
                <a:cs typeface="Arial" pitchFamily="34" charset="-120"/>
              </a:rPr>
              <a:t>making</a:t>
            </a:r>
            <a:pPr indent="0" marL="0">
              <a:lnSpc>
                <a:spcPct val="112000"/>
              </a:lnSpc>
              <a:buNone/>
            </a:pPr>
            <a:r>
              <a:rPr lang="en-US" sz="1400" dirty="0">
                <a:solidFill>
                  <a:srgbClr val="000000"/>
                </a:solidFill>
                <a:latin typeface="Arial" pitchFamily="34" charset="0"/>
                <a:ea typeface="Arial" pitchFamily="34" charset="-122"/>
                <a:cs typeface="Arial" pitchFamily="34" charset="-120"/>
              </a:rPr>
              <a:t> it more competitive with other materials like copper and silver."</a:t>
            </a:r>
            <a:endParaRPr lang="en-US" sz="1200" dirty="0"/>
          </a:p>
        </p:txBody>
      </p:sp>
      <p:sp>
        <p:nvSpPr>
          <p:cNvPr id="7" name="safe"/>
          <p:cNvSpPr/>
          <p:nvPr/>
        </p:nvSpPr>
        <p:spPr>
          <a:xfrm>
            <a:off x="548640" y="2304288"/>
            <a:ext cx="5486400" cy="2286000"/>
          </a:xfrm>
          <a:prstGeom prst="roundRect">
            <a:avLst>
              <a:gd name="adj" fmla="val 2400"/>
            </a:avLst>
          </a:prstGeom>
          <a:solidFill>
            <a:srgbClr val="FFFFFF"/>
          </a:solidFill>
          <a:ln w="12700">
            <a:solidFill>
              <a:srgbClr val="EDEDED"/>
            </a:solidFill>
            <a:prstDash val="solid"/>
          </a:ln>
        </p:spPr>
      </p:sp>
      <p:sp>
        <p:nvSpPr>
          <p:cNvPr id="8" name="safe-h"/>
          <p:cNvSpPr txBox="1"/>
          <p:nvPr/>
        </p:nvSpPr>
        <p:spPr>
          <a:xfrm>
            <a:off x="786384" y="2505456"/>
            <a:ext cx="5010912" cy="310896"/>
          </a:xfrm>
          <a:prstGeom prst="rect">
            <a:avLst/>
          </a:prstGeom>
          <a:noFill/>
          <a:ln/>
        </p:spPr>
        <p:txBody>
          <a:bodyPr wrap="square" lIns="0" tIns="0" rIns="0" bIns="0" rtlCol="0" anchor="ctr"/>
          <a:lstStyle/>
          <a:p>
            <a:pPr indent="0" marL="0">
              <a:buNone/>
            </a:pPr>
            <a:r>
              <a:rPr lang="en-US" sz="1500" b="1" dirty="0">
                <a:solidFill>
                  <a:srgbClr val="333333"/>
                </a:solidFill>
              </a:rPr>
              <a:t>Extracted by SAFE</a:t>
            </a:r>
            <a:endParaRPr lang="en-US" sz="1500" dirty="0"/>
          </a:p>
        </p:txBody>
      </p:sp>
      <p:sp>
        <p:nvSpPr>
          <p:cNvPr id="9" name="safe-list"/>
          <p:cNvSpPr txBox="1"/>
          <p:nvPr/>
        </p:nvSpPr>
        <p:spPr>
          <a:xfrm>
            <a:off x="786384" y="2788920"/>
            <a:ext cx="5029200" cy="16916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 price of gold could drop by 20–50% or more.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dropped</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Copper and silver are competitive with gold in price.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300" dirty="0"/>
          </a:p>
        </p:txBody>
      </p:sp>
      <p:sp>
        <p:nvSpPr>
          <p:cNvPr id="10" name="vf"/>
          <p:cNvSpPr/>
          <p:nvPr/>
        </p:nvSpPr>
        <p:spPr>
          <a:xfrm>
            <a:off x="6355080" y="2304288"/>
            <a:ext cx="5257800" cy="2286000"/>
          </a:xfrm>
          <a:prstGeom prst="roundRect">
            <a:avLst>
              <a:gd name="adj" fmla="val 2400"/>
            </a:avLst>
          </a:prstGeom>
          <a:solidFill>
            <a:srgbClr val="FFFFFF"/>
          </a:solidFill>
          <a:ln w="19050">
            <a:solidFill>
              <a:srgbClr val="E90802"/>
            </a:solidFill>
            <a:prstDash val="solid"/>
          </a:ln>
        </p:spPr>
      </p:sp>
      <p:sp>
        <p:nvSpPr>
          <p:cNvPr id="11" name="vf-h"/>
          <p:cNvSpPr txBox="1"/>
          <p:nvPr/>
        </p:nvSpPr>
        <p:spPr>
          <a:xfrm>
            <a:off x="6592824" y="2505456"/>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Extracted by VeriFact</a:t>
            </a:r>
            <a:endParaRPr lang="en-US" sz="1500" dirty="0"/>
          </a:p>
        </p:txBody>
      </p:sp>
      <p:sp>
        <p:nvSpPr>
          <p:cNvPr id="12" name="vf-list"/>
          <p:cNvSpPr txBox="1"/>
          <p:nvPr/>
        </p:nvSpPr>
        <p:spPr>
          <a:xfrm>
            <a:off x="6592824" y="2788920"/>
            <a:ext cx="4800600" cy="16916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If the demand for gold as jewelry disappeared, the price of gold could drop by 20–50% or more.</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A 20–50% drop in the price of gold could make copper and silver competitive with gold.</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300" dirty="0"/>
          </a:p>
        </p:txBody>
      </p:sp>
      <p:sp>
        <p:nvSpPr>
          <p:cNvPr id="13" name="p1"/>
          <p:cNvSpPr/>
          <p:nvPr/>
        </p:nvSpPr>
        <p:spPr>
          <a:xfrm>
            <a:off x="548640" y="4754880"/>
            <a:ext cx="3566160" cy="1143000"/>
          </a:xfrm>
          <a:prstGeom prst="roundRect">
            <a:avLst>
              <a:gd name="adj" fmla="val 4800"/>
            </a:avLst>
          </a:prstGeom>
          <a:solidFill>
            <a:srgbClr val="EDEDED"/>
          </a:solidFill>
          <a:ln w="12700">
            <a:solidFill>
              <a:srgbClr val="EDEDED"/>
            </a:solidFill>
            <a:prstDash val="solid"/>
          </a:ln>
        </p:spPr>
      </p:sp>
      <p:sp>
        <p:nvSpPr>
          <p:cNvPr id="14" name="p1-l"/>
          <p:cNvSpPr txBox="1"/>
          <p:nvPr/>
        </p:nvSpPr>
        <p:spPr>
          <a:xfrm>
            <a:off x="74980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 IN SAFE</a:t>
            </a:r>
            <a:endParaRPr lang="en-US" sz="1000" dirty="0"/>
          </a:p>
        </p:txBody>
      </p:sp>
      <p:sp>
        <p:nvSpPr>
          <p:cNvPr id="15" name="p1-v"/>
          <p:cNvSpPr txBox="1"/>
          <p:nvPr/>
        </p:nvSpPr>
        <p:spPr>
          <a:xfrm>
            <a:off x="74980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12.68%</a:t>
            </a:r>
            <a:endParaRPr lang="en-US" sz="2600" dirty="0"/>
          </a:p>
        </p:txBody>
      </p:sp>
      <p:sp>
        <p:nvSpPr>
          <p:cNvPr id="16" name="p1-f"/>
          <p:cNvSpPr txBox="1"/>
          <p:nvPr/>
        </p:nvSpPr>
        <p:spPr>
          <a:xfrm>
            <a:off x="74980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451 facts, human-annotated</a:t>
            </a:r>
            <a:endParaRPr lang="en-US" sz="1100" dirty="0"/>
          </a:p>
        </p:txBody>
      </p:sp>
      <p:sp>
        <p:nvSpPr>
          <p:cNvPr id="17" name="p2"/>
          <p:cNvSpPr/>
          <p:nvPr/>
        </p:nvSpPr>
        <p:spPr>
          <a:xfrm>
            <a:off x="4297680" y="4754880"/>
            <a:ext cx="3566160" cy="1143000"/>
          </a:xfrm>
          <a:prstGeom prst="roundRect">
            <a:avLst>
              <a:gd name="adj" fmla="val 4800"/>
            </a:avLst>
          </a:prstGeom>
          <a:solidFill>
            <a:srgbClr val="EDEDED"/>
          </a:solidFill>
          <a:ln w="12700">
            <a:solidFill>
              <a:srgbClr val="EDEDED"/>
            </a:solidFill>
            <a:prstDash val="solid"/>
          </a:ln>
        </p:spPr>
      </p:sp>
      <p:sp>
        <p:nvSpPr>
          <p:cNvPr id="18" name="p2-l"/>
          <p:cNvSpPr txBox="1"/>
          <p:nvPr/>
        </p:nvSpPr>
        <p:spPr>
          <a:xfrm>
            <a:off x="449884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PER RESPONSE</a:t>
            </a:r>
            <a:endParaRPr lang="en-US" sz="1000" dirty="0"/>
          </a:p>
        </p:txBody>
      </p:sp>
      <p:sp>
        <p:nvSpPr>
          <p:cNvPr id="19" name="p2-v"/>
          <p:cNvSpPr txBox="1"/>
          <p:nvPr/>
        </p:nvSpPr>
        <p:spPr>
          <a:xfrm>
            <a:off x="449884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1.24</a:t>
            </a:r>
            <a:endParaRPr lang="en-US" sz="2600" dirty="0"/>
          </a:p>
        </p:txBody>
      </p:sp>
      <p:sp>
        <p:nvSpPr>
          <p:cNvPr id="20" name="p2-f"/>
          <p:cNvSpPr txBox="1"/>
          <p:nvPr/>
        </p:nvSpPr>
        <p:spPr>
          <a:xfrm>
            <a:off x="449884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relations never extracted</a:t>
            </a:r>
            <a:endParaRPr lang="en-US" sz="1100" dirty="0"/>
          </a:p>
        </p:txBody>
      </p:sp>
      <p:sp>
        <p:nvSpPr>
          <p:cNvPr id="21" name="p3"/>
          <p:cNvSpPr/>
          <p:nvPr/>
        </p:nvSpPr>
        <p:spPr>
          <a:xfrm>
            <a:off x="8046720" y="4754880"/>
            <a:ext cx="3566160" cy="1143000"/>
          </a:xfrm>
          <a:prstGeom prst="roundRect">
            <a:avLst>
              <a:gd name="adj" fmla="val 4800"/>
            </a:avLst>
          </a:prstGeom>
          <a:solidFill>
            <a:srgbClr val="EDEDED"/>
          </a:solidFill>
          <a:ln w="12700">
            <a:solidFill>
              <a:srgbClr val="EDEDED"/>
            </a:solidFill>
            <a:prstDash val="solid"/>
          </a:ln>
        </p:spPr>
      </p:sp>
      <p:sp>
        <p:nvSpPr>
          <p:cNvPr id="22" name="p3-l"/>
          <p:cNvSpPr txBox="1"/>
          <p:nvPr/>
        </p:nvSpPr>
        <p:spPr>
          <a:xfrm>
            <a:off x="824788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OF THOSE, OMITTED CONDITIONS</a:t>
            </a:r>
            <a:endParaRPr lang="en-US" sz="1000" dirty="0"/>
          </a:p>
        </p:txBody>
      </p:sp>
      <p:sp>
        <p:nvSpPr>
          <p:cNvPr id="23" name="p3-v"/>
          <p:cNvSpPr txBox="1"/>
          <p:nvPr/>
        </p:nvSpPr>
        <p:spPr>
          <a:xfrm>
            <a:off x="824788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51%</a:t>
            </a:r>
            <a:endParaRPr lang="en-US" sz="2600" dirty="0"/>
          </a:p>
        </p:txBody>
      </p:sp>
      <p:sp>
        <p:nvSpPr>
          <p:cNvPr id="24" name="p3-f"/>
          <p:cNvSpPr txBox="1"/>
          <p:nvPr/>
        </p:nvSpPr>
        <p:spPr>
          <a:xfrm>
            <a:off x="824788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the gold case above</a:t>
            </a:r>
            <a:endParaRPr lang="en-US" sz="1100" dirty="0"/>
          </a:p>
        </p:txBody>
      </p:sp>
      <p:sp>
        <p:nvSpPr>
          <p:cNvPr id="2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VeriFact: Liu, Zhang, Munir, Gu &amp; Wang, EMNLP 2025, pp. 17908–17925  ·  github.com/launchnlp/VeriFact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SOLUTION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VeriFact — repair the facts before verifying them</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Preserving context instead of accepting what decomposition left behind</a:t>
            </a:r>
            <a:endParaRPr lang="en-US" sz="1500" dirty="0"/>
          </a:p>
        </p:txBody>
      </p:sp>
      <p:sp>
        <p:nvSpPr>
          <p:cNvPr id="5" name="sol0"/>
          <p:cNvSpPr/>
          <p:nvPr/>
        </p:nvSpPr>
        <p:spPr>
          <a:xfrm>
            <a:off x="548640" y="1444752"/>
            <a:ext cx="3547872" cy="2240280"/>
          </a:xfrm>
          <a:prstGeom prst="roundRect">
            <a:avLst>
              <a:gd name="adj" fmla="val 2449"/>
            </a:avLst>
          </a:prstGeom>
          <a:solidFill>
            <a:srgbClr val="FFFFFF"/>
          </a:solidFill>
          <a:ln w="12700">
            <a:solidFill>
              <a:srgbClr val="EDEDED"/>
            </a:solidFill>
            <a:prstDash val="solid"/>
          </a:ln>
        </p:spPr>
      </p:sp>
      <p:sp>
        <p:nvSpPr>
          <p:cNvPr id="6" name="sol0-h"/>
          <p:cNvSpPr txBox="1"/>
          <p:nvPr/>
        </p:nvSpPr>
        <p:spPr>
          <a:xfrm>
            <a:off x="786384"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What VeriFact is</a:t>
            </a:r>
            <a:endParaRPr lang="en-US" sz="1500" dirty="0"/>
          </a:p>
        </p:txBody>
      </p:sp>
      <p:sp>
        <p:nvSpPr>
          <p:cNvPr id="7" name="sol0-b"/>
          <p:cNvSpPr txBox="1"/>
          <p:nvPr/>
        </p:nvSpPr>
        <p:spPr>
          <a:xfrm>
            <a:off x="786384"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factuality framework that inserts two steps between decomposition and verification: detect broken facts, then repair them. The extractor and the verifier are inherited unchanged.</a:t>
            </a:r>
            <a:endParaRPr lang="en-US" sz="1200" dirty="0"/>
          </a:p>
        </p:txBody>
      </p:sp>
      <p:sp>
        <p:nvSpPr>
          <p:cNvPr id="8" name="sol1"/>
          <p:cNvSpPr/>
          <p:nvPr/>
        </p:nvSpPr>
        <p:spPr>
          <a:xfrm>
            <a:off x="4279392" y="1444752"/>
            <a:ext cx="3547872" cy="2240280"/>
          </a:xfrm>
          <a:prstGeom prst="roundRect">
            <a:avLst>
              <a:gd name="adj" fmla="val 2449"/>
            </a:avLst>
          </a:prstGeom>
          <a:solidFill>
            <a:srgbClr val="FFFFFF"/>
          </a:solidFill>
          <a:ln w="12700">
            <a:solidFill>
              <a:srgbClr val="EDEDED"/>
            </a:solidFill>
            <a:prstDash val="solid"/>
          </a:ln>
        </p:spPr>
      </p:sp>
      <p:sp>
        <p:nvSpPr>
          <p:cNvPr id="9" name="sol1-h"/>
          <p:cNvSpPr txBox="1"/>
          <p:nvPr/>
        </p:nvSpPr>
        <p:spPr>
          <a:xfrm>
            <a:off x="4517136"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two defects it targets</a:t>
            </a:r>
            <a:endParaRPr lang="en-US" sz="1500" dirty="0"/>
          </a:p>
        </p:txBody>
      </p:sp>
      <p:sp>
        <p:nvSpPr>
          <p:cNvPr id="10" name="sol1-b"/>
          <p:cNvSpPr txBox="1"/>
          <p:nvPr/>
        </p:nvSpPr>
        <p:spPr>
          <a:xfrm>
            <a:off x="4517136"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facts — an ambiguous reference, a dropped condition, a missing comparison target. And missing facts — an inter-sentence temporal or causal relation that no atomic fact carries.</a:t>
            </a:r>
            <a:endParaRPr lang="en-US" sz="1200" dirty="0"/>
          </a:p>
        </p:txBody>
      </p:sp>
      <p:sp>
        <p:nvSpPr>
          <p:cNvPr id="11" name="sol2"/>
          <p:cNvSpPr/>
          <p:nvPr/>
        </p:nvSpPr>
        <p:spPr>
          <a:xfrm>
            <a:off x="8010144" y="1444752"/>
            <a:ext cx="3547872" cy="2240280"/>
          </a:xfrm>
          <a:prstGeom prst="roundRect">
            <a:avLst>
              <a:gd name="adj" fmla="val 2449"/>
            </a:avLst>
          </a:prstGeom>
          <a:solidFill>
            <a:srgbClr val="FFFFFF"/>
          </a:solidFill>
          <a:ln w="12700">
            <a:solidFill>
              <a:srgbClr val="EDEDED"/>
            </a:solidFill>
            <a:prstDash val="solid"/>
          </a:ln>
        </p:spPr>
      </p:sp>
      <p:sp>
        <p:nvSpPr>
          <p:cNvPr id="12" name="sol2-h"/>
          <p:cNvSpPr txBox="1"/>
          <p:nvPr/>
        </p:nvSpPr>
        <p:spPr>
          <a:xfrm>
            <a:off x="8247888"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trade it makes</a:t>
            </a:r>
            <a:endParaRPr lang="en-US" sz="1500" dirty="0"/>
          </a:p>
        </p:txBody>
      </p:sp>
      <p:sp>
        <p:nvSpPr>
          <p:cNvPr id="13" name="sol2-b"/>
          <p:cNvSpPr txBox="1"/>
          <p:nvPr/>
        </p:nvSpPr>
        <p:spPr>
          <a:xfrm>
            <a:off x="8247888"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Detection recalls 0.89 of incomplete and 0.85 of missing facts. One LLM agrees with human annotators at only κ = 0.33, so detections are unioned, not voted, and refinement absorbs the false positives.</a:t>
            </a:r>
            <a:endParaRPr lang="en-US" sz="1200" dirty="0"/>
          </a:p>
        </p:txBody>
      </p:sp>
      <p:sp>
        <p:nvSpPr>
          <p:cNvPr id="14" name="pr-h"/>
          <p:cNvSpPr txBox="1"/>
          <p:nvPr/>
        </p:nvSpPr>
        <p:spPr>
          <a:xfrm>
            <a:off x="548640" y="3840480"/>
            <a:ext cx="11064240" cy="274320"/>
          </a:xfrm>
          <a:prstGeom prst="rect">
            <a:avLst/>
          </a:prstGeom>
          <a:noFill/>
          <a:ln/>
        </p:spPr>
        <p:txBody>
          <a:bodyPr wrap="square" lIns="0" tIns="0" rIns="0" bIns="0" rtlCol="0" anchor="ctr"/>
          <a:lstStyle/>
          <a:p>
            <a:pPr indent="0" marL="0">
              <a:buNone/>
            </a:pPr>
            <a:r>
              <a:rPr lang="en-US" sz="1300" b="1" dirty="0">
                <a:solidFill>
                  <a:srgbClr val="333333"/>
                </a:solidFill>
                <a:latin typeface="Arial" pitchFamily="34" charset="0"/>
                <a:ea typeface="Arial" pitchFamily="34" charset="-122"/>
                <a:cs typeface="Arial" pitchFamily="34" charset="-120"/>
              </a:rPr>
              <a:t>What the paper reports on FACTRBENCH</a:t>
            </a:r>
            <a:endParaRPr lang="en-US" sz="1300" dirty="0"/>
          </a:p>
        </p:txBody>
      </p:sp>
      <p:sp>
        <p:nvSpPr>
          <p:cNvPr id="15" name="pr0"/>
          <p:cNvSpPr/>
          <p:nvPr/>
        </p:nvSpPr>
        <p:spPr>
          <a:xfrm>
            <a:off x="548640" y="4206240"/>
            <a:ext cx="2633472" cy="1417320"/>
          </a:xfrm>
          <a:prstGeom prst="roundRect">
            <a:avLst>
              <a:gd name="adj" fmla="val 3871"/>
            </a:avLst>
          </a:prstGeom>
          <a:solidFill>
            <a:srgbClr val="EDEDED"/>
          </a:solidFill>
          <a:ln w="12700">
            <a:solidFill>
              <a:srgbClr val="EDEDED"/>
            </a:solidFill>
            <a:prstDash val="solid"/>
          </a:ln>
        </p:spPr>
      </p:sp>
      <p:sp>
        <p:nvSpPr>
          <p:cNvPr id="16" name="pr0-l"/>
          <p:cNvSpPr txBox="1"/>
          <p:nvPr/>
        </p:nvSpPr>
        <p:spPr>
          <a:xfrm>
            <a:off x="749808"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a:t>
            </a:r>
            <a:endParaRPr lang="en-US" sz="1000" dirty="0"/>
          </a:p>
        </p:txBody>
      </p:sp>
      <p:sp>
        <p:nvSpPr>
          <p:cNvPr id="17" name="pr0-v"/>
          <p:cNvSpPr txBox="1"/>
          <p:nvPr/>
        </p:nvSpPr>
        <p:spPr>
          <a:xfrm>
            <a:off x="749808"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56.7% → 22.5%</a:t>
            </a:r>
            <a:endParaRPr lang="en-US" sz="2000" dirty="0"/>
          </a:p>
        </p:txBody>
      </p:sp>
      <p:sp>
        <p:nvSpPr>
          <p:cNvPr id="18" name="pr0-f"/>
          <p:cNvSpPr txBox="1"/>
          <p:nvPr/>
        </p:nvSpPr>
        <p:spPr>
          <a:xfrm>
            <a:off x="749808"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SAFE, after refinement</a:t>
            </a:r>
            <a:endParaRPr lang="en-US" sz="1100" dirty="0"/>
          </a:p>
        </p:txBody>
      </p:sp>
      <p:sp>
        <p:nvSpPr>
          <p:cNvPr id="19" name="pr1"/>
          <p:cNvSpPr/>
          <p:nvPr/>
        </p:nvSpPr>
        <p:spPr>
          <a:xfrm>
            <a:off x="3364992" y="4206240"/>
            <a:ext cx="2633472" cy="1417320"/>
          </a:xfrm>
          <a:prstGeom prst="roundRect">
            <a:avLst>
              <a:gd name="adj" fmla="val 3871"/>
            </a:avLst>
          </a:prstGeom>
          <a:solidFill>
            <a:srgbClr val="EDEDED"/>
          </a:solidFill>
          <a:ln w="12700">
            <a:solidFill>
              <a:srgbClr val="EDEDED"/>
            </a:solidFill>
            <a:prstDash val="solid"/>
          </a:ln>
        </p:spPr>
      </p:sp>
      <p:sp>
        <p:nvSpPr>
          <p:cNvPr id="20" name="pr1-l"/>
          <p:cNvSpPr txBox="1"/>
          <p:nvPr/>
        </p:nvSpPr>
        <p:spPr>
          <a:xfrm>
            <a:off x="3566160"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 RESPONSE</a:t>
            </a:r>
            <a:endParaRPr lang="en-US" sz="1000" dirty="0"/>
          </a:p>
        </p:txBody>
      </p:sp>
      <p:sp>
        <p:nvSpPr>
          <p:cNvPr id="21" name="pr1-v"/>
          <p:cNvSpPr txBox="1"/>
          <p:nvPr/>
        </p:nvSpPr>
        <p:spPr>
          <a:xfrm>
            <a:off x="3566160"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1.22 → 0.76</a:t>
            </a:r>
            <a:endParaRPr lang="en-US" sz="2000" dirty="0"/>
          </a:p>
        </p:txBody>
      </p:sp>
      <p:sp>
        <p:nvSpPr>
          <p:cNvPr id="22" name="pr1-f"/>
          <p:cNvSpPr txBox="1"/>
          <p:nvPr/>
        </p:nvSpPr>
        <p:spPr>
          <a:xfrm>
            <a:off x="3566160"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−37%</a:t>
            </a:r>
            <a:endParaRPr lang="en-US" sz="1100" dirty="0"/>
          </a:p>
        </p:txBody>
      </p:sp>
      <p:sp>
        <p:nvSpPr>
          <p:cNvPr id="23" name="pr2"/>
          <p:cNvSpPr/>
          <p:nvPr/>
        </p:nvSpPr>
        <p:spPr>
          <a:xfrm>
            <a:off x="6181344" y="4206240"/>
            <a:ext cx="2633472" cy="1417320"/>
          </a:xfrm>
          <a:prstGeom prst="roundRect">
            <a:avLst>
              <a:gd name="adj" fmla="val 3871"/>
            </a:avLst>
          </a:prstGeom>
          <a:solidFill>
            <a:srgbClr val="EDEDED"/>
          </a:solidFill>
          <a:ln w="12700">
            <a:solidFill>
              <a:srgbClr val="EDEDED"/>
            </a:solidFill>
            <a:prstDash val="solid"/>
          </a:ln>
        </p:spPr>
      </p:sp>
      <p:sp>
        <p:nvSpPr>
          <p:cNvPr id="24" name="pr2-l"/>
          <p:cNvSpPr txBox="1"/>
          <p:nvPr/>
        </p:nvSpPr>
        <p:spPr>
          <a:xfrm>
            <a:off x="6382512"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VERDICT CHANGES</a:t>
            </a:r>
            <a:endParaRPr lang="en-US" sz="1000" dirty="0"/>
          </a:p>
        </p:txBody>
      </p:sp>
      <p:sp>
        <p:nvSpPr>
          <p:cNvPr id="25" name="pr2-v"/>
          <p:cNvSpPr txBox="1"/>
          <p:nvPr/>
        </p:nvSpPr>
        <p:spPr>
          <a:xfrm>
            <a:off x="6382512" y="4626864"/>
            <a:ext cx="2231136" cy="530352"/>
          </a:xfrm>
          <a:prstGeom prst="rect">
            <a:avLst/>
          </a:prstGeom>
          <a:noFill/>
          <a:ln/>
        </p:spPr>
        <p:txBody>
          <a:bodyPr wrap="square" lIns="0" tIns="0" rIns="0" bIns="0" rtlCol="0" anchor="ctr"/>
          <a:lstStyle/>
          <a:p>
            <a:pPr indent="0" marL="0">
              <a:buNone/>
            </a:pPr>
            <a:r>
              <a:rPr lang="en-US" sz="2000" b="1" dirty="0">
                <a:solidFill>
                  <a:srgbClr val="E90802"/>
                </a:solidFill>
              </a:rPr>
              <a:t>24.9%</a:t>
            </a:r>
            <a:endParaRPr lang="en-US" sz="2000" dirty="0"/>
          </a:p>
        </p:txBody>
      </p:sp>
      <p:sp>
        <p:nvSpPr>
          <p:cNvPr id="26" name="pr2-f"/>
          <p:cNvSpPr txBox="1"/>
          <p:nvPr/>
        </p:nvSpPr>
        <p:spPr>
          <a:xfrm>
            <a:off x="6382512"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supported ↓, contradicted ↑</a:t>
            </a:r>
            <a:endParaRPr lang="en-US" sz="1100" dirty="0"/>
          </a:p>
        </p:txBody>
      </p:sp>
      <p:sp>
        <p:nvSpPr>
          <p:cNvPr id="27" name="pr3"/>
          <p:cNvSpPr/>
          <p:nvPr/>
        </p:nvSpPr>
        <p:spPr>
          <a:xfrm>
            <a:off x="8997696" y="4206240"/>
            <a:ext cx="2633472" cy="1417320"/>
          </a:xfrm>
          <a:prstGeom prst="roundRect">
            <a:avLst>
              <a:gd name="adj" fmla="val 3871"/>
            </a:avLst>
          </a:prstGeom>
          <a:solidFill>
            <a:srgbClr val="EDEDED"/>
          </a:solidFill>
          <a:ln w="12700">
            <a:solidFill>
              <a:srgbClr val="EDEDED"/>
            </a:solidFill>
            <a:prstDash val="solid"/>
          </a:ln>
        </p:spPr>
      </p:sp>
      <p:sp>
        <p:nvSpPr>
          <p:cNvPr id="28" name="pr3-l"/>
          <p:cNvSpPr txBox="1"/>
          <p:nvPr/>
        </p:nvSpPr>
        <p:spPr>
          <a:xfrm>
            <a:off x="9198864"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BEST F1 REPORTED</a:t>
            </a:r>
            <a:endParaRPr lang="en-US" sz="1000" dirty="0"/>
          </a:p>
        </p:txBody>
      </p:sp>
      <p:sp>
        <p:nvSpPr>
          <p:cNvPr id="29" name="pr3-v"/>
          <p:cNvSpPr txBox="1"/>
          <p:nvPr/>
        </p:nvSpPr>
        <p:spPr>
          <a:xfrm>
            <a:off x="9198864"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57.5</a:t>
            </a:r>
            <a:endParaRPr lang="en-US" sz="2000" dirty="0"/>
          </a:p>
        </p:txBody>
      </p:sp>
      <p:sp>
        <p:nvSpPr>
          <p:cNvPr id="30" name="pr3-f"/>
          <p:cNvSpPr txBox="1"/>
          <p:nvPr/>
        </p:nvSpPr>
        <p:spPr>
          <a:xfrm>
            <a:off x="9198864"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Qwen 2.5-32B</a:t>
            </a:r>
            <a:endParaRPr lang="en-US" sz="1100" dirty="0"/>
          </a:p>
        </p:txBody>
      </p:sp>
      <p:sp>
        <p:nvSpPr>
          <p:cNvPr id="3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These are the paper's numbers, on 1,096 prompts with GPT-4o, Llama 3.3-70B and Qwen 2.5-32B. We do not attempt to match them.</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HOW VERIFACT WORKS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Four steps, three judges, union of detections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Steps 2 and 3 are the paper's contribution; steps 1 and 4 are inherited</a:t>
            </a:r>
            <a:endParaRPr lang="en-US" sz="1500" dirty="0"/>
          </a:p>
        </p:txBody>
      </p:sp>
      <p:sp>
        <p:nvSpPr>
          <p:cNvPr id="5" name="step1"/>
          <p:cNvSpPr/>
          <p:nvPr/>
        </p:nvSpPr>
        <p:spPr>
          <a:xfrm>
            <a:off x="548640" y="1444752"/>
            <a:ext cx="2633472" cy="2194560"/>
          </a:xfrm>
          <a:prstGeom prst="roundRect">
            <a:avLst>
              <a:gd name="adj" fmla="val 2500"/>
            </a:avLst>
          </a:prstGeom>
          <a:solidFill>
            <a:srgbClr val="FFFFFF"/>
          </a:solidFill>
          <a:ln w="12700">
            <a:solidFill>
              <a:srgbClr val="EDEDED"/>
            </a:solidFill>
            <a:prstDash val="solid"/>
          </a:ln>
        </p:spPr>
      </p:sp>
      <p:sp>
        <p:nvSpPr>
          <p:cNvPr id="6" name="step1-badge"/>
          <p:cNvSpPr/>
          <p:nvPr/>
        </p:nvSpPr>
        <p:spPr>
          <a:xfrm>
            <a:off x="786384" y="1645920"/>
            <a:ext cx="420624" cy="420624"/>
          </a:xfrm>
          <a:prstGeom prst="ellipse">
            <a:avLst/>
          </a:prstGeom>
          <a:solidFill>
            <a:srgbClr val="757575"/>
          </a:solidFill>
          <a:ln w="12700">
            <a:solidFill>
              <a:srgbClr val="757575"/>
            </a:solidFill>
            <a:prstDash val="solid"/>
          </a:ln>
        </p:spPr>
      </p:sp>
      <p:sp>
        <p:nvSpPr>
          <p:cNvPr id="7" name="step1-badge-text"/>
          <p:cNvSpPr txBox="1"/>
          <p:nvPr/>
        </p:nvSpPr>
        <p:spPr>
          <a:xfrm>
            <a:off x="786384"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step1-h"/>
          <p:cNvSpPr txBox="1"/>
          <p:nvPr/>
        </p:nvSpPr>
        <p:spPr>
          <a:xfrm>
            <a:off x="786384"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Decompose</a:t>
            </a:r>
            <a:endParaRPr lang="en-US" sz="1500" dirty="0"/>
          </a:p>
        </p:txBody>
      </p:sp>
      <p:sp>
        <p:nvSpPr>
          <p:cNvPr id="9" name="step1-b"/>
          <p:cNvSpPr txBox="1"/>
          <p:nvPr/>
        </p:nvSpPr>
        <p:spPr>
          <a:xfrm>
            <a:off x="786384"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10" name="step2"/>
          <p:cNvSpPr/>
          <p:nvPr/>
        </p:nvSpPr>
        <p:spPr>
          <a:xfrm>
            <a:off x="3364992" y="1444752"/>
            <a:ext cx="2633472" cy="2194560"/>
          </a:xfrm>
          <a:prstGeom prst="roundRect">
            <a:avLst>
              <a:gd name="adj" fmla="val 2500"/>
            </a:avLst>
          </a:prstGeom>
          <a:solidFill>
            <a:srgbClr val="FFFFFF"/>
          </a:solidFill>
          <a:ln w="12700">
            <a:solidFill>
              <a:srgbClr val="E90802"/>
            </a:solidFill>
            <a:prstDash val="solid"/>
          </a:ln>
        </p:spPr>
      </p:sp>
      <p:sp>
        <p:nvSpPr>
          <p:cNvPr id="11" name="step2-badge"/>
          <p:cNvSpPr/>
          <p:nvPr/>
        </p:nvSpPr>
        <p:spPr>
          <a:xfrm>
            <a:off x="3602736" y="1645920"/>
            <a:ext cx="420624" cy="420624"/>
          </a:xfrm>
          <a:prstGeom prst="ellipse">
            <a:avLst/>
          </a:prstGeom>
          <a:solidFill>
            <a:srgbClr val="E90802"/>
          </a:solidFill>
          <a:ln w="12700">
            <a:solidFill>
              <a:srgbClr val="E90802"/>
            </a:solidFill>
            <a:prstDash val="solid"/>
          </a:ln>
        </p:spPr>
      </p:sp>
      <p:sp>
        <p:nvSpPr>
          <p:cNvPr id="12" name="step2-badge-text"/>
          <p:cNvSpPr txBox="1"/>
          <p:nvPr/>
        </p:nvSpPr>
        <p:spPr>
          <a:xfrm>
            <a:off x="3602736"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3" name="step2-h"/>
          <p:cNvSpPr txBox="1"/>
          <p:nvPr/>
        </p:nvSpPr>
        <p:spPr>
          <a:xfrm>
            <a:off x="3602736"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Detect</a:t>
            </a:r>
            <a:endParaRPr lang="en-US" sz="1500" dirty="0"/>
          </a:p>
        </p:txBody>
      </p:sp>
      <p:sp>
        <p:nvSpPr>
          <p:cNvPr id="14" name="step2-b"/>
          <p:cNvSpPr txBox="1"/>
          <p:nvPr/>
        </p:nvSpPr>
        <p:spPr>
          <a:xfrm>
            <a:off x="3602736"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5" name="step3"/>
          <p:cNvSpPr/>
          <p:nvPr/>
        </p:nvSpPr>
        <p:spPr>
          <a:xfrm>
            <a:off x="6181344" y="1444752"/>
            <a:ext cx="2633472" cy="2194560"/>
          </a:xfrm>
          <a:prstGeom prst="roundRect">
            <a:avLst>
              <a:gd name="adj" fmla="val 2500"/>
            </a:avLst>
          </a:prstGeom>
          <a:solidFill>
            <a:srgbClr val="FFFFFF"/>
          </a:solidFill>
          <a:ln w="12700">
            <a:solidFill>
              <a:srgbClr val="E90802"/>
            </a:solidFill>
            <a:prstDash val="solid"/>
          </a:ln>
        </p:spPr>
      </p:sp>
      <p:sp>
        <p:nvSpPr>
          <p:cNvPr id="16" name="step3-badge"/>
          <p:cNvSpPr/>
          <p:nvPr/>
        </p:nvSpPr>
        <p:spPr>
          <a:xfrm>
            <a:off x="6419088" y="1645920"/>
            <a:ext cx="420624" cy="420624"/>
          </a:xfrm>
          <a:prstGeom prst="ellipse">
            <a:avLst/>
          </a:prstGeom>
          <a:solidFill>
            <a:srgbClr val="E90802"/>
          </a:solidFill>
          <a:ln w="12700">
            <a:solidFill>
              <a:srgbClr val="E90802"/>
            </a:solidFill>
            <a:prstDash val="solid"/>
          </a:ln>
        </p:spPr>
      </p:sp>
      <p:sp>
        <p:nvSpPr>
          <p:cNvPr id="17" name="step3-badge-text"/>
          <p:cNvSpPr txBox="1"/>
          <p:nvPr/>
        </p:nvSpPr>
        <p:spPr>
          <a:xfrm>
            <a:off x="6419088"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step3-h"/>
          <p:cNvSpPr txBox="1"/>
          <p:nvPr/>
        </p:nvSpPr>
        <p:spPr>
          <a:xfrm>
            <a:off x="6419088"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Refine</a:t>
            </a:r>
            <a:endParaRPr lang="en-US" sz="1500" dirty="0"/>
          </a:p>
        </p:txBody>
      </p:sp>
      <p:sp>
        <p:nvSpPr>
          <p:cNvPr id="19" name="step3-b"/>
          <p:cNvSpPr txBox="1"/>
          <p:nvPr/>
        </p:nvSpPr>
        <p:spPr>
          <a:xfrm>
            <a:off x="6419088"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20" name="step4"/>
          <p:cNvSpPr/>
          <p:nvPr/>
        </p:nvSpPr>
        <p:spPr>
          <a:xfrm>
            <a:off x="8997696" y="1444752"/>
            <a:ext cx="2633472" cy="2194560"/>
          </a:xfrm>
          <a:prstGeom prst="roundRect">
            <a:avLst>
              <a:gd name="adj" fmla="val 2500"/>
            </a:avLst>
          </a:prstGeom>
          <a:solidFill>
            <a:srgbClr val="FFFFFF"/>
          </a:solidFill>
          <a:ln w="12700">
            <a:solidFill>
              <a:srgbClr val="EDEDED"/>
            </a:solidFill>
            <a:prstDash val="solid"/>
          </a:ln>
        </p:spPr>
      </p:sp>
      <p:sp>
        <p:nvSpPr>
          <p:cNvPr id="21" name="step4-badge"/>
          <p:cNvSpPr/>
          <p:nvPr/>
        </p:nvSpPr>
        <p:spPr>
          <a:xfrm>
            <a:off x="9235440" y="1645920"/>
            <a:ext cx="420624" cy="420624"/>
          </a:xfrm>
          <a:prstGeom prst="ellipse">
            <a:avLst/>
          </a:prstGeom>
          <a:solidFill>
            <a:srgbClr val="757575"/>
          </a:solidFill>
          <a:ln w="12700">
            <a:solidFill>
              <a:srgbClr val="757575"/>
            </a:solidFill>
            <a:prstDash val="solid"/>
          </a:ln>
        </p:spPr>
      </p:sp>
      <p:sp>
        <p:nvSpPr>
          <p:cNvPr id="22" name="step4-badge-text"/>
          <p:cNvSpPr txBox="1"/>
          <p:nvPr/>
        </p:nvSpPr>
        <p:spPr>
          <a:xfrm>
            <a:off x="9235440"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3" name="step4-h"/>
          <p:cNvSpPr txBox="1"/>
          <p:nvPr/>
        </p:nvSpPr>
        <p:spPr>
          <a:xfrm>
            <a:off x="9235440"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Verify</a:t>
            </a:r>
            <a:endParaRPr lang="en-US" sz="1500" dirty="0"/>
          </a:p>
        </p:txBody>
      </p:sp>
      <p:sp>
        <p:nvSpPr>
          <p:cNvPr id="24" name="step4-b"/>
          <p:cNvSpPr txBox="1"/>
          <p:nvPr/>
        </p:nvSpPr>
        <p:spPr>
          <a:xfrm>
            <a:off x="9235440"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5" name="detect"/>
          <p:cNvSpPr/>
          <p:nvPr/>
        </p:nvSpPr>
        <p:spPr>
          <a:xfrm>
            <a:off x="548640" y="3840480"/>
            <a:ext cx="5486400" cy="2011680"/>
          </a:xfrm>
          <a:prstGeom prst="roundRect">
            <a:avLst>
              <a:gd name="adj" fmla="val 2727"/>
            </a:avLst>
          </a:prstGeom>
          <a:solidFill>
            <a:srgbClr val="000000"/>
          </a:solidFill>
          <a:ln w="12700">
            <a:solidFill>
              <a:srgbClr val="000000"/>
            </a:solidFill>
            <a:prstDash val="solid"/>
          </a:ln>
        </p:spPr>
      </p:sp>
      <p:sp>
        <p:nvSpPr>
          <p:cNvPr id="26" name="detect-h"/>
          <p:cNvSpPr txBox="1"/>
          <p:nvPr/>
        </p:nvSpPr>
        <p:spPr>
          <a:xfrm>
            <a:off x="786384" y="4041648"/>
            <a:ext cx="5010912" cy="310896"/>
          </a:xfrm>
          <a:prstGeom prst="rect">
            <a:avLst/>
          </a:prstGeom>
          <a:noFill/>
          <a:ln/>
        </p:spPr>
        <p:txBody>
          <a:bodyPr wrap="square" lIns="0" tIns="0" rIns="0" bIns="0" rtlCol="0" anchor="ctr"/>
          <a:lstStyle/>
          <a:p>
            <a:pPr indent="0" marL="0">
              <a:buNone/>
            </a:pPr>
            <a:r>
              <a:rPr lang="en-US" sz="1400" b="1" dirty="0">
                <a:solidFill>
                  <a:srgbClr val="E90802"/>
                </a:solidFill>
              </a:rPr>
              <a:t>Detecting incomplete facts</a:t>
            </a:r>
            <a:endParaRPr lang="en-US" sz="1400" dirty="0"/>
          </a:p>
        </p:txBody>
      </p:sp>
      <p:sp>
        <p:nvSpPr>
          <p:cNvPr id="27" name="detect-b"/>
          <p:cNvSpPr txBox="1"/>
          <p:nvPr/>
        </p:nvSpPr>
        <p:spPr>
          <a:xfrm>
            <a:off x="786384" y="4425696"/>
            <a:ext cx="5010912" cy="12435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Each fact is judged against the response it came from, and labelled with one of four subtypes: ambiguous concept or pronoun, missing comparison, omitted condition or source, other.</a:t>
            </a:r>
            <a:endParaRPr lang="en-US" sz="1200" dirty="0"/>
          </a:p>
        </p:txBody>
      </p:sp>
      <p:sp>
        <p:nvSpPr>
          <p:cNvPr id="28" name="relate"/>
          <p:cNvSpPr/>
          <p:nvPr/>
        </p:nvSpPr>
        <p:spPr>
          <a:xfrm>
            <a:off x="6355080" y="3840480"/>
            <a:ext cx="5257800" cy="2011680"/>
          </a:xfrm>
          <a:prstGeom prst="roundRect">
            <a:avLst>
              <a:gd name="adj" fmla="val 2727"/>
            </a:avLst>
          </a:prstGeom>
          <a:solidFill>
            <a:srgbClr val="000000"/>
          </a:solidFill>
          <a:ln w="19050">
            <a:solidFill>
              <a:srgbClr val="E90802"/>
            </a:solidFill>
            <a:prstDash val="solid"/>
          </a:ln>
        </p:spPr>
      </p:sp>
      <p:sp>
        <p:nvSpPr>
          <p:cNvPr id="29" name="relate-h"/>
          <p:cNvSpPr txBox="1"/>
          <p:nvPr/>
        </p:nvSpPr>
        <p:spPr>
          <a:xfrm>
            <a:off x="6592824" y="4041648"/>
            <a:ext cx="4782312" cy="310896"/>
          </a:xfrm>
          <a:prstGeom prst="rect">
            <a:avLst/>
          </a:prstGeom>
          <a:noFill/>
          <a:ln/>
        </p:spPr>
        <p:txBody>
          <a:bodyPr wrap="square" lIns="0" tIns="0" rIns="0" bIns="0" rtlCol="0" anchor="ctr"/>
          <a:lstStyle/>
          <a:p>
            <a:pPr indent="0" marL="0">
              <a:buNone/>
            </a:pPr>
            <a:r>
              <a:rPr lang="en-US" sz="1400" b="1" dirty="0">
                <a:solidFill>
                  <a:srgbClr val="E90802"/>
                </a:solidFill>
              </a:rPr>
              <a:t>Detecting missing relations</a:t>
            </a:r>
            <a:endParaRPr lang="en-US" sz="1400" dirty="0"/>
          </a:p>
        </p:txBody>
      </p:sp>
      <p:sp>
        <p:nvSpPr>
          <p:cNvPr id="30" name="relate-b"/>
          <p:cNvSpPr txBox="1"/>
          <p:nvPr/>
        </p:nvSpPr>
        <p:spPr>
          <a:xfrm>
            <a:off x="6592824" y="4425696"/>
            <a:ext cx="4782312" cy="12435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Word mapping marks every response character covered by some fact. Each uncovered span is then asked two questions: does it express a temporal or contingency relation, and is it already captured by a single existing fact?</a:t>
            </a:r>
            <a:endParaRPr lang="en-US" sz="1200" dirty="0"/>
          </a:p>
        </p:txBody>
      </p:sp>
      <p:sp>
        <p:nvSpPr>
          <p:cNvPr id="3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three detection judges are GPT-4o + Llama 3.3-70B + Qwen 2.5-32B — not the 12 models the paper separately benchmarks.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1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Setting up the experiment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Every paid component replaced by a free local one</a:t>
            </a:r>
            <a:endParaRPr lang="en-US" sz="1500" dirty="0"/>
          </a:p>
        </p:txBody>
      </p:sp>
      <p:graphicFrame>
        <p:nvGraphicFramePr>
          <p:cNvPr id="6" name="map"/>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017520"/>
                <a:gridCol w="4023360"/>
                <a:gridCol w="4023360"/>
              </a:tblGrid>
              <a:tr h="36576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Judges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GPT-4o + Llama 3.3-70B + Qwen 2.5-32B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 Llama-3.2-3B, and 7–8B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Extract / refine / verify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Llama 3.3-70B-Instruct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and Qwen2.5-7B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source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Google Search via Serper (paid)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Wikipedia API, cached for replay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ranking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cross-encoder reranker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BM25 over retrieved paragraphs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Benchmark</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FACTRBENCH, 1,096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mini benchmark, 12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4 frontier LLMs + human answers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86 facts, written and verified by hand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Serving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vLLM, multi-GPU</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Ollama on a 4 GB GTX 1650 and a Colab T4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sc0"/>
          <p:cNvSpPr/>
          <p:nvPr/>
        </p:nvSpPr>
        <p:spPr>
          <a:xfrm>
            <a:off x="548640" y="4434840"/>
            <a:ext cx="2633472" cy="1280160"/>
          </a:xfrm>
          <a:prstGeom prst="roundRect">
            <a:avLst>
              <a:gd name="adj" fmla="val 4286"/>
            </a:avLst>
          </a:prstGeom>
          <a:solidFill>
            <a:srgbClr val="EDEDED"/>
          </a:solidFill>
          <a:ln w="12700">
            <a:solidFill>
              <a:srgbClr val="EDEDED"/>
            </a:solidFill>
            <a:prstDash val="solid"/>
          </a:ln>
        </p:spPr>
      </p:sp>
      <p:sp>
        <p:nvSpPr>
          <p:cNvPr id="7" name="sc0-l"/>
          <p:cNvSpPr txBox="1"/>
          <p:nvPr/>
        </p:nvSpPr>
        <p:spPr>
          <a:xfrm>
            <a:off x="749808"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QUESTIONS</a:t>
            </a:r>
            <a:endParaRPr lang="en-US" sz="1000" dirty="0"/>
          </a:p>
        </p:txBody>
      </p:sp>
      <p:sp>
        <p:nvSpPr>
          <p:cNvPr id="8" name="sc0-v"/>
          <p:cNvSpPr txBox="1"/>
          <p:nvPr/>
        </p:nvSpPr>
        <p:spPr>
          <a:xfrm>
            <a:off x="749808"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12</a:t>
            </a:r>
            <a:endParaRPr lang="en-US" sz="2400" dirty="0"/>
          </a:p>
        </p:txBody>
      </p:sp>
      <p:sp>
        <p:nvSpPr>
          <p:cNvPr id="9" name="sc0-f"/>
          <p:cNvSpPr txBox="1"/>
          <p:nvPr/>
        </p:nvSpPr>
        <p:spPr>
          <a:xfrm>
            <a:off x="749808"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written for the failure modes</a:t>
            </a:r>
            <a:endParaRPr lang="en-US" sz="1100" dirty="0"/>
          </a:p>
        </p:txBody>
      </p:sp>
      <p:sp>
        <p:nvSpPr>
          <p:cNvPr id="10" name="sc1"/>
          <p:cNvSpPr/>
          <p:nvPr/>
        </p:nvSpPr>
        <p:spPr>
          <a:xfrm>
            <a:off x="3364992" y="4434840"/>
            <a:ext cx="2633472" cy="1280160"/>
          </a:xfrm>
          <a:prstGeom prst="roundRect">
            <a:avLst>
              <a:gd name="adj" fmla="val 4286"/>
            </a:avLst>
          </a:prstGeom>
          <a:solidFill>
            <a:srgbClr val="EDEDED"/>
          </a:solidFill>
          <a:ln w="12700">
            <a:solidFill>
              <a:srgbClr val="EDEDED"/>
            </a:solidFill>
            <a:prstDash val="solid"/>
          </a:ln>
        </p:spPr>
      </p:sp>
      <p:sp>
        <p:nvSpPr>
          <p:cNvPr id="11" name="sc1-l"/>
          <p:cNvSpPr txBox="1"/>
          <p:nvPr/>
        </p:nvSpPr>
        <p:spPr>
          <a:xfrm>
            <a:off x="3566160"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REFERENCE FACTS</a:t>
            </a:r>
            <a:endParaRPr lang="en-US" sz="1000" dirty="0"/>
          </a:p>
        </p:txBody>
      </p:sp>
      <p:sp>
        <p:nvSpPr>
          <p:cNvPr id="12" name="sc1-v"/>
          <p:cNvSpPr txBox="1"/>
          <p:nvPr/>
        </p:nvSpPr>
        <p:spPr>
          <a:xfrm>
            <a:off x="3566160"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86</a:t>
            </a:r>
            <a:endParaRPr lang="en-US" sz="2400" dirty="0"/>
          </a:p>
        </p:txBody>
      </p:sp>
      <p:sp>
        <p:nvSpPr>
          <p:cNvPr id="13" name="sc1-f"/>
          <p:cNvSpPr txBox="1"/>
          <p:nvPr/>
        </p:nvSpPr>
        <p:spPr>
          <a:xfrm>
            <a:off x="3566160"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hand-written, sources recorded</a:t>
            </a:r>
            <a:endParaRPr lang="en-US" sz="1100" dirty="0"/>
          </a:p>
        </p:txBody>
      </p:sp>
      <p:sp>
        <p:nvSpPr>
          <p:cNvPr id="14" name="sc2"/>
          <p:cNvSpPr/>
          <p:nvPr/>
        </p:nvSpPr>
        <p:spPr>
          <a:xfrm>
            <a:off x="6181344" y="4434840"/>
            <a:ext cx="2633472" cy="1280160"/>
          </a:xfrm>
          <a:prstGeom prst="roundRect">
            <a:avLst>
              <a:gd name="adj" fmla="val 4286"/>
            </a:avLst>
          </a:prstGeom>
          <a:solidFill>
            <a:srgbClr val="EDEDED"/>
          </a:solidFill>
          <a:ln w="12700">
            <a:solidFill>
              <a:srgbClr val="EDEDED"/>
            </a:solidFill>
            <a:prstDash val="solid"/>
          </a:ln>
        </p:spPr>
      </p:sp>
      <p:sp>
        <p:nvSpPr>
          <p:cNvPr id="15" name="sc2-l"/>
          <p:cNvSpPr txBox="1"/>
          <p:nvPr/>
        </p:nvSpPr>
        <p:spPr>
          <a:xfrm>
            <a:off x="6382512"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API KEYS</a:t>
            </a:r>
            <a:endParaRPr lang="en-US" sz="1000" dirty="0"/>
          </a:p>
        </p:txBody>
      </p:sp>
      <p:sp>
        <p:nvSpPr>
          <p:cNvPr id="16" name="sc2-v"/>
          <p:cNvSpPr txBox="1"/>
          <p:nvPr/>
        </p:nvSpPr>
        <p:spPr>
          <a:xfrm>
            <a:off x="6382512"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None</a:t>
            </a:r>
            <a:endParaRPr lang="en-US" sz="2400" dirty="0"/>
          </a:p>
        </p:txBody>
      </p:sp>
      <p:sp>
        <p:nvSpPr>
          <p:cNvPr id="17" name="sc2-f"/>
          <p:cNvSpPr txBox="1"/>
          <p:nvPr/>
        </p:nvSpPr>
        <p:spPr>
          <a:xfrm>
            <a:off x="6382512"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no account, no quota</a:t>
            </a:r>
            <a:endParaRPr lang="en-US" sz="1100" dirty="0"/>
          </a:p>
        </p:txBody>
      </p:sp>
      <p:sp>
        <p:nvSpPr>
          <p:cNvPr id="18" name="sc3"/>
          <p:cNvSpPr/>
          <p:nvPr/>
        </p:nvSpPr>
        <p:spPr>
          <a:xfrm>
            <a:off x="8997696" y="4434840"/>
            <a:ext cx="2633472" cy="1280160"/>
          </a:xfrm>
          <a:prstGeom prst="roundRect">
            <a:avLst>
              <a:gd name="adj" fmla="val 4286"/>
            </a:avLst>
          </a:prstGeom>
          <a:solidFill>
            <a:srgbClr val="EDEDED"/>
          </a:solidFill>
          <a:ln w="12700">
            <a:solidFill>
              <a:srgbClr val="EDEDED"/>
            </a:solidFill>
            <a:prstDash val="solid"/>
          </a:ln>
        </p:spPr>
      </p:sp>
      <p:sp>
        <p:nvSpPr>
          <p:cNvPr id="19" name="sc3-l"/>
          <p:cNvSpPr txBox="1"/>
          <p:nvPr/>
        </p:nvSpPr>
        <p:spPr>
          <a:xfrm>
            <a:off x="9198864"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TOTAL COST</a:t>
            </a:r>
            <a:endParaRPr lang="en-US" sz="1000" dirty="0"/>
          </a:p>
        </p:txBody>
      </p:sp>
      <p:sp>
        <p:nvSpPr>
          <p:cNvPr id="20" name="sc3-v"/>
          <p:cNvSpPr txBox="1"/>
          <p:nvPr/>
        </p:nvSpPr>
        <p:spPr>
          <a:xfrm>
            <a:off x="9198864" y="4855464"/>
            <a:ext cx="2231136" cy="530352"/>
          </a:xfrm>
          <a:prstGeom prst="rect">
            <a:avLst/>
          </a:prstGeom>
          <a:noFill/>
          <a:ln/>
        </p:spPr>
        <p:txBody>
          <a:bodyPr wrap="square" lIns="0" tIns="0" rIns="0" bIns="0" rtlCol="0" anchor="ctr"/>
          <a:lstStyle/>
          <a:p>
            <a:pPr indent="0" marL="0">
              <a:buNone/>
            </a:pPr>
            <a:r>
              <a:rPr lang="en-US" sz="2400" b="1" dirty="0">
                <a:solidFill>
                  <a:srgbClr val="E90802"/>
                </a:solidFill>
              </a:rPr>
              <a:t>$0</a:t>
            </a:r>
            <a:endParaRPr lang="en-US" sz="2400" dirty="0"/>
          </a:p>
        </p:txBody>
      </p:sp>
      <p:sp>
        <p:nvSpPr>
          <p:cNvPr id="21" name="sc3-f"/>
          <p:cNvSpPr txBox="1"/>
          <p:nvPr/>
        </p:nvSpPr>
        <p:spPr>
          <a:xfrm>
            <a:off x="9198864"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 GB laptop GPU and free Colab</a:t>
            </a:r>
            <a:endParaRPr lang="en-US" sz="11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Reference facts are written from authoritative sources and deliberately not derived from the answer being evaluated. All model names live in config.yaml; none is hard-coded.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2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Generating the baseline</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One answer set, scored two ways, so only refinement differs</a:t>
            </a:r>
            <a:endParaRPr lang="en-US" sz="1500" dirty="0"/>
          </a:p>
        </p:txBody>
      </p:sp>
      <p:sp>
        <p:nvSpPr>
          <p:cNvPr id="5" name="gen-box"/>
          <p:cNvSpPr/>
          <p:nvPr/>
        </p:nvSpPr>
        <p:spPr>
          <a:xfrm>
            <a:off x="2377440" y="1463040"/>
            <a:ext cx="7406640" cy="512064"/>
          </a:xfrm>
          <a:prstGeom prst="roundRect">
            <a:avLst>
              <a:gd name="adj" fmla="val 50000"/>
            </a:avLst>
          </a:prstGeom>
          <a:solidFill>
            <a:srgbClr val="E90802"/>
          </a:solidFill>
          <a:ln w="12700">
            <a:solidFill>
              <a:srgbClr val="E90802"/>
            </a:solidFill>
            <a:prstDash val="solid"/>
          </a:ln>
        </p:spPr>
      </p:sp>
      <p:sp>
        <p:nvSpPr>
          <p:cNvPr id="6" name="gen-text"/>
          <p:cNvSpPr txBox="1"/>
          <p:nvPr/>
        </p:nvSpPr>
        <p:spPr>
          <a:xfrm>
            <a:off x="2377440" y="1463040"/>
            <a:ext cx="7406640"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Question → local LLM generates the answer ONCE → reused by every run</a:t>
            </a:r>
            <a:endParaRPr lang="en-US" sz="1400" dirty="0"/>
          </a:p>
        </p:txBody>
      </p:sp>
      <p:sp>
        <p:nvSpPr>
          <p:cNvPr id="7" name="base"/>
          <p:cNvSpPr/>
          <p:nvPr/>
        </p:nvSpPr>
        <p:spPr>
          <a:xfrm>
            <a:off x="548640" y="2148840"/>
            <a:ext cx="5440680" cy="1463040"/>
          </a:xfrm>
          <a:prstGeom prst="roundRect">
            <a:avLst>
              <a:gd name="adj" fmla="val 3750"/>
            </a:avLst>
          </a:prstGeom>
          <a:solidFill>
            <a:srgbClr val="333333"/>
          </a:solidFill>
          <a:ln w="12700">
            <a:solidFill>
              <a:srgbClr val="333333"/>
            </a:solidFill>
            <a:prstDash val="solid"/>
          </a:ln>
        </p:spPr>
      </p:sp>
      <p:sp>
        <p:nvSpPr>
          <p:cNvPr id="8" name="base-h"/>
          <p:cNvSpPr txBox="1"/>
          <p:nvPr/>
        </p:nvSpPr>
        <p:spPr>
          <a:xfrm>
            <a:off x="786384" y="2350008"/>
            <a:ext cx="4965192" cy="310896"/>
          </a:xfrm>
          <a:prstGeom prst="rect">
            <a:avLst/>
          </a:prstGeom>
          <a:noFill/>
          <a:ln/>
        </p:spPr>
        <p:txBody>
          <a:bodyPr wrap="square" lIns="0" tIns="0" rIns="0" bIns="0" rtlCol="0" anchor="ctr"/>
          <a:lstStyle/>
          <a:p>
            <a:pPr indent="0" marL="0">
              <a:buNone/>
            </a:pPr>
            <a:r>
              <a:rPr lang="en-US" sz="1500" b="1" dirty="0">
                <a:solidFill>
                  <a:srgbClr val="FFFFFF"/>
                </a:solidFill>
              </a:rPr>
              <a:t>Baseline — variant A</a:t>
            </a:r>
            <a:endParaRPr lang="en-US" sz="1500" dirty="0"/>
          </a:p>
        </p:txBody>
      </p:sp>
      <p:sp>
        <p:nvSpPr>
          <p:cNvPr id="9" name="base-b"/>
          <p:cNvSpPr txBox="1"/>
          <p:nvPr/>
        </p:nvSpPr>
        <p:spPr>
          <a:xfrm>
            <a:off x="786384" y="2734056"/>
            <a:ext cx="4965192" cy="69494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SAFE-style extraction  →  retrieval and verification</a:t>
            </a:r>
            <a:endParaRPr lang="en-US" sz="1400" dirty="0"/>
          </a:p>
        </p:txBody>
      </p:sp>
      <p:sp>
        <p:nvSpPr>
          <p:cNvPr id="10" name="vfl"/>
          <p:cNvSpPr/>
          <p:nvPr/>
        </p:nvSpPr>
        <p:spPr>
          <a:xfrm>
            <a:off x="6172200" y="2148840"/>
            <a:ext cx="5440680" cy="1463040"/>
          </a:xfrm>
          <a:prstGeom prst="roundRect">
            <a:avLst>
              <a:gd name="adj" fmla="val 3750"/>
            </a:avLst>
          </a:prstGeom>
          <a:solidFill>
            <a:srgbClr val="333333"/>
          </a:solidFill>
          <a:ln w="19050">
            <a:solidFill>
              <a:srgbClr val="E90802"/>
            </a:solidFill>
            <a:prstDash val="solid"/>
          </a:ln>
        </p:spPr>
      </p:sp>
      <p:sp>
        <p:nvSpPr>
          <p:cNvPr id="11" name="vfl-h"/>
          <p:cNvSpPr txBox="1"/>
          <p:nvPr/>
        </p:nvSpPr>
        <p:spPr>
          <a:xfrm>
            <a:off x="6409944" y="2350008"/>
            <a:ext cx="4965192" cy="310896"/>
          </a:xfrm>
          <a:prstGeom prst="rect">
            <a:avLst/>
          </a:prstGeom>
          <a:noFill/>
          <a:ln/>
        </p:spPr>
        <p:txBody>
          <a:bodyPr wrap="square" lIns="0" tIns="0" rIns="0" bIns="0" rtlCol="0" anchor="ctr"/>
          <a:lstStyle/>
          <a:p>
            <a:pPr indent="0" marL="0">
              <a:buNone/>
            </a:pPr>
            <a:r>
              <a:rPr lang="en-US" sz="1500" b="1" dirty="0">
                <a:solidFill>
                  <a:srgbClr val="E90802"/>
                </a:solidFill>
              </a:rPr>
              <a:t>VERIFACT-Lite — variant D</a:t>
            </a:r>
            <a:endParaRPr lang="en-US" sz="1500" dirty="0"/>
          </a:p>
        </p:txBody>
      </p:sp>
      <p:sp>
        <p:nvSpPr>
          <p:cNvPr id="12" name="vfl-b"/>
          <p:cNvSpPr txBox="1"/>
          <p:nvPr/>
        </p:nvSpPr>
        <p:spPr>
          <a:xfrm>
            <a:off x="6409944" y="2734056"/>
            <a:ext cx="4965192" cy="69494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The same facts  →  detect  →  refine and add  →  the same retrieval and verification</a:t>
            </a:r>
            <a:endParaRPr lang="en-US" sz="1400" dirty="0"/>
          </a:p>
        </p:txBody>
      </p:sp>
      <p:sp>
        <p:nvSpPr>
          <p:cNvPr id="13" name="met0"/>
          <p:cNvSpPr/>
          <p:nvPr/>
        </p:nvSpPr>
        <p:spPr>
          <a:xfrm>
            <a:off x="548640" y="3794760"/>
            <a:ext cx="3547872" cy="1920240"/>
          </a:xfrm>
          <a:prstGeom prst="roundRect">
            <a:avLst>
              <a:gd name="adj" fmla="val 2857"/>
            </a:avLst>
          </a:prstGeom>
          <a:solidFill>
            <a:srgbClr val="333333"/>
          </a:solidFill>
          <a:ln w="12700">
            <a:solidFill>
              <a:srgbClr val="333333"/>
            </a:solidFill>
            <a:prstDash val="solid"/>
          </a:ln>
        </p:spPr>
      </p:sp>
      <p:sp>
        <p:nvSpPr>
          <p:cNvPr id="14" name="met0-h"/>
          <p:cNvSpPr txBox="1"/>
          <p:nvPr/>
        </p:nvSpPr>
        <p:spPr>
          <a:xfrm>
            <a:off x="786384"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Precision</a:t>
            </a:r>
            <a:endParaRPr lang="en-US" sz="1400" dirty="0"/>
          </a:p>
        </p:txBody>
      </p:sp>
      <p:sp>
        <p:nvSpPr>
          <p:cNvPr id="15" name="met0-b"/>
          <p:cNvSpPr txBox="1"/>
          <p:nvPr/>
        </p:nvSpPr>
        <p:spPr>
          <a:xfrm>
            <a:off x="786384"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6" name="met1"/>
          <p:cNvSpPr/>
          <p:nvPr/>
        </p:nvSpPr>
        <p:spPr>
          <a:xfrm>
            <a:off x="4279392" y="3794760"/>
            <a:ext cx="3547872" cy="1920240"/>
          </a:xfrm>
          <a:prstGeom prst="roundRect">
            <a:avLst>
              <a:gd name="adj" fmla="val 2857"/>
            </a:avLst>
          </a:prstGeom>
          <a:solidFill>
            <a:srgbClr val="333333"/>
          </a:solidFill>
          <a:ln w="12700">
            <a:solidFill>
              <a:srgbClr val="333333"/>
            </a:solidFill>
            <a:prstDash val="solid"/>
          </a:ln>
        </p:spPr>
      </p:sp>
      <p:sp>
        <p:nvSpPr>
          <p:cNvPr id="17" name="met1-h"/>
          <p:cNvSpPr txBox="1"/>
          <p:nvPr/>
        </p:nvSpPr>
        <p:spPr>
          <a:xfrm>
            <a:off x="4517136"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Recall</a:t>
            </a:r>
            <a:endParaRPr lang="en-US" sz="1400" dirty="0"/>
          </a:p>
        </p:txBody>
      </p:sp>
      <p:sp>
        <p:nvSpPr>
          <p:cNvPr id="18" name="met1-b"/>
          <p:cNvSpPr txBox="1"/>
          <p:nvPr/>
        </p:nvSpPr>
        <p:spPr>
          <a:xfrm>
            <a:off x="4517136"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Reference facts entailed by the answer ÷ all 86 reference facts. It scores the answer, so refinement cannot move it.</a:t>
            </a:r>
            <a:endParaRPr lang="en-US" sz="1200" dirty="0"/>
          </a:p>
        </p:txBody>
      </p:sp>
      <p:sp>
        <p:nvSpPr>
          <p:cNvPr id="19" name="met2"/>
          <p:cNvSpPr/>
          <p:nvPr/>
        </p:nvSpPr>
        <p:spPr>
          <a:xfrm>
            <a:off x="8010144" y="3794760"/>
            <a:ext cx="3547872" cy="1920240"/>
          </a:xfrm>
          <a:prstGeom prst="roundRect">
            <a:avLst>
              <a:gd name="adj" fmla="val 2857"/>
            </a:avLst>
          </a:prstGeom>
          <a:solidFill>
            <a:srgbClr val="333333"/>
          </a:solidFill>
          <a:ln w="12700">
            <a:solidFill>
              <a:srgbClr val="333333"/>
            </a:solidFill>
            <a:prstDash val="solid"/>
          </a:ln>
        </p:spPr>
      </p:sp>
      <p:sp>
        <p:nvSpPr>
          <p:cNvPr id="20" name="met2-h"/>
          <p:cNvSpPr txBox="1"/>
          <p:nvPr/>
        </p:nvSpPr>
        <p:spPr>
          <a:xfrm>
            <a:off x="8247888"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Incomplete rate</a:t>
            </a:r>
            <a:endParaRPr lang="en-US" sz="1400" dirty="0"/>
          </a:p>
        </p:txBody>
      </p:sp>
      <p:sp>
        <p:nvSpPr>
          <p:cNvPr id="21" name="met2-b"/>
          <p:cNvSpPr txBox="1"/>
          <p:nvPr/>
        </p:nvSpPr>
        <p:spPr>
          <a:xfrm>
            <a:off x="8247888"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Measured by one designated judge while refinement is driven by the ensemble — facts are never scored by the rule that selected them.</a:t>
            </a:r>
            <a:endParaRPr lang="en-US" sz="12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Verification is grounded: a SUPPORTED or CONTRADICTED verdict without a verbatim quote from the evidence is downgraded to UNDECIDED.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3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Extraction improves. Precision falls.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Baseline against VERIFACT-Lite, laptop run, Qwen2.5-3B judges</a:t>
            </a:r>
            <a:endParaRPr lang="en-US" sz="1500" dirty="0"/>
          </a:p>
        </p:txBody>
      </p:sp>
      <p:sp>
        <p:nvSpPr>
          <p:cNvPr id="5" name="h1"/>
          <p:cNvSpPr/>
          <p:nvPr/>
        </p:nvSpPr>
        <p:spPr>
          <a:xfrm>
            <a:off x="548640" y="1444752"/>
            <a:ext cx="2633472" cy="1325880"/>
          </a:xfrm>
          <a:prstGeom prst="roundRect">
            <a:avLst>
              <a:gd name="adj" fmla="val 4138"/>
            </a:avLst>
          </a:prstGeom>
          <a:solidFill>
            <a:srgbClr val="EDEDED"/>
          </a:solidFill>
          <a:ln w="12700">
            <a:solidFill>
              <a:srgbClr val="EDEDED"/>
            </a:solidFill>
            <a:prstDash val="solid"/>
          </a:ln>
        </p:spPr>
      </p:sp>
      <p:sp>
        <p:nvSpPr>
          <p:cNvPr id="6" name="h1-l"/>
          <p:cNvSpPr txBox="1"/>
          <p:nvPr/>
        </p:nvSpPr>
        <p:spPr>
          <a:xfrm>
            <a:off x="749808"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 RATE</a:t>
            </a:r>
            <a:endParaRPr lang="en-US" sz="1000" dirty="0"/>
          </a:p>
        </p:txBody>
      </p:sp>
      <p:sp>
        <p:nvSpPr>
          <p:cNvPr id="7" name="h1-v"/>
          <p:cNvSpPr txBox="1"/>
          <p:nvPr/>
        </p:nvSpPr>
        <p:spPr>
          <a:xfrm>
            <a:off x="749808"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0.105 → 0.091</a:t>
            </a:r>
            <a:endParaRPr lang="en-US" sz="2000" dirty="0"/>
          </a:p>
        </p:txBody>
      </p:sp>
      <p:sp>
        <p:nvSpPr>
          <p:cNvPr id="8" name="h1-f"/>
          <p:cNvSpPr txBox="1"/>
          <p:nvPr/>
        </p:nvSpPr>
        <p:spPr>
          <a:xfrm>
            <a:off x="749808"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−12.8%</a:t>
            </a:r>
            <a:endParaRPr lang="en-US" sz="1100" dirty="0"/>
          </a:p>
        </p:txBody>
      </p:sp>
      <p:sp>
        <p:nvSpPr>
          <p:cNvPr id="9" name="h2"/>
          <p:cNvSpPr/>
          <p:nvPr/>
        </p:nvSpPr>
        <p:spPr>
          <a:xfrm>
            <a:off x="3364992" y="1444752"/>
            <a:ext cx="2633472" cy="1325880"/>
          </a:xfrm>
          <a:prstGeom prst="roundRect">
            <a:avLst>
              <a:gd name="adj" fmla="val 4138"/>
            </a:avLst>
          </a:prstGeom>
          <a:solidFill>
            <a:srgbClr val="EDEDED"/>
          </a:solidFill>
          <a:ln w="12700">
            <a:solidFill>
              <a:srgbClr val="EDEDED"/>
            </a:solidFill>
            <a:prstDash val="solid"/>
          </a:ln>
        </p:spPr>
      </p:sp>
      <p:sp>
        <p:nvSpPr>
          <p:cNvPr id="10" name="h2-l"/>
          <p:cNvSpPr txBox="1"/>
          <p:nvPr/>
        </p:nvSpPr>
        <p:spPr>
          <a:xfrm>
            <a:off x="3566160"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RELATIONAL FACTS</a:t>
            </a:r>
            <a:endParaRPr lang="en-US" sz="1000" dirty="0"/>
          </a:p>
        </p:txBody>
      </p:sp>
      <p:sp>
        <p:nvSpPr>
          <p:cNvPr id="11" name="h2-v"/>
          <p:cNvSpPr txBox="1"/>
          <p:nvPr/>
        </p:nvSpPr>
        <p:spPr>
          <a:xfrm>
            <a:off x="3566160"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51 → 0</a:t>
            </a:r>
            <a:endParaRPr lang="en-US" sz="2000" dirty="0"/>
          </a:p>
        </p:txBody>
      </p:sp>
      <p:sp>
        <p:nvSpPr>
          <p:cNvPr id="12" name="h2-f"/>
          <p:cNvSpPr txBox="1"/>
          <p:nvPr/>
        </p:nvSpPr>
        <p:spPr>
          <a:xfrm>
            <a:off x="3566160"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all recovered</a:t>
            </a:r>
            <a:endParaRPr lang="en-US" sz="1100" dirty="0"/>
          </a:p>
        </p:txBody>
      </p:sp>
      <p:sp>
        <p:nvSpPr>
          <p:cNvPr id="13" name="h3"/>
          <p:cNvSpPr/>
          <p:nvPr/>
        </p:nvSpPr>
        <p:spPr>
          <a:xfrm>
            <a:off x="6181344" y="1444752"/>
            <a:ext cx="2633472" cy="1325880"/>
          </a:xfrm>
          <a:prstGeom prst="roundRect">
            <a:avLst>
              <a:gd name="adj" fmla="val 4138"/>
            </a:avLst>
          </a:prstGeom>
          <a:solidFill>
            <a:srgbClr val="EDEDED"/>
          </a:solidFill>
          <a:ln w="12700">
            <a:solidFill>
              <a:srgbClr val="EDEDED"/>
            </a:solidFill>
            <a:prstDash val="solid"/>
          </a:ln>
        </p:spPr>
      </p:sp>
      <p:sp>
        <p:nvSpPr>
          <p:cNvPr id="14" name="h3-l"/>
          <p:cNvSpPr txBox="1"/>
          <p:nvPr/>
        </p:nvSpPr>
        <p:spPr>
          <a:xfrm>
            <a:off x="6382512"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PRECISION</a:t>
            </a:r>
            <a:endParaRPr lang="en-US" sz="1000" dirty="0"/>
          </a:p>
        </p:txBody>
      </p:sp>
      <p:sp>
        <p:nvSpPr>
          <p:cNvPr id="15" name="h3-v"/>
          <p:cNvSpPr txBox="1"/>
          <p:nvPr/>
        </p:nvSpPr>
        <p:spPr>
          <a:xfrm>
            <a:off x="6382512"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0.420 → 0.343</a:t>
            </a:r>
            <a:endParaRPr lang="en-US" sz="2000" dirty="0"/>
          </a:p>
        </p:txBody>
      </p:sp>
      <p:sp>
        <p:nvSpPr>
          <p:cNvPr id="16" name="h3-f"/>
          <p:cNvSpPr txBox="1"/>
          <p:nvPr/>
        </p:nvSpPr>
        <p:spPr>
          <a:xfrm>
            <a:off x="6382512"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−0.077</a:t>
            </a:r>
            <a:endParaRPr lang="en-US" sz="1100" dirty="0"/>
          </a:p>
        </p:txBody>
      </p:sp>
      <p:sp>
        <p:nvSpPr>
          <p:cNvPr id="17" name="h4"/>
          <p:cNvSpPr/>
          <p:nvPr/>
        </p:nvSpPr>
        <p:spPr>
          <a:xfrm>
            <a:off x="8997696" y="1444752"/>
            <a:ext cx="2633472" cy="1325880"/>
          </a:xfrm>
          <a:prstGeom prst="roundRect">
            <a:avLst>
              <a:gd name="adj" fmla="val 4138"/>
            </a:avLst>
          </a:prstGeom>
          <a:solidFill>
            <a:srgbClr val="EDEDED"/>
          </a:solidFill>
          <a:ln w="12700">
            <a:solidFill>
              <a:srgbClr val="EDEDED"/>
            </a:solidFill>
            <a:prstDash val="solid"/>
          </a:ln>
        </p:spPr>
      </p:sp>
      <p:sp>
        <p:nvSpPr>
          <p:cNvPr id="18" name="h4-l"/>
          <p:cNvSpPr txBox="1"/>
          <p:nvPr/>
        </p:nvSpPr>
        <p:spPr>
          <a:xfrm>
            <a:off x="9198864"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RECALL · F1</a:t>
            </a:r>
            <a:endParaRPr lang="en-US" sz="1000" dirty="0"/>
          </a:p>
        </p:txBody>
      </p:sp>
      <p:sp>
        <p:nvSpPr>
          <p:cNvPr id="19" name="h4-v"/>
          <p:cNvSpPr txBox="1"/>
          <p:nvPr/>
        </p:nvSpPr>
        <p:spPr>
          <a:xfrm>
            <a:off x="9198864"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0.408 · 0.372</a:t>
            </a:r>
            <a:endParaRPr lang="en-US" sz="2000" dirty="0"/>
          </a:p>
        </p:txBody>
      </p:sp>
      <p:sp>
        <p:nvSpPr>
          <p:cNvPr id="20" name="h4-f"/>
          <p:cNvSpPr txBox="1"/>
          <p:nvPr/>
        </p:nvSpPr>
        <p:spPr>
          <a:xfrm>
            <a:off x="9198864" y="2386584"/>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recall fixed by design</a:t>
            </a:r>
            <a:endParaRPr lang="en-US" sz="1100" dirty="0"/>
          </a:p>
        </p:txBody>
      </p:sp>
      <p:graphicFrame>
        <p:nvGraphicFramePr>
          <p:cNvPr id="21" name="chart-prf" descr=""/>
          <p:cNvGraphicFramePr/>
          <p:nvPr/>
        </p:nvGraphicFramePr>
        <p:xfrm>
          <a:off x="548640" y="29260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22" name="where"/>
          <p:cNvSpPr/>
          <p:nvPr/>
        </p:nvSpPr>
        <p:spPr>
          <a:xfrm>
            <a:off x="6355080" y="2926080"/>
            <a:ext cx="5257800" cy="2834640"/>
          </a:xfrm>
          <a:prstGeom prst="roundRect">
            <a:avLst>
              <a:gd name="adj" fmla="val 1935"/>
            </a:avLst>
          </a:prstGeom>
          <a:solidFill>
            <a:srgbClr val="000000"/>
          </a:solidFill>
          <a:ln w="12700">
            <a:solidFill>
              <a:srgbClr val="000000"/>
            </a:solidFill>
            <a:prstDash val="solid"/>
          </a:ln>
        </p:spPr>
      </p:sp>
      <p:sp>
        <p:nvSpPr>
          <p:cNvPr id="23" name="where-h"/>
          <p:cNvSpPr txBox="1"/>
          <p:nvPr/>
        </p:nvSpPr>
        <p:spPr>
          <a:xfrm>
            <a:off x="6592824" y="312724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Where the precision went</a:t>
            </a:r>
            <a:endParaRPr lang="en-US" sz="1500" dirty="0"/>
          </a:p>
        </p:txBody>
      </p:sp>
      <p:sp>
        <p:nvSpPr>
          <p:cNvPr id="24" name="where-b"/>
          <p:cNvSpPr txBox="1"/>
          <p:nvPr/>
        </p:nvSpPr>
        <p:spPr>
          <a:xfrm>
            <a:off x="6592824" y="3511296"/>
            <a:ext cx="4782312" cy="206654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Supported 109 → 108.  Contradicted 3 → 3.  Undecided 146 → 185.</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Of the claims the verifier could decide, 97.3% were supported both before and after.</a:t>
            </a:r>
            <a:endParaRPr lang="en-US" sz="1300" dirty="0"/>
          </a:p>
        </p:txBody>
      </p:sp>
      <p:sp>
        <p:nvSpPr>
          <p:cNvPr id="2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answers, same retrieval, same verifier — only refinement differs. 163 facts refined, 51 added.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4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Each mechanism moves the metric it targets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Ablation over the two halves of the contribution, laptop run</a:t>
            </a:r>
            <a:endParaRPr lang="en-US" sz="1500" dirty="0"/>
          </a:p>
        </p:txBody>
      </p:sp>
      <p:graphicFrame>
        <p:nvGraphicFramePr>
          <p:cNvPr id="9" name="abl"/>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383280"/>
                <a:gridCol w="1737360"/>
                <a:gridCol w="1463040"/>
                <a:gridCol w="1554480"/>
                <a:gridCol w="1463040"/>
                <a:gridCol w="146304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System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Incomplete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Missing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Precision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F1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  Baseline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0.4200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0.4138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  + incomplete refine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0.078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0.3680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0.3868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  + missing relation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0.113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0.3839</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0.3954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D  Full 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0.091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0.3426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0.3723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abl0"/>
          <p:cNvSpPr/>
          <p:nvPr/>
        </p:nvSpPr>
        <p:spPr>
          <a:xfrm>
            <a:off x="548640" y="3520440"/>
            <a:ext cx="3547872" cy="1737360"/>
          </a:xfrm>
          <a:prstGeom prst="roundRect">
            <a:avLst>
              <a:gd name="adj" fmla="val 3158"/>
            </a:avLst>
          </a:prstGeom>
          <a:solidFill>
            <a:srgbClr val="EDEDED"/>
          </a:solidFill>
          <a:ln w="12700">
            <a:solidFill>
              <a:srgbClr val="EDEDED"/>
            </a:solidFill>
            <a:prstDash val="solid"/>
          </a:ln>
        </p:spPr>
      </p:sp>
      <p:sp>
        <p:nvSpPr>
          <p:cNvPr id="7" name="abl0-h"/>
          <p:cNvSpPr txBox="1"/>
          <p:nvPr/>
        </p:nvSpPr>
        <p:spPr>
          <a:xfrm>
            <a:off x="786384"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B isolates the refiner</a:t>
            </a:r>
            <a:endParaRPr lang="en-US" sz="1400" dirty="0"/>
          </a:p>
        </p:txBody>
      </p:sp>
      <p:sp>
        <p:nvSpPr>
          <p:cNvPr id="8" name="abl0-b"/>
          <p:cNvSpPr txBox="1"/>
          <p:nvPr/>
        </p:nvSpPr>
        <p:spPr>
          <a:xfrm>
            <a:off x="786384"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9" name="abl1"/>
          <p:cNvSpPr/>
          <p:nvPr/>
        </p:nvSpPr>
        <p:spPr>
          <a:xfrm>
            <a:off x="4279392" y="3520440"/>
            <a:ext cx="3547872" cy="1737360"/>
          </a:xfrm>
          <a:prstGeom prst="roundRect">
            <a:avLst>
              <a:gd name="adj" fmla="val 3158"/>
            </a:avLst>
          </a:prstGeom>
          <a:solidFill>
            <a:srgbClr val="EDEDED"/>
          </a:solidFill>
          <a:ln w="12700">
            <a:solidFill>
              <a:srgbClr val="EDEDED"/>
            </a:solidFill>
            <a:prstDash val="solid"/>
          </a:ln>
        </p:spPr>
      </p:sp>
      <p:sp>
        <p:nvSpPr>
          <p:cNvPr id="10" name="abl1-h"/>
          <p:cNvSpPr txBox="1"/>
          <p:nvPr/>
        </p:nvSpPr>
        <p:spPr>
          <a:xfrm>
            <a:off x="4517136"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C isolates relation recovery</a:t>
            </a:r>
            <a:endParaRPr lang="en-US" sz="1400" dirty="0"/>
          </a:p>
        </p:txBody>
      </p:sp>
      <p:sp>
        <p:nvSpPr>
          <p:cNvPr id="11" name="abl1-b"/>
          <p:cNvSpPr txBox="1"/>
          <p:nvPr/>
        </p:nvSpPr>
        <p:spPr>
          <a:xfrm>
            <a:off x="4517136"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All 51 missing relations become facts. The incomplete rate ticks up because the new facts are judged too.</a:t>
            </a:r>
            <a:endParaRPr lang="en-US" sz="1200" dirty="0"/>
          </a:p>
        </p:txBody>
      </p:sp>
      <p:sp>
        <p:nvSpPr>
          <p:cNvPr id="12" name="abl2"/>
          <p:cNvSpPr/>
          <p:nvPr/>
        </p:nvSpPr>
        <p:spPr>
          <a:xfrm>
            <a:off x="8010144" y="3520440"/>
            <a:ext cx="3547872" cy="1737360"/>
          </a:xfrm>
          <a:prstGeom prst="roundRect">
            <a:avLst>
              <a:gd name="adj" fmla="val 3158"/>
            </a:avLst>
          </a:prstGeom>
          <a:solidFill>
            <a:srgbClr val="EDEDED"/>
          </a:solidFill>
          <a:ln w="12700">
            <a:solidFill>
              <a:srgbClr val="EDEDED"/>
            </a:solidFill>
            <a:prstDash val="solid"/>
          </a:ln>
        </p:spPr>
      </p:sp>
      <p:sp>
        <p:nvSpPr>
          <p:cNvPr id="13" name="abl2-h"/>
          <p:cNvSpPr txBox="1"/>
          <p:nvPr/>
        </p:nvSpPr>
        <p:spPr>
          <a:xfrm>
            <a:off x="8247888"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The effects are additive</a:t>
            </a:r>
            <a:endParaRPr lang="en-US" sz="1400" dirty="0"/>
          </a:p>
        </p:txBody>
      </p:sp>
      <p:sp>
        <p:nvSpPr>
          <p:cNvPr id="14" name="abl2-b"/>
          <p:cNvSpPr txBox="1"/>
          <p:nvPr/>
        </p:nvSpPr>
        <p:spPr>
          <a:xfrm>
            <a:off x="8247888"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four variants scored on one identical answer set, union ensemble, as in the paper.</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5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Does fixing a claim change its verdict?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The paper's research question, asked of our own pipeline</a:t>
            </a:r>
            <a:endParaRPr lang="en-US" sz="1500" dirty="0"/>
          </a:p>
        </p:txBody>
      </p:sp>
      <p:sp>
        <p:nvSpPr>
          <p:cNvPr id="5" name="big"/>
          <p:cNvSpPr/>
          <p:nvPr/>
        </p:nvSpPr>
        <p:spPr>
          <a:xfrm>
            <a:off x="548640" y="1463040"/>
            <a:ext cx="3017520" cy="2011680"/>
          </a:xfrm>
          <a:prstGeom prst="roundRect">
            <a:avLst>
              <a:gd name="adj" fmla="val 2727"/>
            </a:avLst>
          </a:prstGeom>
          <a:solidFill>
            <a:srgbClr val="E90802"/>
          </a:solidFill>
          <a:ln w="12700">
            <a:solidFill>
              <a:srgbClr val="E90802"/>
            </a:solidFill>
            <a:prstDash val="solid"/>
          </a:ln>
        </p:spPr>
      </p:sp>
      <p:sp>
        <p:nvSpPr>
          <p:cNvPr id="6" name="big-v"/>
          <p:cNvSpPr txBox="1"/>
          <p:nvPr/>
        </p:nvSpPr>
        <p:spPr>
          <a:xfrm>
            <a:off x="548640" y="1691640"/>
            <a:ext cx="3017520" cy="914400"/>
          </a:xfrm>
          <a:prstGeom prst="rect">
            <a:avLst/>
          </a:prstGeom>
          <a:noFill/>
          <a:ln/>
        </p:spPr>
        <p:txBody>
          <a:bodyPr wrap="square" lIns="0" tIns="0" rIns="0" bIns="0" rtlCol="0" anchor="ctr"/>
          <a:lstStyle/>
          <a:p>
            <a:pPr algn="ctr" indent="0" marL="0">
              <a:buNone/>
            </a:pPr>
            <a:r>
              <a:rPr lang="en-US" sz="4600" b="1" dirty="0">
                <a:solidFill>
                  <a:srgbClr val="FFFFFF"/>
                </a:solidFill>
              </a:rPr>
              <a:t>39–46%</a:t>
            </a:r>
            <a:endParaRPr lang="en-US" sz="4600" dirty="0"/>
          </a:p>
        </p:txBody>
      </p:sp>
      <p:sp>
        <p:nvSpPr>
          <p:cNvPr id="7" name="big-l"/>
          <p:cNvSpPr txBox="1"/>
          <p:nvPr/>
        </p:nvSpPr>
        <p:spPr>
          <a:xfrm>
            <a:off x="548640" y="2606040"/>
            <a:ext cx="3017520" cy="731520"/>
          </a:xfrm>
          <a:prstGeom prst="rect">
            <a:avLst/>
          </a:prstGeom>
          <a:noFill/>
          <a:ln/>
        </p:spPr>
        <p:txBody>
          <a:bodyPr wrap="square" lIns="0" tIns="0" rIns="0" bIns="0"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of refined facts changed label</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across all three runs</a:t>
            </a:r>
            <a:endParaRPr lang="en-US" sz="1300" dirty="0"/>
          </a:p>
        </p:txBody>
      </p:sp>
      <p:graphicFrame>
        <p:nvGraphicFramePr>
          <p:cNvPr id="10" name="trans"/>
          <p:cNvGraphicFramePr>
            <a:graphicFrameLocks noGrp="1"/>
          </p:cNvGraphicFramePr>
          <p:nvPr>
            <p:extLst>
              <p:ext uri="{D42A27DB-BD31-4B8C-83A1-F6EECF244321}">
                <p14:modId xmlns:p14="http://schemas.microsoft.com/office/powerpoint/2010/main" val="1579011935"/>
              </p:ext>
            </p:extLst>
          </p:nvPr>
        </p:nvGraphicFramePr>
        <p:xfrm>
          <a:off x="3886200" y="1463040"/>
          <a:ext cx="7726680" cy="914400"/>
        </p:xfrm>
        <a:graphic>
          <a:graphicData uri="http://schemas.openxmlformats.org/drawingml/2006/table">
            <a:tbl>
              <a:tblPr/>
              <a:tblGrid>
                <a:gridCol w="3200400"/>
                <a:gridCol w="1097280"/>
                <a:gridCol w="1097280"/>
                <a:gridCol w="2331720"/>
              </a:tblGrid>
              <a:tr h="33832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before → after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 → 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 → 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errors finally surfaced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Verdict-change rate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45.6%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paper reports 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9" name="cmp-paper"/>
          <p:cNvSpPr/>
          <p:nvPr/>
        </p:nvSpPr>
        <p:spPr>
          <a:xfrm>
            <a:off x="548640" y="3611880"/>
            <a:ext cx="11064240" cy="2103120"/>
          </a:xfrm>
          <a:prstGeom prst="roundRect">
            <a:avLst>
              <a:gd name="adj" fmla="val 2609"/>
            </a:avLst>
          </a:prstGeom>
          <a:solidFill>
            <a:srgbClr val="333333"/>
          </a:solidFill>
          <a:ln w="19050">
            <a:solidFill>
              <a:srgbClr val="E90802"/>
            </a:solidFill>
            <a:prstDash val="solid"/>
          </a:ln>
        </p:spPr>
      </p:sp>
      <p:sp>
        <p:nvSpPr>
          <p:cNvPr id="10" name="cmp-paper-h"/>
          <p:cNvSpPr txBox="1"/>
          <p:nvPr/>
        </p:nvSpPr>
        <p:spPr>
          <a:xfrm>
            <a:off x="786384" y="381304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The paper's full signature only appears with stronger judges</a:t>
            </a:r>
            <a:endParaRPr lang="en-US" sz="1500" dirty="0"/>
          </a:p>
        </p:txBody>
      </p:sp>
      <p:sp>
        <p:nvSpPr>
          <p:cNvPr id="11" name="cmp-paper-b"/>
          <p:cNvSpPr txBox="1"/>
          <p:nvPr/>
        </p:nvSpPr>
        <p:spPr>
          <a:xfrm>
            <a:off x="786384" y="4197096"/>
            <a:ext cx="10588752" cy="133502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The paper reports supported falling AND contradicted rising after refinement, concluding that ignoring incomplete facts overestimates factuality.</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With 3B judges we reproduced only the first half: contradicted never moved off 3. With 7–8B judges it rises to 8 — refinement exposes errors that the stripped claims had hidden. Same conclusion as the paper, now with both halves of the evidence.</a:t>
            </a:r>
            <a:endParaRPr lang="en-US" sz="1300" dirty="0"/>
          </a:p>
        </p:txBody>
      </p:sp>
      <p:sp>
        <p:nvSpPr>
          <p:cNvPr id="1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refined fact is verified twice, as its original claim and as its refined claim, through the same evidence pipeline.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1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Re-running the whole study with stronger judges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Testing which conclusions were findings and which were small-model artifacts</a:t>
            </a:r>
            <a:endParaRPr lang="en-US" sz="1500" dirty="0"/>
          </a:p>
        </p:txBody>
      </p:sp>
      <p:sp>
        <p:nvSpPr>
          <p:cNvPr id="5" name="sc0"/>
          <p:cNvSpPr/>
          <p:nvPr/>
        </p:nvSpPr>
        <p:spPr>
          <a:xfrm>
            <a:off x="548640" y="1444752"/>
            <a:ext cx="3547872" cy="2011680"/>
          </a:xfrm>
          <a:prstGeom prst="roundRect">
            <a:avLst>
              <a:gd name="adj" fmla="val 2727"/>
            </a:avLst>
          </a:prstGeom>
          <a:solidFill>
            <a:srgbClr val="FFFFFF"/>
          </a:solidFill>
          <a:ln w="12700">
            <a:solidFill>
              <a:srgbClr val="EDEDED"/>
            </a:solidFill>
            <a:prstDash val="solid"/>
          </a:ln>
        </p:spPr>
      </p:sp>
      <p:sp>
        <p:nvSpPr>
          <p:cNvPr id="6" name="sc0-h"/>
          <p:cNvSpPr txBox="1"/>
          <p:nvPr/>
        </p:nvSpPr>
        <p:spPr>
          <a:xfrm>
            <a:off x="786384"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One configuration proves little</a:t>
            </a:r>
            <a:endParaRPr lang="en-US" sz="1500" dirty="0"/>
          </a:p>
        </p:txBody>
      </p:sp>
      <p:sp>
        <p:nvSpPr>
          <p:cNvPr id="7" name="sc0-b"/>
          <p:cNvSpPr txBox="1"/>
          <p:nvPr/>
        </p:nvSpPr>
        <p:spPr>
          <a:xfrm>
            <a:off x="786384"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Everything above was measured by 3B judges. A single run cannot tell a property of the method from a property of the measuring model.</a:t>
            </a:r>
            <a:endParaRPr lang="en-US" sz="1200" dirty="0"/>
          </a:p>
        </p:txBody>
      </p:sp>
      <p:sp>
        <p:nvSpPr>
          <p:cNvPr id="8" name="sc1"/>
          <p:cNvSpPr/>
          <p:nvPr/>
        </p:nvSpPr>
        <p:spPr>
          <a:xfrm>
            <a:off x="4279392" y="1444752"/>
            <a:ext cx="3547872" cy="2011680"/>
          </a:xfrm>
          <a:prstGeom prst="roundRect">
            <a:avLst>
              <a:gd name="adj" fmla="val 2727"/>
            </a:avLst>
          </a:prstGeom>
          <a:solidFill>
            <a:srgbClr val="FFFFFF"/>
          </a:solidFill>
          <a:ln w="12700">
            <a:solidFill>
              <a:srgbClr val="EDEDED"/>
            </a:solidFill>
            <a:prstDash val="solid"/>
          </a:ln>
        </p:spPr>
      </p:sp>
      <p:sp>
        <p:nvSpPr>
          <p:cNvPr id="9" name="sc1-h"/>
          <p:cNvSpPr txBox="1"/>
          <p:nvPr/>
        </p:nvSpPr>
        <p:spPr>
          <a:xfrm>
            <a:off x="4517136"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free-hardware answer</a:t>
            </a:r>
            <a:endParaRPr lang="en-US" sz="1500" dirty="0"/>
          </a:p>
        </p:txBody>
      </p:sp>
      <p:sp>
        <p:nvSpPr>
          <p:cNvPr id="10" name="sc1-b"/>
          <p:cNvSpPr txBox="1"/>
          <p:nvPr/>
        </p:nvSpPr>
        <p:spPr>
          <a:xfrm>
            <a:off x="4517136"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Colab T4 holds 7–8B judges at Q4_K_M. The repository is config-driven, so only the model identifiers change — still no API key, still $0.</a:t>
            </a:r>
            <a:endParaRPr lang="en-US" sz="1200" dirty="0"/>
          </a:p>
        </p:txBody>
      </p:sp>
      <p:sp>
        <p:nvSpPr>
          <p:cNvPr id="11" name="sc2"/>
          <p:cNvSpPr/>
          <p:nvPr/>
        </p:nvSpPr>
        <p:spPr>
          <a:xfrm>
            <a:off x="8010144" y="1444752"/>
            <a:ext cx="3547872" cy="2011680"/>
          </a:xfrm>
          <a:prstGeom prst="roundRect">
            <a:avLst>
              <a:gd name="adj" fmla="val 2727"/>
            </a:avLst>
          </a:prstGeom>
          <a:solidFill>
            <a:srgbClr val="FFFFFF"/>
          </a:solidFill>
          <a:ln w="12700">
            <a:solidFill>
              <a:srgbClr val="EDEDED"/>
            </a:solidFill>
            <a:prstDash val="solid"/>
          </a:ln>
        </p:spPr>
      </p:sp>
      <p:sp>
        <p:nvSpPr>
          <p:cNvPr id="12" name="sc2-h"/>
          <p:cNvSpPr txBox="1"/>
          <p:nvPr/>
        </p:nvSpPr>
        <p:spPr>
          <a:xfrm>
            <a:off x="8247888"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What makes run A controlled</a:t>
            </a:r>
            <a:endParaRPr lang="en-US" sz="1500" dirty="0"/>
          </a:p>
        </p:txBody>
      </p:sp>
      <p:sp>
        <p:nvSpPr>
          <p:cNvPr id="13" name="sc2-b"/>
          <p:cNvSpPr txBox="1"/>
          <p:nvPr/>
        </p:nvSpPr>
        <p:spPr>
          <a:xfrm>
            <a:off x="8247888"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Extraction replays from cache, so A's baseline fact set is byte-identical to the laptop's: 21.50 facts per answer, precision 0.4200. Only the judges changed.</a:t>
            </a:r>
            <a:endParaRPr lang="en-US" sz="1200" dirty="0"/>
          </a:p>
        </p:txBody>
      </p:sp>
      <p:graphicFrame>
        <p:nvGraphicFramePr>
          <p:cNvPr id="11" name="configs"/>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gridCol w="2834640"/>
                <a:gridCol w="3108960"/>
                <a:gridCol w="1737360"/>
                <a:gridCol w="1188720"/>
              </a:tblGrid>
              <a:tr h="402336">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Primary model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Hardware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Controlled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 Llama-3.2-3B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GTX 1650, 4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reference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  (A)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(unchanged)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  (B)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15" name="bnote"/>
          <p:cNvSpPr/>
          <p:nvPr/>
        </p:nvSpPr>
        <p:spPr>
          <a:xfrm>
            <a:off x="548640" y="5166360"/>
            <a:ext cx="11064240" cy="685800"/>
          </a:xfrm>
          <a:prstGeom prst="roundRect">
            <a:avLst>
              <a:gd name="adj" fmla="val 8000"/>
            </a:avLst>
          </a:prstGeom>
          <a:solidFill>
            <a:srgbClr val="EDEDED"/>
          </a:solidFill>
          <a:ln w="12700">
            <a:solidFill>
              <a:srgbClr val="EDEDED"/>
            </a:solidFill>
            <a:prstDash val="solid"/>
          </a:ln>
        </p:spPr>
      </p:sp>
      <p:sp>
        <p:nvSpPr>
          <p:cNvPr id="16" name="bnote-b"/>
          <p:cNvSpPr txBox="1"/>
          <p:nvPr/>
        </p:nvSpPr>
        <p:spPr>
          <a:xfrm>
            <a:off x="786384" y="5367528"/>
            <a:ext cx="10588752" cy="301752"/>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Run B changed the extractor, the incompleteness judge, the verifier and the recall entailment model at once, so its columns are read only against its own baseline — never against A's.</a:t>
            </a:r>
            <a:endParaRPr lang="en-US" sz="1200" dirty="0"/>
          </a:p>
        </p:txBody>
      </p:sp>
      <p:sp>
        <p:nvSpPr>
          <p:cNvPr id="17"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12 questions, same 12 generated answers, verified identical by hash across all three runs.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2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The metrics measure the judge as much as the system</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Identical input, identical pipeline, one model swapped</a:t>
            </a:r>
            <a:endParaRPr lang="en-US" sz="1500" dirty="0"/>
          </a:p>
        </p:txBody>
      </p:sp>
      <p:graphicFrame>
        <p:nvGraphicFramePr>
          <p:cNvPr id="12" name="instrument"/>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846320"/>
                <a:gridCol w="2103120"/>
                <a:gridCol w="2103120"/>
                <a:gridCol w="201168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Measured on identical input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3B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7B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Incomplete rate — the same baseline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0.438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0.567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Recall — the same answers, same 86 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0.2812</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Coverage behind that 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35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24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insight"/>
          <p:cNvSpPr/>
          <p:nvPr/>
        </p:nvSpPr>
        <p:spPr>
          <a:xfrm>
            <a:off x="548640" y="3200400"/>
            <a:ext cx="6949440" cy="1691640"/>
          </a:xfrm>
          <a:prstGeom prst="roundRect">
            <a:avLst>
              <a:gd name="adj" fmla="val 3243"/>
            </a:avLst>
          </a:prstGeom>
          <a:solidFill>
            <a:srgbClr val="333333"/>
          </a:solidFill>
          <a:ln w="19050">
            <a:solidFill>
              <a:srgbClr val="E90802"/>
            </a:solidFill>
            <a:prstDash val="solid"/>
          </a:ln>
        </p:spPr>
      </p:sp>
      <p:sp>
        <p:nvSpPr>
          <p:cNvPr id="7" name="insight-h"/>
          <p:cNvSpPr txBox="1"/>
          <p:nvPr/>
        </p:nvSpPr>
        <p:spPr>
          <a:xfrm>
            <a:off x="786384" y="3401568"/>
            <a:ext cx="6473952" cy="310896"/>
          </a:xfrm>
          <a:prstGeom prst="rect">
            <a:avLst/>
          </a:prstGeom>
          <a:noFill/>
          <a:ln/>
        </p:spPr>
        <p:txBody>
          <a:bodyPr wrap="square" lIns="0" tIns="0" rIns="0" bIns="0" rtlCol="0" anchor="ctr"/>
          <a:lstStyle/>
          <a:p>
            <a:pPr indent="0" marL="0">
              <a:buNone/>
            </a:pPr>
            <a:r>
              <a:rPr lang="en-US" sz="1500" b="1" dirty="0">
                <a:solidFill>
                  <a:srgbClr val="E90802"/>
                </a:solidFill>
              </a:rPr>
              <a:t>Nothing about the system changed in these rows</a:t>
            </a:r>
            <a:endParaRPr lang="en-US" sz="1500" dirty="0"/>
          </a:p>
        </p:txBody>
      </p:sp>
      <p:sp>
        <p:nvSpPr>
          <p:cNvPr id="8" name="insight-b"/>
          <p:cNvSpPr txBox="1"/>
          <p:nvPr/>
        </p:nvSpPr>
        <p:spPr>
          <a:xfrm>
            <a:off x="786384" y="3785616"/>
            <a:ext cx="6473952" cy="92354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Same 12 answers, same extracted facts, same reference facts, same lexical gate. Only the model doing the judging changed. A stronger judge finds four times as many incomplete facts and credits the answer with a third fewer reference facts.</a:t>
            </a:r>
            <a:endParaRPr lang="en-US" sz="1300" dirty="0"/>
          </a:p>
        </p:txBody>
      </p:sp>
      <p:sp>
        <p:nvSpPr>
          <p:cNvPr id="9" name="i1"/>
          <p:cNvSpPr/>
          <p:nvPr/>
        </p:nvSpPr>
        <p:spPr>
          <a:xfrm>
            <a:off x="7726680" y="3200400"/>
            <a:ext cx="1828800" cy="1691640"/>
          </a:xfrm>
          <a:prstGeom prst="roundRect">
            <a:avLst>
              <a:gd name="adj" fmla="val 3243"/>
            </a:avLst>
          </a:prstGeom>
          <a:solidFill>
            <a:srgbClr val="333333"/>
          </a:solidFill>
          <a:ln w="12700">
            <a:solidFill>
              <a:srgbClr val="333333"/>
            </a:solidFill>
            <a:prstDash val="solid"/>
          </a:ln>
        </p:spPr>
      </p:sp>
      <p:sp>
        <p:nvSpPr>
          <p:cNvPr id="10" name="i1-l"/>
          <p:cNvSpPr txBox="1"/>
          <p:nvPr/>
        </p:nvSpPr>
        <p:spPr>
          <a:xfrm>
            <a:off x="7927848" y="33649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INCOMPLETE</a:t>
            </a:r>
            <a:endParaRPr lang="en-US" sz="1000" dirty="0"/>
          </a:p>
        </p:txBody>
      </p:sp>
      <p:sp>
        <p:nvSpPr>
          <p:cNvPr id="11" name="i1-v"/>
          <p:cNvSpPr txBox="1"/>
          <p:nvPr/>
        </p:nvSpPr>
        <p:spPr>
          <a:xfrm>
            <a:off x="7927848" y="36210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4.2×</a:t>
            </a:r>
            <a:endParaRPr lang="en-US" sz="3200" dirty="0"/>
          </a:p>
        </p:txBody>
      </p:sp>
      <p:sp>
        <p:nvSpPr>
          <p:cNvPr id="12" name="i1-f"/>
          <p:cNvSpPr txBox="1"/>
          <p:nvPr/>
        </p:nvSpPr>
        <p:spPr>
          <a:xfrm>
            <a:off x="7927848" y="450799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more found</a:t>
            </a:r>
            <a:endParaRPr lang="en-US" sz="1100" dirty="0"/>
          </a:p>
        </p:txBody>
      </p:sp>
      <p:sp>
        <p:nvSpPr>
          <p:cNvPr id="13" name="i2"/>
          <p:cNvSpPr/>
          <p:nvPr/>
        </p:nvSpPr>
        <p:spPr>
          <a:xfrm>
            <a:off x="9784080" y="3200400"/>
            <a:ext cx="1828800" cy="1691640"/>
          </a:xfrm>
          <a:prstGeom prst="roundRect">
            <a:avLst>
              <a:gd name="adj" fmla="val 3243"/>
            </a:avLst>
          </a:prstGeom>
          <a:solidFill>
            <a:srgbClr val="333333"/>
          </a:solidFill>
          <a:ln w="12700">
            <a:solidFill>
              <a:srgbClr val="333333"/>
            </a:solidFill>
            <a:prstDash val="solid"/>
          </a:ln>
        </p:spPr>
      </p:sp>
      <p:sp>
        <p:nvSpPr>
          <p:cNvPr id="14" name="i2-l"/>
          <p:cNvSpPr txBox="1"/>
          <p:nvPr/>
        </p:nvSpPr>
        <p:spPr>
          <a:xfrm>
            <a:off x="9985248" y="33649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15" name="i2-v"/>
          <p:cNvSpPr txBox="1"/>
          <p:nvPr/>
        </p:nvSpPr>
        <p:spPr>
          <a:xfrm>
            <a:off x="9985248" y="36210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−31%</a:t>
            </a:r>
            <a:endParaRPr lang="en-US" sz="3200" dirty="0"/>
          </a:p>
        </p:txBody>
      </p:sp>
      <p:sp>
        <p:nvSpPr>
          <p:cNvPr id="16" name="i2-f"/>
          <p:cNvSpPr txBox="1"/>
          <p:nvPr/>
        </p:nvSpPr>
        <p:spPr>
          <a:xfrm>
            <a:off x="9985248" y="450799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same answers</a:t>
            </a:r>
            <a:endParaRPr lang="en-US" sz="1100" dirty="0"/>
          </a:p>
        </p:txBody>
      </p:sp>
      <p:sp>
        <p:nvSpPr>
          <p:cNvPr id="17" name="consequence"/>
          <p:cNvSpPr/>
          <p:nvPr/>
        </p:nvSpPr>
        <p:spPr>
          <a:xfrm>
            <a:off x="548640" y="5029200"/>
            <a:ext cx="11064240" cy="822960"/>
          </a:xfrm>
          <a:prstGeom prst="roundRect">
            <a:avLst>
              <a:gd name="adj" fmla="val 6667"/>
            </a:avLst>
          </a:prstGeom>
          <a:solidFill>
            <a:srgbClr val="333333"/>
          </a:solidFill>
          <a:ln w="12700">
            <a:solidFill>
              <a:srgbClr val="333333"/>
            </a:solidFill>
            <a:prstDash val="solid"/>
          </a:ln>
        </p:spPr>
      </p:sp>
      <p:sp>
        <p:nvSpPr>
          <p:cNvPr id="18" name="consequence-b"/>
          <p:cNvSpPr txBox="1"/>
          <p:nvPr/>
        </p:nvSpPr>
        <p:spPr>
          <a:xfrm>
            <a:off x="786384" y="5230368"/>
            <a:ext cx="10588752" cy="438912"/>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Our baseline looked cleaner than SAFE's 56.7% because our judge was weaker, not because our extractor was better. With a 7B judge the figure moves to 0.438 — two thirds of the way to the paper's.</a:t>
            </a:r>
            <a:endParaRPr lang="en-US" sz="1300" dirty="0"/>
          </a:p>
        </p:txBody>
      </p:sp>
      <p:sp>
        <p:nvSpPr>
          <p:cNvPr id="1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Run A on a Colab T4: judges upgraded to Qwen2.5-7B + Llama-3.1-8B, everything else replayed from cache.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3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One finding held, one was a small-model artifact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Testing the paper's union rule against a majority vote, at every model size</a:t>
            </a:r>
            <a:endParaRPr lang="en-US" sz="1500" dirty="0"/>
          </a:p>
        </p:txBody>
      </p:sp>
      <p:graphicFrame>
        <p:nvGraphicFramePr>
          <p:cNvPr id="13" name="rules"/>
          <p:cNvGraphicFramePr>
            <a:graphicFrameLocks noGrp="1"/>
          </p:cNvGraphicFramePr>
          <p:nvPr>
            <p:extLst>
              <p:ext uri="{D42A27DB-BD31-4B8C-83A1-F6EECF244321}">
                <p14:modId xmlns:p14="http://schemas.microsoft.com/office/powerpoint/2010/main" val="1579011935"/>
              </p:ext>
            </p:extLst>
          </p:nvPr>
        </p:nvGraphicFramePr>
        <p:xfrm>
          <a:off x="548640" y="1444752"/>
          <a:ext cx="5577840" cy="914400"/>
        </p:xfrm>
        <a:graphic>
          <a:graphicData uri="http://schemas.openxmlformats.org/drawingml/2006/table">
            <a:tbl>
              <a:tblPr/>
              <a:tblGrid>
                <a:gridCol w="1371600"/>
                <a:gridCol w="1097280"/>
                <a:gridCol w="1371600"/>
                <a:gridCol w="1097280"/>
                <a:gridCol w="64008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Incomplete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0.091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0.3426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0.372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0.042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0.411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0.3018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0.4106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0.4802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0.355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0.4985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0.360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held"/>
          <p:cNvSpPr/>
          <p:nvPr/>
        </p:nvSpPr>
        <p:spPr>
          <a:xfrm>
            <a:off x="6355080" y="1444752"/>
            <a:ext cx="5257800" cy="1234440"/>
          </a:xfrm>
          <a:prstGeom prst="roundRect">
            <a:avLst>
              <a:gd name="adj" fmla="val 4444"/>
            </a:avLst>
          </a:prstGeom>
          <a:solidFill>
            <a:srgbClr val="FFFFFF"/>
          </a:solidFill>
          <a:ln w="19050">
            <a:solidFill>
              <a:srgbClr val="E90802"/>
            </a:solidFill>
            <a:prstDash val="solid"/>
          </a:ln>
        </p:spPr>
      </p:sp>
      <p:sp>
        <p:nvSpPr>
          <p:cNvPr id="7" name="held-h"/>
          <p:cNvSpPr txBox="1"/>
          <p:nvPr/>
        </p:nvSpPr>
        <p:spPr>
          <a:xfrm>
            <a:off x="6592824" y="1645920"/>
            <a:ext cx="4782312" cy="310896"/>
          </a:xfrm>
          <a:prstGeom prst="rect">
            <a:avLst/>
          </a:prstGeom>
          <a:noFill/>
          <a:ln/>
        </p:spPr>
        <p:txBody>
          <a:bodyPr wrap="square" lIns="0" tIns="0" rIns="0" bIns="0" rtlCol="0" anchor="ctr"/>
          <a:lstStyle/>
          <a:p>
            <a:pPr indent="0" marL="0">
              <a:buNone/>
            </a:pPr>
            <a:r>
              <a:rPr lang="en-US" sz="1400" b="1" dirty="0">
                <a:solidFill>
                  <a:srgbClr val="E90802"/>
                </a:solidFill>
              </a:rPr>
              <a:t>Held — majority beats union on precision</a:t>
            </a:r>
            <a:endParaRPr lang="en-US" sz="1400" dirty="0"/>
          </a:p>
        </p:txBody>
      </p:sp>
      <p:sp>
        <p:nvSpPr>
          <p:cNvPr id="8" name="held-b"/>
          <p:cNvSpPr txBox="1"/>
          <p:nvPr/>
        </p:nvSpPr>
        <p:spPr>
          <a:xfrm>
            <a:off x="6592824" y="2029968"/>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 all three configurations, at every model size. The paper's recall-first union rule costs precision it does not need to.</a:t>
            </a:r>
            <a:endParaRPr lang="en-US" sz="1200" dirty="0"/>
          </a:p>
        </p:txBody>
      </p:sp>
      <p:sp>
        <p:nvSpPr>
          <p:cNvPr id="9" name="broke"/>
          <p:cNvSpPr/>
          <p:nvPr/>
        </p:nvSpPr>
        <p:spPr>
          <a:xfrm>
            <a:off x="6355080" y="2816352"/>
            <a:ext cx="5257800" cy="1234440"/>
          </a:xfrm>
          <a:prstGeom prst="roundRect">
            <a:avLst>
              <a:gd name="adj" fmla="val 4444"/>
            </a:avLst>
          </a:prstGeom>
          <a:solidFill>
            <a:srgbClr val="FFFFFF"/>
          </a:solidFill>
          <a:ln w="12700">
            <a:solidFill>
              <a:srgbClr val="EDEDED"/>
            </a:solidFill>
            <a:prstDash val="solid"/>
          </a:ln>
        </p:spPr>
      </p:sp>
      <p:sp>
        <p:nvSpPr>
          <p:cNvPr id="10" name="broke-h"/>
          <p:cNvSpPr txBox="1"/>
          <p:nvPr/>
        </p:nvSpPr>
        <p:spPr>
          <a:xfrm>
            <a:off x="6592824" y="3017520"/>
            <a:ext cx="4782312" cy="310896"/>
          </a:xfrm>
          <a:prstGeom prst="rect">
            <a:avLst/>
          </a:prstGeom>
          <a:noFill/>
          <a:ln/>
        </p:spPr>
        <p:txBody>
          <a:bodyPr wrap="square" lIns="0" tIns="0" rIns="0" bIns="0" rtlCol="0" anchor="ctr"/>
          <a:lstStyle/>
          <a:p>
            <a:pPr indent="0" marL="0">
              <a:buNone/>
            </a:pPr>
            <a:r>
              <a:rPr lang="en-US" sz="1400" b="1" dirty="0">
                <a:solidFill>
                  <a:srgbClr val="333333"/>
                </a:solidFill>
              </a:rPr>
              <a:t>Broke — the 60% incomplete-rate gap</a:t>
            </a:r>
            <a:endParaRPr lang="en-US" sz="1400" dirty="0"/>
          </a:p>
        </p:txBody>
      </p:sp>
      <p:sp>
        <p:nvSpPr>
          <p:cNvPr id="11" name="broke-b"/>
          <p:cNvSpPr txBox="1"/>
          <p:nvPr/>
        </p:nvSpPr>
        <p:spPr>
          <a:xfrm>
            <a:off x="6592824" y="3401568"/>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3B artifact. With 7–8B judges the two rules are within 4% (0.393 vs 0.411); with a 7B extractor they are identical.</a:t>
            </a:r>
            <a:endParaRPr lang="en-US" sz="1200" dirty="0"/>
          </a:p>
        </p:txBody>
      </p:sp>
      <p:graphicFrame>
        <p:nvGraphicFramePr>
          <p:cNvPr id="25" name="judges"/>
          <p:cNvGraphicFramePr>
            <a:graphicFrameLocks noGrp="1"/>
          </p:cNvGraphicFramePr>
          <p:nvPr>
            <p:extLst>
              <p:ext uri="{D42A27DB-BD31-4B8C-83A1-F6EECF244321}">
                <p14:modId xmlns:p14="http://schemas.microsoft.com/office/powerpoint/2010/main" val="1579011935"/>
              </p:ext>
            </p:extLst>
          </p:nvPr>
        </p:nvGraphicFramePr>
        <p:xfrm>
          <a:off x="548640" y="4206240"/>
          <a:ext cx="11064240" cy="914400"/>
        </p:xfrm>
        <a:graphic>
          <a:graphicData uri="http://schemas.openxmlformats.org/drawingml/2006/table">
            <a:tbl>
              <a:tblPr/>
              <a:tblGrid>
                <a:gridCol w="2834640"/>
                <a:gridCol w="2103120"/>
                <a:gridCol w="2103120"/>
                <a:gridCol w="2011680"/>
                <a:gridCol w="201168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Facts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Qwen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Ensemble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Reading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exceeds both 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Relation detection: the ensemble equalled Llama exactly in all three runs — 51/51, 54/54, 21/21. Qwen never found a relation Llama missed.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COMPARISON WITH THE PAPER</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Directions match. Magnitudes do not.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What a free reimplementation can and cannot claim</a:t>
            </a:r>
            <a:endParaRPr lang="en-US" sz="1500" dirty="0"/>
          </a:p>
        </p:txBody>
      </p:sp>
      <p:graphicFrame>
        <p:nvGraphicFramePr>
          <p:cNvPr id="14" name="vs"/>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017520"/>
                <a:gridCol w="2743200"/>
                <a:gridCol w="3566160"/>
                <a:gridCol w="17373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Agreement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56.7% (SAFE)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10.5% at 3B · 43.8%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closes with scale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refined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22.5%  (−19.2 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9.1% at 3B · 41.1%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Missing relational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1.22 → 0.76 (−37%)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 → 0 (−100%)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changing label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39.3% · 45.6% · 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phenomenon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Direction of that 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contradicted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both, once judges are 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reproduced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82.8 (Qwen2.5-32B)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30.2 – 49.9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44.1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40.8 at 3B · 28.1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judge-dependent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57.5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34.7 – 40.9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vs0"/>
          <p:cNvSpPr/>
          <p:nvPr/>
        </p:nvSpPr>
        <p:spPr>
          <a:xfrm>
            <a:off x="548640" y="4526280"/>
            <a:ext cx="3547872" cy="1325880"/>
          </a:xfrm>
          <a:prstGeom prst="roundRect">
            <a:avLst>
              <a:gd name="adj" fmla="val 4138"/>
            </a:avLst>
          </a:prstGeom>
          <a:solidFill>
            <a:srgbClr val="FFFFFF"/>
          </a:solidFill>
          <a:ln w="12700">
            <a:solidFill>
              <a:srgbClr val="EDEDED"/>
            </a:solidFill>
            <a:prstDash val="solid"/>
          </a:ln>
        </p:spPr>
      </p:sp>
      <p:sp>
        <p:nvSpPr>
          <p:cNvPr id="7" name="vs0-h"/>
          <p:cNvSpPr txBox="1"/>
          <p:nvPr/>
        </p:nvSpPr>
        <p:spPr>
          <a:xfrm>
            <a:off x="786384" y="472744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Reproduced</a:t>
            </a:r>
            <a:endParaRPr lang="en-US" sz="1400" dirty="0"/>
          </a:p>
        </p:txBody>
      </p:sp>
      <p:sp>
        <p:nvSpPr>
          <p:cNvPr id="8" name="vs0-b"/>
          <p:cNvSpPr txBox="1"/>
          <p:nvPr/>
        </p:nvSpPr>
        <p:spPr>
          <a:xfrm>
            <a:off x="786384"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Both problem types detected and repaired; changing the facts changes the verdicts; supported falls and contradicted rises — the paper's central claim.</a:t>
            </a:r>
            <a:endParaRPr lang="en-US" sz="1200" dirty="0"/>
          </a:p>
        </p:txBody>
      </p:sp>
      <p:sp>
        <p:nvSpPr>
          <p:cNvPr id="9" name="vs1"/>
          <p:cNvSpPr/>
          <p:nvPr/>
        </p:nvSpPr>
        <p:spPr>
          <a:xfrm>
            <a:off x="4279392" y="4526280"/>
            <a:ext cx="3547872" cy="1325880"/>
          </a:xfrm>
          <a:prstGeom prst="roundRect">
            <a:avLst>
              <a:gd name="adj" fmla="val 4138"/>
            </a:avLst>
          </a:prstGeom>
          <a:solidFill>
            <a:srgbClr val="FFFFFF"/>
          </a:solidFill>
          <a:ln w="12700">
            <a:solidFill>
              <a:srgbClr val="EDEDED"/>
            </a:solidFill>
            <a:prstDash val="solid"/>
          </a:ln>
        </p:spPr>
      </p:sp>
      <p:sp>
        <p:nvSpPr>
          <p:cNvPr id="10" name="vs1-h"/>
          <p:cNvSpPr txBox="1"/>
          <p:nvPr/>
        </p:nvSpPr>
        <p:spPr>
          <a:xfrm>
            <a:off x="4517136" y="472744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Not reproduced</a:t>
            </a:r>
            <a:endParaRPr lang="en-US" sz="1400" dirty="0"/>
          </a:p>
        </p:txBody>
      </p:sp>
      <p:sp>
        <p:nvSpPr>
          <p:cNvPr id="11" name="vs1-b"/>
          <p:cNvSpPr txBox="1"/>
          <p:nvPr/>
        </p:nvSpPr>
        <p:spPr>
          <a:xfrm>
            <a:off x="4517136"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Absolute precision, recall and F1. Different models, different evidence, 12 prompts instead of 1,096, no human annotation.</a:t>
            </a:r>
            <a:endParaRPr lang="en-US" sz="1200" dirty="0"/>
          </a:p>
        </p:txBody>
      </p:sp>
      <p:sp>
        <p:nvSpPr>
          <p:cNvPr id="12" name="vs2"/>
          <p:cNvSpPr/>
          <p:nvPr/>
        </p:nvSpPr>
        <p:spPr>
          <a:xfrm>
            <a:off x="8010144" y="4526280"/>
            <a:ext cx="3547872" cy="1325880"/>
          </a:xfrm>
          <a:prstGeom prst="roundRect">
            <a:avLst>
              <a:gd name="adj" fmla="val 4138"/>
            </a:avLst>
          </a:prstGeom>
          <a:solidFill>
            <a:srgbClr val="FFFFFF"/>
          </a:solidFill>
          <a:ln w="12700">
            <a:solidFill>
              <a:srgbClr val="EDEDED"/>
            </a:solidFill>
            <a:prstDash val="solid"/>
          </a:ln>
        </p:spPr>
      </p:sp>
      <p:sp>
        <p:nvSpPr>
          <p:cNvPr id="13" name="vs2-h"/>
          <p:cNvSpPr txBox="1"/>
          <p:nvPr/>
        </p:nvSpPr>
        <p:spPr>
          <a:xfrm>
            <a:off x="8247888" y="472744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Now explained</a:t>
            </a:r>
            <a:endParaRPr lang="en-US" sz="1400" dirty="0"/>
          </a:p>
        </p:txBody>
      </p:sp>
      <p:sp>
        <p:nvSpPr>
          <p:cNvPr id="14" name="vs2-b"/>
          <p:cNvSpPr txBox="1"/>
          <p:nvPr/>
        </p:nvSpPr>
        <p:spPr>
          <a:xfrm>
            <a:off x="8247888"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Our low baseline incomplete rate was the judge, not the extractor: the same facts score 10.5% at 3B and 43.8% at 7B against the paper's 56.7%.</a:t>
            </a:r>
            <a:endParaRPr lang="en-US" sz="1200" dirty="0"/>
          </a:p>
        </p:txBody>
      </p:sp>
      <p:sp>
        <p:nvSpPr>
          <p:cNvPr id="1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VERIFACT-Lite value is measured by this repository; none is copied from the paper or estimated.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FUTURE PLANS &amp; NEXT STEPS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limitation points at a next step</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Two were tested on free hardware; the rest are proposals, labelled as such</a:t>
            </a:r>
            <a:endParaRPr lang="en-US" sz="1500" dirty="0"/>
          </a:p>
        </p:txBody>
      </p:sp>
      <p:sp>
        <p:nvSpPr>
          <p:cNvPr id="5" name="rubber"/>
          <p:cNvSpPr/>
          <p:nvPr/>
        </p:nvSpPr>
        <p:spPr>
          <a:xfrm>
            <a:off x="548640" y="1444752"/>
            <a:ext cx="11064240" cy="1188720"/>
          </a:xfrm>
          <a:prstGeom prst="roundRect">
            <a:avLst>
              <a:gd name="adj" fmla="val 4615"/>
            </a:avLst>
          </a:prstGeom>
          <a:solidFill>
            <a:srgbClr val="000000"/>
          </a:solidFill>
          <a:ln w="19050">
            <a:solidFill>
              <a:srgbClr val="E90802"/>
            </a:solidFill>
            <a:prstDash val="solid"/>
          </a:ln>
        </p:spPr>
      </p:sp>
      <p:sp>
        <p:nvSpPr>
          <p:cNvPr id="6" name="rubber-h"/>
          <p:cNvSpPr txBox="1"/>
          <p:nvPr/>
        </p:nvSpPr>
        <p:spPr>
          <a:xfrm>
            <a:off x="786384" y="1645920"/>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Found by breaking our own result: a 3B verifier rubber-stamps unless forced to quote</a:t>
            </a:r>
            <a:endParaRPr lang="en-US" sz="1400" dirty="0"/>
          </a:p>
        </p:txBody>
      </p:sp>
      <p:sp>
        <p:nvSpPr>
          <p:cNvPr id="7" name="rubber-b"/>
          <p:cNvSpPr txBox="1"/>
          <p:nvPr/>
        </p:nvSpPr>
        <p:spPr>
          <a:xfrm>
            <a:off x="786384" y="2029968"/>
            <a:ext cx="10588752" cy="42062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An earlier version reported precision 0.92 and zero contradictions across 258 facts, calling “Aluminium is the rarest metal in the Earth's crust” SUPPORTED with confidence 1.0. Requiring a verbatim quote from the evidence moved precision to 0.42 and made contradictions appear.</a:t>
            </a:r>
            <a:endParaRPr lang="en-US" sz="1200" dirty="0"/>
          </a:p>
        </p:txBody>
      </p:sp>
      <p:graphicFrame>
        <p:nvGraphicFramePr>
          <p:cNvPr id="15" name="fixes"/>
          <p:cNvGraphicFramePr>
            <a:graphicFrameLocks noGrp="1"/>
          </p:cNvGraphicFramePr>
          <p:nvPr>
            <p:extLst>
              <p:ext uri="{D42A27DB-BD31-4B8C-83A1-F6EECF244321}">
                <p14:modId xmlns:p14="http://schemas.microsoft.com/office/powerpoint/2010/main" val="1579011935"/>
              </p:ext>
            </p:extLst>
          </p:nvPr>
        </p:nvGraphicFramePr>
        <p:xfrm>
          <a:off x="548640" y="2788920"/>
          <a:ext cx="11064240" cy="914400"/>
        </p:xfrm>
        <a:graphic>
          <a:graphicData uri="http://schemas.openxmlformats.org/drawingml/2006/table">
            <a:tbl>
              <a:tblPr/>
              <a:tblGrid>
                <a:gridCol w="4206240"/>
                <a:gridCol w="4114800"/>
                <a:gridCol w="2743200"/>
              </a:tblGrid>
              <a:tr h="42062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would fix it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 are 3B; metrics track the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Stronger local judge (7–14B)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4.2× more found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is dominated by the permissive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 vote, or a third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majority wins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dominates — 146 of 258 verdicts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Dense retrieval, query expansion, reranking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are sometimes still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Iterative refinement, maximum two passes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 questions, 86 facts, no human annotation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Larger benchmark, human-verified references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is itself judge-dependent (0.41 vs 0.28)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Fixed entailment model across all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ranked list in the appendix. Nothing in the 'not yet run' rows is claimed as a result.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TAKEAWAYS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Four things this reimplementation establishes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Measured by the repository, on 12 questions and three model configurations</a:t>
            </a:r>
            <a:endParaRPr lang="en-US" sz="1500" dirty="0"/>
          </a:p>
        </p:txBody>
      </p:sp>
      <p:sp>
        <p:nvSpPr>
          <p:cNvPr id="5" name="tk1"/>
          <p:cNvSpPr/>
          <p:nvPr/>
        </p:nvSpPr>
        <p:spPr>
          <a:xfrm>
            <a:off x="548640" y="1481328"/>
            <a:ext cx="11064240" cy="969264"/>
          </a:xfrm>
          <a:prstGeom prst="roundRect">
            <a:avLst>
              <a:gd name="adj" fmla="val 5660"/>
            </a:avLst>
          </a:prstGeom>
          <a:solidFill>
            <a:srgbClr val="333333"/>
          </a:solidFill>
          <a:ln w="12700">
            <a:solidFill>
              <a:srgbClr val="333333"/>
            </a:solidFill>
            <a:prstDash val="solid"/>
          </a:ln>
        </p:spPr>
      </p:sp>
      <p:sp>
        <p:nvSpPr>
          <p:cNvPr id="6" name="tk-b1"/>
          <p:cNvSpPr/>
          <p:nvPr/>
        </p:nvSpPr>
        <p:spPr>
          <a:xfrm>
            <a:off x="777240" y="1737360"/>
            <a:ext cx="457200" cy="457200"/>
          </a:xfrm>
          <a:prstGeom prst="ellipse">
            <a:avLst/>
          </a:prstGeom>
          <a:solidFill>
            <a:srgbClr val="E90802"/>
          </a:solidFill>
          <a:ln w="12700">
            <a:solidFill>
              <a:srgbClr val="E90802"/>
            </a:solidFill>
            <a:prstDash val="solid"/>
          </a:ln>
        </p:spPr>
      </p:sp>
      <p:sp>
        <p:nvSpPr>
          <p:cNvPr id="7" name="tk-n1"/>
          <p:cNvSpPr txBox="1"/>
          <p:nvPr/>
        </p:nvSpPr>
        <p:spPr>
          <a:xfrm>
            <a:off x="77724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k-t1"/>
          <p:cNvSpPr txBox="1"/>
          <p:nvPr/>
        </p:nvSpPr>
        <p:spPr>
          <a:xfrm>
            <a:off x="1417320" y="1572768"/>
            <a:ext cx="9966960" cy="786384"/>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The whole VeriFact pipeline runs on a 4 GB consumer GPU with quantized 3B models, free Wikipedia evidence and no API key — and scales to 7–8B on a free T4.</a:t>
            </a:r>
            <a:endParaRPr lang="en-US" sz="1300" dirty="0"/>
          </a:p>
        </p:txBody>
      </p:sp>
      <p:sp>
        <p:nvSpPr>
          <p:cNvPr id="9" name="tk2"/>
          <p:cNvSpPr/>
          <p:nvPr/>
        </p:nvSpPr>
        <p:spPr>
          <a:xfrm>
            <a:off x="548640" y="2596896"/>
            <a:ext cx="11064240" cy="969264"/>
          </a:xfrm>
          <a:prstGeom prst="roundRect">
            <a:avLst>
              <a:gd name="adj" fmla="val 5660"/>
            </a:avLst>
          </a:prstGeom>
          <a:solidFill>
            <a:srgbClr val="333333"/>
          </a:solidFill>
          <a:ln w="12700">
            <a:solidFill>
              <a:srgbClr val="333333"/>
            </a:solidFill>
            <a:prstDash val="solid"/>
          </a:ln>
        </p:spPr>
      </p:sp>
      <p:sp>
        <p:nvSpPr>
          <p:cNvPr id="10" name="tk-b2"/>
          <p:cNvSpPr/>
          <p:nvPr/>
        </p:nvSpPr>
        <p:spPr>
          <a:xfrm>
            <a:off x="777240" y="2852928"/>
            <a:ext cx="457200" cy="457200"/>
          </a:xfrm>
          <a:prstGeom prst="ellipse">
            <a:avLst/>
          </a:prstGeom>
          <a:solidFill>
            <a:srgbClr val="E90802"/>
          </a:solidFill>
          <a:ln w="12700">
            <a:solidFill>
              <a:srgbClr val="E90802"/>
            </a:solidFill>
            <a:prstDash val="solid"/>
          </a:ln>
        </p:spPr>
      </p:sp>
      <p:sp>
        <p:nvSpPr>
          <p:cNvPr id="11" name="tk-n2"/>
          <p:cNvSpPr txBox="1"/>
          <p:nvPr/>
        </p:nvSpPr>
        <p:spPr>
          <a:xfrm>
            <a:off x="777240" y="2852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k-t2"/>
          <p:cNvSpPr txBox="1"/>
          <p:nvPr/>
        </p:nvSpPr>
        <p:spPr>
          <a:xfrm>
            <a:off x="1417320" y="2688336"/>
            <a:ext cx="9966960" cy="786384"/>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Refinement changed the verdict on 39–46% of refined facts across three model configurations, against 24.9% in the paper. The phenomenon is robust to model size.</a:t>
            </a:r>
            <a:endParaRPr lang="en-US" sz="1300" dirty="0"/>
          </a:p>
        </p:txBody>
      </p:sp>
      <p:sp>
        <p:nvSpPr>
          <p:cNvPr id="13" name="tk3"/>
          <p:cNvSpPr/>
          <p:nvPr/>
        </p:nvSpPr>
        <p:spPr>
          <a:xfrm>
            <a:off x="548640" y="3712464"/>
            <a:ext cx="11064240" cy="969264"/>
          </a:xfrm>
          <a:prstGeom prst="roundRect">
            <a:avLst>
              <a:gd name="adj" fmla="val 5660"/>
            </a:avLst>
          </a:prstGeom>
          <a:solidFill>
            <a:srgbClr val="333333"/>
          </a:solidFill>
          <a:ln w="12700">
            <a:solidFill>
              <a:srgbClr val="333333"/>
            </a:solidFill>
            <a:prstDash val="solid"/>
          </a:ln>
        </p:spPr>
      </p:sp>
      <p:sp>
        <p:nvSpPr>
          <p:cNvPr id="14" name="tk-b3"/>
          <p:cNvSpPr/>
          <p:nvPr/>
        </p:nvSpPr>
        <p:spPr>
          <a:xfrm>
            <a:off x="777240" y="3968496"/>
            <a:ext cx="457200" cy="457200"/>
          </a:xfrm>
          <a:prstGeom prst="ellipse">
            <a:avLst/>
          </a:prstGeom>
          <a:solidFill>
            <a:srgbClr val="E90802"/>
          </a:solidFill>
          <a:ln w="12700">
            <a:solidFill>
              <a:srgbClr val="E90802"/>
            </a:solidFill>
            <a:prstDash val="solid"/>
          </a:ln>
        </p:spPr>
      </p:sp>
      <p:sp>
        <p:nvSpPr>
          <p:cNvPr id="15" name="tk-n3"/>
          <p:cNvSpPr txBox="1"/>
          <p:nvPr/>
        </p:nvSpPr>
        <p:spPr>
          <a:xfrm>
            <a:off x="777240" y="39684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k-t3"/>
          <p:cNvSpPr txBox="1"/>
          <p:nvPr/>
        </p:nvSpPr>
        <p:spPr>
          <a:xfrm>
            <a:off x="1417320" y="3803904"/>
            <a:ext cx="9966960" cy="786384"/>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These metrics measure the judge as much as the system: identical facts score 0.105 incomplete at 3B and 0.438 at 7B; identical answers score 0.41 recall at 3B and 0.28 at 7B.</a:t>
            </a:r>
            <a:endParaRPr lang="en-US" sz="1300" dirty="0"/>
          </a:p>
        </p:txBody>
      </p:sp>
      <p:sp>
        <p:nvSpPr>
          <p:cNvPr id="17" name="tk4"/>
          <p:cNvSpPr/>
          <p:nvPr/>
        </p:nvSpPr>
        <p:spPr>
          <a:xfrm>
            <a:off x="548640" y="4828032"/>
            <a:ext cx="11064240" cy="969264"/>
          </a:xfrm>
          <a:prstGeom prst="roundRect">
            <a:avLst>
              <a:gd name="adj" fmla="val 5660"/>
            </a:avLst>
          </a:prstGeom>
          <a:solidFill>
            <a:srgbClr val="333333"/>
          </a:solidFill>
          <a:ln w="19050">
            <a:solidFill>
              <a:srgbClr val="E90802"/>
            </a:solidFill>
            <a:prstDash val="solid"/>
          </a:ln>
        </p:spPr>
      </p:sp>
      <p:sp>
        <p:nvSpPr>
          <p:cNvPr id="18" name="tk-b4"/>
          <p:cNvSpPr/>
          <p:nvPr/>
        </p:nvSpPr>
        <p:spPr>
          <a:xfrm>
            <a:off x="777240" y="5084064"/>
            <a:ext cx="457200" cy="457200"/>
          </a:xfrm>
          <a:prstGeom prst="ellipse">
            <a:avLst/>
          </a:prstGeom>
          <a:solidFill>
            <a:srgbClr val="E90802"/>
          </a:solidFill>
          <a:ln w="12700">
            <a:solidFill>
              <a:srgbClr val="E90802"/>
            </a:solidFill>
            <a:prstDash val="solid"/>
          </a:ln>
        </p:spPr>
      </p:sp>
      <p:sp>
        <p:nvSpPr>
          <p:cNvPr id="19" name="tk-n4"/>
          <p:cNvSpPr txBox="1"/>
          <p:nvPr/>
        </p:nvSpPr>
        <p:spPr>
          <a:xfrm>
            <a:off x="777240" y="50840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0" name="tk-t4"/>
          <p:cNvSpPr txBox="1"/>
          <p:nvPr/>
        </p:nvSpPr>
        <p:spPr>
          <a:xfrm>
            <a:off x="1417320" y="4919472"/>
            <a:ext cx="9966960" cy="786384"/>
          </a:xfrm>
          <a:prstGeom prst="rect">
            <a:avLst/>
          </a:prstGeom>
          <a:noFill/>
          <a:ln/>
        </p:spPr>
        <p:txBody>
          <a:bodyPr wrap="square" lIns="0" tIns="0" rIns="0" bIns="0" rtlCol="0" anchor="ctr"/>
          <a:lstStyle/>
          <a:p>
            <a:pPr indent="0" marL="0">
              <a:lnSpc>
                <a:spcPct val="115000"/>
              </a:lnSpc>
              <a:buNone/>
            </a:pPr>
            <a:r>
              <a:rPr lang="en-US" sz="1300" dirty="0">
                <a:solidFill>
                  <a:srgbClr val="EDEDED"/>
                </a:solidFill>
                <a:latin typeface="Arial" pitchFamily="34" charset="0"/>
                <a:ea typeface="Arial" pitchFamily="34" charset="-122"/>
                <a:cs typeface="Arial" pitchFamily="34" charset="-120"/>
              </a:rPr>
              <a:t>Majority vote beat the paper's union rule on precision in every configuration — but the large incomplete-rate advantage we first reported was a 3B artifact, and we say so.</a:t>
            </a:r>
            <a:endParaRPr lang="en-US" sz="1300" dirty="0"/>
          </a:p>
        </p:txBody>
      </p:sp>
      <p:sp>
        <p:nvSpPr>
          <p:cNvPr id="2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Config-driven, fully cached, 59 unit tests  ·  all three runs reproduce from one command without a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Step 2B: word mapping, the paper's Algorithm 1</a:t>
            </a:r>
            <a:endParaRPr lang="en-US" sz="3000" dirty="0"/>
          </a:p>
        </p:txBody>
      </p:sp>
      <p:sp>
        <p:nvSpPr>
          <p:cNvPr id="4" name="algo"/>
          <p:cNvSpPr txBox="1"/>
          <p:nvPr/>
        </p:nvSpPr>
        <p:spPr>
          <a:xfrm>
            <a:off x="548640" y="1188720"/>
            <a:ext cx="5486400" cy="146304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For each fact, take its longest common substring with the response.</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Mark those response characters as 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Collect the contiguous runs that stayed uncovered.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Send those spans to the judges as missing-relation candidates.</a:t>
            </a:r>
            <a:endParaRPr lang="en-US" sz="1400" dirty="0"/>
          </a:p>
        </p:txBody>
      </p:sp>
      <p:sp>
        <p:nvSpPr>
          <p:cNvPr id="5" name="impl"/>
          <p:cNvSpPr/>
          <p:nvPr/>
        </p:nvSpPr>
        <p:spPr>
          <a:xfrm>
            <a:off x="548640" y="2788920"/>
            <a:ext cx="5486400" cy="1691640"/>
          </a:xfrm>
          <a:prstGeom prst="roundRect">
            <a:avLst>
              <a:gd name="adj" fmla="val 3243"/>
            </a:avLst>
          </a:prstGeom>
          <a:solidFill>
            <a:srgbClr val="EDEDED"/>
          </a:solidFill>
          <a:ln w="12700">
            <a:solidFill>
              <a:srgbClr val="EDEDED"/>
            </a:solidFill>
            <a:prstDash val="solid"/>
          </a:ln>
        </p:spPr>
      </p:sp>
      <p:sp>
        <p:nvSpPr>
          <p:cNvPr id="6" name="impl-h"/>
          <p:cNvSpPr txBox="1"/>
          <p:nvPr/>
        </p:nvSpPr>
        <p:spPr>
          <a:xfrm>
            <a:off x="786384" y="2990088"/>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Implementation</a:t>
            </a:r>
            <a:endParaRPr lang="en-US" sz="1500" dirty="0"/>
          </a:p>
        </p:txBody>
      </p:sp>
      <p:sp>
        <p:nvSpPr>
          <p:cNvPr id="7" name="impl-b"/>
          <p:cNvSpPr txBox="1"/>
          <p:nvPr/>
        </p:nvSpPr>
        <p:spPr>
          <a:xfrm>
            <a:off x="786384" y="3374136"/>
            <a:ext cx="5010912" cy="9235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a:t>
            </a:r>
            <a:endParaRPr lang="en-US" sz="1200" dirty="0"/>
          </a:p>
        </p:txBody>
      </p:sp>
      <p:sp>
        <p:nvSpPr>
          <p:cNvPr id="8" name="cov-box"/>
          <p:cNvSpPr/>
          <p:nvPr/>
        </p:nvSpPr>
        <p:spPr>
          <a:xfrm>
            <a:off x="6355080" y="1188720"/>
            <a:ext cx="5257800" cy="1691640"/>
          </a:xfrm>
          <a:prstGeom prst="roundRect">
            <a:avLst>
              <a:gd name="adj" fmla="val 3243"/>
            </a:avLst>
          </a:prstGeom>
          <a:solidFill>
            <a:srgbClr val="000000"/>
          </a:solidFill>
          <a:ln w="12700">
            <a:solidFill>
              <a:srgbClr val="000000"/>
            </a:solidFill>
            <a:prstDash val="solid"/>
          </a:ln>
        </p:spPr>
      </p:sp>
      <p:sp>
        <p:nvSpPr>
          <p:cNvPr id="9" name="cov-text"/>
          <p:cNvSpPr txBox="1"/>
          <p:nvPr/>
        </p:nvSpPr>
        <p:spPr>
          <a:xfrm>
            <a:off x="6592824" y="1353312"/>
            <a:ext cx="4800600" cy="1097280"/>
          </a:xfrm>
          <a:prstGeom prst="rect">
            <a:avLst/>
          </a:prstGeom>
          <a:noFill/>
          <a:ln/>
        </p:spPr>
        <p:txBody>
          <a:bodyPr wrap="square" lIns="0" tIns="0" rIns="0" bIns="0" rtlCol="0" anchor="ctr"/>
          <a:lstStyle/>
          <a:p>
            <a:pPr indent="0" marL="0">
              <a:lnSpc>
                <a:spcPct val="120000"/>
              </a:lnSpc>
              <a:buNone/>
            </a:pPr>
            <a:r>
              <a:rPr lang="en-US" sz="1300" dirty="0">
                <a:solidFill>
                  <a:srgbClr val="757575"/>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30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300" dirty="0">
                <a:solidFill>
                  <a:srgbClr val="757575"/>
                </a:solidFill>
                <a:latin typeface="Arial" pitchFamily="34" charset="0"/>
                <a:ea typeface="Arial" pitchFamily="34" charset="-122"/>
                <a:cs typeface="Arial" pitchFamily="34" charset="-120"/>
              </a:rPr>
              <a:t>copper and silver.</a:t>
            </a:r>
            <a:endParaRPr lang="en-US" sz="1300" dirty="0"/>
          </a:p>
        </p:txBody>
      </p:sp>
      <p:sp>
        <p:nvSpPr>
          <p:cNvPr id="10" name="cov-key"/>
          <p:cNvSpPr txBox="1"/>
          <p:nvPr/>
        </p:nvSpPr>
        <p:spPr>
          <a:xfrm>
            <a:off x="6592824" y="2523744"/>
            <a:ext cx="4800600" cy="237744"/>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grey = matched by some fact   ·   scarlet = uncovered span</a:t>
            </a:r>
            <a:endParaRPr lang="en-US" sz="1000" dirty="0"/>
          </a:p>
        </p:txBody>
      </p:sp>
      <p:sp>
        <p:nvSpPr>
          <p:cNvPr id="11" name="twoq"/>
          <p:cNvSpPr/>
          <p:nvPr/>
        </p:nvSpPr>
        <p:spPr>
          <a:xfrm>
            <a:off x="6355080" y="3017520"/>
            <a:ext cx="5257800" cy="1463040"/>
          </a:xfrm>
          <a:prstGeom prst="roundRect">
            <a:avLst>
              <a:gd name="adj" fmla="val 3750"/>
            </a:avLst>
          </a:prstGeom>
          <a:solidFill>
            <a:srgbClr val="FFFFFF"/>
          </a:solidFill>
          <a:ln w="12700">
            <a:solidFill>
              <a:srgbClr val="EDEDED"/>
            </a:solidFill>
            <a:prstDash val="solid"/>
          </a:ln>
        </p:spPr>
      </p:sp>
      <p:sp>
        <p:nvSpPr>
          <p:cNvPr id="12" name="twoq-h"/>
          <p:cNvSpPr txBox="1"/>
          <p:nvPr/>
        </p:nvSpPr>
        <p:spPr>
          <a:xfrm>
            <a:off x="6592824" y="3218688"/>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Then two judge questions</a:t>
            </a:r>
            <a:endParaRPr lang="en-US" sz="1500" dirty="0"/>
          </a:p>
        </p:txBody>
      </p:sp>
      <p:sp>
        <p:nvSpPr>
          <p:cNvPr id="13" name="twoq-b"/>
          <p:cNvSpPr txBox="1"/>
          <p:nvPr/>
        </p:nvSpPr>
        <p:spPr>
          <a:xfrm>
            <a:off x="6592824" y="3602736"/>
            <a:ext cx="4782312" cy="6949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2. Does any single existing fact already capture it?</a:t>
            </a:r>
            <a:endParaRPr lang="en-US" sz="1200" dirty="0"/>
          </a:p>
        </p:txBody>
      </p:sp>
      <p:sp>
        <p:nvSpPr>
          <p:cNvPr id="14" name="wm1"/>
          <p:cNvSpPr/>
          <p:nvPr/>
        </p:nvSpPr>
        <p:spPr>
          <a:xfrm>
            <a:off x="548640" y="4663440"/>
            <a:ext cx="3566160" cy="1188720"/>
          </a:xfrm>
          <a:prstGeom prst="roundRect">
            <a:avLst>
              <a:gd name="adj" fmla="val 4615"/>
            </a:avLst>
          </a:prstGeom>
          <a:solidFill>
            <a:srgbClr val="EDEDED"/>
          </a:solidFill>
          <a:ln w="12700">
            <a:solidFill>
              <a:srgbClr val="EDEDED"/>
            </a:solidFill>
            <a:prstDash val="solid"/>
          </a:ln>
        </p:spPr>
      </p:sp>
      <p:sp>
        <p:nvSpPr>
          <p:cNvPr id="15" name="wm1-l"/>
          <p:cNvSpPr txBox="1"/>
          <p:nvPr/>
        </p:nvSpPr>
        <p:spPr>
          <a:xfrm>
            <a:off x="74980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CHARACTER COVERAGE</a:t>
            </a:r>
            <a:endParaRPr lang="en-US" sz="1000" dirty="0"/>
          </a:p>
        </p:txBody>
      </p:sp>
      <p:sp>
        <p:nvSpPr>
          <p:cNvPr id="16" name="wm1-v"/>
          <p:cNvSpPr txBox="1"/>
          <p:nvPr/>
        </p:nvSpPr>
        <p:spPr>
          <a:xfrm>
            <a:off x="74980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0.55–0.59</a:t>
            </a:r>
            <a:endParaRPr lang="en-US" sz="2400" dirty="0"/>
          </a:p>
        </p:txBody>
      </p:sp>
      <p:sp>
        <p:nvSpPr>
          <p:cNvPr id="17" name="wm2"/>
          <p:cNvSpPr/>
          <p:nvPr/>
        </p:nvSpPr>
        <p:spPr>
          <a:xfrm>
            <a:off x="4297680" y="4663440"/>
            <a:ext cx="3566160" cy="1188720"/>
          </a:xfrm>
          <a:prstGeom prst="roundRect">
            <a:avLst>
              <a:gd name="adj" fmla="val 4615"/>
            </a:avLst>
          </a:prstGeom>
          <a:solidFill>
            <a:srgbClr val="EDEDED"/>
          </a:solidFill>
          <a:ln w="12700">
            <a:solidFill>
              <a:srgbClr val="EDEDED"/>
            </a:solidFill>
            <a:prstDash val="solid"/>
          </a:ln>
        </p:spPr>
      </p:sp>
      <p:sp>
        <p:nvSpPr>
          <p:cNvPr id="18" name="wm2-l"/>
          <p:cNvSpPr txBox="1"/>
          <p:nvPr/>
        </p:nvSpPr>
        <p:spPr>
          <a:xfrm>
            <a:off x="449884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CANDIDATE SPANS FOUND</a:t>
            </a:r>
            <a:endParaRPr lang="en-US" sz="1000" dirty="0"/>
          </a:p>
        </p:txBody>
      </p:sp>
      <p:sp>
        <p:nvSpPr>
          <p:cNvPr id="19" name="wm2-v"/>
          <p:cNvSpPr txBox="1"/>
          <p:nvPr/>
        </p:nvSpPr>
        <p:spPr>
          <a:xfrm>
            <a:off x="449884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73</a:t>
            </a:r>
            <a:endParaRPr lang="en-US" sz="2400" dirty="0"/>
          </a:p>
        </p:txBody>
      </p:sp>
      <p:sp>
        <p:nvSpPr>
          <p:cNvPr id="20" name="wm3"/>
          <p:cNvSpPr/>
          <p:nvPr/>
        </p:nvSpPr>
        <p:spPr>
          <a:xfrm>
            <a:off x="8046720" y="4663440"/>
            <a:ext cx="3566160" cy="1188720"/>
          </a:xfrm>
          <a:prstGeom prst="roundRect">
            <a:avLst>
              <a:gd name="adj" fmla="val 4615"/>
            </a:avLst>
          </a:prstGeom>
          <a:solidFill>
            <a:srgbClr val="EDEDED"/>
          </a:solidFill>
          <a:ln w="12700">
            <a:solidFill>
              <a:srgbClr val="EDEDED"/>
            </a:solidFill>
            <a:prstDash val="solid"/>
          </a:ln>
        </p:spPr>
      </p:sp>
      <p:sp>
        <p:nvSpPr>
          <p:cNvPr id="21" name="wm3-l"/>
          <p:cNvSpPr txBox="1"/>
          <p:nvPr/>
        </p:nvSpPr>
        <p:spPr>
          <a:xfrm>
            <a:off x="824788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FACT ADDED ONLY WHEN</a:t>
            </a:r>
            <a:endParaRPr lang="en-US" sz="1000" dirty="0"/>
          </a:p>
        </p:txBody>
      </p:sp>
      <p:sp>
        <p:nvSpPr>
          <p:cNvPr id="22" name="wm3-v"/>
          <p:cNvSpPr txBox="1"/>
          <p:nvPr/>
        </p:nvSpPr>
        <p:spPr>
          <a:xfrm>
            <a:off x="8247888" y="5084064"/>
            <a:ext cx="3163824" cy="530352"/>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a 3B refiner actually produces</a:t>
            </a:r>
            <a:endParaRPr lang="en-US" sz="3000" dirty="0"/>
          </a:p>
        </p:txBody>
      </p:sp>
      <p:sp>
        <p:nvSpPr>
          <p:cNvPr id="4" name="good"/>
          <p:cNvSpPr/>
          <p:nvPr/>
        </p:nvSpPr>
        <p:spPr>
          <a:xfrm>
            <a:off x="548640" y="1188720"/>
            <a:ext cx="5486400" cy="3108960"/>
          </a:xfrm>
          <a:prstGeom prst="roundRect">
            <a:avLst>
              <a:gd name="adj" fmla="val 1765"/>
            </a:avLst>
          </a:prstGeom>
          <a:solidFill>
            <a:srgbClr val="FFFFFF"/>
          </a:solidFill>
          <a:ln w="19050">
            <a:solidFill>
              <a:srgbClr val="E90802"/>
            </a:solidFill>
            <a:prstDash val="solid"/>
          </a:ln>
        </p:spPr>
      </p:sp>
      <p:sp>
        <p:nvSpPr>
          <p:cNvPr id="5" name="good-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Works — Q10, ozone layer</a:t>
            </a:r>
            <a:endParaRPr lang="en-US" sz="1500" dirty="0"/>
          </a:p>
        </p:txBody>
      </p:sp>
      <p:sp>
        <p:nvSpPr>
          <p:cNvPr id="6" name="good-t"/>
          <p:cNvSpPr txBox="1"/>
          <p:nvPr/>
        </p:nvSpPr>
        <p:spPr>
          <a:xfrm>
            <a:off x="786384" y="1691640"/>
            <a:ext cx="50292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omitted_condition_or_source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“These substances are in the atmosphere.”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 substances are in the atmosphere since the Montreal Protocol was signed.”</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missing_comparison</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 decrease is in the concentration of substances.”</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 compared to before the Montreal Protocol.”</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p:txBody>
      </p:sp>
      <p:sp>
        <p:nvSpPr>
          <p:cNvPr id="7" name="bad"/>
          <p:cNvSpPr/>
          <p:nvPr/>
        </p:nvSpPr>
        <p:spPr>
          <a:xfrm>
            <a:off x="6355080" y="1188720"/>
            <a:ext cx="5257800" cy="3108960"/>
          </a:xfrm>
          <a:prstGeom prst="roundRect">
            <a:avLst>
              <a:gd name="adj" fmla="val 1765"/>
            </a:avLst>
          </a:prstGeom>
          <a:solidFill>
            <a:srgbClr val="FFFFFF"/>
          </a:solidFill>
          <a:ln w="12700">
            <a:solidFill>
              <a:srgbClr val="EDEDED"/>
            </a:solidFill>
            <a:prstDash val="solid"/>
          </a:ln>
        </p:spPr>
      </p:sp>
      <p:sp>
        <p:nvSpPr>
          <p:cNvPr id="8" name="ba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333333"/>
                </a:solidFill>
              </a:rPr>
              <a:t>Fails — Q01, the paper's own example</a:t>
            </a:r>
            <a:endParaRPr lang="en-US" sz="1500" dirty="0"/>
          </a:p>
        </p:txBody>
      </p:sp>
      <p:sp>
        <p:nvSpPr>
          <p:cNvPr id="9" name="bad-t"/>
          <p:cNvSpPr txBox="1"/>
          <p:nvPr/>
        </p:nvSpPr>
        <p:spPr>
          <a:xfrm>
            <a:off x="6592824" y="1691640"/>
            <a:ext cx="48006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the refiner flipped the meaning</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“There was demand for gold as jewelry.”</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“There was no demand for gold as jewelry.”</a:t>
            </a:r>
            <a:endParaRPr lang="en-US" sz="1200" dirty="0"/>
          </a:p>
          <a:p>
            <a:pPr indent="0" marL="0">
              <a:lnSpc>
                <a:spcPct val="115000"/>
              </a:lnSpc>
              <a:buNone/>
            </a:pPr>
            <a:r>
              <a:rPr lang="en-US" sz="120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condition attached to the wrong claim</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“Gold has unique properties of malleability if there was no demand for gold as jewelry.”</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SUPPORTED → UNDECIDED</a:t>
            </a:r>
            <a:endParaRPr lang="en-US" sz="1200" dirty="0"/>
          </a:p>
        </p:txBody>
      </p:sp>
      <p:sp>
        <p:nvSpPr>
          <p:cNvPr id="10" name="added"/>
          <p:cNvSpPr/>
          <p:nvPr/>
        </p:nvSpPr>
        <p:spPr>
          <a:xfrm>
            <a:off x="548640" y="4480560"/>
            <a:ext cx="11064240" cy="1280160"/>
          </a:xfrm>
          <a:prstGeom prst="roundRect">
            <a:avLst>
              <a:gd name="adj" fmla="val 4286"/>
            </a:avLst>
          </a:prstGeom>
          <a:solidFill>
            <a:srgbClr val="000000"/>
          </a:solidFill>
          <a:ln w="12700">
            <a:solidFill>
              <a:srgbClr val="000000"/>
            </a:solidFill>
            <a:prstDash val="solid"/>
          </a:ln>
        </p:spPr>
      </p:sp>
      <p:sp>
        <p:nvSpPr>
          <p:cNvPr id="11" name="added-h"/>
          <p:cNvSpPr txBox="1"/>
          <p:nvPr/>
        </p:nvSpPr>
        <p:spPr>
          <a:xfrm>
            <a:off x="786384" y="4681728"/>
            <a:ext cx="10588752" cy="310896"/>
          </a:xfrm>
          <a:prstGeom prst="rect">
            <a:avLst/>
          </a:prstGeom>
          <a:noFill/>
          <a:ln/>
        </p:spPr>
        <p:txBody>
          <a:bodyPr wrap="square" lIns="0" tIns="0" rIns="0" bIns="0" rtlCol="0" anchor="ctr"/>
          <a:lstStyle/>
          <a:p>
            <a:pPr indent="0" marL="0">
              <a:buNone/>
            </a:pPr>
            <a:r>
              <a:rPr lang="en-US" sz="1300" b="1" dirty="0">
                <a:solidFill>
                  <a:srgbClr val="E90802"/>
                </a:solidFill>
              </a:rPr>
              <a:t>Added relational fact — Q04, Chernobyl, temporal</a:t>
            </a:r>
            <a:endParaRPr lang="en-US" sz="1300" dirty="0"/>
          </a:p>
        </p:txBody>
      </p:sp>
      <p:sp>
        <p:nvSpPr>
          <p:cNvPr id="12" name="added-b"/>
          <p:cNvSpPr txBox="1"/>
          <p:nvPr/>
        </p:nvSpPr>
        <p:spPr>
          <a:xfrm>
            <a:off x="786384" y="5065776"/>
            <a:ext cx="10588752" cy="5120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Full ranked list of proposed improvements</a:t>
            </a:r>
            <a:endParaRPr lang="en-US" sz="3000" dirty="0"/>
          </a:p>
        </p:txBody>
      </p:sp>
      <p:sp>
        <p:nvSpPr>
          <p:cNvPr id="4" name="a-meas"/>
          <p:cNvSpPr/>
          <p:nvPr/>
        </p:nvSpPr>
        <p:spPr>
          <a:xfrm>
            <a:off x="548640" y="1188720"/>
            <a:ext cx="5486400" cy="4480560"/>
          </a:xfrm>
          <a:prstGeom prst="roundRect">
            <a:avLst>
              <a:gd name="adj" fmla="val 1224"/>
            </a:avLst>
          </a:prstGeom>
          <a:solidFill>
            <a:srgbClr val="FFFFFF"/>
          </a:solidFill>
          <a:ln w="12700">
            <a:solidFill>
              <a:srgbClr val="EDEDED"/>
            </a:solidFill>
            <a:prstDash val="solid"/>
          </a:ln>
        </p:spPr>
      </p:sp>
      <p:sp>
        <p:nvSpPr>
          <p:cNvPr id="5" name="a-meas-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Measurement quality</a:t>
            </a:r>
            <a:endParaRPr lang="en-US" sz="1500" dirty="0"/>
          </a:p>
        </p:txBody>
      </p:sp>
      <p:sp>
        <p:nvSpPr>
          <p:cNvPr id="6" name="a-meas-l"/>
          <p:cNvSpPr txBox="1"/>
          <p:nvPr/>
        </p:nvSpPr>
        <p:spPr>
          <a:xfrm>
            <a:off x="786384" y="1737360"/>
            <a:ext cx="50292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Stronger local judge — tested, 7–8B on a T4</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Majority vote over union — tested, higher precision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Third judge plus self-consistency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Verification ensemble — LLM verdict plus an NLI model</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Evidence-aware verification — name the span, then judge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One fixed entailment model for recall across all runs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Better reference sets — several answers, human verification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Calibration of the three label thresholds</a:t>
            </a:r>
            <a:endParaRPr lang="en-US" sz="1300" dirty="0"/>
          </a:p>
        </p:txBody>
      </p:sp>
      <p:sp>
        <p:nvSpPr>
          <p:cNvPr id="7" name="a-econ"/>
          <p:cNvSpPr/>
          <p:nvPr/>
        </p:nvSpPr>
        <p:spPr>
          <a:xfrm>
            <a:off x="6355080" y="1188720"/>
            <a:ext cx="5257800" cy="4480560"/>
          </a:xfrm>
          <a:prstGeom prst="roundRect">
            <a:avLst>
              <a:gd name="adj" fmla="val 1224"/>
            </a:avLst>
          </a:prstGeom>
          <a:solidFill>
            <a:srgbClr val="FFFFFF"/>
          </a:solidFill>
          <a:ln w="12700">
            <a:solidFill>
              <a:srgbClr val="EDEDED"/>
            </a:solidFill>
            <a:prstDash val="solid"/>
          </a:ln>
        </p:spPr>
      </p:sp>
      <p:sp>
        <p:nvSpPr>
          <p:cNvPr id="8" name="a-econ-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Retrieval, cost and coverage</a:t>
            </a:r>
            <a:endParaRPr lang="en-US" sz="1500" dirty="0"/>
          </a:p>
        </p:txBody>
      </p:sp>
      <p:sp>
        <p:nvSpPr>
          <p:cNvPr id="9" name="a-econ-l"/>
          <p:cNvSpPr txBox="1"/>
          <p:nvPr/>
        </p:nvSpPr>
        <p:spPr>
          <a:xfrm>
            <a:off x="6592824" y="1737360"/>
            <a:ext cx="48006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Query expansion, dense embeddings, cross-encoder reranking</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Iterative refinement, maximum two passes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Hybrid rule + LLM relation detection (implemented, off)</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Adaptive evidence count, driven by uncertainty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Knowledge-source diversification, routed by claim type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Claim difficulty routing — small model, then large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Fine-tuned detector; distillation from a large open teacher</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The remaining baselines: FactScore, FactCheck-GPT, VERIFY</a:t>
            </a:r>
            <a:endParaRPr lang="en-US" sz="1300" dirty="0"/>
          </a:p>
        </p:txBody>
      </p:sp>
      <p:sp>
        <p:nvSpPr>
          <p:cNvPr id="1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first two items are now measured. The rest are proposed directions with expected metric effects.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Run B, and known hazards</a:t>
            </a:r>
            <a:endParaRPr lang="en-US" sz="3000" dirty="0"/>
          </a:p>
        </p:txBody>
      </p:sp>
      <p:sp>
        <p:nvSpPr>
          <p:cNvPr id="4" name="expb"/>
          <p:cNvSpPr/>
          <p:nvPr/>
        </p:nvSpPr>
        <p:spPr>
          <a:xfrm>
            <a:off x="548640" y="1188720"/>
            <a:ext cx="11064240" cy="1737360"/>
          </a:xfrm>
          <a:prstGeom prst="roundRect">
            <a:avLst>
              <a:gd name="adj" fmla="val 3158"/>
            </a:avLst>
          </a:prstGeom>
          <a:solidFill>
            <a:srgbClr val="FFFFFF"/>
          </a:solidFill>
          <a:ln w="12700">
            <a:solidFill>
              <a:srgbClr val="EDEDED"/>
            </a:solidFill>
            <a:prstDash val="solid"/>
          </a:ln>
        </p:spPr>
      </p:sp>
      <p:sp>
        <p:nvSpPr>
          <p:cNvPr id="5" name="expb-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Run B — the whole pipeline at 7B, including the extractor</a:t>
            </a:r>
            <a:endParaRPr lang="en-US" sz="1400" dirty="0"/>
          </a:p>
        </p:txBody>
      </p:sp>
      <p:sp>
        <p:nvSpPr>
          <p:cNvPr id="6" name="expb-b"/>
          <p:cNvSpPr txBox="1"/>
          <p:nvPr/>
        </p:nvSpPr>
        <p:spPr>
          <a:xfrm>
            <a:off x="786384" y="1773936"/>
            <a:ext cx="10588752"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Baseline: 15.92 facts per answer against 21.50, incomplete rate 0.319, precision 0.5050. Refinement then costs far less precision (−0.025, against −0.118 in run A).</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A stronger extractor writes fewer, coarser, more self-contained facts, so there is less to repair — the same trade the paper notes for VERIFY (18.5 facts per response against VeriFact's 32.3).</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B changed the extractor, the judge, the verifier and the recall entailment model at once, so its columns read only against its own baseline.</a:t>
            </a:r>
            <a:endParaRPr lang="en-US" sz="1200" dirty="0"/>
          </a:p>
        </p:txBody>
      </p:sp>
      <p:sp>
        <p:nvSpPr>
          <p:cNvPr id="7" name="haz0"/>
          <p:cNvSpPr/>
          <p:nvPr/>
        </p:nvSpPr>
        <p:spPr>
          <a:xfrm>
            <a:off x="548640" y="3154680"/>
            <a:ext cx="3547872" cy="2606040"/>
          </a:xfrm>
          <a:prstGeom prst="roundRect">
            <a:avLst>
              <a:gd name="adj" fmla="val 2105"/>
            </a:avLst>
          </a:prstGeom>
          <a:solidFill>
            <a:srgbClr val="000000"/>
          </a:solidFill>
          <a:ln w="12700">
            <a:solidFill>
              <a:srgbClr val="000000"/>
            </a:solidFill>
            <a:prstDash val="solid"/>
          </a:ln>
        </p:spPr>
      </p:sp>
      <p:sp>
        <p:nvSpPr>
          <p:cNvPr id="8" name="haz0-h"/>
          <p:cNvSpPr txBox="1"/>
          <p:nvPr/>
        </p:nvSpPr>
        <p:spPr>
          <a:xfrm>
            <a:off x="786384"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GPU hazard</a:t>
            </a:r>
            <a:endParaRPr lang="en-US" sz="1300" dirty="0"/>
          </a:p>
        </p:txBody>
      </p:sp>
      <p:sp>
        <p:nvSpPr>
          <p:cNvPr id="9" name="haz0-b"/>
          <p:cNvSpPr txBox="1"/>
          <p:nvPr/>
        </p:nvSpPr>
        <p:spPr>
          <a:xfrm>
            <a:off x="786384"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Two 3B Q4_K_M judges do not fit in 4 GB. The pipeline drives one judge at a time over the whole fact list, then releases its weights — otherwise the backend waits for the resident model's keep-alive and every call pays a ~20 s model load.</a:t>
            </a:r>
            <a:endParaRPr lang="en-US" sz="1100" dirty="0"/>
          </a:p>
        </p:txBody>
      </p:sp>
      <p:sp>
        <p:nvSpPr>
          <p:cNvPr id="10" name="haz1"/>
          <p:cNvSpPr/>
          <p:nvPr/>
        </p:nvSpPr>
        <p:spPr>
          <a:xfrm>
            <a:off x="4279392" y="3154680"/>
            <a:ext cx="3547872" cy="2606040"/>
          </a:xfrm>
          <a:prstGeom prst="roundRect">
            <a:avLst>
              <a:gd name="adj" fmla="val 2105"/>
            </a:avLst>
          </a:prstGeom>
          <a:solidFill>
            <a:srgbClr val="000000"/>
          </a:solidFill>
          <a:ln w="12700">
            <a:solidFill>
              <a:srgbClr val="000000"/>
            </a:solidFill>
            <a:prstDash val="solid"/>
          </a:ln>
        </p:spPr>
      </p:sp>
      <p:sp>
        <p:nvSpPr>
          <p:cNvPr id="11" name="haz1-h"/>
          <p:cNvSpPr txBox="1"/>
          <p:nvPr/>
        </p:nvSpPr>
        <p:spPr>
          <a:xfrm>
            <a:off x="4517136"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Retrieval hazard</a:t>
            </a:r>
            <a:endParaRPr lang="en-US" sz="1300" dirty="0"/>
          </a:p>
        </p:txBody>
      </p:sp>
      <p:sp>
        <p:nvSpPr>
          <p:cNvPr id="12" name="haz1-b"/>
          <p:cNvSpPr txBox="1"/>
          <p:nvPr/>
        </p:nvSpPr>
        <p:spPr>
          <a:xfrm>
            <a:off x="4517136"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Wikipedia rate-limits unauthenticated clients. Failed requests are not cached, so without retries a 429 silently becomes “no evidence” and two runs of the same pipeline disagree. Fixed with retries, backoff and Retry-After.</a:t>
            </a:r>
            <a:endParaRPr lang="en-US" sz="1100" dirty="0"/>
          </a:p>
        </p:txBody>
      </p:sp>
      <p:sp>
        <p:nvSpPr>
          <p:cNvPr id="13" name="haz2"/>
          <p:cNvSpPr/>
          <p:nvPr/>
        </p:nvSpPr>
        <p:spPr>
          <a:xfrm>
            <a:off x="8010144" y="3154680"/>
            <a:ext cx="3547872" cy="2606040"/>
          </a:xfrm>
          <a:prstGeom prst="roundRect">
            <a:avLst>
              <a:gd name="adj" fmla="val 2105"/>
            </a:avLst>
          </a:prstGeom>
          <a:solidFill>
            <a:srgbClr val="000000"/>
          </a:solidFill>
          <a:ln w="12700">
            <a:solidFill>
              <a:srgbClr val="000000"/>
            </a:solidFill>
            <a:prstDash val="solid"/>
          </a:ln>
        </p:spPr>
      </p:sp>
      <p:sp>
        <p:nvSpPr>
          <p:cNvPr id="14" name="haz2-h"/>
          <p:cNvSpPr txBox="1"/>
          <p:nvPr/>
        </p:nvSpPr>
        <p:spPr>
          <a:xfrm>
            <a:off x="8247888"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Reproducibility</a:t>
            </a:r>
            <a:endParaRPr lang="en-US" sz="1300" dirty="0"/>
          </a:p>
        </p:txBody>
      </p:sp>
      <p:sp>
        <p:nvSpPr>
          <p:cNvPr id="15" name="haz2-b"/>
          <p:cNvSpPr txBox="1"/>
          <p:nvPr/>
        </p:nvSpPr>
        <p:spPr>
          <a:xfrm>
            <a:off x="8247888"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Every LLM call is cached under hash(model + prompt + parameters), every page on disk. Temperature-0 decoding is not bit-reproducible until the cache is warm; all three runs replay exactly from the shipped caches.</a:t>
            </a:r>
            <a:endParaRPr lang="en-US" sz="1100" dirty="0"/>
          </a:p>
        </p:txBody>
      </p:sp>
      <p:sp>
        <p:nvSpPr>
          <p:cNvPr id="16"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write-up in colab/RESULTS.md; all three runs reproduce from one command with no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Texas Tech">
  <a:themeElements>
    <a:clrScheme name="Texas Tech">
      <a:dk1>
        <a:srgbClr val="000000"/>
      </a:dk1>
      <a:lt1>
        <a:srgbClr val="FFFFFF"/>
      </a:lt1>
      <a:dk2>
        <a:srgbClr val="333333"/>
      </a:dk2>
      <a:lt2>
        <a:srgbClr val="EDEDED"/>
      </a:lt2>
      <a:accent1>
        <a:srgbClr val="E90802"/>
      </a:accent1>
      <a:accent2>
        <a:srgbClr val="757575"/>
      </a:accent2>
      <a:accent3>
        <a:srgbClr val="333333"/>
      </a:accent3>
      <a:accent4>
        <a:srgbClr val="EDEDED"/>
      </a:accent4>
      <a:accent5>
        <a:srgbClr val="000000"/>
      </a:accent5>
      <a:accent6>
        <a:srgbClr val="E90802"/>
      </a:accent6>
      <a:hlink>
        <a:srgbClr val="E90802"/>
      </a:hlink>
      <a:folHlink>
        <a:srgbClr val="757575"/>
      </a:folHlink>
    </a:clrScheme>
    <a:fontScheme name="Texas Tech">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2026-10-07T23:52:53Z</dcterms:created>
  <dcterms:modified xsi:type="dcterms:W3CDTF">2026-10-07T23:52:53Z</dcterms:modified>
</cp:coreProperties>
</file>