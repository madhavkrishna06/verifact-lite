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bdd93996-d2f2-d7a0-5532-def6316f25f6}">
          <p14:sldIdLst>
            <p14:sldId id="256"/>
            <p14:sldId id="257"/>
            <p14:sldId id="258"/>
            <p14:sldId id="259"/>
            <p14:sldId id="260"/>
            <p14:sldId id="261"/>
            <p14:sldId id="262"/>
            <p14:sldId id="263"/>
            <p14:sldId id="264"/>
            <p14:sldId id="265"/>
            <p14:sldId id="266"/>
            <p14:sldId id="267"/>
            <p14:sldId id="268"/>
            <p14:sldId id="269"/>
            <p14:sldId id="270"/>
          </p14:sldIdLst>
        </p14:section>
        <p14:section name="Appendix" id="{4834bf32-3e88-cd8f-5198-3b2011908ece}">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Baseline</c:v>
                </c:pt>
              </c:strCache>
            </c:strRef>
          </c:tx>
          <c:spPr>
            <a:solidFill>
              <a:srgbClr val="757575"/>
            </a:solidFill>
            <a:effectLst/>
          </c:spPr>
          <c:invertIfNegative val="0"/>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Sheet1!$B$2:$B$4</c:f>
              <c:numCache>
                <c:formatCode>General</c:formatCode>
                <c:ptCount val="3"/>
                <c:pt idx="0">
                  <c:v>0.42</c:v>
                </c:pt>
                <c:pt idx="1">
                  <c:v>0.4077</c:v>
                </c:pt>
                <c:pt idx="2">
                  <c:v>0.4138</c:v>
                </c:pt>
              </c:numCache>
            </c:numRef>
          </c:val>
        </c:ser>
        <c:ser>
          <c:idx val="1"/>
          <c:order val="1"/>
          <c:tx>
            <c:strRef>
              <c:f>Sheet1!$C$1</c:f>
              <c:strCache>
                <c:ptCount val="1"/>
                <c:pt idx="0">
                  <c:v>VERIFACT-Lite</c:v>
                </c:pt>
              </c:strCache>
            </c:strRef>
          </c:tx>
          <c:spPr>
            <a:solidFill>
              <a:srgbClr val="E90802"/>
            </a:solidFill>
            <a:effectLst/>
          </c:spPr>
          <c:invertIfNegative val="0"/>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Sheet1!$C$2:$C$4</c:f>
              <c:numCache>
                <c:formatCode>General</c:formatCode>
                <c:ptCount val="3"/>
                <c:pt idx="0">
                  <c:v>0.3426</c:v>
                </c:pt>
                <c:pt idx="1">
                  <c:v>0.4077</c:v>
                </c:pt>
                <c:pt idx="2">
                  <c:v>0.3723</c:v>
                </c:pt>
              </c:numCache>
            </c:numRef>
          </c:val>
        </c:ser>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33333"/>
                </a:solidFill>
                <a:latin typeface="+mn-lt"/>
              </a:defRPr>
            </a:pPr>
            <a:endParaRPr lang="en-US"/>
          </a:p>
        </c:txPr>
        <c:crossAx val="2094734552"/>
        <c:crosses val="autoZero"/>
        <c:auto val="1"/>
        <c:lblAlgn val="ctr"/>
        <c:noMultiLvlLbl val="1"/>
      </c:catAx>
      <c:valAx>
        <c:axId val="2094734552"/>
        <c:scaling>
          <c:orientation val="minMax"/>
          <c:max val="0.55"/>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575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One sentence: we rebuilt the paper's mechanism on hardware that costs nothing to run, measured it against its own baseline, then re-ran the whole thing with larger judges to find out which conclusions were real. Move on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This example is the whole paper. Verifying the stripped claim gives a meaningless verdict, because it is not what the answer said. Read the two fact lists side by side, then point at the three numbers: measured on human annotation, not anecdote.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Steps 1 and 4 are inherited from SAFE and FactCheck-GPT. Steps 2 and 3 are what is new. The union rule becomes important later: we test whether it is the right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Do not read the table. Say: every paid or large component has a free local stand-in, the detection logic is unchanged, and the whole thing runs for nothing. Reference facts were written by hand from authoritative sources and deliberately not derived from the answer being evaluated.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The key methodological point, twice over. One: the answer is generated once, so baseline and VeriFact differ only in whether refinement runs. Two: judges-7B replays extraction from cache, so its baseline is identical and the judge upgrade is isolated. full-7B is a different system, not a reproduction.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Say the recall definition out loud — it explains why recall never moves between variants. Keep this slide short; the metric definitions matter mostly for the slide after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Your main results slide. The mechanism does what the paper says to the fact set, and measured precision goes down. Flag that contradicted did not move at all — that becomes the tell on the next slide but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Walk the table once, then read the three cards. Each half of the contribution moves its own metric, and the two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strongest finding of the project, and it is a methodological one. Any factuality score of this kind is a property of the judge as much as of the system under test. Say plainly: this is why we do not compare our absolute numbers with the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Two claims, opposite fates. Majority beating union survives everywhere. The dramatic incomplete-rate gap was a 3B artifact and we say so. Then the bottom table: for relations the union really is one judge's opinion at every size, but for incompleteness, bigger judges finally complement each other — 33 is more than either 32 or 27, which is the behaviour the paper's union rule assumes.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This slide justifies the paper and explains the precision drop. A quarter to nearly half of verdicts are decided by whether the claim kept its context. The contradicted row is the part to dwell on — it is the result we could not get until the judges were big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Read one example from each side only. Showing the failure is deliberate: the 3B refiner has no guard against changing meaning, which is why a stronger model was the first thing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Point at the Agreement column, not the numbers. The row that changed since the first version of this talk is the last one: we can now explain the gap instead of speculating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Open by owning the 0.92 mistake — it shows the harness was itself tested. Then the table: the top two rows started as guesses on the first version of this talk and are now experiments with results. The rest are still guesses, and are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Close on points 3 and 4. Point 3 is the finding that generalises beyond this paper. Point 4 is where we corrected ourselves between the first and second versions of this talk, which is the honest thing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how missing relations are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what else you would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about experiment B or about engineering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E90802"/>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eyebrow"/>
          <p:cNvSpPr txBox="1"/>
          <p:nvPr/>
        </p:nvSpPr>
        <p:spPr>
          <a:xfrm>
            <a:off x="685800" y="1371600"/>
            <a:ext cx="10789920" cy="310896"/>
          </a:xfrm>
          <a:prstGeom prst="rect">
            <a:avLst/>
          </a:prstGeom>
          <a:noFill/>
          <a:ln/>
        </p:spPr>
        <p:txBody>
          <a:bodyPr wrap="square" lIns="0" tIns="0" rIns="0" bIns="0" rtlCol="0" anchor="ctr"/>
          <a:lstStyle/>
          <a:p>
            <a:pPr indent="0" marL="0">
              <a:buNone/>
            </a:pPr>
            <a:r>
              <a:rPr lang="en-US" sz="1300" b="1" spc="200" kern="0" dirty="0">
                <a:solidFill>
                  <a:srgbClr val="E90802"/>
                </a:solidFill>
                <a:latin typeface="Arial" pitchFamily="34" charset="0"/>
                <a:ea typeface="Arial" pitchFamily="34" charset="-122"/>
                <a:cs typeface="Arial" pitchFamily="34" charset="-120"/>
              </a:rPr>
              <a:t>PAPER REIMPLEMENTATION</a:t>
            </a:r>
            <a:endParaRPr lang="en-US" sz="1300" dirty="0"/>
          </a:p>
        </p:txBody>
      </p:sp>
      <p:sp>
        <p:nvSpPr>
          <p:cNvPr id="3" name="cover-title"/>
          <p:cNvSpPr txBox="1"/>
          <p:nvPr/>
        </p:nvSpPr>
        <p:spPr>
          <a:xfrm>
            <a:off x="685800" y="1783080"/>
            <a:ext cx="10789920" cy="1234440"/>
          </a:xfrm>
          <a:prstGeom prst="rect">
            <a:avLst/>
          </a:prstGeom>
          <a:noFill/>
          <a:ln/>
        </p:spPr>
        <p:txBody>
          <a:bodyPr wrap="square" lIns="0" tIns="0" rIns="0" bIns="0" rtlCol="0" anchor="ctr"/>
          <a:lstStyle/>
          <a:p>
            <a:pPr indent="0" marL="0">
              <a:buNone/>
            </a:pPr>
            <a:r>
              <a:rPr lang="en-US" sz="5400" b="1" dirty="0">
                <a:solidFill>
                  <a:srgbClr val="FFFFFF"/>
                </a:solidFill>
              </a:rPr>
              <a:t>VERIFACT-Lite</a:t>
            </a:r>
            <a:endParaRPr lang="en-US" sz="5400" dirty="0"/>
          </a:p>
        </p:txBody>
      </p:sp>
      <p:sp>
        <p:nvSpPr>
          <p:cNvPr id="4" name="cover-body"/>
          <p:cNvSpPr txBox="1"/>
          <p:nvPr/>
        </p:nvSpPr>
        <p:spPr>
          <a:xfrm>
            <a:off x="685800" y="3154680"/>
            <a:ext cx="9052560" cy="1188720"/>
          </a:xfrm>
          <a:prstGeom prst="rect">
            <a:avLst/>
          </a:prstGeom>
          <a:noFill/>
          <a:ln/>
        </p:spPr>
        <p:txBody>
          <a:bodyPr wrap="square" lIns="0" tIns="0" rIns="0" bIns="0" rtlCol="0" anchor="ctr"/>
          <a:lstStyle/>
          <a:p>
            <a:pPr indent="0" marL="0">
              <a:lnSpc>
                <a:spcPct val="130000"/>
              </a:lnSpc>
              <a:buNone/>
            </a:pPr>
            <a:r>
              <a:rPr lang="en-US" sz="1700" dirty="0">
                <a:solidFill>
                  <a:srgbClr val="EDEDED"/>
                </a:solidFill>
                <a:latin typeface="Arial" pitchFamily="34" charset="0"/>
                <a:ea typeface="Arial" pitchFamily="34" charset="-122"/>
                <a:cs typeface="Arial" pitchFamily="34" charset="-120"/>
              </a:rPr>
              <a:t>A resource-constrained reimplementation of the core VeriFact methodology using open-source, locally hosted models</a:t>
            </a:r>
            <a:endParaRPr lang="en-US" sz="1700" dirty="0"/>
          </a:p>
        </p:txBody>
      </p:sp>
      <p:sp>
        <p:nvSpPr>
          <p:cNvPr id="5" name="chip0"/>
          <p:cNvSpPr/>
          <p:nvPr/>
        </p:nvSpPr>
        <p:spPr>
          <a:xfrm>
            <a:off x="685800" y="4800600"/>
            <a:ext cx="2953512" cy="420624"/>
          </a:xfrm>
          <a:prstGeom prst="roundRect">
            <a:avLst>
              <a:gd name="adj" fmla="val 50000"/>
            </a:avLst>
          </a:prstGeom>
          <a:solidFill>
            <a:srgbClr val="333333"/>
          </a:solidFill>
          <a:ln w="12700">
            <a:solidFill>
              <a:srgbClr val="333333"/>
            </a:solidFill>
            <a:prstDash val="solid"/>
          </a:ln>
        </p:spPr>
      </p:sp>
      <p:sp>
        <p:nvSpPr>
          <p:cNvPr id="6" name="chip-t0"/>
          <p:cNvSpPr txBox="1"/>
          <p:nvPr/>
        </p:nvSpPr>
        <p:spPr>
          <a:xfrm>
            <a:off x="685800" y="4800600"/>
            <a:ext cx="29535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Qwen2.5-3B to Llama-3.1-8B</a:t>
            </a:r>
            <a:endParaRPr lang="en-US" sz="1200" dirty="0"/>
          </a:p>
        </p:txBody>
      </p:sp>
      <p:sp>
        <p:nvSpPr>
          <p:cNvPr id="7" name="chip1"/>
          <p:cNvSpPr/>
          <p:nvPr/>
        </p:nvSpPr>
        <p:spPr>
          <a:xfrm>
            <a:off x="3749040" y="4800600"/>
            <a:ext cx="2857500" cy="420624"/>
          </a:xfrm>
          <a:prstGeom prst="roundRect">
            <a:avLst>
              <a:gd name="adj" fmla="val 50000"/>
            </a:avLst>
          </a:prstGeom>
          <a:solidFill>
            <a:srgbClr val="333333"/>
          </a:solidFill>
          <a:ln w="12700">
            <a:solidFill>
              <a:srgbClr val="333333"/>
            </a:solidFill>
            <a:prstDash val="solid"/>
          </a:ln>
        </p:spPr>
      </p:sp>
      <p:sp>
        <p:nvSpPr>
          <p:cNvPr id="8" name="chip-t1"/>
          <p:cNvSpPr txBox="1"/>
          <p:nvPr/>
        </p:nvSpPr>
        <p:spPr>
          <a:xfrm>
            <a:off x="3749040" y="4800600"/>
            <a:ext cx="28575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Q4_K_M, 4 GB GPU and a T4</a:t>
            </a:r>
            <a:endParaRPr lang="en-US" sz="1200" dirty="0"/>
          </a:p>
        </p:txBody>
      </p:sp>
      <p:sp>
        <p:nvSpPr>
          <p:cNvPr id="9" name="chip2"/>
          <p:cNvSpPr/>
          <p:nvPr/>
        </p:nvSpPr>
        <p:spPr>
          <a:xfrm>
            <a:off x="6492240" y="4800600"/>
            <a:ext cx="2185416" cy="420624"/>
          </a:xfrm>
          <a:prstGeom prst="roundRect">
            <a:avLst>
              <a:gd name="adj" fmla="val 50000"/>
            </a:avLst>
          </a:prstGeom>
          <a:solidFill>
            <a:srgbClr val="333333"/>
          </a:solidFill>
          <a:ln w="12700">
            <a:solidFill>
              <a:srgbClr val="333333"/>
            </a:solidFill>
            <a:prstDash val="solid"/>
          </a:ln>
        </p:spPr>
      </p:sp>
      <p:sp>
        <p:nvSpPr>
          <p:cNvPr id="10" name="chip-t2"/>
          <p:cNvSpPr txBox="1"/>
          <p:nvPr/>
        </p:nvSpPr>
        <p:spPr>
          <a:xfrm>
            <a:off x="6492240" y="4800600"/>
            <a:ext cx="2185416"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Wikipedia evidence</a:t>
            </a:r>
            <a:endParaRPr lang="en-US" sz="1200" dirty="0"/>
          </a:p>
        </p:txBody>
      </p:sp>
      <p:sp>
        <p:nvSpPr>
          <p:cNvPr id="11" name="chip3"/>
          <p:cNvSpPr/>
          <p:nvPr/>
        </p:nvSpPr>
        <p:spPr>
          <a:xfrm>
            <a:off x="8641080" y="4800600"/>
            <a:ext cx="1705356" cy="420624"/>
          </a:xfrm>
          <a:prstGeom prst="roundRect">
            <a:avLst>
              <a:gd name="adj" fmla="val 50000"/>
            </a:avLst>
          </a:prstGeom>
          <a:solidFill>
            <a:srgbClr val="E90802"/>
          </a:solidFill>
          <a:ln w="12700">
            <a:solidFill>
              <a:srgbClr val="E90802"/>
            </a:solidFill>
            <a:prstDash val="solid"/>
          </a:ln>
        </p:spPr>
      </p:sp>
      <p:sp>
        <p:nvSpPr>
          <p:cNvPr id="12" name="chip-t3"/>
          <p:cNvSpPr txBox="1"/>
          <p:nvPr/>
        </p:nvSpPr>
        <p:spPr>
          <a:xfrm>
            <a:off x="8641080" y="4800600"/>
            <a:ext cx="1705356"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 total cost</a:t>
            </a:r>
            <a:endParaRPr lang="en-US" sz="1200" dirty="0"/>
          </a:p>
        </p:txBody>
      </p:sp>
      <p:sp>
        <p:nvSpPr>
          <p:cNvPr id="13" name="cover-foot"/>
          <p:cNvSpPr txBox="1"/>
          <p:nvPr/>
        </p:nvSpPr>
        <p:spPr>
          <a:xfrm>
            <a:off x="685800" y="5897880"/>
            <a:ext cx="10789920" cy="274320"/>
          </a:xfrm>
          <a:prstGeom prst="rect">
            <a:avLst/>
          </a:prstGeom>
          <a:noFill/>
          <a:ln/>
        </p:spPr>
        <p:txBody>
          <a:bodyPr wrap="square" lIns="0" tIns="0" rIns="0" bIns="0" rtlCol="0" anchor="ctr"/>
          <a:lstStyle/>
          <a:p>
            <a:pPr indent="0" marL="0">
              <a:buNone/>
            </a:pPr>
            <a:r>
              <a:rPr lang="en-US" sz="1100" dirty="0">
                <a:solidFill>
                  <a:srgbClr val="757575"/>
                </a:solidFill>
                <a:latin typeface="Arial" pitchFamily="34" charset="0"/>
                <a:ea typeface="Arial" pitchFamily="34" charset="-122"/>
                <a:cs typeface="Arial" pitchFamily="34" charset="-120"/>
              </a:rPr>
              <a:t>Liu, Zhang, Munir, Gu &amp; Wang — EMNLP 2025  ·  Not a reproduction of the paper's reported results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THE PROBLEM VERIFACT SOLVES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Atomic facts lose the context that makes them true</a:t>
            </a:r>
            <a:endParaRPr lang="en-US" sz="3000" dirty="0"/>
          </a:p>
        </p:txBody>
      </p:sp>
      <p:sp>
        <p:nvSpPr>
          <p:cNvPr id="4" name="quote-box"/>
          <p:cNvSpPr/>
          <p:nvPr/>
        </p:nvSpPr>
        <p:spPr>
          <a:xfrm>
            <a:off x="548640" y="1188720"/>
            <a:ext cx="11064240" cy="868680"/>
          </a:xfrm>
          <a:prstGeom prst="roundRect">
            <a:avLst>
              <a:gd name="adj" fmla="val 6316"/>
            </a:avLst>
          </a:prstGeom>
          <a:solidFill>
            <a:srgbClr val="EDEDED"/>
          </a:solidFill>
          <a:ln w="12700">
            <a:solidFill>
              <a:srgbClr val="EDEDED"/>
            </a:solidFill>
            <a:prstDash val="solid"/>
          </a:ln>
        </p:spPr>
      </p:sp>
      <p:sp>
        <p:nvSpPr>
          <p:cNvPr id="5" name="quote-text"/>
          <p:cNvSpPr txBox="1"/>
          <p:nvPr/>
        </p:nvSpPr>
        <p:spPr>
          <a:xfrm>
            <a:off x="777240" y="1280160"/>
            <a:ext cx="10607040" cy="685800"/>
          </a:xfrm>
          <a:prstGeom prst="rect">
            <a:avLst/>
          </a:prstGeom>
          <a:noFill/>
          <a:ln/>
        </p:spPr>
        <p:txBody>
          <a:bodyPr wrap="square" lIns="0" tIns="0" rIns="0" bIns="0" rtlCol="0" anchor="ctr"/>
          <a:lstStyle/>
          <a:p>
            <a:pPr indent="0" marL="0">
              <a:lnSpc>
                <a:spcPct val="115000"/>
              </a:lnSpc>
              <a:buNone/>
            </a:pPr>
            <a:r>
              <a:rPr lang="en-US" sz="1200" b="1" dirty="0">
                <a:solidFill>
                  <a:srgbClr val="757575"/>
                </a:solidFill>
                <a:latin typeface="Arial" pitchFamily="34" charset="0"/>
                <a:ea typeface="Arial" pitchFamily="34" charset="-122"/>
                <a:cs typeface="Arial" pitchFamily="34" charset="-120"/>
              </a:rPr>
              <a:t>Model answer:  </a:t>
            </a:r>
            <a:pPr indent="0" marL="0">
              <a:lnSpc>
                <a:spcPct val="115000"/>
              </a:lnSpc>
              <a:buNone/>
            </a:pPr>
            <a:r>
              <a:rPr lang="en-US" sz="1500" dirty="0">
                <a:solidFill>
                  <a:srgbClr val="000000"/>
                </a:solidFill>
                <a:latin typeface="Arial" pitchFamily="34" charset="0"/>
                <a:ea typeface="Arial" pitchFamily="34" charset="-122"/>
                <a:cs typeface="Arial" pitchFamily="34" charset="-120"/>
              </a:rPr>
              <a:t>"If the demand for gold as jewelry were to disappear, the price of gold could drop by 20–50% or more, </a:t>
            </a:r>
            <a:pPr indent="0" marL="0">
              <a:lnSpc>
                <a:spcPct val="115000"/>
              </a:lnSpc>
              <a:buNone/>
            </a:pPr>
            <a:r>
              <a:rPr lang="en-US" sz="1500" b="1" dirty="0">
                <a:solidFill>
                  <a:srgbClr val="E90802"/>
                </a:solidFill>
                <a:latin typeface="Arial" pitchFamily="34" charset="0"/>
                <a:ea typeface="Arial" pitchFamily="34" charset="-122"/>
                <a:cs typeface="Arial" pitchFamily="34" charset="-120"/>
              </a:rPr>
              <a:t>making</a:t>
            </a:r>
            <a:pPr indent="0" marL="0">
              <a:lnSpc>
                <a:spcPct val="115000"/>
              </a:lnSpc>
              <a:buNone/>
            </a:pPr>
            <a:r>
              <a:rPr lang="en-US" sz="1500" dirty="0">
                <a:solidFill>
                  <a:srgbClr val="000000"/>
                </a:solidFill>
                <a:latin typeface="Arial" pitchFamily="34" charset="0"/>
                <a:ea typeface="Arial" pitchFamily="34" charset="-122"/>
                <a:cs typeface="Arial" pitchFamily="34" charset="-120"/>
              </a:rPr>
              <a:t> it more competitive with other materials like copper and silver."</a:t>
            </a:r>
            <a:endParaRPr lang="en-US" sz="1200" dirty="0"/>
          </a:p>
        </p:txBody>
      </p:sp>
      <p:sp>
        <p:nvSpPr>
          <p:cNvPr id="6" name="safe"/>
          <p:cNvSpPr/>
          <p:nvPr/>
        </p:nvSpPr>
        <p:spPr>
          <a:xfrm>
            <a:off x="548640" y="2240280"/>
            <a:ext cx="5486400" cy="2331720"/>
          </a:xfrm>
          <a:prstGeom prst="roundRect">
            <a:avLst>
              <a:gd name="adj" fmla="val 2353"/>
            </a:avLst>
          </a:prstGeom>
          <a:solidFill>
            <a:srgbClr val="FFFFFF"/>
          </a:solidFill>
          <a:ln w="12700">
            <a:solidFill>
              <a:srgbClr val="EDEDED"/>
            </a:solidFill>
            <a:prstDash val="solid"/>
          </a:ln>
        </p:spPr>
      </p:sp>
      <p:sp>
        <p:nvSpPr>
          <p:cNvPr id="7" name="safe-h"/>
          <p:cNvSpPr txBox="1"/>
          <p:nvPr/>
        </p:nvSpPr>
        <p:spPr>
          <a:xfrm>
            <a:off x="786384" y="2441448"/>
            <a:ext cx="5010912" cy="310896"/>
          </a:xfrm>
          <a:prstGeom prst="rect">
            <a:avLst/>
          </a:prstGeom>
          <a:noFill/>
          <a:ln/>
        </p:spPr>
        <p:txBody>
          <a:bodyPr wrap="square" lIns="0" tIns="0" rIns="0" bIns="0" rtlCol="0" anchor="ctr"/>
          <a:lstStyle/>
          <a:p>
            <a:pPr indent="0" marL="0">
              <a:buNone/>
            </a:pPr>
            <a:r>
              <a:rPr lang="en-US" sz="1500" b="1" dirty="0">
                <a:solidFill>
                  <a:srgbClr val="333333"/>
                </a:solidFill>
              </a:rPr>
              <a:t>Extracted by SAFE</a:t>
            </a:r>
            <a:endParaRPr lang="en-US" sz="1500" dirty="0"/>
          </a:p>
        </p:txBody>
      </p:sp>
      <p:sp>
        <p:nvSpPr>
          <p:cNvPr id="8" name="safe-list"/>
          <p:cNvSpPr txBox="1"/>
          <p:nvPr/>
        </p:nvSpPr>
        <p:spPr>
          <a:xfrm>
            <a:off x="786384" y="2724912"/>
            <a:ext cx="5029200" cy="173736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There is a demand for gold as jewelry.</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The price of gold could drop by 20–50% or more.</a:t>
            </a:r>
            <a:endParaRPr lang="en-US" sz="1300" dirty="0"/>
          </a:p>
          <a:p>
            <a:pPr indent="0" marL="0">
              <a:spcAft>
                <a:spcPts val="400"/>
              </a:spcAft>
              <a:buNone/>
            </a:pPr>
            <a:r>
              <a:rPr lang="en-US" sz="1100" b="1" dirty="0">
                <a:solidFill>
                  <a:srgbClr val="E90802"/>
                </a:solidFill>
                <a:latin typeface="Arial" pitchFamily="34" charset="0"/>
                <a:ea typeface="Arial" pitchFamily="34" charset="-122"/>
                <a:cs typeface="Arial" pitchFamily="34" charset="-120"/>
              </a:rPr>
              <a:t>condition dropped</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Copper and silver are competitive with gold in price.</a:t>
            </a:r>
            <a:endParaRPr lang="en-US" sz="1300" dirty="0"/>
          </a:p>
          <a:p>
            <a:pPr indent="0" marL="0">
              <a:spcAft>
                <a:spcPts val="400"/>
              </a:spcAft>
              <a:buNone/>
            </a:pPr>
            <a:r>
              <a:rPr lang="en-US" sz="1100" b="1" dirty="0">
                <a:solidFill>
                  <a:srgbClr val="E90802"/>
                </a:solidFill>
                <a:latin typeface="Arial" pitchFamily="34" charset="0"/>
                <a:ea typeface="Arial" pitchFamily="34" charset="-122"/>
                <a:cs typeface="Arial" pitchFamily="34" charset="-120"/>
              </a:rPr>
              <a:t>stated unconditionally; the causal link in “making” is never extracted</a:t>
            </a:r>
            <a:endParaRPr lang="en-US" sz="1300" dirty="0"/>
          </a:p>
        </p:txBody>
      </p:sp>
      <p:sp>
        <p:nvSpPr>
          <p:cNvPr id="9" name="vf"/>
          <p:cNvSpPr/>
          <p:nvPr/>
        </p:nvSpPr>
        <p:spPr>
          <a:xfrm>
            <a:off x="6355080" y="2240280"/>
            <a:ext cx="5257800" cy="2331720"/>
          </a:xfrm>
          <a:prstGeom prst="roundRect">
            <a:avLst>
              <a:gd name="adj" fmla="val 2353"/>
            </a:avLst>
          </a:prstGeom>
          <a:solidFill>
            <a:srgbClr val="FFFFFF"/>
          </a:solidFill>
          <a:ln w="19050">
            <a:solidFill>
              <a:srgbClr val="E90802"/>
            </a:solidFill>
            <a:prstDash val="solid"/>
          </a:ln>
        </p:spPr>
      </p:sp>
      <p:sp>
        <p:nvSpPr>
          <p:cNvPr id="10" name="vf-h"/>
          <p:cNvSpPr txBox="1"/>
          <p:nvPr/>
        </p:nvSpPr>
        <p:spPr>
          <a:xfrm>
            <a:off x="6592824" y="244144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Extracted by VeriFact</a:t>
            </a:r>
            <a:endParaRPr lang="en-US" sz="1500" dirty="0"/>
          </a:p>
        </p:txBody>
      </p:sp>
      <p:sp>
        <p:nvSpPr>
          <p:cNvPr id="11" name="vf-list"/>
          <p:cNvSpPr txBox="1"/>
          <p:nvPr/>
        </p:nvSpPr>
        <p:spPr>
          <a:xfrm>
            <a:off x="6592824" y="2724912"/>
            <a:ext cx="4800600" cy="173736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There is a demand for gold as jewelry.</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If the demand for gold as jewelry disappeared, the price of gold could drop by 20–50% or more.</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A 20–50% drop in the price of gold could make copper and silver competitive with gold.</a:t>
            </a:r>
            <a:endParaRPr lang="en-US" sz="1300" dirty="0"/>
          </a:p>
          <a:p>
            <a:pPr indent="0" marL="0">
              <a:spcAft>
                <a:spcPts val="400"/>
              </a:spcAft>
              <a:buNone/>
            </a:pPr>
            <a:r>
              <a:rPr lang="en-US" sz="1100" b="1" dirty="0">
                <a:solidFill>
                  <a:srgbClr val="E90802"/>
                </a:solidFill>
                <a:latin typeface="Arial" pitchFamily="34" charset="0"/>
                <a:ea typeface="Arial" pitchFamily="34" charset="-122"/>
                <a:cs typeface="Arial" pitchFamily="34" charset="-120"/>
              </a:rPr>
              <a:t>condition preserved, causal relation recovered as its own fact</a:t>
            </a:r>
            <a:endParaRPr lang="en-US" sz="1300" dirty="0"/>
          </a:p>
        </p:txBody>
      </p:sp>
      <p:sp>
        <p:nvSpPr>
          <p:cNvPr id="12" name="p1"/>
          <p:cNvSpPr/>
          <p:nvPr/>
        </p:nvSpPr>
        <p:spPr>
          <a:xfrm>
            <a:off x="548640" y="4754880"/>
            <a:ext cx="3566160" cy="1143000"/>
          </a:xfrm>
          <a:prstGeom prst="roundRect">
            <a:avLst>
              <a:gd name="adj" fmla="val 4800"/>
            </a:avLst>
          </a:prstGeom>
          <a:solidFill>
            <a:srgbClr val="EDEDED"/>
          </a:solidFill>
          <a:ln w="12700">
            <a:solidFill>
              <a:srgbClr val="EDEDED"/>
            </a:solidFill>
            <a:prstDash val="solid"/>
          </a:ln>
        </p:spPr>
      </p:sp>
      <p:sp>
        <p:nvSpPr>
          <p:cNvPr id="13" name="p1-l"/>
          <p:cNvSpPr txBox="1"/>
          <p:nvPr/>
        </p:nvSpPr>
        <p:spPr>
          <a:xfrm>
            <a:off x="74980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INCOMPLETE FACTS IN SAFE</a:t>
            </a:r>
            <a:endParaRPr lang="en-US" sz="1000" dirty="0"/>
          </a:p>
        </p:txBody>
      </p:sp>
      <p:sp>
        <p:nvSpPr>
          <p:cNvPr id="14" name="p1-v"/>
          <p:cNvSpPr txBox="1"/>
          <p:nvPr/>
        </p:nvSpPr>
        <p:spPr>
          <a:xfrm>
            <a:off x="749808" y="5175504"/>
            <a:ext cx="3163824" cy="530352"/>
          </a:xfrm>
          <a:prstGeom prst="rect">
            <a:avLst/>
          </a:prstGeom>
          <a:noFill/>
          <a:ln/>
        </p:spPr>
        <p:txBody>
          <a:bodyPr wrap="square" lIns="0" tIns="0" rIns="0" bIns="0" rtlCol="0" anchor="ctr"/>
          <a:lstStyle/>
          <a:p>
            <a:pPr indent="0" marL="0">
              <a:buNone/>
            </a:pPr>
            <a:r>
              <a:rPr lang="en-US" sz="2600" b="1" dirty="0">
                <a:solidFill>
                  <a:srgbClr val="E90802"/>
                </a:solidFill>
              </a:rPr>
              <a:t>12.68%</a:t>
            </a:r>
            <a:endParaRPr lang="en-US" sz="2600" dirty="0"/>
          </a:p>
        </p:txBody>
      </p:sp>
      <p:sp>
        <p:nvSpPr>
          <p:cNvPr id="15" name="p1-f"/>
          <p:cNvSpPr txBox="1"/>
          <p:nvPr/>
        </p:nvSpPr>
        <p:spPr>
          <a:xfrm>
            <a:off x="749808" y="5513832"/>
            <a:ext cx="316382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451 facts, human-annotated</a:t>
            </a:r>
            <a:endParaRPr lang="en-US" sz="1100" dirty="0"/>
          </a:p>
        </p:txBody>
      </p:sp>
      <p:sp>
        <p:nvSpPr>
          <p:cNvPr id="16" name="p2"/>
          <p:cNvSpPr/>
          <p:nvPr/>
        </p:nvSpPr>
        <p:spPr>
          <a:xfrm>
            <a:off x="4297680" y="4754880"/>
            <a:ext cx="3566160" cy="1143000"/>
          </a:xfrm>
          <a:prstGeom prst="roundRect">
            <a:avLst>
              <a:gd name="adj" fmla="val 4800"/>
            </a:avLst>
          </a:prstGeom>
          <a:solidFill>
            <a:srgbClr val="EDEDED"/>
          </a:solidFill>
          <a:ln w="12700">
            <a:solidFill>
              <a:srgbClr val="EDEDED"/>
            </a:solidFill>
            <a:prstDash val="solid"/>
          </a:ln>
        </p:spPr>
      </p:sp>
      <p:sp>
        <p:nvSpPr>
          <p:cNvPr id="17" name="p2-l"/>
          <p:cNvSpPr txBox="1"/>
          <p:nvPr/>
        </p:nvSpPr>
        <p:spPr>
          <a:xfrm>
            <a:off x="449884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MISSING FACTS PER RESPONSE</a:t>
            </a:r>
            <a:endParaRPr lang="en-US" sz="1000" dirty="0"/>
          </a:p>
        </p:txBody>
      </p:sp>
      <p:sp>
        <p:nvSpPr>
          <p:cNvPr id="18" name="p2-v"/>
          <p:cNvSpPr txBox="1"/>
          <p:nvPr/>
        </p:nvSpPr>
        <p:spPr>
          <a:xfrm>
            <a:off x="4498848" y="5175504"/>
            <a:ext cx="3163824" cy="530352"/>
          </a:xfrm>
          <a:prstGeom prst="rect">
            <a:avLst/>
          </a:prstGeom>
          <a:noFill/>
          <a:ln/>
        </p:spPr>
        <p:txBody>
          <a:bodyPr wrap="square" lIns="0" tIns="0" rIns="0" bIns="0" rtlCol="0" anchor="ctr"/>
          <a:lstStyle/>
          <a:p>
            <a:pPr indent="0" marL="0">
              <a:buNone/>
            </a:pPr>
            <a:r>
              <a:rPr lang="en-US" sz="2600" b="1" dirty="0">
                <a:solidFill>
                  <a:srgbClr val="E90802"/>
                </a:solidFill>
              </a:rPr>
              <a:t>1.24</a:t>
            </a:r>
            <a:endParaRPr lang="en-US" sz="2600" dirty="0"/>
          </a:p>
        </p:txBody>
      </p:sp>
      <p:sp>
        <p:nvSpPr>
          <p:cNvPr id="19" name="p2-f"/>
          <p:cNvSpPr txBox="1"/>
          <p:nvPr/>
        </p:nvSpPr>
        <p:spPr>
          <a:xfrm>
            <a:off x="4498848" y="5513832"/>
            <a:ext cx="316382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relations never extracted</a:t>
            </a:r>
            <a:endParaRPr lang="en-US" sz="1100" dirty="0"/>
          </a:p>
        </p:txBody>
      </p:sp>
      <p:sp>
        <p:nvSpPr>
          <p:cNvPr id="20" name="p3"/>
          <p:cNvSpPr/>
          <p:nvPr/>
        </p:nvSpPr>
        <p:spPr>
          <a:xfrm>
            <a:off x="8046720" y="4754880"/>
            <a:ext cx="3566160" cy="1143000"/>
          </a:xfrm>
          <a:prstGeom prst="roundRect">
            <a:avLst>
              <a:gd name="adj" fmla="val 4800"/>
            </a:avLst>
          </a:prstGeom>
          <a:solidFill>
            <a:srgbClr val="EDEDED"/>
          </a:solidFill>
          <a:ln w="12700">
            <a:solidFill>
              <a:srgbClr val="EDEDED"/>
            </a:solidFill>
            <a:prstDash val="solid"/>
          </a:ln>
        </p:spPr>
      </p:sp>
      <p:sp>
        <p:nvSpPr>
          <p:cNvPr id="21" name="p3-l"/>
          <p:cNvSpPr txBox="1"/>
          <p:nvPr/>
        </p:nvSpPr>
        <p:spPr>
          <a:xfrm>
            <a:off x="824788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OF THOSE, OMITTED CONDITIONS</a:t>
            </a:r>
            <a:endParaRPr lang="en-US" sz="1000" dirty="0"/>
          </a:p>
        </p:txBody>
      </p:sp>
      <p:sp>
        <p:nvSpPr>
          <p:cNvPr id="22" name="p3-v"/>
          <p:cNvSpPr txBox="1"/>
          <p:nvPr/>
        </p:nvSpPr>
        <p:spPr>
          <a:xfrm>
            <a:off x="8247888" y="5175504"/>
            <a:ext cx="3163824" cy="530352"/>
          </a:xfrm>
          <a:prstGeom prst="rect">
            <a:avLst/>
          </a:prstGeom>
          <a:noFill/>
          <a:ln/>
        </p:spPr>
        <p:txBody>
          <a:bodyPr wrap="square" lIns="0" tIns="0" rIns="0" bIns="0" rtlCol="0" anchor="ctr"/>
          <a:lstStyle/>
          <a:p>
            <a:pPr indent="0" marL="0">
              <a:buNone/>
            </a:pPr>
            <a:r>
              <a:rPr lang="en-US" sz="2600" b="1" dirty="0">
                <a:solidFill>
                  <a:srgbClr val="E90802"/>
                </a:solidFill>
              </a:rPr>
              <a:t>51%</a:t>
            </a:r>
            <a:endParaRPr lang="en-US" sz="2600" dirty="0"/>
          </a:p>
        </p:txBody>
      </p:sp>
      <p:sp>
        <p:nvSpPr>
          <p:cNvPr id="23" name="p3-f"/>
          <p:cNvSpPr txBox="1"/>
          <p:nvPr/>
        </p:nvSpPr>
        <p:spPr>
          <a:xfrm>
            <a:off x="8247888" y="5513832"/>
            <a:ext cx="316382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the gold case above</a:t>
            </a:r>
            <a:endParaRPr lang="en-US" sz="1100" dirty="0"/>
          </a:p>
        </p:txBody>
      </p:sp>
      <p:sp>
        <p:nvSpPr>
          <p:cNvPr id="24"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VeriFact: Liu, Zhang, Munir, Gu &amp; Wang, EMNLP 2025, pp. 17908–17925  ·  github.com/launchnlp/VeriFact</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HOW THE PAPER WORKS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Four steps, three judges, union of detections</a:t>
            </a:r>
            <a:endParaRPr lang="en-US" sz="3000" dirty="0"/>
          </a:p>
        </p:txBody>
      </p:sp>
      <p:sp>
        <p:nvSpPr>
          <p:cNvPr id="4" name="step1"/>
          <p:cNvSpPr/>
          <p:nvPr/>
        </p:nvSpPr>
        <p:spPr>
          <a:xfrm>
            <a:off x="548640" y="1188720"/>
            <a:ext cx="2633472" cy="2240280"/>
          </a:xfrm>
          <a:prstGeom prst="roundRect">
            <a:avLst>
              <a:gd name="adj" fmla="val 2449"/>
            </a:avLst>
          </a:prstGeom>
          <a:solidFill>
            <a:srgbClr val="FFFFFF"/>
          </a:solidFill>
          <a:ln w="12700">
            <a:solidFill>
              <a:srgbClr val="EDEDED"/>
            </a:solidFill>
            <a:prstDash val="solid"/>
          </a:ln>
        </p:spPr>
      </p:sp>
      <p:sp>
        <p:nvSpPr>
          <p:cNvPr id="5" name="step1-badge"/>
          <p:cNvSpPr/>
          <p:nvPr/>
        </p:nvSpPr>
        <p:spPr>
          <a:xfrm>
            <a:off x="786384" y="1389888"/>
            <a:ext cx="420624" cy="420624"/>
          </a:xfrm>
          <a:prstGeom prst="ellipse">
            <a:avLst/>
          </a:prstGeom>
          <a:solidFill>
            <a:srgbClr val="757575"/>
          </a:solidFill>
          <a:ln w="12700">
            <a:solidFill>
              <a:srgbClr val="757575"/>
            </a:solidFill>
            <a:prstDash val="solid"/>
          </a:ln>
        </p:spPr>
      </p:sp>
      <p:sp>
        <p:nvSpPr>
          <p:cNvPr id="6" name="step1-badge-text"/>
          <p:cNvSpPr txBox="1"/>
          <p:nvPr/>
        </p:nvSpPr>
        <p:spPr>
          <a:xfrm>
            <a:off x="786384" y="1389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step1-h"/>
          <p:cNvSpPr txBox="1"/>
          <p:nvPr/>
        </p:nvSpPr>
        <p:spPr>
          <a:xfrm>
            <a:off x="786384" y="1956816"/>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Decompose</a:t>
            </a:r>
            <a:endParaRPr lang="en-US" sz="1500" dirty="0"/>
          </a:p>
        </p:txBody>
      </p:sp>
      <p:sp>
        <p:nvSpPr>
          <p:cNvPr id="8" name="step1-b"/>
          <p:cNvSpPr txBox="1"/>
          <p:nvPr/>
        </p:nvSpPr>
        <p:spPr>
          <a:xfrm>
            <a:off x="786384" y="2340864"/>
            <a:ext cx="2157984" cy="90525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SAFE's extractor splits each sentence into atomic facts, then resolves vague references.</a:t>
            </a:r>
            <a:endParaRPr lang="en-US" sz="1200" dirty="0"/>
          </a:p>
        </p:txBody>
      </p:sp>
      <p:sp>
        <p:nvSpPr>
          <p:cNvPr id="9" name="step2"/>
          <p:cNvSpPr/>
          <p:nvPr/>
        </p:nvSpPr>
        <p:spPr>
          <a:xfrm>
            <a:off x="3364992" y="1188720"/>
            <a:ext cx="2633472" cy="2240280"/>
          </a:xfrm>
          <a:prstGeom prst="roundRect">
            <a:avLst>
              <a:gd name="adj" fmla="val 2449"/>
            </a:avLst>
          </a:prstGeom>
          <a:solidFill>
            <a:srgbClr val="FFFFFF"/>
          </a:solidFill>
          <a:ln w="12700">
            <a:solidFill>
              <a:srgbClr val="E90802"/>
            </a:solidFill>
            <a:prstDash val="solid"/>
          </a:ln>
        </p:spPr>
      </p:sp>
      <p:sp>
        <p:nvSpPr>
          <p:cNvPr id="10" name="step2-badge"/>
          <p:cNvSpPr/>
          <p:nvPr/>
        </p:nvSpPr>
        <p:spPr>
          <a:xfrm>
            <a:off x="3602736" y="1389888"/>
            <a:ext cx="420624" cy="420624"/>
          </a:xfrm>
          <a:prstGeom prst="ellipse">
            <a:avLst/>
          </a:prstGeom>
          <a:solidFill>
            <a:srgbClr val="E90802"/>
          </a:solidFill>
          <a:ln w="12700">
            <a:solidFill>
              <a:srgbClr val="E90802"/>
            </a:solidFill>
            <a:prstDash val="solid"/>
          </a:ln>
        </p:spPr>
      </p:sp>
      <p:sp>
        <p:nvSpPr>
          <p:cNvPr id="11" name="step2-badge-text"/>
          <p:cNvSpPr txBox="1"/>
          <p:nvPr/>
        </p:nvSpPr>
        <p:spPr>
          <a:xfrm>
            <a:off x="3602736" y="1389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step2-h"/>
          <p:cNvSpPr txBox="1"/>
          <p:nvPr/>
        </p:nvSpPr>
        <p:spPr>
          <a:xfrm>
            <a:off x="3602736" y="1956816"/>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Detect</a:t>
            </a:r>
            <a:endParaRPr lang="en-US" sz="1500" dirty="0"/>
          </a:p>
        </p:txBody>
      </p:sp>
      <p:sp>
        <p:nvSpPr>
          <p:cNvPr id="13" name="step2-b"/>
          <p:cNvSpPr txBox="1"/>
          <p:nvPr/>
        </p:nvSpPr>
        <p:spPr>
          <a:xfrm>
            <a:off x="3602736" y="2340864"/>
            <a:ext cx="2157984" cy="90525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Judges flag incomplete facts by subtype, and missing temporal or contingency relations.</a:t>
            </a:r>
            <a:endParaRPr lang="en-US" sz="1200" dirty="0"/>
          </a:p>
        </p:txBody>
      </p:sp>
      <p:sp>
        <p:nvSpPr>
          <p:cNvPr id="14" name="step3"/>
          <p:cNvSpPr/>
          <p:nvPr/>
        </p:nvSpPr>
        <p:spPr>
          <a:xfrm>
            <a:off x="6181344" y="1188720"/>
            <a:ext cx="2633472" cy="2240280"/>
          </a:xfrm>
          <a:prstGeom prst="roundRect">
            <a:avLst>
              <a:gd name="adj" fmla="val 2449"/>
            </a:avLst>
          </a:prstGeom>
          <a:solidFill>
            <a:srgbClr val="FFFFFF"/>
          </a:solidFill>
          <a:ln w="12700">
            <a:solidFill>
              <a:srgbClr val="E90802"/>
            </a:solidFill>
            <a:prstDash val="solid"/>
          </a:ln>
        </p:spPr>
      </p:sp>
      <p:sp>
        <p:nvSpPr>
          <p:cNvPr id="15" name="step3-badge"/>
          <p:cNvSpPr/>
          <p:nvPr/>
        </p:nvSpPr>
        <p:spPr>
          <a:xfrm>
            <a:off x="6419088" y="1389888"/>
            <a:ext cx="420624" cy="420624"/>
          </a:xfrm>
          <a:prstGeom prst="ellipse">
            <a:avLst/>
          </a:prstGeom>
          <a:solidFill>
            <a:srgbClr val="E90802"/>
          </a:solidFill>
          <a:ln w="12700">
            <a:solidFill>
              <a:srgbClr val="E90802"/>
            </a:solidFill>
            <a:prstDash val="solid"/>
          </a:ln>
        </p:spPr>
      </p:sp>
      <p:sp>
        <p:nvSpPr>
          <p:cNvPr id="16" name="step3-badge-text"/>
          <p:cNvSpPr txBox="1"/>
          <p:nvPr/>
        </p:nvSpPr>
        <p:spPr>
          <a:xfrm>
            <a:off x="6419088" y="1389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7" name="step3-h"/>
          <p:cNvSpPr txBox="1"/>
          <p:nvPr/>
        </p:nvSpPr>
        <p:spPr>
          <a:xfrm>
            <a:off x="6419088" y="1956816"/>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Refine</a:t>
            </a:r>
            <a:endParaRPr lang="en-US" sz="1500" dirty="0"/>
          </a:p>
        </p:txBody>
      </p:sp>
      <p:sp>
        <p:nvSpPr>
          <p:cNvPr id="18" name="step3-b"/>
          <p:cNvSpPr txBox="1"/>
          <p:nvPr/>
        </p:nvSpPr>
        <p:spPr>
          <a:xfrm>
            <a:off x="6419088" y="2340864"/>
            <a:ext cx="2157984" cy="90525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Self-reflection rewrites each flagged fact and writes one new fact per missing relation.</a:t>
            </a:r>
            <a:endParaRPr lang="en-US" sz="1200" dirty="0"/>
          </a:p>
        </p:txBody>
      </p:sp>
      <p:sp>
        <p:nvSpPr>
          <p:cNvPr id="19" name="step4"/>
          <p:cNvSpPr/>
          <p:nvPr/>
        </p:nvSpPr>
        <p:spPr>
          <a:xfrm>
            <a:off x="8997696" y="1188720"/>
            <a:ext cx="2633472" cy="2240280"/>
          </a:xfrm>
          <a:prstGeom prst="roundRect">
            <a:avLst>
              <a:gd name="adj" fmla="val 2449"/>
            </a:avLst>
          </a:prstGeom>
          <a:solidFill>
            <a:srgbClr val="FFFFFF"/>
          </a:solidFill>
          <a:ln w="12700">
            <a:solidFill>
              <a:srgbClr val="EDEDED"/>
            </a:solidFill>
            <a:prstDash val="solid"/>
          </a:ln>
        </p:spPr>
      </p:sp>
      <p:sp>
        <p:nvSpPr>
          <p:cNvPr id="20" name="step4-badge"/>
          <p:cNvSpPr/>
          <p:nvPr/>
        </p:nvSpPr>
        <p:spPr>
          <a:xfrm>
            <a:off x="9235440" y="1389888"/>
            <a:ext cx="420624" cy="420624"/>
          </a:xfrm>
          <a:prstGeom prst="ellipse">
            <a:avLst/>
          </a:prstGeom>
          <a:solidFill>
            <a:srgbClr val="757575"/>
          </a:solidFill>
          <a:ln w="12700">
            <a:solidFill>
              <a:srgbClr val="757575"/>
            </a:solidFill>
            <a:prstDash val="solid"/>
          </a:ln>
        </p:spPr>
      </p:sp>
      <p:sp>
        <p:nvSpPr>
          <p:cNvPr id="21" name="step4-badge-text"/>
          <p:cNvSpPr txBox="1"/>
          <p:nvPr/>
        </p:nvSpPr>
        <p:spPr>
          <a:xfrm>
            <a:off x="9235440" y="1389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2" name="step4-h"/>
          <p:cNvSpPr txBox="1"/>
          <p:nvPr/>
        </p:nvSpPr>
        <p:spPr>
          <a:xfrm>
            <a:off x="9235440" y="1956816"/>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Verify</a:t>
            </a:r>
            <a:endParaRPr lang="en-US" sz="1500" dirty="0"/>
          </a:p>
        </p:txBody>
      </p:sp>
      <p:sp>
        <p:nvSpPr>
          <p:cNvPr id="23" name="step4-b"/>
          <p:cNvSpPr txBox="1"/>
          <p:nvPr/>
        </p:nvSpPr>
        <p:spPr>
          <a:xfrm>
            <a:off x="9235440" y="2340864"/>
            <a:ext cx="2157984" cy="90525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Google Search via Serper, cross-encoder reranking, then Supported / Contradicted / Undecided.</a:t>
            </a:r>
            <a:endParaRPr lang="en-US" sz="1200" dirty="0"/>
          </a:p>
        </p:txBody>
      </p:sp>
      <p:sp>
        <p:nvSpPr>
          <p:cNvPr id="24" name="ensemble"/>
          <p:cNvSpPr/>
          <p:nvPr/>
        </p:nvSpPr>
        <p:spPr>
          <a:xfrm>
            <a:off x="548640" y="3657600"/>
            <a:ext cx="7589520" cy="2194560"/>
          </a:xfrm>
          <a:prstGeom prst="roundRect">
            <a:avLst>
              <a:gd name="adj" fmla="val 2500"/>
            </a:avLst>
          </a:prstGeom>
          <a:solidFill>
            <a:srgbClr val="000000"/>
          </a:solidFill>
          <a:ln w="12700">
            <a:solidFill>
              <a:srgbClr val="000000"/>
            </a:solidFill>
            <a:prstDash val="solid"/>
          </a:ln>
        </p:spPr>
      </p:sp>
      <p:sp>
        <p:nvSpPr>
          <p:cNvPr id="25" name="ensemble-h"/>
          <p:cNvSpPr txBox="1"/>
          <p:nvPr/>
        </p:nvSpPr>
        <p:spPr>
          <a:xfrm>
            <a:off x="786384" y="3858768"/>
            <a:ext cx="7114032" cy="310896"/>
          </a:xfrm>
          <a:prstGeom prst="rect">
            <a:avLst/>
          </a:prstGeom>
          <a:noFill/>
          <a:ln/>
        </p:spPr>
        <p:txBody>
          <a:bodyPr wrap="square" lIns="0" tIns="0" rIns="0" bIns="0" rtlCol="0" anchor="ctr"/>
          <a:lstStyle/>
          <a:p>
            <a:pPr indent="0" marL="0">
              <a:buNone/>
            </a:pPr>
            <a:r>
              <a:rPr lang="en-US" sz="1500" b="1" dirty="0">
                <a:solidFill>
                  <a:srgbClr val="E90802"/>
                </a:solidFill>
              </a:rPr>
              <a:t>The detection ensemble</a:t>
            </a:r>
            <a:endParaRPr lang="en-US" sz="1500" dirty="0"/>
          </a:p>
        </p:txBody>
      </p:sp>
      <p:sp>
        <p:nvSpPr>
          <p:cNvPr id="26" name="ensemble-b"/>
          <p:cNvSpPr txBox="1"/>
          <p:nvPr/>
        </p:nvSpPr>
        <p:spPr>
          <a:xfrm>
            <a:off x="786384" y="4242816"/>
            <a:ext cx="7114032" cy="142646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GPT-4o + Llama 3.3-70B + Qwen 2.5-32B. Positive detections are unioned, not voted: one LLM agrees with human annotators at only κ = 0.33, so the paper trades precision for recall and lets refinement absorb the false positives.</a:t>
            </a:r>
            <a:endParaRPr lang="en-US" sz="1300" dirty="0"/>
          </a:p>
        </p:txBody>
      </p:sp>
      <p:sp>
        <p:nvSpPr>
          <p:cNvPr id="27" name="r1"/>
          <p:cNvSpPr/>
          <p:nvPr/>
        </p:nvSpPr>
        <p:spPr>
          <a:xfrm>
            <a:off x="8458200" y="3657600"/>
            <a:ext cx="1508760" cy="2194560"/>
          </a:xfrm>
          <a:prstGeom prst="roundRect">
            <a:avLst>
              <a:gd name="adj" fmla="val 3636"/>
            </a:avLst>
          </a:prstGeom>
          <a:solidFill>
            <a:srgbClr val="333333"/>
          </a:solidFill>
          <a:ln w="12700">
            <a:solidFill>
              <a:srgbClr val="333333"/>
            </a:solidFill>
            <a:prstDash val="solid"/>
          </a:ln>
        </p:spPr>
      </p:sp>
      <p:sp>
        <p:nvSpPr>
          <p:cNvPr id="28" name="r1-l"/>
          <p:cNvSpPr txBox="1"/>
          <p:nvPr/>
        </p:nvSpPr>
        <p:spPr>
          <a:xfrm>
            <a:off x="8659368" y="3822192"/>
            <a:ext cx="1106424" cy="237744"/>
          </a:xfrm>
          <a:prstGeom prst="rect">
            <a:avLst/>
          </a:prstGeom>
          <a:noFill/>
          <a:ln/>
        </p:spPr>
        <p:txBody>
          <a:bodyPr wrap="square" lIns="0" tIns="0" rIns="0" bIns="0" rtlCol="0" anchor="ctr"/>
          <a:lstStyle/>
          <a:p>
            <a:pPr indent="0" marL="0">
              <a:buNone/>
            </a:pPr>
            <a:r>
              <a:rPr lang="en-US" sz="1000" b="1" spc="100" kern="0" dirty="0">
                <a:solidFill>
                  <a:srgbClr val="EDEDED"/>
                </a:solidFill>
                <a:latin typeface="Arial" pitchFamily="34" charset="0"/>
                <a:ea typeface="Arial" pitchFamily="34" charset="-122"/>
                <a:cs typeface="Arial" pitchFamily="34" charset="-120"/>
              </a:rPr>
              <a:t>RECALL</a:t>
            </a:r>
            <a:endParaRPr lang="en-US" sz="1000" dirty="0"/>
          </a:p>
        </p:txBody>
      </p:sp>
      <p:sp>
        <p:nvSpPr>
          <p:cNvPr id="29" name="r1-v"/>
          <p:cNvSpPr txBox="1"/>
          <p:nvPr/>
        </p:nvSpPr>
        <p:spPr>
          <a:xfrm>
            <a:off x="8659368" y="4078224"/>
            <a:ext cx="1106424" cy="530352"/>
          </a:xfrm>
          <a:prstGeom prst="rect">
            <a:avLst/>
          </a:prstGeom>
          <a:noFill/>
          <a:ln/>
        </p:spPr>
        <p:txBody>
          <a:bodyPr wrap="square" lIns="0" tIns="0" rIns="0" bIns="0" rtlCol="0" anchor="ctr"/>
          <a:lstStyle/>
          <a:p>
            <a:pPr indent="0" marL="0">
              <a:buNone/>
            </a:pPr>
            <a:r>
              <a:rPr lang="en-US" sz="2600" b="1" dirty="0">
                <a:solidFill>
                  <a:srgbClr val="FFFFFF"/>
                </a:solidFill>
              </a:rPr>
              <a:t>0.89</a:t>
            </a:r>
            <a:endParaRPr lang="en-US" sz="2600" dirty="0"/>
          </a:p>
        </p:txBody>
      </p:sp>
      <p:sp>
        <p:nvSpPr>
          <p:cNvPr id="30" name="r1-f"/>
          <p:cNvSpPr txBox="1"/>
          <p:nvPr/>
        </p:nvSpPr>
        <p:spPr>
          <a:xfrm>
            <a:off x="8659368" y="5468112"/>
            <a:ext cx="1106424" cy="274320"/>
          </a:xfrm>
          <a:prstGeom prst="rect">
            <a:avLst/>
          </a:prstGeom>
          <a:noFill/>
          <a:ln/>
        </p:spPr>
        <p:txBody>
          <a:bodyPr wrap="square" lIns="0" tIns="0" rIns="0" bIns="0" rtlCol="0" anchor="ctr"/>
          <a:lstStyle/>
          <a:p>
            <a:pPr indent="0" marL="0">
              <a:buNone/>
            </a:pPr>
            <a:r>
              <a:rPr lang="en-US" sz="1100" b="1" dirty="0">
                <a:solidFill>
                  <a:srgbClr val="EDEDED"/>
                </a:solidFill>
                <a:latin typeface="Arial" pitchFamily="34" charset="0"/>
                <a:ea typeface="Arial" pitchFamily="34" charset="-122"/>
                <a:cs typeface="Arial" pitchFamily="34" charset="-120"/>
              </a:rPr>
              <a:t>incomplete</a:t>
            </a:r>
            <a:endParaRPr lang="en-US" sz="1100" dirty="0"/>
          </a:p>
        </p:txBody>
      </p:sp>
      <p:sp>
        <p:nvSpPr>
          <p:cNvPr id="31" name="r2"/>
          <p:cNvSpPr/>
          <p:nvPr/>
        </p:nvSpPr>
        <p:spPr>
          <a:xfrm>
            <a:off x="10104120" y="3657600"/>
            <a:ext cx="1508760" cy="2194560"/>
          </a:xfrm>
          <a:prstGeom prst="roundRect">
            <a:avLst>
              <a:gd name="adj" fmla="val 3636"/>
            </a:avLst>
          </a:prstGeom>
          <a:solidFill>
            <a:srgbClr val="333333"/>
          </a:solidFill>
          <a:ln w="12700">
            <a:solidFill>
              <a:srgbClr val="333333"/>
            </a:solidFill>
            <a:prstDash val="solid"/>
          </a:ln>
        </p:spPr>
      </p:sp>
      <p:sp>
        <p:nvSpPr>
          <p:cNvPr id="32" name="r2-l"/>
          <p:cNvSpPr txBox="1"/>
          <p:nvPr/>
        </p:nvSpPr>
        <p:spPr>
          <a:xfrm>
            <a:off x="10305288" y="3822192"/>
            <a:ext cx="1106424" cy="237744"/>
          </a:xfrm>
          <a:prstGeom prst="rect">
            <a:avLst/>
          </a:prstGeom>
          <a:noFill/>
          <a:ln/>
        </p:spPr>
        <p:txBody>
          <a:bodyPr wrap="square" lIns="0" tIns="0" rIns="0" bIns="0" rtlCol="0" anchor="ctr"/>
          <a:lstStyle/>
          <a:p>
            <a:pPr indent="0" marL="0">
              <a:buNone/>
            </a:pPr>
            <a:r>
              <a:rPr lang="en-US" sz="1000" b="1" spc="100" kern="0" dirty="0">
                <a:solidFill>
                  <a:srgbClr val="EDEDED"/>
                </a:solidFill>
                <a:latin typeface="Arial" pitchFamily="34" charset="0"/>
                <a:ea typeface="Arial" pitchFamily="34" charset="-122"/>
                <a:cs typeface="Arial" pitchFamily="34" charset="-120"/>
              </a:rPr>
              <a:t>RECALL</a:t>
            </a:r>
            <a:endParaRPr lang="en-US" sz="1000" dirty="0"/>
          </a:p>
        </p:txBody>
      </p:sp>
      <p:sp>
        <p:nvSpPr>
          <p:cNvPr id="33" name="r2-v"/>
          <p:cNvSpPr txBox="1"/>
          <p:nvPr/>
        </p:nvSpPr>
        <p:spPr>
          <a:xfrm>
            <a:off x="10305288" y="4078224"/>
            <a:ext cx="1106424" cy="530352"/>
          </a:xfrm>
          <a:prstGeom prst="rect">
            <a:avLst/>
          </a:prstGeom>
          <a:noFill/>
          <a:ln/>
        </p:spPr>
        <p:txBody>
          <a:bodyPr wrap="square" lIns="0" tIns="0" rIns="0" bIns="0" rtlCol="0" anchor="ctr"/>
          <a:lstStyle/>
          <a:p>
            <a:pPr indent="0" marL="0">
              <a:buNone/>
            </a:pPr>
            <a:r>
              <a:rPr lang="en-US" sz="2600" b="1" dirty="0">
                <a:solidFill>
                  <a:srgbClr val="FFFFFF"/>
                </a:solidFill>
              </a:rPr>
              <a:t>0.85</a:t>
            </a:r>
            <a:endParaRPr lang="en-US" sz="2600" dirty="0"/>
          </a:p>
        </p:txBody>
      </p:sp>
      <p:sp>
        <p:nvSpPr>
          <p:cNvPr id="34" name="r2-f"/>
          <p:cNvSpPr txBox="1"/>
          <p:nvPr/>
        </p:nvSpPr>
        <p:spPr>
          <a:xfrm>
            <a:off x="10305288" y="5468112"/>
            <a:ext cx="1106424" cy="274320"/>
          </a:xfrm>
          <a:prstGeom prst="rect">
            <a:avLst/>
          </a:prstGeom>
          <a:noFill/>
          <a:ln/>
        </p:spPr>
        <p:txBody>
          <a:bodyPr wrap="square" lIns="0" tIns="0" rIns="0" bIns="0" rtlCol="0" anchor="ctr"/>
          <a:lstStyle/>
          <a:p>
            <a:pPr indent="0" marL="0">
              <a:buNone/>
            </a:pPr>
            <a:r>
              <a:rPr lang="en-US" sz="1100" b="1" dirty="0">
                <a:solidFill>
                  <a:srgbClr val="EDEDED"/>
                </a:solidFill>
                <a:latin typeface="Arial" pitchFamily="34" charset="0"/>
                <a:ea typeface="Arial" pitchFamily="34" charset="-122"/>
                <a:cs typeface="Arial" pitchFamily="34" charset="-120"/>
              </a:rPr>
              <a:t>missing</a:t>
            </a:r>
            <a:endParaRPr lang="en-US" sz="1100" dirty="0"/>
          </a:p>
        </p:txBody>
      </p:sp>
      <p:sp>
        <p:nvSpPr>
          <p:cNvPr id="35"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Steps 2 and 3 are the paper's contribution. These 3 judges are the detection ensemble — not the 12 models the paper separately benchmarks.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WHAT WE CHANGED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Every paid component replaced by a free local one</a:t>
            </a:r>
            <a:endParaRPr lang="en-US" sz="3000" dirty="0"/>
          </a:p>
        </p:txBody>
      </p:sp>
      <p:graphicFrame>
        <p:nvGraphicFramePr>
          <p:cNvPr id="5" name="map"/>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017520"/>
                <a:gridCol w="4023360"/>
                <a:gridCol w="4023360"/>
              </a:tblGrid>
              <a:tr h="384048">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Component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Paper</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VERIFACT-Lite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Judges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GPT-4o + Llama 3.3-70B + Qwen 2.5-32B</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Qwen2.5-3B + Llama-3.2-3B, and 7–8B</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Extract / refine / verify</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Llama 3.3-70B-Instruct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Qwen2.5-3B, and Qwen2.5-7B</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Evidence source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Google Search via Serper (paid)</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Wikipedia API, cached for replay</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Evidence ranking</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cross-encoder reranker</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BM25 over retrieved paragraphs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Benchmark</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FactRBench, 1,096 prompts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mini benchmark, 12 prompts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Reference facts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4 frontier LLMs + human answers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86 facts, written and verified by hand</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Serving</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vLLM, multi-GPU</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Ollama on a 4 GB GTX 1650 and a Colab T4</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5" name="sc0"/>
          <p:cNvSpPr/>
          <p:nvPr/>
        </p:nvSpPr>
        <p:spPr>
          <a:xfrm>
            <a:off x="548640" y="4343400"/>
            <a:ext cx="2633472" cy="1188720"/>
          </a:xfrm>
          <a:prstGeom prst="roundRect">
            <a:avLst>
              <a:gd name="adj" fmla="val 4615"/>
            </a:avLst>
          </a:prstGeom>
          <a:solidFill>
            <a:srgbClr val="EDEDED"/>
          </a:solidFill>
          <a:ln w="12700">
            <a:solidFill>
              <a:srgbClr val="EDEDED"/>
            </a:solidFill>
            <a:prstDash val="solid"/>
          </a:ln>
        </p:spPr>
      </p:sp>
      <p:sp>
        <p:nvSpPr>
          <p:cNvPr id="6" name="sc0-l"/>
          <p:cNvSpPr txBox="1"/>
          <p:nvPr/>
        </p:nvSpPr>
        <p:spPr>
          <a:xfrm>
            <a:off x="749808" y="450799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HARDWARE</a:t>
            </a:r>
            <a:endParaRPr lang="en-US" sz="1000" dirty="0"/>
          </a:p>
        </p:txBody>
      </p:sp>
      <p:sp>
        <p:nvSpPr>
          <p:cNvPr id="7" name="sc0-v"/>
          <p:cNvSpPr txBox="1"/>
          <p:nvPr/>
        </p:nvSpPr>
        <p:spPr>
          <a:xfrm>
            <a:off x="749808" y="4764024"/>
            <a:ext cx="2231136" cy="530352"/>
          </a:xfrm>
          <a:prstGeom prst="rect">
            <a:avLst/>
          </a:prstGeom>
          <a:noFill/>
          <a:ln/>
        </p:spPr>
        <p:txBody>
          <a:bodyPr wrap="square" lIns="0" tIns="0" rIns="0" bIns="0" rtlCol="0" anchor="ctr"/>
          <a:lstStyle/>
          <a:p>
            <a:pPr indent="0" marL="0">
              <a:buNone/>
            </a:pPr>
            <a:r>
              <a:rPr lang="en-US" sz="2200" b="1" dirty="0">
                <a:solidFill>
                  <a:srgbClr val="000000"/>
                </a:solidFill>
              </a:rPr>
              <a:t>4 GB + T4</a:t>
            </a:r>
            <a:endParaRPr lang="en-US" sz="2200" dirty="0"/>
          </a:p>
        </p:txBody>
      </p:sp>
      <p:sp>
        <p:nvSpPr>
          <p:cNvPr id="8" name="sc1"/>
          <p:cNvSpPr/>
          <p:nvPr/>
        </p:nvSpPr>
        <p:spPr>
          <a:xfrm>
            <a:off x="3364992" y="4343400"/>
            <a:ext cx="2633472" cy="1188720"/>
          </a:xfrm>
          <a:prstGeom prst="roundRect">
            <a:avLst>
              <a:gd name="adj" fmla="val 4615"/>
            </a:avLst>
          </a:prstGeom>
          <a:solidFill>
            <a:srgbClr val="EDEDED"/>
          </a:solidFill>
          <a:ln w="12700">
            <a:solidFill>
              <a:srgbClr val="EDEDED"/>
            </a:solidFill>
            <a:prstDash val="solid"/>
          </a:ln>
        </p:spPr>
      </p:sp>
      <p:sp>
        <p:nvSpPr>
          <p:cNvPr id="9" name="sc1-l"/>
          <p:cNvSpPr txBox="1"/>
          <p:nvPr/>
        </p:nvSpPr>
        <p:spPr>
          <a:xfrm>
            <a:off x="3566160" y="450799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API KEYS</a:t>
            </a:r>
            <a:endParaRPr lang="en-US" sz="1000" dirty="0"/>
          </a:p>
        </p:txBody>
      </p:sp>
      <p:sp>
        <p:nvSpPr>
          <p:cNvPr id="10" name="sc1-v"/>
          <p:cNvSpPr txBox="1"/>
          <p:nvPr/>
        </p:nvSpPr>
        <p:spPr>
          <a:xfrm>
            <a:off x="3566160" y="4764024"/>
            <a:ext cx="2231136" cy="530352"/>
          </a:xfrm>
          <a:prstGeom prst="rect">
            <a:avLst/>
          </a:prstGeom>
          <a:noFill/>
          <a:ln/>
        </p:spPr>
        <p:txBody>
          <a:bodyPr wrap="square" lIns="0" tIns="0" rIns="0" bIns="0" rtlCol="0" anchor="ctr"/>
          <a:lstStyle/>
          <a:p>
            <a:pPr indent="0" marL="0">
              <a:buNone/>
            </a:pPr>
            <a:r>
              <a:rPr lang="en-US" sz="2200" b="1" dirty="0">
                <a:solidFill>
                  <a:srgbClr val="000000"/>
                </a:solidFill>
              </a:rPr>
              <a:t>None</a:t>
            </a:r>
            <a:endParaRPr lang="en-US" sz="2200" dirty="0"/>
          </a:p>
        </p:txBody>
      </p:sp>
      <p:sp>
        <p:nvSpPr>
          <p:cNvPr id="11" name="sc2"/>
          <p:cNvSpPr/>
          <p:nvPr/>
        </p:nvSpPr>
        <p:spPr>
          <a:xfrm>
            <a:off x="6181344" y="4343400"/>
            <a:ext cx="2633472" cy="1188720"/>
          </a:xfrm>
          <a:prstGeom prst="roundRect">
            <a:avLst>
              <a:gd name="adj" fmla="val 4615"/>
            </a:avLst>
          </a:prstGeom>
          <a:solidFill>
            <a:srgbClr val="EDEDED"/>
          </a:solidFill>
          <a:ln w="12700">
            <a:solidFill>
              <a:srgbClr val="EDEDED"/>
            </a:solidFill>
            <a:prstDash val="solid"/>
          </a:ln>
        </p:spPr>
      </p:sp>
      <p:sp>
        <p:nvSpPr>
          <p:cNvPr id="12" name="sc2-l"/>
          <p:cNvSpPr txBox="1"/>
          <p:nvPr/>
        </p:nvSpPr>
        <p:spPr>
          <a:xfrm>
            <a:off x="6382512" y="450799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TOTAL COST</a:t>
            </a:r>
            <a:endParaRPr lang="en-US" sz="1000" dirty="0"/>
          </a:p>
        </p:txBody>
      </p:sp>
      <p:sp>
        <p:nvSpPr>
          <p:cNvPr id="13" name="sc2-v"/>
          <p:cNvSpPr txBox="1"/>
          <p:nvPr/>
        </p:nvSpPr>
        <p:spPr>
          <a:xfrm>
            <a:off x="6382512" y="4764024"/>
            <a:ext cx="2231136" cy="530352"/>
          </a:xfrm>
          <a:prstGeom prst="rect">
            <a:avLst/>
          </a:prstGeom>
          <a:noFill/>
          <a:ln/>
        </p:spPr>
        <p:txBody>
          <a:bodyPr wrap="square" lIns="0" tIns="0" rIns="0" bIns="0" rtlCol="0" anchor="ctr"/>
          <a:lstStyle/>
          <a:p>
            <a:pPr indent="0" marL="0">
              <a:buNone/>
            </a:pPr>
            <a:r>
              <a:rPr lang="en-US" sz="2200" b="1" dirty="0">
                <a:solidFill>
                  <a:srgbClr val="E90802"/>
                </a:solidFill>
              </a:rPr>
              <a:t>$0</a:t>
            </a:r>
            <a:endParaRPr lang="en-US" sz="2200" dirty="0"/>
          </a:p>
        </p:txBody>
      </p:sp>
      <p:sp>
        <p:nvSpPr>
          <p:cNvPr id="14" name="sc3"/>
          <p:cNvSpPr/>
          <p:nvPr/>
        </p:nvSpPr>
        <p:spPr>
          <a:xfrm>
            <a:off x="8997696" y="4343400"/>
            <a:ext cx="2633472" cy="1188720"/>
          </a:xfrm>
          <a:prstGeom prst="roundRect">
            <a:avLst>
              <a:gd name="adj" fmla="val 4615"/>
            </a:avLst>
          </a:prstGeom>
          <a:solidFill>
            <a:srgbClr val="EDEDED"/>
          </a:solidFill>
          <a:ln w="12700">
            <a:solidFill>
              <a:srgbClr val="EDEDED"/>
            </a:solidFill>
            <a:prstDash val="solid"/>
          </a:ln>
        </p:spPr>
      </p:sp>
      <p:sp>
        <p:nvSpPr>
          <p:cNvPr id="15" name="sc3-l"/>
          <p:cNvSpPr txBox="1"/>
          <p:nvPr/>
        </p:nvSpPr>
        <p:spPr>
          <a:xfrm>
            <a:off x="9198864" y="450799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UNIT TESTS</a:t>
            </a:r>
            <a:endParaRPr lang="en-US" sz="1000" dirty="0"/>
          </a:p>
        </p:txBody>
      </p:sp>
      <p:sp>
        <p:nvSpPr>
          <p:cNvPr id="16" name="sc3-v"/>
          <p:cNvSpPr txBox="1"/>
          <p:nvPr/>
        </p:nvSpPr>
        <p:spPr>
          <a:xfrm>
            <a:off x="9198864" y="4764024"/>
            <a:ext cx="2231136" cy="530352"/>
          </a:xfrm>
          <a:prstGeom prst="rect">
            <a:avLst/>
          </a:prstGeom>
          <a:noFill/>
          <a:ln/>
        </p:spPr>
        <p:txBody>
          <a:bodyPr wrap="square" lIns="0" tIns="0" rIns="0" bIns="0" rtlCol="0" anchor="ctr"/>
          <a:lstStyle/>
          <a:p>
            <a:pPr indent="0" marL="0">
              <a:buNone/>
            </a:pPr>
            <a:r>
              <a:rPr lang="en-US" sz="2200" b="1" dirty="0">
                <a:solidFill>
                  <a:srgbClr val="000000"/>
                </a:solidFill>
              </a:rPr>
              <a:t>59 passing</a:t>
            </a:r>
            <a:endParaRPr lang="en-US" sz="2200" dirty="0"/>
          </a:p>
        </p:txBody>
      </p:sp>
      <p:sp>
        <p:nvSpPr>
          <p:cNvPr id="17"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All model names live in config.yaml; none is hard-coded. Backends: ollama, llama_cpp_server, llama_cpp_python.</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EXPERIMENTAL DESIGN</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One answer set, three model configurations</a:t>
            </a:r>
            <a:endParaRPr lang="en-US" sz="3000" dirty="0"/>
          </a:p>
        </p:txBody>
      </p:sp>
      <p:sp>
        <p:nvSpPr>
          <p:cNvPr id="4" name="gen-box"/>
          <p:cNvSpPr/>
          <p:nvPr/>
        </p:nvSpPr>
        <p:spPr>
          <a:xfrm>
            <a:off x="2377440" y="1188720"/>
            <a:ext cx="7406640" cy="512064"/>
          </a:xfrm>
          <a:prstGeom prst="roundRect">
            <a:avLst>
              <a:gd name="adj" fmla="val 50000"/>
            </a:avLst>
          </a:prstGeom>
          <a:solidFill>
            <a:srgbClr val="E90802"/>
          </a:solidFill>
          <a:ln w="12700">
            <a:solidFill>
              <a:srgbClr val="E90802"/>
            </a:solidFill>
            <a:prstDash val="solid"/>
          </a:ln>
        </p:spPr>
      </p:sp>
      <p:sp>
        <p:nvSpPr>
          <p:cNvPr id="5" name="gen-text"/>
          <p:cNvSpPr txBox="1"/>
          <p:nvPr/>
        </p:nvSpPr>
        <p:spPr>
          <a:xfrm>
            <a:off x="2377440" y="1188720"/>
            <a:ext cx="7406640"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Question → local LLM generates the answer ONCE → reused by every run</a:t>
            </a:r>
            <a:endParaRPr lang="en-US" sz="1400" dirty="0"/>
          </a:p>
        </p:txBody>
      </p:sp>
      <p:sp>
        <p:nvSpPr>
          <p:cNvPr id="6" name="base"/>
          <p:cNvSpPr/>
          <p:nvPr/>
        </p:nvSpPr>
        <p:spPr>
          <a:xfrm>
            <a:off x="548640" y="1874520"/>
            <a:ext cx="5440680" cy="1783080"/>
          </a:xfrm>
          <a:prstGeom prst="roundRect">
            <a:avLst>
              <a:gd name="adj" fmla="val 3077"/>
            </a:avLst>
          </a:prstGeom>
          <a:solidFill>
            <a:srgbClr val="333333"/>
          </a:solidFill>
          <a:ln w="12700">
            <a:solidFill>
              <a:srgbClr val="333333"/>
            </a:solidFill>
            <a:prstDash val="solid"/>
          </a:ln>
        </p:spPr>
      </p:sp>
      <p:sp>
        <p:nvSpPr>
          <p:cNvPr id="7" name="base-h"/>
          <p:cNvSpPr txBox="1"/>
          <p:nvPr/>
        </p:nvSpPr>
        <p:spPr>
          <a:xfrm>
            <a:off x="786384" y="2075688"/>
            <a:ext cx="4965192" cy="310896"/>
          </a:xfrm>
          <a:prstGeom prst="rect">
            <a:avLst/>
          </a:prstGeom>
          <a:noFill/>
          <a:ln/>
        </p:spPr>
        <p:txBody>
          <a:bodyPr wrap="square" lIns="0" tIns="0" rIns="0" bIns="0" rtlCol="0" anchor="ctr"/>
          <a:lstStyle/>
          <a:p>
            <a:pPr indent="0" marL="0">
              <a:buNone/>
            </a:pPr>
            <a:r>
              <a:rPr lang="en-US" sz="1500" b="1" dirty="0">
                <a:solidFill>
                  <a:srgbClr val="FFFFFF"/>
                </a:solidFill>
              </a:rPr>
              <a:t>Baseline — variant A</a:t>
            </a:r>
            <a:endParaRPr lang="en-US" sz="1500" dirty="0"/>
          </a:p>
        </p:txBody>
      </p:sp>
      <p:sp>
        <p:nvSpPr>
          <p:cNvPr id="8" name="base-b"/>
          <p:cNvSpPr txBox="1"/>
          <p:nvPr/>
        </p:nvSpPr>
        <p:spPr>
          <a:xfrm>
            <a:off x="786384" y="2459736"/>
            <a:ext cx="4965192" cy="1014984"/>
          </a:xfrm>
          <a:prstGeom prst="rect">
            <a:avLst/>
          </a:prstGeom>
          <a:noFill/>
          <a:ln/>
        </p:spPr>
        <p:txBody>
          <a:bodyPr wrap="square" lIns="0" tIns="0" rIns="0" bIns="0" rtlCol="0" anchor="t"/>
          <a:lstStyle/>
          <a:p>
            <a:pPr indent="0" marL="0">
              <a:lnSpc>
                <a:spcPct val="120000"/>
              </a:lnSpc>
              <a:buNone/>
            </a:pPr>
            <a:r>
              <a:rPr lang="en-US" sz="1400" dirty="0">
                <a:solidFill>
                  <a:srgbClr val="EDEDED"/>
                </a:solidFill>
                <a:latin typeface="Arial" pitchFamily="34" charset="0"/>
                <a:ea typeface="Arial" pitchFamily="34" charset="-122"/>
                <a:cs typeface="Arial" pitchFamily="34" charset="-120"/>
              </a:rPr>
              <a:t>SAFE-style extraction  →  retrieval and verification</a:t>
            </a:r>
            <a:endParaRPr lang="en-US" sz="1400" dirty="0"/>
          </a:p>
        </p:txBody>
      </p:sp>
      <p:sp>
        <p:nvSpPr>
          <p:cNvPr id="9" name="vfl"/>
          <p:cNvSpPr/>
          <p:nvPr/>
        </p:nvSpPr>
        <p:spPr>
          <a:xfrm>
            <a:off x="6172200" y="1874520"/>
            <a:ext cx="5440680" cy="1783080"/>
          </a:xfrm>
          <a:prstGeom prst="roundRect">
            <a:avLst>
              <a:gd name="adj" fmla="val 3077"/>
            </a:avLst>
          </a:prstGeom>
          <a:solidFill>
            <a:srgbClr val="333333"/>
          </a:solidFill>
          <a:ln w="19050">
            <a:solidFill>
              <a:srgbClr val="E90802"/>
            </a:solidFill>
            <a:prstDash val="solid"/>
          </a:ln>
        </p:spPr>
      </p:sp>
      <p:sp>
        <p:nvSpPr>
          <p:cNvPr id="10" name="vfl-h"/>
          <p:cNvSpPr txBox="1"/>
          <p:nvPr/>
        </p:nvSpPr>
        <p:spPr>
          <a:xfrm>
            <a:off x="6409944" y="2075688"/>
            <a:ext cx="4965192" cy="310896"/>
          </a:xfrm>
          <a:prstGeom prst="rect">
            <a:avLst/>
          </a:prstGeom>
          <a:noFill/>
          <a:ln/>
        </p:spPr>
        <p:txBody>
          <a:bodyPr wrap="square" lIns="0" tIns="0" rIns="0" bIns="0" rtlCol="0" anchor="ctr"/>
          <a:lstStyle/>
          <a:p>
            <a:pPr indent="0" marL="0">
              <a:buNone/>
            </a:pPr>
            <a:r>
              <a:rPr lang="en-US" sz="1500" b="1" dirty="0">
                <a:solidFill>
                  <a:srgbClr val="E90802"/>
                </a:solidFill>
              </a:rPr>
              <a:t>VERIFACT-Lite — variant D</a:t>
            </a:r>
            <a:endParaRPr lang="en-US" sz="1500" dirty="0"/>
          </a:p>
        </p:txBody>
      </p:sp>
      <p:sp>
        <p:nvSpPr>
          <p:cNvPr id="11" name="vfl-b"/>
          <p:cNvSpPr txBox="1"/>
          <p:nvPr/>
        </p:nvSpPr>
        <p:spPr>
          <a:xfrm>
            <a:off x="6409944" y="2459736"/>
            <a:ext cx="4965192" cy="1014984"/>
          </a:xfrm>
          <a:prstGeom prst="rect">
            <a:avLst/>
          </a:prstGeom>
          <a:noFill/>
          <a:ln/>
        </p:spPr>
        <p:txBody>
          <a:bodyPr wrap="square" lIns="0" tIns="0" rIns="0" bIns="0" rtlCol="0" anchor="t"/>
          <a:lstStyle/>
          <a:p>
            <a:pPr indent="0" marL="0">
              <a:lnSpc>
                <a:spcPct val="120000"/>
              </a:lnSpc>
              <a:buNone/>
            </a:pPr>
            <a:r>
              <a:rPr lang="en-US" sz="1400" dirty="0">
                <a:solidFill>
                  <a:srgbClr val="EDEDED"/>
                </a:solidFill>
                <a:latin typeface="Arial" pitchFamily="34" charset="0"/>
                <a:ea typeface="Arial" pitchFamily="34" charset="-122"/>
                <a:cs typeface="Arial" pitchFamily="34" charset="-120"/>
              </a:rPr>
              <a:t>The same facts  →  detect  →  refine and add  →  the same retrieval and verification</a:t>
            </a:r>
            <a:endParaRPr lang="en-US" sz="1400" dirty="0"/>
          </a:p>
        </p:txBody>
      </p:sp>
      <p:graphicFrame>
        <p:nvGraphicFramePr>
          <p:cNvPr id="6" name="configs"/>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2377440"/>
                <a:gridCol w="3017520"/>
                <a:gridCol w="3291840"/>
                <a:gridCol w="2377440"/>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Primary model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Judges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Hardware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8404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laptop-3B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Qwen2.5-3B + Llama-3.2-3B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GTX 1650, 4 GB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judges-7B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Qwen2.5-3B (unchanged)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Qwen2.5-7B + Llama-3.1-8B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Colab T4, 16 GB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8404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full-7B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Qwen2.5-7B + Llama-3.1-8B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Colab T4, 16 GB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1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judges-7B changes only the judges, so its baseline fact set is byte-identical to laptop-3B. full-7B changes four things at once.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THE MINI BENCHMARK</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12 questions chosen to contain the failure modes</a:t>
            </a:r>
            <a:endParaRPr lang="en-US" sz="3000" dirty="0"/>
          </a:p>
        </p:txBody>
      </p:sp>
      <p:sp>
        <p:nvSpPr>
          <p:cNvPr id="4" name="bm0"/>
          <p:cNvSpPr/>
          <p:nvPr/>
        </p:nvSpPr>
        <p:spPr>
          <a:xfrm>
            <a:off x="548640" y="1188720"/>
            <a:ext cx="3547872" cy="2103120"/>
          </a:xfrm>
          <a:prstGeom prst="roundRect">
            <a:avLst>
              <a:gd name="adj" fmla="val 2609"/>
            </a:avLst>
          </a:prstGeom>
          <a:solidFill>
            <a:srgbClr val="FFFFFF"/>
          </a:solidFill>
          <a:ln w="12700">
            <a:solidFill>
              <a:srgbClr val="EDEDED"/>
            </a:solidFill>
            <a:prstDash val="solid"/>
          </a:ln>
        </p:spPr>
      </p:sp>
      <p:sp>
        <p:nvSpPr>
          <p:cNvPr id="5" name="bm0-h"/>
          <p:cNvSpPr txBox="1"/>
          <p:nvPr/>
        </p:nvSpPr>
        <p:spPr>
          <a:xfrm>
            <a:off x="786384" y="1389888"/>
            <a:ext cx="3072384" cy="310896"/>
          </a:xfrm>
          <a:prstGeom prst="rect">
            <a:avLst/>
          </a:prstGeom>
          <a:noFill/>
          <a:ln/>
        </p:spPr>
        <p:txBody>
          <a:bodyPr wrap="square" lIns="0" tIns="0" rIns="0" bIns="0" rtlCol="0" anchor="ctr"/>
          <a:lstStyle/>
          <a:p>
            <a:pPr indent="0" marL="0">
              <a:buNone/>
            </a:pPr>
            <a:r>
              <a:rPr lang="en-US" sz="1500" b="1" dirty="0">
                <a:solidFill>
                  <a:srgbClr val="000000"/>
                </a:solidFill>
              </a:rPr>
              <a:t>Question design</a:t>
            </a:r>
            <a:endParaRPr lang="en-US" sz="1500" dirty="0"/>
          </a:p>
        </p:txBody>
      </p:sp>
      <p:sp>
        <p:nvSpPr>
          <p:cNvPr id="6" name="bm0-b"/>
          <p:cNvSpPr txBox="1"/>
          <p:nvPr/>
        </p:nvSpPr>
        <p:spPr>
          <a:xfrm>
            <a:off x="786384" y="1773936"/>
            <a:ext cx="3072384" cy="133502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Each prompt invites conditions, comparisons, event order or cause and effect. Gold and jewelry, aluminium vs silver, Chernobyl, Panama Canal, Concorde, sea ice.</a:t>
            </a:r>
            <a:endParaRPr lang="en-US" sz="1200" dirty="0"/>
          </a:p>
        </p:txBody>
      </p:sp>
      <p:sp>
        <p:nvSpPr>
          <p:cNvPr id="7" name="bm1"/>
          <p:cNvSpPr/>
          <p:nvPr/>
        </p:nvSpPr>
        <p:spPr>
          <a:xfrm>
            <a:off x="4279392" y="1188720"/>
            <a:ext cx="3547872" cy="2103120"/>
          </a:xfrm>
          <a:prstGeom prst="roundRect">
            <a:avLst>
              <a:gd name="adj" fmla="val 2609"/>
            </a:avLst>
          </a:prstGeom>
          <a:solidFill>
            <a:srgbClr val="FFFFFF"/>
          </a:solidFill>
          <a:ln w="12700">
            <a:solidFill>
              <a:srgbClr val="EDEDED"/>
            </a:solidFill>
            <a:prstDash val="solid"/>
          </a:ln>
        </p:spPr>
      </p:sp>
      <p:sp>
        <p:nvSpPr>
          <p:cNvPr id="8" name="bm1-h"/>
          <p:cNvSpPr txBox="1"/>
          <p:nvPr/>
        </p:nvSpPr>
        <p:spPr>
          <a:xfrm>
            <a:off x="4517136" y="1389888"/>
            <a:ext cx="3072384" cy="310896"/>
          </a:xfrm>
          <a:prstGeom prst="rect">
            <a:avLst/>
          </a:prstGeom>
          <a:noFill/>
          <a:ln/>
        </p:spPr>
        <p:txBody>
          <a:bodyPr wrap="square" lIns="0" tIns="0" rIns="0" bIns="0" rtlCol="0" anchor="ctr"/>
          <a:lstStyle/>
          <a:p>
            <a:pPr indent="0" marL="0">
              <a:buNone/>
            </a:pPr>
            <a:r>
              <a:rPr lang="en-US" sz="1500" b="1" dirty="0">
                <a:solidFill>
                  <a:srgbClr val="000000"/>
                </a:solidFill>
              </a:rPr>
              <a:t>Reference facts</a:t>
            </a:r>
            <a:endParaRPr lang="en-US" sz="1500" dirty="0"/>
          </a:p>
        </p:txBody>
      </p:sp>
      <p:sp>
        <p:nvSpPr>
          <p:cNvPr id="9" name="bm1-b"/>
          <p:cNvSpPr txBox="1"/>
          <p:nvPr/>
        </p:nvSpPr>
        <p:spPr>
          <a:xfrm>
            <a:off x="4517136" y="1773936"/>
            <a:ext cx="3072384" cy="133502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86 facts, 3–8 per question, written by hand from authoritative sources and not derived from the answer being evaluated. Sources recorded in the JSONL.</a:t>
            </a:r>
            <a:endParaRPr lang="en-US" sz="1200" dirty="0"/>
          </a:p>
        </p:txBody>
      </p:sp>
      <p:sp>
        <p:nvSpPr>
          <p:cNvPr id="10" name="bm2"/>
          <p:cNvSpPr/>
          <p:nvPr/>
        </p:nvSpPr>
        <p:spPr>
          <a:xfrm>
            <a:off x="8010144" y="1188720"/>
            <a:ext cx="3547872" cy="2103120"/>
          </a:xfrm>
          <a:prstGeom prst="roundRect">
            <a:avLst>
              <a:gd name="adj" fmla="val 2609"/>
            </a:avLst>
          </a:prstGeom>
          <a:solidFill>
            <a:srgbClr val="FFFFFF"/>
          </a:solidFill>
          <a:ln w="12700">
            <a:solidFill>
              <a:srgbClr val="EDEDED"/>
            </a:solidFill>
            <a:prstDash val="solid"/>
          </a:ln>
        </p:spPr>
      </p:sp>
      <p:sp>
        <p:nvSpPr>
          <p:cNvPr id="11" name="bm2-h"/>
          <p:cNvSpPr txBox="1"/>
          <p:nvPr/>
        </p:nvSpPr>
        <p:spPr>
          <a:xfrm>
            <a:off x="8247888" y="1389888"/>
            <a:ext cx="3072384" cy="310896"/>
          </a:xfrm>
          <a:prstGeom prst="rect">
            <a:avLst/>
          </a:prstGeom>
          <a:noFill/>
          <a:ln/>
        </p:spPr>
        <p:txBody>
          <a:bodyPr wrap="square" lIns="0" tIns="0" rIns="0" bIns="0" rtlCol="0" anchor="ctr"/>
          <a:lstStyle/>
          <a:p>
            <a:pPr indent="0" marL="0">
              <a:buNone/>
            </a:pPr>
            <a:r>
              <a:rPr lang="en-US" sz="1500" b="1" dirty="0">
                <a:solidFill>
                  <a:srgbClr val="000000"/>
                </a:solidFill>
              </a:rPr>
              <a:t>Answers</a:t>
            </a:r>
            <a:endParaRPr lang="en-US" sz="1500" dirty="0"/>
          </a:p>
        </p:txBody>
      </p:sp>
      <p:sp>
        <p:nvSpPr>
          <p:cNvPr id="12" name="bm2-b"/>
          <p:cNvSpPr txBox="1"/>
          <p:nvPr/>
        </p:nvSpPr>
        <p:spPr>
          <a:xfrm>
            <a:off x="8247888" y="1773936"/>
            <a:ext cx="3072384" cy="133502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One paragraph per question from Qwen2.5-3B, generated once and shared by all three runs — verified byte-identical.</a:t>
            </a:r>
            <a:endParaRPr lang="en-US" sz="1200" dirty="0"/>
          </a:p>
        </p:txBody>
      </p:sp>
      <p:sp>
        <p:nvSpPr>
          <p:cNvPr id="13" name="met0"/>
          <p:cNvSpPr/>
          <p:nvPr/>
        </p:nvSpPr>
        <p:spPr>
          <a:xfrm>
            <a:off x="548640" y="3520440"/>
            <a:ext cx="3547872" cy="2240280"/>
          </a:xfrm>
          <a:prstGeom prst="roundRect">
            <a:avLst>
              <a:gd name="adj" fmla="val 2449"/>
            </a:avLst>
          </a:prstGeom>
          <a:solidFill>
            <a:srgbClr val="000000"/>
          </a:solidFill>
          <a:ln w="12700">
            <a:solidFill>
              <a:srgbClr val="000000"/>
            </a:solidFill>
            <a:prstDash val="solid"/>
          </a:ln>
        </p:spPr>
      </p:sp>
      <p:sp>
        <p:nvSpPr>
          <p:cNvPr id="14" name="met0-h"/>
          <p:cNvSpPr txBox="1"/>
          <p:nvPr/>
        </p:nvSpPr>
        <p:spPr>
          <a:xfrm>
            <a:off x="786384" y="3721608"/>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Precision</a:t>
            </a:r>
            <a:endParaRPr lang="en-US" sz="1500" dirty="0"/>
          </a:p>
        </p:txBody>
      </p:sp>
      <p:sp>
        <p:nvSpPr>
          <p:cNvPr id="15" name="met0-b"/>
          <p:cNvSpPr txBox="1"/>
          <p:nvPr/>
        </p:nvSpPr>
        <p:spPr>
          <a:xfrm>
            <a:off x="786384" y="4105656"/>
            <a:ext cx="3072384" cy="147218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Supported facts ÷ all extracted facts. Undecided is reported separately and never counted as support.</a:t>
            </a:r>
            <a:endParaRPr lang="en-US" sz="1200" dirty="0"/>
          </a:p>
        </p:txBody>
      </p:sp>
      <p:sp>
        <p:nvSpPr>
          <p:cNvPr id="16" name="met1"/>
          <p:cNvSpPr/>
          <p:nvPr/>
        </p:nvSpPr>
        <p:spPr>
          <a:xfrm>
            <a:off x="4279392" y="3520440"/>
            <a:ext cx="3547872" cy="2240280"/>
          </a:xfrm>
          <a:prstGeom prst="roundRect">
            <a:avLst>
              <a:gd name="adj" fmla="val 2449"/>
            </a:avLst>
          </a:prstGeom>
          <a:solidFill>
            <a:srgbClr val="000000"/>
          </a:solidFill>
          <a:ln w="12700">
            <a:solidFill>
              <a:srgbClr val="000000"/>
            </a:solidFill>
            <a:prstDash val="solid"/>
          </a:ln>
        </p:spPr>
      </p:sp>
      <p:sp>
        <p:nvSpPr>
          <p:cNvPr id="17" name="met1-h"/>
          <p:cNvSpPr txBox="1"/>
          <p:nvPr/>
        </p:nvSpPr>
        <p:spPr>
          <a:xfrm>
            <a:off x="4517136" y="3721608"/>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Recall</a:t>
            </a:r>
            <a:endParaRPr lang="en-US" sz="1500" dirty="0"/>
          </a:p>
        </p:txBody>
      </p:sp>
      <p:sp>
        <p:nvSpPr>
          <p:cNvPr id="18" name="met1-b"/>
          <p:cNvSpPr txBox="1"/>
          <p:nvPr/>
        </p:nvSpPr>
        <p:spPr>
          <a:xfrm>
            <a:off x="4517136" y="4105656"/>
            <a:ext cx="3072384" cy="147218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Reference facts entailed by the answer ÷ all reference facts. It scores the answer, so refinement cannot move it.</a:t>
            </a:r>
            <a:endParaRPr lang="en-US" sz="1200" dirty="0"/>
          </a:p>
        </p:txBody>
      </p:sp>
      <p:sp>
        <p:nvSpPr>
          <p:cNvPr id="19" name="met2"/>
          <p:cNvSpPr/>
          <p:nvPr/>
        </p:nvSpPr>
        <p:spPr>
          <a:xfrm>
            <a:off x="8010144" y="3520440"/>
            <a:ext cx="3547872" cy="2240280"/>
          </a:xfrm>
          <a:prstGeom prst="roundRect">
            <a:avLst>
              <a:gd name="adj" fmla="val 2449"/>
            </a:avLst>
          </a:prstGeom>
          <a:solidFill>
            <a:srgbClr val="000000"/>
          </a:solidFill>
          <a:ln w="12700">
            <a:solidFill>
              <a:srgbClr val="000000"/>
            </a:solidFill>
            <a:prstDash val="solid"/>
          </a:ln>
        </p:spPr>
      </p:sp>
      <p:sp>
        <p:nvSpPr>
          <p:cNvPr id="20" name="met2-h"/>
          <p:cNvSpPr txBox="1"/>
          <p:nvPr/>
        </p:nvSpPr>
        <p:spPr>
          <a:xfrm>
            <a:off x="8247888" y="3721608"/>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Incomplete rate</a:t>
            </a:r>
            <a:endParaRPr lang="en-US" sz="1500" dirty="0"/>
          </a:p>
        </p:txBody>
      </p:sp>
      <p:sp>
        <p:nvSpPr>
          <p:cNvPr id="21" name="met2-b"/>
          <p:cNvSpPr txBox="1"/>
          <p:nvPr/>
        </p:nvSpPr>
        <p:spPr>
          <a:xfrm>
            <a:off x="8247888" y="4105656"/>
            <a:ext cx="3072384" cy="147218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Measured by one designated judge, while refinement is driven by the ensemble — facts are not scored by the rule that selected them.</a:t>
            </a:r>
            <a:endParaRPr lang="en-US" sz="1200" dirty="0"/>
          </a:p>
        </p:txBody>
      </p:sp>
      <p:sp>
        <p:nvSpPr>
          <p:cNvPr id="22"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A 12-question benchmark cannot support the paper's conclusions; it can show whether the mechanism behaves as described.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RESULT 1 — BASELINE VS VERIFACT-LITE, LAPTOP 3B</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Extraction improves. Precision falls.</a:t>
            </a:r>
            <a:endParaRPr lang="en-US" sz="3000" dirty="0"/>
          </a:p>
        </p:txBody>
      </p:sp>
      <p:sp>
        <p:nvSpPr>
          <p:cNvPr id="4" name="h1"/>
          <p:cNvSpPr/>
          <p:nvPr/>
        </p:nvSpPr>
        <p:spPr>
          <a:xfrm>
            <a:off x="548640" y="1188720"/>
            <a:ext cx="2633472" cy="1371600"/>
          </a:xfrm>
          <a:prstGeom prst="roundRect">
            <a:avLst>
              <a:gd name="adj" fmla="val 4000"/>
            </a:avLst>
          </a:prstGeom>
          <a:solidFill>
            <a:srgbClr val="EDEDED"/>
          </a:solidFill>
          <a:ln w="12700">
            <a:solidFill>
              <a:srgbClr val="EDEDED"/>
            </a:solidFill>
            <a:prstDash val="solid"/>
          </a:ln>
        </p:spPr>
      </p:sp>
      <p:sp>
        <p:nvSpPr>
          <p:cNvPr id="5" name="h1-l"/>
          <p:cNvSpPr txBox="1"/>
          <p:nvPr/>
        </p:nvSpPr>
        <p:spPr>
          <a:xfrm>
            <a:off x="749808" y="135331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INCOMPLETE FACT RATE</a:t>
            </a:r>
            <a:endParaRPr lang="en-US" sz="1000" dirty="0"/>
          </a:p>
        </p:txBody>
      </p:sp>
      <p:sp>
        <p:nvSpPr>
          <p:cNvPr id="6" name="h1-v"/>
          <p:cNvSpPr txBox="1"/>
          <p:nvPr/>
        </p:nvSpPr>
        <p:spPr>
          <a:xfrm>
            <a:off x="749808" y="160934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0.105 → 0.091</a:t>
            </a:r>
            <a:endParaRPr lang="en-US" sz="2000" dirty="0"/>
          </a:p>
        </p:txBody>
      </p:sp>
      <p:sp>
        <p:nvSpPr>
          <p:cNvPr id="7" name="h1-f"/>
          <p:cNvSpPr txBox="1"/>
          <p:nvPr/>
        </p:nvSpPr>
        <p:spPr>
          <a:xfrm>
            <a:off x="749808" y="2176272"/>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−12.8%</a:t>
            </a:r>
            <a:endParaRPr lang="en-US" sz="1100" dirty="0"/>
          </a:p>
        </p:txBody>
      </p:sp>
      <p:sp>
        <p:nvSpPr>
          <p:cNvPr id="8" name="h2"/>
          <p:cNvSpPr/>
          <p:nvPr/>
        </p:nvSpPr>
        <p:spPr>
          <a:xfrm>
            <a:off x="3364992" y="1188720"/>
            <a:ext cx="2633472" cy="1371600"/>
          </a:xfrm>
          <a:prstGeom prst="roundRect">
            <a:avLst>
              <a:gd name="adj" fmla="val 4000"/>
            </a:avLst>
          </a:prstGeom>
          <a:solidFill>
            <a:srgbClr val="EDEDED"/>
          </a:solidFill>
          <a:ln w="12700">
            <a:solidFill>
              <a:srgbClr val="EDEDED"/>
            </a:solidFill>
            <a:prstDash val="solid"/>
          </a:ln>
        </p:spPr>
      </p:sp>
      <p:sp>
        <p:nvSpPr>
          <p:cNvPr id="9" name="h2-l"/>
          <p:cNvSpPr txBox="1"/>
          <p:nvPr/>
        </p:nvSpPr>
        <p:spPr>
          <a:xfrm>
            <a:off x="3566160" y="135331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MISSING RELATIONAL FACTS</a:t>
            </a:r>
            <a:endParaRPr lang="en-US" sz="1000" dirty="0"/>
          </a:p>
        </p:txBody>
      </p:sp>
      <p:sp>
        <p:nvSpPr>
          <p:cNvPr id="10" name="h2-v"/>
          <p:cNvSpPr txBox="1"/>
          <p:nvPr/>
        </p:nvSpPr>
        <p:spPr>
          <a:xfrm>
            <a:off x="3566160" y="160934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51 → 0</a:t>
            </a:r>
            <a:endParaRPr lang="en-US" sz="2000" dirty="0"/>
          </a:p>
        </p:txBody>
      </p:sp>
      <p:sp>
        <p:nvSpPr>
          <p:cNvPr id="11" name="h2-f"/>
          <p:cNvSpPr txBox="1"/>
          <p:nvPr/>
        </p:nvSpPr>
        <p:spPr>
          <a:xfrm>
            <a:off x="3566160" y="2176272"/>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all recovered</a:t>
            </a:r>
            <a:endParaRPr lang="en-US" sz="1100" dirty="0"/>
          </a:p>
        </p:txBody>
      </p:sp>
      <p:sp>
        <p:nvSpPr>
          <p:cNvPr id="12" name="h3"/>
          <p:cNvSpPr/>
          <p:nvPr/>
        </p:nvSpPr>
        <p:spPr>
          <a:xfrm>
            <a:off x="6181344" y="1188720"/>
            <a:ext cx="2633472" cy="1371600"/>
          </a:xfrm>
          <a:prstGeom prst="roundRect">
            <a:avLst>
              <a:gd name="adj" fmla="val 4000"/>
            </a:avLst>
          </a:prstGeom>
          <a:solidFill>
            <a:srgbClr val="EDEDED"/>
          </a:solidFill>
          <a:ln w="12700">
            <a:solidFill>
              <a:srgbClr val="EDEDED"/>
            </a:solidFill>
            <a:prstDash val="solid"/>
          </a:ln>
        </p:spPr>
      </p:sp>
      <p:sp>
        <p:nvSpPr>
          <p:cNvPr id="13" name="h3-l"/>
          <p:cNvSpPr txBox="1"/>
          <p:nvPr/>
        </p:nvSpPr>
        <p:spPr>
          <a:xfrm>
            <a:off x="6382512" y="135331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PRECISION</a:t>
            </a:r>
            <a:endParaRPr lang="en-US" sz="1000" dirty="0"/>
          </a:p>
        </p:txBody>
      </p:sp>
      <p:sp>
        <p:nvSpPr>
          <p:cNvPr id="14" name="h3-v"/>
          <p:cNvSpPr txBox="1"/>
          <p:nvPr/>
        </p:nvSpPr>
        <p:spPr>
          <a:xfrm>
            <a:off x="6382512" y="160934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0.420 → 0.343</a:t>
            </a:r>
            <a:endParaRPr lang="en-US" sz="2000" dirty="0"/>
          </a:p>
        </p:txBody>
      </p:sp>
      <p:sp>
        <p:nvSpPr>
          <p:cNvPr id="15" name="h3-f"/>
          <p:cNvSpPr txBox="1"/>
          <p:nvPr/>
        </p:nvSpPr>
        <p:spPr>
          <a:xfrm>
            <a:off x="6382512" y="2176272"/>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−0.077</a:t>
            </a:r>
            <a:endParaRPr lang="en-US" sz="1100" dirty="0"/>
          </a:p>
        </p:txBody>
      </p:sp>
      <p:sp>
        <p:nvSpPr>
          <p:cNvPr id="16" name="h4"/>
          <p:cNvSpPr/>
          <p:nvPr/>
        </p:nvSpPr>
        <p:spPr>
          <a:xfrm>
            <a:off x="8997696" y="1188720"/>
            <a:ext cx="2633472" cy="1371600"/>
          </a:xfrm>
          <a:prstGeom prst="roundRect">
            <a:avLst>
              <a:gd name="adj" fmla="val 4000"/>
            </a:avLst>
          </a:prstGeom>
          <a:solidFill>
            <a:srgbClr val="EDEDED"/>
          </a:solidFill>
          <a:ln w="12700">
            <a:solidFill>
              <a:srgbClr val="EDEDED"/>
            </a:solidFill>
            <a:prstDash val="solid"/>
          </a:ln>
        </p:spPr>
      </p:sp>
      <p:sp>
        <p:nvSpPr>
          <p:cNvPr id="17" name="h4-l"/>
          <p:cNvSpPr txBox="1"/>
          <p:nvPr/>
        </p:nvSpPr>
        <p:spPr>
          <a:xfrm>
            <a:off x="9198864" y="135331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RECALL · F1</a:t>
            </a:r>
            <a:endParaRPr lang="en-US" sz="1000" dirty="0"/>
          </a:p>
        </p:txBody>
      </p:sp>
      <p:sp>
        <p:nvSpPr>
          <p:cNvPr id="18" name="h4-v"/>
          <p:cNvSpPr txBox="1"/>
          <p:nvPr/>
        </p:nvSpPr>
        <p:spPr>
          <a:xfrm>
            <a:off x="9198864" y="160934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0.408 · 0.372</a:t>
            </a:r>
            <a:endParaRPr lang="en-US" sz="2000" dirty="0"/>
          </a:p>
        </p:txBody>
      </p:sp>
      <p:sp>
        <p:nvSpPr>
          <p:cNvPr id="19" name="h4-f"/>
          <p:cNvSpPr txBox="1"/>
          <p:nvPr/>
        </p:nvSpPr>
        <p:spPr>
          <a:xfrm>
            <a:off x="9198864" y="217627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recall fixed by design</a:t>
            </a:r>
            <a:endParaRPr lang="en-US" sz="1100" dirty="0"/>
          </a:p>
        </p:txBody>
      </p:sp>
      <p:graphicFrame>
        <p:nvGraphicFramePr>
          <p:cNvPr id="20" name="chart-prf" descr=""/>
          <p:cNvGraphicFramePr/>
          <p:nvPr/>
        </p:nvGraphicFramePr>
        <p:xfrm>
          <a:off x="548640" y="2743200"/>
          <a:ext cx="5486400" cy="3108960"/>
        </p:xfrm>
        <a:graphic xmlns:a="http://schemas.openxmlformats.org/drawingml/2006/main">
          <a:graphicData uri="http://schemas.openxmlformats.org/drawingml/2006/chart">
            <c:chart xmlns:c="http://schemas.openxmlformats.org/drawingml/2006/chart" r:id="rId1"/>
          </a:graphicData>
        </a:graphic>
      </p:graphicFrame>
      <p:sp>
        <p:nvSpPr>
          <p:cNvPr id="21" name="where"/>
          <p:cNvSpPr/>
          <p:nvPr/>
        </p:nvSpPr>
        <p:spPr>
          <a:xfrm>
            <a:off x="6355080" y="2743200"/>
            <a:ext cx="5257800" cy="3108960"/>
          </a:xfrm>
          <a:prstGeom prst="roundRect">
            <a:avLst>
              <a:gd name="adj" fmla="val 1765"/>
            </a:avLst>
          </a:prstGeom>
          <a:solidFill>
            <a:srgbClr val="000000"/>
          </a:solidFill>
          <a:ln w="12700">
            <a:solidFill>
              <a:srgbClr val="000000"/>
            </a:solidFill>
            <a:prstDash val="solid"/>
          </a:ln>
        </p:spPr>
      </p:sp>
      <p:sp>
        <p:nvSpPr>
          <p:cNvPr id="22" name="where-h"/>
          <p:cNvSpPr txBox="1"/>
          <p:nvPr/>
        </p:nvSpPr>
        <p:spPr>
          <a:xfrm>
            <a:off x="6592824" y="294436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Where the precision went</a:t>
            </a:r>
            <a:endParaRPr lang="en-US" sz="1500" dirty="0"/>
          </a:p>
        </p:txBody>
      </p:sp>
      <p:sp>
        <p:nvSpPr>
          <p:cNvPr id="23" name="where-b"/>
          <p:cNvSpPr txBox="1"/>
          <p:nvPr/>
        </p:nvSpPr>
        <p:spPr>
          <a:xfrm>
            <a:off x="6592824" y="3328416"/>
            <a:ext cx="4782312" cy="234086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Supported 109 → 108.  Contradicted 3 → 3.  Undecided 146 → 185.</a:t>
            </a:r>
            <a:endParaRPr lang="en-US" sz="1300" dirty="0"/>
          </a:p>
          <a:p>
            <a:pPr indent="0" marL="0">
              <a:lnSpc>
                <a:spcPct val="120000"/>
              </a:lnSpc>
              <a:buNone/>
            </a:pP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Refined claims carry their condition or comparison target, so one Wikipedia sentence has to support more — and often none does.</a:t>
            </a:r>
            <a:endParaRPr lang="en-US" sz="1300" dirty="0"/>
          </a:p>
          <a:p>
            <a:pPr indent="0" marL="0">
              <a:lnSpc>
                <a:spcPct val="120000"/>
              </a:lnSpc>
              <a:buNone/>
            </a:pP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Of the claims the verifier could decide, 97.3% were supported both before and after.</a:t>
            </a:r>
            <a:endParaRPr lang="en-US" sz="1300" dirty="0"/>
          </a:p>
        </p:txBody>
      </p:sp>
      <p:sp>
        <p:nvSpPr>
          <p:cNvPr id="24"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Same answers, same retrieval, same verifier — only refinement differs. 163 facts refined, 51 added.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RESULT 2 — ABLATION, LAPTOP 3B</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Each mechanism moves the metric it targets</a:t>
            </a:r>
            <a:endParaRPr lang="en-US" sz="3000" dirty="0"/>
          </a:p>
        </p:txBody>
      </p:sp>
      <p:graphicFrame>
        <p:nvGraphicFramePr>
          <p:cNvPr id="9" name="abl"/>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383280"/>
                <a:gridCol w="1737360"/>
                <a:gridCol w="1463040"/>
                <a:gridCol w="1554480"/>
                <a:gridCol w="1463040"/>
                <a:gridCol w="1463040"/>
              </a:tblGrid>
              <a:tr h="420624">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System</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Incomplete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Missing</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Precision</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Recall</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F1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A  Baseline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0.105</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51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0.4200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0.4138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B  + incomplete refine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0.078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51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0.3680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0.3868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C  + missing relation</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0.113</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0.3839</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0.3954</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D  Full VERIFACT-Lite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b="1" dirty="0">
                          <a:solidFill>
                            <a:srgbClr val="E90802"/>
                          </a:solidFill>
                          <a:latin typeface="Arial" pitchFamily="34" charset="0"/>
                          <a:ea typeface="Arial" pitchFamily="34" charset="-122"/>
                          <a:cs typeface="Arial" pitchFamily="34" charset="-120"/>
                        </a:rPr>
                        <a:t>0.091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b="1" dirty="0">
                          <a:solidFill>
                            <a:srgbClr val="E90802"/>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0.3426</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0.3723</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5" name="abl0"/>
          <p:cNvSpPr/>
          <p:nvPr/>
        </p:nvSpPr>
        <p:spPr>
          <a:xfrm>
            <a:off x="548640" y="3291840"/>
            <a:ext cx="3547872" cy="1737360"/>
          </a:xfrm>
          <a:prstGeom prst="roundRect">
            <a:avLst>
              <a:gd name="adj" fmla="val 3158"/>
            </a:avLst>
          </a:prstGeom>
          <a:solidFill>
            <a:srgbClr val="EDEDED"/>
          </a:solidFill>
          <a:ln w="12700">
            <a:solidFill>
              <a:srgbClr val="EDEDED"/>
            </a:solidFill>
            <a:prstDash val="solid"/>
          </a:ln>
        </p:spPr>
      </p:sp>
      <p:sp>
        <p:nvSpPr>
          <p:cNvPr id="6" name="abl0-h"/>
          <p:cNvSpPr txBox="1"/>
          <p:nvPr/>
        </p:nvSpPr>
        <p:spPr>
          <a:xfrm>
            <a:off x="786384" y="349300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B isolates the refiner</a:t>
            </a:r>
            <a:endParaRPr lang="en-US" sz="1400" dirty="0"/>
          </a:p>
        </p:txBody>
      </p:sp>
      <p:sp>
        <p:nvSpPr>
          <p:cNvPr id="7" name="abl0-b"/>
          <p:cNvSpPr txBox="1"/>
          <p:nvPr/>
        </p:nvSpPr>
        <p:spPr>
          <a:xfrm>
            <a:off x="786384" y="3877056"/>
            <a:ext cx="3072384"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Incomplete rate drops 0.105 → 0.078, the largest single gain, and precision falls with it.</a:t>
            </a:r>
            <a:endParaRPr lang="en-US" sz="1200" dirty="0"/>
          </a:p>
        </p:txBody>
      </p:sp>
      <p:sp>
        <p:nvSpPr>
          <p:cNvPr id="8" name="abl1"/>
          <p:cNvSpPr/>
          <p:nvPr/>
        </p:nvSpPr>
        <p:spPr>
          <a:xfrm>
            <a:off x="4279392" y="3291840"/>
            <a:ext cx="3547872" cy="1737360"/>
          </a:xfrm>
          <a:prstGeom prst="roundRect">
            <a:avLst>
              <a:gd name="adj" fmla="val 3158"/>
            </a:avLst>
          </a:prstGeom>
          <a:solidFill>
            <a:srgbClr val="EDEDED"/>
          </a:solidFill>
          <a:ln w="12700">
            <a:solidFill>
              <a:srgbClr val="EDEDED"/>
            </a:solidFill>
            <a:prstDash val="solid"/>
          </a:ln>
        </p:spPr>
      </p:sp>
      <p:sp>
        <p:nvSpPr>
          <p:cNvPr id="9" name="abl1-h"/>
          <p:cNvSpPr txBox="1"/>
          <p:nvPr/>
        </p:nvSpPr>
        <p:spPr>
          <a:xfrm>
            <a:off x="4517136" y="349300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C isolates relation recovery</a:t>
            </a:r>
            <a:endParaRPr lang="en-US" sz="1400" dirty="0"/>
          </a:p>
        </p:txBody>
      </p:sp>
      <p:sp>
        <p:nvSpPr>
          <p:cNvPr id="10" name="abl1-b"/>
          <p:cNvSpPr txBox="1"/>
          <p:nvPr/>
        </p:nvSpPr>
        <p:spPr>
          <a:xfrm>
            <a:off x="4517136" y="3877056"/>
            <a:ext cx="3072384"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All 51 missing relations become facts. The incomplete rate ticks up because the new facts are judged too.</a:t>
            </a:r>
            <a:endParaRPr lang="en-US" sz="1200" dirty="0"/>
          </a:p>
        </p:txBody>
      </p:sp>
      <p:sp>
        <p:nvSpPr>
          <p:cNvPr id="11" name="abl2"/>
          <p:cNvSpPr/>
          <p:nvPr/>
        </p:nvSpPr>
        <p:spPr>
          <a:xfrm>
            <a:off x="8010144" y="3291840"/>
            <a:ext cx="3547872" cy="1737360"/>
          </a:xfrm>
          <a:prstGeom prst="roundRect">
            <a:avLst>
              <a:gd name="adj" fmla="val 3158"/>
            </a:avLst>
          </a:prstGeom>
          <a:solidFill>
            <a:srgbClr val="EDEDED"/>
          </a:solidFill>
          <a:ln w="12700">
            <a:solidFill>
              <a:srgbClr val="EDEDED"/>
            </a:solidFill>
            <a:prstDash val="solid"/>
          </a:ln>
        </p:spPr>
      </p:sp>
      <p:sp>
        <p:nvSpPr>
          <p:cNvPr id="12" name="abl2-h"/>
          <p:cNvSpPr txBox="1"/>
          <p:nvPr/>
        </p:nvSpPr>
        <p:spPr>
          <a:xfrm>
            <a:off x="8247888" y="349300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The effects are additive</a:t>
            </a:r>
            <a:endParaRPr lang="en-US" sz="1400" dirty="0"/>
          </a:p>
        </p:txBody>
      </p:sp>
      <p:sp>
        <p:nvSpPr>
          <p:cNvPr id="13" name="abl2-b"/>
          <p:cNvSpPr txBox="1"/>
          <p:nvPr/>
        </p:nvSpPr>
        <p:spPr>
          <a:xfrm>
            <a:off x="8247888" y="3877056"/>
            <a:ext cx="3072384"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D inherits B's lower incomplete rate and C's zero missing relations — and both precision costs.</a:t>
            </a:r>
            <a:endParaRPr lang="en-US" sz="1200" dirty="0"/>
          </a:p>
        </p:txBody>
      </p:sp>
      <p:sp>
        <p:nvSpPr>
          <p:cNvPr id="14"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All four variants scored on one identical answer set, union ensemble, as in the paper.</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RESULT 3 — WE RE-RAN EVERYTHING WITH 7–8B JUDGES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The metrics measure the judge as much as the system</a:t>
            </a:r>
            <a:endParaRPr lang="en-US" sz="3000" dirty="0"/>
          </a:p>
        </p:txBody>
      </p:sp>
      <p:graphicFrame>
        <p:nvGraphicFramePr>
          <p:cNvPr id="10" name="instrument"/>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4846320"/>
                <a:gridCol w="2103120"/>
                <a:gridCol w="2103120"/>
                <a:gridCol w="2011680"/>
              </a:tblGrid>
              <a:tr h="420624">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Measured on identical input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3B judge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7B judge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Paper</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Incomplete rate — the same baseline facts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0.105</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E90802"/>
                          </a:solidFill>
                          <a:latin typeface="Arial" pitchFamily="34" charset="0"/>
                          <a:ea typeface="Arial" pitchFamily="34" charset="-122"/>
                          <a:cs typeface="Arial" pitchFamily="34" charset="-120"/>
                        </a:rPr>
                        <a:t>0.438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0.567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Recall — the same answers, same 86 reference facts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b="1" dirty="0">
                          <a:solidFill>
                            <a:srgbClr val="E90802"/>
                          </a:solidFill>
                          <a:latin typeface="Arial" pitchFamily="34" charset="0"/>
                          <a:ea typeface="Arial" pitchFamily="34" charset="-122"/>
                          <a:cs typeface="Arial" pitchFamily="34" charset="-120"/>
                        </a:rPr>
                        <a:t>0.2812</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Coverage behind that recall</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35 / 86</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E90802"/>
                          </a:solidFill>
                          <a:latin typeface="Arial" pitchFamily="34" charset="0"/>
                          <a:ea typeface="Arial" pitchFamily="34" charset="-122"/>
                          <a:cs typeface="Arial" pitchFamily="34" charset="-120"/>
                        </a:rPr>
                        <a:t>24 / 86</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5" name="insight"/>
          <p:cNvSpPr/>
          <p:nvPr/>
        </p:nvSpPr>
        <p:spPr>
          <a:xfrm>
            <a:off x="548640" y="2971800"/>
            <a:ext cx="6949440" cy="1828800"/>
          </a:xfrm>
          <a:prstGeom prst="roundRect">
            <a:avLst>
              <a:gd name="adj" fmla="val 3000"/>
            </a:avLst>
          </a:prstGeom>
          <a:solidFill>
            <a:srgbClr val="333333"/>
          </a:solidFill>
          <a:ln w="19050">
            <a:solidFill>
              <a:srgbClr val="E90802"/>
            </a:solidFill>
            <a:prstDash val="solid"/>
          </a:ln>
        </p:spPr>
      </p:sp>
      <p:sp>
        <p:nvSpPr>
          <p:cNvPr id="6" name="insight-h"/>
          <p:cNvSpPr txBox="1"/>
          <p:nvPr/>
        </p:nvSpPr>
        <p:spPr>
          <a:xfrm>
            <a:off x="786384" y="3172968"/>
            <a:ext cx="6473952" cy="310896"/>
          </a:xfrm>
          <a:prstGeom prst="rect">
            <a:avLst/>
          </a:prstGeom>
          <a:noFill/>
          <a:ln/>
        </p:spPr>
        <p:txBody>
          <a:bodyPr wrap="square" lIns="0" tIns="0" rIns="0" bIns="0" rtlCol="0" anchor="ctr"/>
          <a:lstStyle/>
          <a:p>
            <a:pPr indent="0" marL="0">
              <a:buNone/>
            </a:pPr>
            <a:r>
              <a:rPr lang="en-US" sz="1500" b="1" dirty="0">
                <a:solidFill>
                  <a:srgbClr val="E90802"/>
                </a:solidFill>
              </a:rPr>
              <a:t>Nothing about the system changed in these rows</a:t>
            </a:r>
            <a:endParaRPr lang="en-US" sz="1500" dirty="0"/>
          </a:p>
        </p:txBody>
      </p:sp>
      <p:sp>
        <p:nvSpPr>
          <p:cNvPr id="7" name="insight-b"/>
          <p:cNvSpPr txBox="1"/>
          <p:nvPr/>
        </p:nvSpPr>
        <p:spPr>
          <a:xfrm>
            <a:off x="786384" y="3557016"/>
            <a:ext cx="6473952" cy="106070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Same 12 answers, same extracted facts, same reference facts, same lexical gate. Only the model doing the judging changed. A stronger judge finds four times as many incomplete facts and credits the answer with a third fewer reference facts.</a:t>
            </a:r>
            <a:endParaRPr lang="en-US" sz="1300" dirty="0"/>
          </a:p>
        </p:txBody>
      </p:sp>
      <p:sp>
        <p:nvSpPr>
          <p:cNvPr id="8" name="i1"/>
          <p:cNvSpPr/>
          <p:nvPr/>
        </p:nvSpPr>
        <p:spPr>
          <a:xfrm>
            <a:off x="7726680" y="2971800"/>
            <a:ext cx="1828800" cy="1828800"/>
          </a:xfrm>
          <a:prstGeom prst="roundRect">
            <a:avLst>
              <a:gd name="adj" fmla="val 3000"/>
            </a:avLst>
          </a:prstGeom>
          <a:solidFill>
            <a:srgbClr val="333333"/>
          </a:solidFill>
          <a:ln w="12700">
            <a:solidFill>
              <a:srgbClr val="333333"/>
            </a:solidFill>
            <a:prstDash val="solid"/>
          </a:ln>
        </p:spPr>
      </p:sp>
      <p:sp>
        <p:nvSpPr>
          <p:cNvPr id="9" name="i1-l"/>
          <p:cNvSpPr txBox="1"/>
          <p:nvPr/>
        </p:nvSpPr>
        <p:spPr>
          <a:xfrm>
            <a:off x="7927848" y="3136392"/>
            <a:ext cx="1426464" cy="237744"/>
          </a:xfrm>
          <a:prstGeom prst="rect">
            <a:avLst/>
          </a:prstGeom>
          <a:noFill/>
          <a:ln/>
        </p:spPr>
        <p:txBody>
          <a:bodyPr wrap="square" lIns="0" tIns="0" rIns="0" bIns="0" rtlCol="0" anchor="ctr"/>
          <a:lstStyle/>
          <a:p>
            <a:pPr indent="0" marL="0">
              <a:buNone/>
            </a:pPr>
            <a:r>
              <a:rPr lang="en-US" sz="1000" b="1" spc="100" kern="0" dirty="0">
                <a:solidFill>
                  <a:srgbClr val="EDEDED"/>
                </a:solidFill>
                <a:latin typeface="Arial" pitchFamily="34" charset="0"/>
                <a:ea typeface="Arial" pitchFamily="34" charset="-122"/>
                <a:cs typeface="Arial" pitchFamily="34" charset="-120"/>
              </a:rPr>
              <a:t>INCOMPLETE</a:t>
            </a:r>
            <a:endParaRPr lang="en-US" sz="1000" dirty="0"/>
          </a:p>
        </p:txBody>
      </p:sp>
      <p:sp>
        <p:nvSpPr>
          <p:cNvPr id="10" name="i1-v"/>
          <p:cNvSpPr txBox="1"/>
          <p:nvPr/>
        </p:nvSpPr>
        <p:spPr>
          <a:xfrm>
            <a:off x="7927848" y="3392424"/>
            <a:ext cx="1426464" cy="530352"/>
          </a:xfrm>
          <a:prstGeom prst="rect">
            <a:avLst/>
          </a:prstGeom>
          <a:noFill/>
          <a:ln/>
        </p:spPr>
        <p:txBody>
          <a:bodyPr wrap="square" lIns="0" tIns="0" rIns="0" bIns="0" rtlCol="0" anchor="ctr"/>
          <a:lstStyle/>
          <a:p>
            <a:pPr indent="0" marL="0">
              <a:buNone/>
            </a:pPr>
            <a:r>
              <a:rPr lang="en-US" sz="3200" b="1" dirty="0">
                <a:solidFill>
                  <a:srgbClr val="E90802"/>
                </a:solidFill>
              </a:rPr>
              <a:t>4.2×</a:t>
            </a:r>
            <a:endParaRPr lang="en-US" sz="3200" dirty="0"/>
          </a:p>
        </p:txBody>
      </p:sp>
      <p:sp>
        <p:nvSpPr>
          <p:cNvPr id="11" name="i1-f"/>
          <p:cNvSpPr txBox="1"/>
          <p:nvPr/>
        </p:nvSpPr>
        <p:spPr>
          <a:xfrm>
            <a:off x="7927848" y="4416552"/>
            <a:ext cx="1426464" cy="274320"/>
          </a:xfrm>
          <a:prstGeom prst="rect">
            <a:avLst/>
          </a:prstGeom>
          <a:noFill/>
          <a:ln/>
        </p:spPr>
        <p:txBody>
          <a:bodyPr wrap="square" lIns="0" tIns="0" rIns="0" bIns="0" rtlCol="0" anchor="ctr"/>
          <a:lstStyle/>
          <a:p>
            <a:pPr indent="0" marL="0">
              <a:buNone/>
            </a:pPr>
            <a:r>
              <a:rPr lang="en-US" sz="1100" b="1" dirty="0">
                <a:solidFill>
                  <a:srgbClr val="EDEDED"/>
                </a:solidFill>
                <a:latin typeface="Arial" pitchFamily="34" charset="0"/>
                <a:ea typeface="Arial" pitchFamily="34" charset="-122"/>
                <a:cs typeface="Arial" pitchFamily="34" charset="-120"/>
              </a:rPr>
              <a:t>more found</a:t>
            </a:r>
            <a:endParaRPr lang="en-US" sz="1100" dirty="0"/>
          </a:p>
        </p:txBody>
      </p:sp>
      <p:sp>
        <p:nvSpPr>
          <p:cNvPr id="12" name="i2"/>
          <p:cNvSpPr/>
          <p:nvPr/>
        </p:nvSpPr>
        <p:spPr>
          <a:xfrm>
            <a:off x="9784080" y="2971800"/>
            <a:ext cx="1828800" cy="1828800"/>
          </a:xfrm>
          <a:prstGeom prst="roundRect">
            <a:avLst>
              <a:gd name="adj" fmla="val 3000"/>
            </a:avLst>
          </a:prstGeom>
          <a:solidFill>
            <a:srgbClr val="333333"/>
          </a:solidFill>
          <a:ln w="12700">
            <a:solidFill>
              <a:srgbClr val="333333"/>
            </a:solidFill>
            <a:prstDash val="solid"/>
          </a:ln>
        </p:spPr>
      </p:sp>
      <p:sp>
        <p:nvSpPr>
          <p:cNvPr id="13" name="i2-l"/>
          <p:cNvSpPr txBox="1"/>
          <p:nvPr/>
        </p:nvSpPr>
        <p:spPr>
          <a:xfrm>
            <a:off x="9985248" y="3136392"/>
            <a:ext cx="1426464" cy="237744"/>
          </a:xfrm>
          <a:prstGeom prst="rect">
            <a:avLst/>
          </a:prstGeom>
          <a:noFill/>
          <a:ln/>
        </p:spPr>
        <p:txBody>
          <a:bodyPr wrap="square" lIns="0" tIns="0" rIns="0" bIns="0" rtlCol="0" anchor="ctr"/>
          <a:lstStyle/>
          <a:p>
            <a:pPr indent="0" marL="0">
              <a:buNone/>
            </a:pPr>
            <a:r>
              <a:rPr lang="en-US" sz="1000" b="1" spc="100" kern="0" dirty="0">
                <a:solidFill>
                  <a:srgbClr val="EDEDED"/>
                </a:solidFill>
                <a:latin typeface="Arial" pitchFamily="34" charset="0"/>
                <a:ea typeface="Arial" pitchFamily="34" charset="-122"/>
                <a:cs typeface="Arial" pitchFamily="34" charset="-120"/>
              </a:rPr>
              <a:t>RECALL</a:t>
            </a:r>
            <a:endParaRPr lang="en-US" sz="1000" dirty="0"/>
          </a:p>
        </p:txBody>
      </p:sp>
      <p:sp>
        <p:nvSpPr>
          <p:cNvPr id="14" name="i2-v"/>
          <p:cNvSpPr txBox="1"/>
          <p:nvPr/>
        </p:nvSpPr>
        <p:spPr>
          <a:xfrm>
            <a:off x="9985248" y="3392424"/>
            <a:ext cx="1426464" cy="530352"/>
          </a:xfrm>
          <a:prstGeom prst="rect">
            <a:avLst/>
          </a:prstGeom>
          <a:noFill/>
          <a:ln/>
        </p:spPr>
        <p:txBody>
          <a:bodyPr wrap="square" lIns="0" tIns="0" rIns="0" bIns="0" rtlCol="0" anchor="ctr"/>
          <a:lstStyle/>
          <a:p>
            <a:pPr indent="0" marL="0">
              <a:buNone/>
            </a:pPr>
            <a:r>
              <a:rPr lang="en-US" sz="3200" b="1" dirty="0">
                <a:solidFill>
                  <a:srgbClr val="E90802"/>
                </a:solidFill>
              </a:rPr>
              <a:t>−31%</a:t>
            </a:r>
            <a:endParaRPr lang="en-US" sz="3200" dirty="0"/>
          </a:p>
        </p:txBody>
      </p:sp>
      <p:sp>
        <p:nvSpPr>
          <p:cNvPr id="15" name="i2-f"/>
          <p:cNvSpPr txBox="1"/>
          <p:nvPr/>
        </p:nvSpPr>
        <p:spPr>
          <a:xfrm>
            <a:off x="9985248" y="4416552"/>
            <a:ext cx="1426464" cy="274320"/>
          </a:xfrm>
          <a:prstGeom prst="rect">
            <a:avLst/>
          </a:prstGeom>
          <a:noFill/>
          <a:ln/>
        </p:spPr>
        <p:txBody>
          <a:bodyPr wrap="square" lIns="0" tIns="0" rIns="0" bIns="0" rtlCol="0" anchor="ctr"/>
          <a:lstStyle/>
          <a:p>
            <a:pPr indent="0" marL="0">
              <a:buNone/>
            </a:pPr>
            <a:r>
              <a:rPr lang="en-US" sz="1100" b="1" dirty="0">
                <a:solidFill>
                  <a:srgbClr val="EDEDED"/>
                </a:solidFill>
                <a:latin typeface="Arial" pitchFamily="34" charset="0"/>
                <a:ea typeface="Arial" pitchFamily="34" charset="-122"/>
                <a:cs typeface="Arial" pitchFamily="34" charset="-120"/>
              </a:rPr>
              <a:t>same answers</a:t>
            </a:r>
            <a:endParaRPr lang="en-US" sz="1100" dirty="0"/>
          </a:p>
        </p:txBody>
      </p:sp>
      <p:sp>
        <p:nvSpPr>
          <p:cNvPr id="16" name="consequence"/>
          <p:cNvSpPr/>
          <p:nvPr/>
        </p:nvSpPr>
        <p:spPr>
          <a:xfrm>
            <a:off x="548640" y="4983480"/>
            <a:ext cx="11064240" cy="868680"/>
          </a:xfrm>
          <a:prstGeom prst="roundRect">
            <a:avLst>
              <a:gd name="adj" fmla="val 6316"/>
            </a:avLst>
          </a:prstGeom>
          <a:solidFill>
            <a:srgbClr val="333333"/>
          </a:solidFill>
          <a:ln w="12700">
            <a:solidFill>
              <a:srgbClr val="333333"/>
            </a:solidFill>
            <a:prstDash val="solid"/>
          </a:ln>
        </p:spPr>
      </p:sp>
      <p:sp>
        <p:nvSpPr>
          <p:cNvPr id="17" name="consequence-b"/>
          <p:cNvSpPr txBox="1"/>
          <p:nvPr/>
        </p:nvSpPr>
        <p:spPr>
          <a:xfrm>
            <a:off x="786384" y="5184648"/>
            <a:ext cx="10588752" cy="484632"/>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Our baseline looked cleaner than SAFE's 56.7% because our judge was weaker, not because our extractor was better. With a 7B judge the figure moves to 0.438 — two thirds of the way to the paper's.</a:t>
            </a:r>
            <a:endParaRPr lang="en-US" sz="1300" dirty="0"/>
          </a:p>
        </p:txBody>
      </p:sp>
      <p:sp>
        <p:nvSpPr>
          <p:cNvPr id="18"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Experiment A on a Colab T4: judges upgraded to Qwen2.5-7B + Llama-3.1-8B, everything else replayed from cache.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RESULT 4 — WHICH CONCLUSIONS SURVIVED THE UPGRADE</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One finding held, one was a small-model artifact</a:t>
            </a:r>
            <a:endParaRPr lang="en-US" sz="3000" dirty="0"/>
          </a:p>
        </p:txBody>
      </p:sp>
      <p:graphicFrame>
        <p:nvGraphicFramePr>
          <p:cNvPr id="11" name="rules"/>
          <p:cNvGraphicFramePr>
            <a:graphicFrameLocks noGrp="1"/>
          </p:cNvGraphicFramePr>
          <p:nvPr>
            <p:extLst>
              <p:ext uri="{D42A27DB-BD31-4B8C-83A1-F6EECF244321}">
                <p14:modId xmlns:p14="http://schemas.microsoft.com/office/powerpoint/2010/main" val="1579011935"/>
              </p:ext>
            </p:extLst>
          </p:nvPr>
        </p:nvGraphicFramePr>
        <p:xfrm>
          <a:off x="548640" y="1188720"/>
          <a:ext cx="5577840" cy="914400"/>
        </p:xfrm>
        <a:graphic>
          <a:graphicData uri="http://schemas.openxmlformats.org/drawingml/2006/table">
            <a:tbl>
              <a:tblPr/>
              <a:tblGrid>
                <a:gridCol w="1371600"/>
                <a:gridCol w="1097280"/>
                <a:gridCol w="1371600"/>
                <a:gridCol w="1097280"/>
                <a:gridCol w="64008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Rule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Incomplete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F1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laptop-3B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union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0.091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0.3426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0.372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laptop-3B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0.042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0.4071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0.407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judges-7B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union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0.411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0.3018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0.347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judges-7B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0.393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0.4106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0.409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full-7B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union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0.286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0.4802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0.355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full-7B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0.287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0.4985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0.360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5" name="held"/>
          <p:cNvSpPr/>
          <p:nvPr/>
        </p:nvSpPr>
        <p:spPr>
          <a:xfrm>
            <a:off x="6355080" y="1188720"/>
            <a:ext cx="5257800" cy="1234440"/>
          </a:xfrm>
          <a:prstGeom prst="roundRect">
            <a:avLst>
              <a:gd name="adj" fmla="val 4444"/>
            </a:avLst>
          </a:prstGeom>
          <a:solidFill>
            <a:srgbClr val="FFFFFF"/>
          </a:solidFill>
          <a:ln w="19050">
            <a:solidFill>
              <a:srgbClr val="E90802"/>
            </a:solidFill>
            <a:prstDash val="solid"/>
          </a:ln>
        </p:spPr>
      </p:sp>
      <p:sp>
        <p:nvSpPr>
          <p:cNvPr id="6" name="held-h"/>
          <p:cNvSpPr txBox="1"/>
          <p:nvPr/>
        </p:nvSpPr>
        <p:spPr>
          <a:xfrm>
            <a:off x="6592824" y="1389888"/>
            <a:ext cx="4782312" cy="310896"/>
          </a:xfrm>
          <a:prstGeom prst="rect">
            <a:avLst/>
          </a:prstGeom>
          <a:noFill/>
          <a:ln/>
        </p:spPr>
        <p:txBody>
          <a:bodyPr wrap="square" lIns="0" tIns="0" rIns="0" bIns="0" rtlCol="0" anchor="ctr"/>
          <a:lstStyle/>
          <a:p>
            <a:pPr indent="0" marL="0">
              <a:buNone/>
            </a:pPr>
            <a:r>
              <a:rPr lang="en-US" sz="1400" b="1" dirty="0">
                <a:solidFill>
                  <a:srgbClr val="E90802"/>
                </a:solidFill>
              </a:rPr>
              <a:t>Held — majority beats union on precision</a:t>
            </a:r>
            <a:endParaRPr lang="en-US" sz="1400" dirty="0"/>
          </a:p>
        </p:txBody>
      </p:sp>
      <p:sp>
        <p:nvSpPr>
          <p:cNvPr id="7" name="held-b"/>
          <p:cNvSpPr txBox="1"/>
          <p:nvPr/>
        </p:nvSpPr>
        <p:spPr>
          <a:xfrm>
            <a:off x="6592824" y="1773936"/>
            <a:ext cx="4782312" cy="4663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In all three configurations, at every model size. The paper's recall-first union rule costs precision it does not need to.</a:t>
            </a:r>
            <a:endParaRPr lang="en-US" sz="1200" dirty="0"/>
          </a:p>
        </p:txBody>
      </p:sp>
      <p:sp>
        <p:nvSpPr>
          <p:cNvPr id="8" name="broke"/>
          <p:cNvSpPr/>
          <p:nvPr/>
        </p:nvSpPr>
        <p:spPr>
          <a:xfrm>
            <a:off x="6355080" y="2560320"/>
            <a:ext cx="5257800" cy="1234440"/>
          </a:xfrm>
          <a:prstGeom prst="roundRect">
            <a:avLst>
              <a:gd name="adj" fmla="val 4444"/>
            </a:avLst>
          </a:prstGeom>
          <a:solidFill>
            <a:srgbClr val="FFFFFF"/>
          </a:solidFill>
          <a:ln w="12700">
            <a:solidFill>
              <a:srgbClr val="EDEDED"/>
            </a:solidFill>
            <a:prstDash val="solid"/>
          </a:ln>
        </p:spPr>
      </p:sp>
      <p:sp>
        <p:nvSpPr>
          <p:cNvPr id="9" name="broke-h"/>
          <p:cNvSpPr txBox="1"/>
          <p:nvPr/>
        </p:nvSpPr>
        <p:spPr>
          <a:xfrm>
            <a:off x="6592824" y="2761488"/>
            <a:ext cx="4782312" cy="310896"/>
          </a:xfrm>
          <a:prstGeom prst="rect">
            <a:avLst/>
          </a:prstGeom>
          <a:noFill/>
          <a:ln/>
        </p:spPr>
        <p:txBody>
          <a:bodyPr wrap="square" lIns="0" tIns="0" rIns="0" bIns="0" rtlCol="0" anchor="ctr"/>
          <a:lstStyle/>
          <a:p>
            <a:pPr indent="0" marL="0">
              <a:buNone/>
            </a:pPr>
            <a:r>
              <a:rPr lang="en-US" sz="1400" b="1" dirty="0">
                <a:solidFill>
                  <a:srgbClr val="333333"/>
                </a:solidFill>
              </a:rPr>
              <a:t>Broke — the 60% incomplete-rate gap</a:t>
            </a:r>
            <a:endParaRPr lang="en-US" sz="1400" dirty="0"/>
          </a:p>
        </p:txBody>
      </p:sp>
      <p:sp>
        <p:nvSpPr>
          <p:cNvPr id="10" name="broke-b"/>
          <p:cNvSpPr txBox="1"/>
          <p:nvPr/>
        </p:nvSpPr>
        <p:spPr>
          <a:xfrm>
            <a:off x="6592824" y="3145536"/>
            <a:ext cx="4782312" cy="4663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 3B artifact. With 7–8B judges the two rules are within 4% (0.393 vs 0.411); with a 7B extractor they are identical.</a:t>
            </a:r>
            <a:endParaRPr lang="en-US" sz="1200" dirty="0"/>
          </a:p>
        </p:txBody>
      </p:sp>
      <p:graphicFrame>
        <p:nvGraphicFramePr>
          <p:cNvPr id="21" name="judges"/>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2834640"/>
                <a:gridCol w="2103120"/>
                <a:gridCol w="2103120"/>
                <a:gridCol w="2011680"/>
                <a:gridCol w="2011680"/>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Facts flagged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Qwen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Llama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Ensemble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Reading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3B — incompleteness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ensemble = Llama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7–8B — incompleteness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33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exceeds both judges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3B — relations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ensemble = Llama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7–8B — relations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ensemble = Llama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12"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Relation detection: the ensemble equalled Llama exactly in all three runs — 51/51, 54/54, 21/21. Qwen never found a relation Llama missed.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RESULT 5 — THE RESEARCH QUESTION</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Does fixing a claim change its verdict?</a:t>
            </a:r>
            <a:endParaRPr lang="en-US" sz="3000" dirty="0"/>
          </a:p>
        </p:txBody>
      </p:sp>
      <p:sp>
        <p:nvSpPr>
          <p:cNvPr id="4" name="big"/>
          <p:cNvSpPr/>
          <p:nvPr/>
        </p:nvSpPr>
        <p:spPr>
          <a:xfrm>
            <a:off x="548640" y="1188720"/>
            <a:ext cx="3017520" cy="2103120"/>
          </a:xfrm>
          <a:prstGeom prst="roundRect">
            <a:avLst>
              <a:gd name="adj" fmla="val 2609"/>
            </a:avLst>
          </a:prstGeom>
          <a:solidFill>
            <a:srgbClr val="E90802"/>
          </a:solidFill>
          <a:ln w="12700">
            <a:solidFill>
              <a:srgbClr val="E90802"/>
            </a:solidFill>
            <a:prstDash val="solid"/>
          </a:ln>
        </p:spPr>
      </p:sp>
      <p:sp>
        <p:nvSpPr>
          <p:cNvPr id="5" name="big-v"/>
          <p:cNvSpPr txBox="1"/>
          <p:nvPr/>
        </p:nvSpPr>
        <p:spPr>
          <a:xfrm>
            <a:off x="548640" y="1417320"/>
            <a:ext cx="3017520" cy="914400"/>
          </a:xfrm>
          <a:prstGeom prst="rect">
            <a:avLst/>
          </a:prstGeom>
          <a:noFill/>
          <a:ln/>
        </p:spPr>
        <p:txBody>
          <a:bodyPr wrap="square" lIns="0" tIns="0" rIns="0" bIns="0" rtlCol="0" anchor="ctr"/>
          <a:lstStyle/>
          <a:p>
            <a:pPr algn="ctr" indent="0" marL="0">
              <a:buNone/>
            </a:pPr>
            <a:r>
              <a:rPr lang="en-US" sz="4600" b="1" dirty="0">
                <a:solidFill>
                  <a:srgbClr val="FFFFFF"/>
                </a:solidFill>
              </a:rPr>
              <a:t>39–46%</a:t>
            </a:r>
            <a:endParaRPr lang="en-US" sz="4600" dirty="0"/>
          </a:p>
        </p:txBody>
      </p:sp>
      <p:sp>
        <p:nvSpPr>
          <p:cNvPr id="6" name="big-l"/>
          <p:cNvSpPr txBox="1"/>
          <p:nvPr/>
        </p:nvSpPr>
        <p:spPr>
          <a:xfrm>
            <a:off x="548640" y="2377440"/>
            <a:ext cx="3017520" cy="777240"/>
          </a:xfrm>
          <a:prstGeom prst="rect">
            <a:avLst/>
          </a:prstGeom>
          <a:noFill/>
          <a:ln/>
        </p:spPr>
        <p:txBody>
          <a:bodyPr wrap="square" lIns="0" tIns="0" rIns="0" bIns="0" rtlCol="0" anchor="ctr"/>
          <a:lstStyle/>
          <a:p>
            <a:pPr algn="ctr" indent="0" marL="0">
              <a:lnSpc>
                <a:spcPct val="120000"/>
              </a:lnSpc>
              <a:buNone/>
            </a:pPr>
            <a:r>
              <a:rPr lang="en-US" sz="1300" dirty="0">
                <a:solidFill>
                  <a:srgbClr val="FFFFFF"/>
                </a:solidFill>
                <a:latin typeface="Arial" pitchFamily="34" charset="0"/>
                <a:ea typeface="Arial" pitchFamily="34" charset="-122"/>
                <a:cs typeface="Arial" pitchFamily="34" charset="-120"/>
              </a:rPr>
              <a:t>of refined facts changed label</a:t>
            </a:r>
            <a:endParaRPr lang="en-US" sz="1300" dirty="0"/>
          </a:p>
          <a:p>
            <a:pPr algn="ctr" indent="0" marL="0">
              <a:lnSpc>
                <a:spcPct val="120000"/>
              </a:lnSpc>
              <a:buNone/>
            </a:pPr>
            <a:r>
              <a:rPr lang="en-US" sz="1300" dirty="0">
                <a:solidFill>
                  <a:srgbClr val="FFFFFF"/>
                </a:solidFill>
                <a:latin typeface="Arial" pitchFamily="34" charset="0"/>
                <a:ea typeface="Arial" pitchFamily="34" charset="-122"/>
                <a:cs typeface="Arial" pitchFamily="34" charset="-120"/>
              </a:rPr>
              <a:t>across all three runs</a:t>
            </a:r>
            <a:endParaRPr lang="en-US" sz="1300" dirty="0"/>
          </a:p>
        </p:txBody>
      </p:sp>
      <p:graphicFrame>
        <p:nvGraphicFramePr>
          <p:cNvPr id="12" name="trans"/>
          <p:cNvGraphicFramePr>
            <a:graphicFrameLocks noGrp="1"/>
          </p:cNvGraphicFramePr>
          <p:nvPr>
            <p:extLst>
              <p:ext uri="{D42A27DB-BD31-4B8C-83A1-F6EECF244321}">
                <p14:modId xmlns:p14="http://schemas.microsoft.com/office/powerpoint/2010/main" val="1579011935"/>
              </p:ext>
            </p:extLst>
          </p:nvPr>
        </p:nvGraphicFramePr>
        <p:xfrm>
          <a:off x="3886200" y="1188720"/>
          <a:ext cx="7726680" cy="914400"/>
        </p:xfrm>
        <a:graphic>
          <a:graphicData uri="http://schemas.openxmlformats.org/drawingml/2006/table">
            <a:tbl>
              <a:tblPr/>
              <a:tblGrid>
                <a:gridCol w="3200400"/>
                <a:gridCol w="1097280"/>
                <a:gridCol w="1097280"/>
                <a:gridCol w="2331720"/>
              </a:tblGrid>
              <a:tr h="33832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Transition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7–8B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SUPPORTED → UNDECIDED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was over-credited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UNDECIDED → SUPPORTED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context made it checkable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Contradicted, before → after</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 → 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3 → 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errors finally surfaced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Verdict-change rate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39.3%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45.6%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paper reports 24.9%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8" name="cmp-paper"/>
          <p:cNvSpPr/>
          <p:nvPr/>
        </p:nvSpPr>
        <p:spPr>
          <a:xfrm>
            <a:off x="548640" y="3520440"/>
            <a:ext cx="11064240" cy="2194560"/>
          </a:xfrm>
          <a:prstGeom prst="roundRect">
            <a:avLst>
              <a:gd name="adj" fmla="val 2500"/>
            </a:avLst>
          </a:prstGeom>
          <a:solidFill>
            <a:srgbClr val="333333"/>
          </a:solidFill>
          <a:ln w="19050">
            <a:solidFill>
              <a:srgbClr val="E90802"/>
            </a:solidFill>
            <a:prstDash val="solid"/>
          </a:ln>
        </p:spPr>
      </p:sp>
      <p:sp>
        <p:nvSpPr>
          <p:cNvPr id="9" name="cmp-paper-h"/>
          <p:cNvSpPr txBox="1"/>
          <p:nvPr/>
        </p:nvSpPr>
        <p:spPr>
          <a:xfrm>
            <a:off x="786384" y="3721608"/>
            <a:ext cx="10588752" cy="310896"/>
          </a:xfrm>
          <a:prstGeom prst="rect">
            <a:avLst/>
          </a:prstGeom>
          <a:noFill/>
          <a:ln/>
        </p:spPr>
        <p:txBody>
          <a:bodyPr wrap="square" lIns="0" tIns="0" rIns="0" bIns="0" rtlCol="0" anchor="ctr"/>
          <a:lstStyle/>
          <a:p>
            <a:pPr indent="0" marL="0">
              <a:buNone/>
            </a:pPr>
            <a:r>
              <a:rPr lang="en-US" sz="1500" b="1" dirty="0">
                <a:solidFill>
                  <a:srgbClr val="E90802"/>
                </a:solidFill>
              </a:rPr>
              <a:t>The paper's full signature only appears with stronger judges</a:t>
            </a:r>
            <a:endParaRPr lang="en-US" sz="1500" dirty="0"/>
          </a:p>
        </p:txBody>
      </p:sp>
      <p:sp>
        <p:nvSpPr>
          <p:cNvPr id="10" name="cmp-paper-b"/>
          <p:cNvSpPr txBox="1"/>
          <p:nvPr/>
        </p:nvSpPr>
        <p:spPr>
          <a:xfrm>
            <a:off x="786384" y="4105656"/>
            <a:ext cx="10588752" cy="142646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The paper reports supported falling AND contradicted rising after refinement, concluding that ignoring incomplete facts overestimates factuality.</a:t>
            </a:r>
            <a:endParaRPr lang="en-US" sz="1300" dirty="0"/>
          </a:p>
          <a:p>
            <a:pPr indent="0" marL="0">
              <a:lnSpc>
                <a:spcPct val="120000"/>
              </a:lnSpc>
              <a:buNone/>
            </a:pP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With 3B judges we reproduced only the first half: contradicted never moved off 3. With 7–8B judges it rises to 8 — refinement exposes errors that the stripped claims had hidden. Same conclusion as the paper, now with both halves of the evidence.</a:t>
            </a:r>
            <a:endParaRPr lang="en-US" sz="1300" dirty="0"/>
          </a:p>
        </p:txBody>
      </p:sp>
      <p:sp>
        <p:nvSpPr>
          <p:cNvPr id="11"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Every refined fact is verified twice, as its original claim and as its refined claim, through the same evidence pipeline.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RESULT 6 — QUALITATIVE</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What a 3B refiner actually produces</a:t>
            </a:r>
            <a:endParaRPr lang="en-US" sz="3000" dirty="0"/>
          </a:p>
        </p:txBody>
      </p:sp>
      <p:sp>
        <p:nvSpPr>
          <p:cNvPr id="4" name="good"/>
          <p:cNvSpPr/>
          <p:nvPr/>
        </p:nvSpPr>
        <p:spPr>
          <a:xfrm>
            <a:off x="548640" y="1188720"/>
            <a:ext cx="5486400" cy="3108960"/>
          </a:xfrm>
          <a:prstGeom prst="roundRect">
            <a:avLst>
              <a:gd name="adj" fmla="val 1765"/>
            </a:avLst>
          </a:prstGeom>
          <a:solidFill>
            <a:srgbClr val="FFFFFF"/>
          </a:solidFill>
          <a:ln w="19050">
            <a:solidFill>
              <a:srgbClr val="E90802"/>
            </a:solidFill>
            <a:prstDash val="solid"/>
          </a:ln>
        </p:spPr>
      </p:sp>
      <p:sp>
        <p:nvSpPr>
          <p:cNvPr id="5" name="good-h"/>
          <p:cNvSpPr txBox="1"/>
          <p:nvPr/>
        </p:nvSpPr>
        <p:spPr>
          <a:xfrm>
            <a:off x="786384" y="1389888"/>
            <a:ext cx="5010912" cy="310896"/>
          </a:xfrm>
          <a:prstGeom prst="rect">
            <a:avLst/>
          </a:prstGeom>
          <a:noFill/>
          <a:ln/>
        </p:spPr>
        <p:txBody>
          <a:bodyPr wrap="square" lIns="0" tIns="0" rIns="0" bIns="0" rtlCol="0" anchor="ctr"/>
          <a:lstStyle/>
          <a:p>
            <a:pPr indent="0" marL="0">
              <a:buNone/>
            </a:pPr>
            <a:r>
              <a:rPr lang="en-US" sz="1500" b="1" dirty="0">
                <a:solidFill>
                  <a:srgbClr val="E90802"/>
                </a:solidFill>
              </a:rPr>
              <a:t>Works — Q10, ozone layer</a:t>
            </a:r>
            <a:endParaRPr lang="en-US" sz="1500" dirty="0"/>
          </a:p>
        </p:txBody>
      </p:sp>
      <p:sp>
        <p:nvSpPr>
          <p:cNvPr id="6" name="good-t"/>
          <p:cNvSpPr txBox="1"/>
          <p:nvPr/>
        </p:nvSpPr>
        <p:spPr>
          <a:xfrm>
            <a:off x="786384" y="1691640"/>
            <a:ext cx="5029200" cy="2468880"/>
          </a:xfrm>
          <a:prstGeom prst="rect">
            <a:avLst/>
          </a:prstGeom>
          <a:noFill/>
          <a:ln/>
        </p:spPr>
        <p:txBody>
          <a:bodyPr wrap="square" lIns="0" tIns="0" rIns="0" bIns="0" rtlCol="0" anchor="ctr"/>
          <a:lstStyle/>
          <a:p>
            <a:pPr indent="0" marL="0">
              <a:lnSpc>
                <a:spcPct val="115000"/>
              </a:lnSpc>
              <a:buNone/>
            </a:pPr>
            <a:r>
              <a:rPr lang="en-US" sz="1100" dirty="0">
                <a:solidFill>
                  <a:srgbClr val="757575"/>
                </a:solidFill>
                <a:latin typeface="Arial" pitchFamily="34" charset="0"/>
                <a:ea typeface="Arial" pitchFamily="34" charset="-122"/>
                <a:cs typeface="Arial" pitchFamily="34" charset="-120"/>
              </a:rPr>
              <a:t>omitted_condition_or_source</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“These substances are in the atmosphere.”</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“The substances are in the atmosphere since the Montreal Protocol was signed.”</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UNDECIDED → SUPPORTED</a:t>
            </a:r>
            <a:endParaRPr lang="en-US" sz="1200" dirty="0"/>
          </a:p>
          <a:p>
            <a:pPr indent="0" marL="0">
              <a:lnSpc>
                <a:spcPct val="115000"/>
              </a:lnSpc>
              <a:buNone/>
            </a:pPr>
            <a:r>
              <a:rPr lang="en-US" sz="600" dirty="0">
                <a:solidFill>
                  <a:srgbClr val="333333"/>
                </a:solidFill>
                <a:latin typeface="Arial" pitchFamily="34" charset="0"/>
                <a:ea typeface="Arial" pitchFamily="34" charset="-122"/>
                <a:cs typeface="Arial" pitchFamily="34" charset="-120"/>
              </a:rPr>
              <a:t> </a:t>
            </a:r>
            <a:endParaRPr lang="en-US" sz="1200" dirty="0"/>
          </a:p>
          <a:p>
            <a:pPr indent="0" marL="0">
              <a:lnSpc>
                <a:spcPct val="115000"/>
              </a:lnSpc>
              <a:buNone/>
            </a:pPr>
            <a:r>
              <a:rPr lang="en-US" sz="1100" dirty="0">
                <a:solidFill>
                  <a:srgbClr val="757575"/>
                </a:solidFill>
                <a:latin typeface="Arial" pitchFamily="34" charset="0"/>
                <a:ea typeface="Arial" pitchFamily="34" charset="-122"/>
                <a:cs typeface="Arial" pitchFamily="34" charset="-120"/>
              </a:rPr>
              <a:t>missing_comparison</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 decrease is in the concentration of substances.”</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 compared to before the Montreal Protocol.”</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UNDECIDED → SUPPORTED</a:t>
            </a:r>
            <a:endParaRPr lang="en-US" sz="1200" dirty="0"/>
          </a:p>
        </p:txBody>
      </p:sp>
      <p:sp>
        <p:nvSpPr>
          <p:cNvPr id="7" name="bad"/>
          <p:cNvSpPr/>
          <p:nvPr/>
        </p:nvSpPr>
        <p:spPr>
          <a:xfrm>
            <a:off x="6355080" y="1188720"/>
            <a:ext cx="5257800" cy="3108960"/>
          </a:xfrm>
          <a:prstGeom prst="roundRect">
            <a:avLst>
              <a:gd name="adj" fmla="val 1765"/>
            </a:avLst>
          </a:prstGeom>
          <a:solidFill>
            <a:srgbClr val="FFFFFF"/>
          </a:solidFill>
          <a:ln w="12700">
            <a:solidFill>
              <a:srgbClr val="EDEDED"/>
            </a:solidFill>
            <a:prstDash val="solid"/>
          </a:ln>
        </p:spPr>
      </p:sp>
      <p:sp>
        <p:nvSpPr>
          <p:cNvPr id="8" name="bad-h"/>
          <p:cNvSpPr txBox="1"/>
          <p:nvPr/>
        </p:nvSpPr>
        <p:spPr>
          <a:xfrm>
            <a:off x="6592824" y="1389888"/>
            <a:ext cx="4782312" cy="310896"/>
          </a:xfrm>
          <a:prstGeom prst="rect">
            <a:avLst/>
          </a:prstGeom>
          <a:noFill/>
          <a:ln/>
        </p:spPr>
        <p:txBody>
          <a:bodyPr wrap="square" lIns="0" tIns="0" rIns="0" bIns="0" rtlCol="0" anchor="ctr"/>
          <a:lstStyle/>
          <a:p>
            <a:pPr indent="0" marL="0">
              <a:buNone/>
            </a:pPr>
            <a:r>
              <a:rPr lang="en-US" sz="1500" b="1" dirty="0">
                <a:solidFill>
                  <a:srgbClr val="333333"/>
                </a:solidFill>
              </a:rPr>
              <a:t>Fails — Q01, the paper's own example</a:t>
            </a:r>
            <a:endParaRPr lang="en-US" sz="1500" dirty="0"/>
          </a:p>
        </p:txBody>
      </p:sp>
      <p:sp>
        <p:nvSpPr>
          <p:cNvPr id="9" name="bad-t"/>
          <p:cNvSpPr txBox="1"/>
          <p:nvPr/>
        </p:nvSpPr>
        <p:spPr>
          <a:xfrm>
            <a:off x="6592824" y="1691640"/>
            <a:ext cx="4800600" cy="2468880"/>
          </a:xfrm>
          <a:prstGeom prst="rect">
            <a:avLst/>
          </a:prstGeom>
          <a:noFill/>
          <a:ln/>
        </p:spPr>
        <p:txBody>
          <a:bodyPr wrap="square" lIns="0" tIns="0" rIns="0" bIns="0" rtlCol="0" anchor="ctr"/>
          <a:lstStyle/>
          <a:p>
            <a:pPr indent="0" marL="0">
              <a:lnSpc>
                <a:spcPct val="115000"/>
              </a:lnSpc>
              <a:buNone/>
            </a:pPr>
            <a:r>
              <a:rPr lang="en-US" sz="1100" dirty="0">
                <a:solidFill>
                  <a:srgbClr val="757575"/>
                </a:solidFill>
                <a:latin typeface="Arial" pitchFamily="34" charset="0"/>
                <a:ea typeface="Arial" pitchFamily="34" charset="-122"/>
                <a:cs typeface="Arial" pitchFamily="34" charset="-120"/>
              </a:rPr>
              <a:t>the refiner flipped the meaning</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“There was demand for gold as jewelry.”</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“There was no demand for gold as jewelry.”</a:t>
            </a:r>
            <a:endParaRPr lang="en-US" sz="1200" dirty="0"/>
          </a:p>
          <a:p>
            <a:pPr indent="0" marL="0">
              <a:lnSpc>
                <a:spcPct val="115000"/>
              </a:lnSpc>
              <a:buNone/>
            </a:pPr>
            <a:r>
              <a:rPr lang="en-US" sz="1200" dirty="0">
                <a:solidFill>
                  <a:srgbClr val="E90802"/>
                </a:solidFill>
                <a:latin typeface="Arial" pitchFamily="34" charset="0"/>
                <a:ea typeface="Arial" pitchFamily="34" charset="-122"/>
                <a:cs typeface="Arial" pitchFamily="34" charset="-120"/>
              </a:rPr>
              <a:t>The hypothetical from the question was pasted into a fact stating the opposite.</a:t>
            </a:r>
            <a:endParaRPr lang="en-US" sz="1200" dirty="0"/>
          </a:p>
          <a:p>
            <a:pPr indent="0" marL="0">
              <a:lnSpc>
                <a:spcPct val="115000"/>
              </a:lnSpc>
              <a:buNone/>
            </a:pPr>
            <a:r>
              <a:rPr lang="en-US" sz="600" dirty="0">
                <a:solidFill>
                  <a:srgbClr val="333333"/>
                </a:solidFill>
                <a:latin typeface="Arial" pitchFamily="34" charset="0"/>
                <a:ea typeface="Arial" pitchFamily="34" charset="-122"/>
                <a:cs typeface="Arial" pitchFamily="34" charset="-120"/>
              </a:rPr>
              <a:t> </a:t>
            </a:r>
            <a:endParaRPr lang="en-US" sz="1200" dirty="0"/>
          </a:p>
          <a:p>
            <a:pPr indent="0" marL="0">
              <a:lnSpc>
                <a:spcPct val="115000"/>
              </a:lnSpc>
              <a:buNone/>
            </a:pPr>
            <a:r>
              <a:rPr lang="en-US" sz="1100" dirty="0">
                <a:solidFill>
                  <a:srgbClr val="757575"/>
                </a:solidFill>
                <a:latin typeface="Arial" pitchFamily="34" charset="0"/>
                <a:ea typeface="Arial" pitchFamily="34" charset="-122"/>
                <a:cs typeface="Arial" pitchFamily="34" charset="-120"/>
              </a:rPr>
              <a:t>condition attached to the wrong claim</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“Gold has unique properties of malleability if there was no demand for gold as jewelry.”</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SUPPORTED → UNDECIDED</a:t>
            </a:r>
            <a:endParaRPr lang="en-US" sz="1200" dirty="0"/>
          </a:p>
        </p:txBody>
      </p:sp>
      <p:sp>
        <p:nvSpPr>
          <p:cNvPr id="10" name="added"/>
          <p:cNvSpPr/>
          <p:nvPr/>
        </p:nvSpPr>
        <p:spPr>
          <a:xfrm>
            <a:off x="548640" y="4480560"/>
            <a:ext cx="11064240" cy="1280160"/>
          </a:xfrm>
          <a:prstGeom prst="roundRect">
            <a:avLst>
              <a:gd name="adj" fmla="val 4286"/>
            </a:avLst>
          </a:prstGeom>
          <a:solidFill>
            <a:srgbClr val="000000"/>
          </a:solidFill>
          <a:ln w="12700">
            <a:solidFill>
              <a:srgbClr val="000000"/>
            </a:solidFill>
            <a:prstDash val="solid"/>
          </a:ln>
        </p:spPr>
      </p:sp>
      <p:sp>
        <p:nvSpPr>
          <p:cNvPr id="11" name="added-h"/>
          <p:cNvSpPr txBox="1"/>
          <p:nvPr/>
        </p:nvSpPr>
        <p:spPr>
          <a:xfrm>
            <a:off x="786384" y="4681728"/>
            <a:ext cx="10588752" cy="310896"/>
          </a:xfrm>
          <a:prstGeom prst="rect">
            <a:avLst/>
          </a:prstGeom>
          <a:noFill/>
          <a:ln/>
        </p:spPr>
        <p:txBody>
          <a:bodyPr wrap="square" lIns="0" tIns="0" rIns="0" bIns="0" rtlCol="0" anchor="ctr"/>
          <a:lstStyle/>
          <a:p>
            <a:pPr indent="0" marL="0">
              <a:buNone/>
            </a:pPr>
            <a:r>
              <a:rPr lang="en-US" sz="1300" b="1" dirty="0">
                <a:solidFill>
                  <a:srgbClr val="E90802"/>
                </a:solidFill>
              </a:rPr>
              <a:t>Added relational fact — Q04, Chernobyl, temporal</a:t>
            </a:r>
            <a:endParaRPr lang="en-US" sz="1300" dirty="0"/>
          </a:p>
        </p:txBody>
      </p:sp>
      <p:sp>
        <p:nvSpPr>
          <p:cNvPr id="12" name="added-b"/>
          <p:cNvSpPr txBox="1"/>
          <p:nvPr/>
        </p:nvSpPr>
        <p:spPr>
          <a:xfrm>
            <a:off x="786384" y="5065776"/>
            <a:ext cx="10588752" cy="51206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“The experiment just before the explosion caused the reactor to exceed its design limits, resulting in the explosion of hydrogen gas in the pressure vessel.”  The span that produced it was never covered by any extracted fact.</a:t>
            </a:r>
            <a:endParaRPr lang="en-US" sz="1200" dirty="0"/>
          </a:p>
        </p:txBody>
      </p:sp>
      <p:sp>
        <p:nvSpPr>
          <p:cNvPr id="1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6 examples auto-selected into outputs/examples/presentation_examples.json, ranked by label changes and error type.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COMPARISON WITH THE PAPER</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Directions match. Magnitudes do not.</a:t>
            </a:r>
            <a:endParaRPr lang="en-US" sz="3000" dirty="0"/>
          </a:p>
        </p:txBody>
      </p:sp>
      <p:graphicFrame>
        <p:nvGraphicFramePr>
          <p:cNvPr id="14" name="vs"/>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017520"/>
                <a:gridCol w="2743200"/>
                <a:gridCol w="3566160"/>
                <a:gridCol w="173736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Measure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Paper</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VERIFACT-Lite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Agreement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Incomplete facts, baseline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56.7% (SAFE)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10.5% at 3B · 43.8% at 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closes with scale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Incomplete facts, refined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22.5%  (−19.2 pts)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9.1% at 3B · 41.1% at 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direction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Missing relational facts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1.22 → 0.76 (−37%)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51 → 0 (−100%)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direction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Refined facts changing label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24.9%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39.3% · 45.6% · 34.7%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phenomenon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Direction of that change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supported ↓, contradicted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both, once judges are 7–8B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reproduced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82.8 (Qwen2.5-32B)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30.2 – 49.9 across runs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comparable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Recall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44.1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40.8 at 3B · 28.1 at 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judge-dependent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57.5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34.7 – 40.9 across runs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comparable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5" name="vs0"/>
          <p:cNvSpPr/>
          <p:nvPr/>
        </p:nvSpPr>
        <p:spPr>
          <a:xfrm>
            <a:off x="548640" y="4480560"/>
            <a:ext cx="3547872" cy="1371600"/>
          </a:xfrm>
          <a:prstGeom prst="roundRect">
            <a:avLst>
              <a:gd name="adj" fmla="val 4000"/>
            </a:avLst>
          </a:prstGeom>
          <a:solidFill>
            <a:srgbClr val="FFFFFF"/>
          </a:solidFill>
          <a:ln w="12700">
            <a:solidFill>
              <a:srgbClr val="EDEDED"/>
            </a:solidFill>
            <a:prstDash val="solid"/>
          </a:ln>
        </p:spPr>
      </p:sp>
      <p:sp>
        <p:nvSpPr>
          <p:cNvPr id="6" name="vs0-h"/>
          <p:cNvSpPr txBox="1"/>
          <p:nvPr/>
        </p:nvSpPr>
        <p:spPr>
          <a:xfrm>
            <a:off x="786384" y="4681728"/>
            <a:ext cx="3072384" cy="310896"/>
          </a:xfrm>
          <a:prstGeom prst="rect">
            <a:avLst/>
          </a:prstGeom>
          <a:noFill/>
          <a:ln/>
        </p:spPr>
        <p:txBody>
          <a:bodyPr wrap="square" lIns="0" tIns="0" rIns="0" bIns="0" rtlCol="0" anchor="ctr"/>
          <a:lstStyle/>
          <a:p>
            <a:pPr indent="0" marL="0">
              <a:buNone/>
            </a:pPr>
            <a:r>
              <a:rPr lang="en-US" sz="1400" b="1" dirty="0">
                <a:solidFill>
                  <a:srgbClr val="E90802"/>
                </a:solidFill>
              </a:rPr>
              <a:t>Reproduced</a:t>
            </a:r>
            <a:endParaRPr lang="en-US" sz="1400" dirty="0"/>
          </a:p>
        </p:txBody>
      </p:sp>
      <p:sp>
        <p:nvSpPr>
          <p:cNvPr id="7" name="vs0-b"/>
          <p:cNvSpPr txBox="1"/>
          <p:nvPr/>
        </p:nvSpPr>
        <p:spPr>
          <a:xfrm>
            <a:off x="786384" y="5065776"/>
            <a:ext cx="3072384" cy="60350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Both problem types detected and repaired; changing the facts changes the verdicts; supported falls and contradicted rises — the paper's central claim.</a:t>
            </a:r>
            <a:endParaRPr lang="en-US" sz="1200" dirty="0"/>
          </a:p>
        </p:txBody>
      </p:sp>
      <p:sp>
        <p:nvSpPr>
          <p:cNvPr id="8" name="vs1"/>
          <p:cNvSpPr/>
          <p:nvPr/>
        </p:nvSpPr>
        <p:spPr>
          <a:xfrm>
            <a:off x="4279392" y="4480560"/>
            <a:ext cx="3547872" cy="1371600"/>
          </a:xfrm>
          <a:prstGeom prst="roundRect">
            <a:avLst>
              <a:gd name="adj" fmla="val 4000"/>
            </a:avLst>
          </a:prstGeom>
          <a:solidFill>
            <a:srgbClr val="FFFFFF"/>
          </a:solidFill>
          <a:ln w="12700">
            <a:solidFill>
              <a:srgbClr val="EDEDED"/>
            </a:solidFill>
            <a:prstDash val="solid"/>
          </a:ln>
        </p:spPr>
      </p:sp>
      <p:sp>
        <p:nvSpPr>
          <p:cNvPr id="9" name="vs1-h"/>
          <p:cNvSpPr txBox="1"/>
          <p:nvPr/>
        </p:nvSpPr>
        <p:spPr>
          <a:xfrm>
            <a:off x="4517136" y="4681728"/>
            <a:ext cx="3072384" cy="310896"/>
          </a:xfrm>
          <a:prstGeom prst="rect">
            <a:avLst/>
          </a:prstGeom>
          <a:noFill/>
          <a:ln/>
        </p:spPr>
        <p:txBody>
          <a:bodyPr wrap="square" lIns="0" tIns="0" rIns="0" bIns="0" rtlCol="0" anchor="ctr"/>
          <a:lstStyle/>
          <a:p>
            <a:pPr indent="0" marL="0">
              <a:buNone/>
            </a:pPr>
            <a:r>
              <a:rPr lang="en-US" sz="1400" b="1" dirty="0">
                <a:solidFill>
                  <a:srgbClr val="757575"/>
                </a:solidFill>
              </a:rPr>
              <a:t>Not reproduced</a:t>
            </a:r>
            <a:endParaRPr lang="en-US" sz="1400" dirty="0"/>
          </a:p>
        </p:txBody>
      </p:sp>
      <p:sp>
        <p:nvSpPr>
          <p:cNvPr id="10" name="vs1-b"/>
          <p:cNvSpPr txBox="1"/>
          <p:nvPr/>
        </p:nvSpPr>
        <p:spPr>
          <a:xfrm>
            <a:off x="4517136" y="5065776"/>
            <a:ext cx="3072384" cy="60350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Absolute precision, recall and F1. Different models, different evidence, 12 prompts instead of 1,096, no human annotation.</a:t>
            </a:r>
            <a:endParaRPr lang="en-US" sz="1200" dirty="0"/>
          </a:p>
        </p:txBody>
      </p:sp>
      <p:sp>
        <p:nvSpPr>
          <p:cNvPr id="11" name="vs2"/>
          <p:cNvSpPr/>
          <p:nvPr/>
        </p:nvSpPr>
        <p:spPr>
          <a:xfrm>
            <a:off x="8010144" y="4480560"/>
            <a:ext cx="3547872" cy="1371600"/>
          </a:xfrm>
          <a:prstGeom prst="roundRect">
            <a:avLst>
              <a:gd name="adj" fmla="val 4000"/>
            </a:avLst>
          </a:prstGeom>
          <a:solidFill>
            <a:srgbClr val="FFFFFF"/>
          </a:solidFill>
          <a:ln w="12700">
            <a:solidFill>
              <a:srgbClr val="EDEDED"/>
            </a:solidFill>
            <a:prstDash val="solid"/>
          </a:ln>
        </p:spPr>
      </p:sp>
      <p:sp>
        <p:nvSpPr>
          <p:cNvPr id="12" name="vs2-h"/>
          <p:cNvSpPr txBox="1"/>
          <p:nvPr/>
        </p:nvSpPr>
        <p:spPr>
          <a:xfrm>
            <a:off x="8247888" y="4681728"/>
            <a:ext cx="3072384" cy="310896"/>
          </a:xfrm>
          <a:prstGeom prst="rect">
            <a:avLst/>
          </a:prstGeom>
          <a:noFill/>
          <a:ln/>
        </p:spPr>
        <p:txBody>
          <a:bodyPr wrap="square" lIns="0" tIns="0" rIns="0" bIns="0" rtlCol="0" anchor="ctr"/>
          <a:lstStyle/>
          <a:p>
            <a:pPr indent="0" marL="0">
              <a:buNone/>
            </a:pPr>
            <a:r>
              <a:rPr lang="en-US" sz="1400" b="1" dirty="0">
                <a:solidFill>
                  <a:srgbClr val="757575"/>
                </a:solidFill>
              </a:rPr>
              <a:t>Now explained</a:t>
            </a:r>
            <a:endParaRPr lang="en-US" sz="1400" dirty="0"/>
          </a:p>
        </p:txBody>
      </p:sp>
      <p:sp>
        <p:nvSpPr>
          <p:cNvPr id="13" name="vs2-b"/>
          <p:cNvSpPr txBox="1"/>
          <p:nvPr/>
        </p:nvSpPr>
        <p:spPr>
          <a:xfrm>
            <a:off x="8247888" y="5065776"/>
            <a:ext cx="3072384" cy="60350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Our low baseline incomplete rate was the judge, not the extractor: the same facts score 10.5% at 3B and 43.8% at 7B against the paper's 56.7%.</a:t>
            </a:r>
            <a:endParaRPr lang="en-US" sz="1200" dirty="0"/>
          </a:p>
        </p:txBody>
      </p:sp>
      <p:sp>
        <p:nvSpPr>
          <p:cNvPr id="14"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Every VERIFACT-Lite value is measured by this repository; none is copied from the paper or estimated.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LIMITS, AND WHAT WOULD FIX THEM</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Every limitation points at a next step</a:t>
            </a:r>
            <a:endParaRPr lang="en-US" sz="3000" dirty="0"/>
          </a:p>
        </p:txBody>
      </p:sp>
      <p:sp>
        <p:nvSpPr>
          <p:cNvPr id="4" name="rubber"/>
          <p:cNvSpPr/>
          <p:nvPr/>
        </p:nvSpPr>
        <p:spPr>
          <a:xfrm>
            <a:off x="548640" y="1188720"/>
            <a:ext cx="11064240" cy="1234440"/>
          </a:xfrm>
          <a:prstGeom prst="roundRect">
            <a:avLst>
              <a:gd name="adj" fmla="val 4444"/>
            </a:avLst>
          </a:prstGeom>
          <a:solidFill>
            <a:srgbClr val="000000"/>
          </a:solidFill>
          <a:ln w="19050">
            <a:solidFill>
              <a:srgbClr val="E90802"/>
            </a:solidFill>
            <a:prstDash val="solid"/>
          </a:ln>
        </p:spPr>
      </p:sp>
      <p:sp>
        <p:nvSpPr>
          <p:cNvPr id="5" name="rubber-h"/>
          <p:cNvSpPr txBox="1"/>
          <p:nvPr/>
        </p:nvSpPr>
        <p:spPr>
          <a:xfrm>
            <a:off x="786384" y="1389888"/>
            <a:ext cx="10588752" cy="310896"/>
          </a:xfrm>
          <a:prstGeom prst="rect">
            <a:avLst/>
          </a:prstGeom>
          <a:noFill/>
          <a:ln/>
        </p:spPr>
        <p:txBody>
          <a:bodyPr wrap="square" lIns="0" tIns="0" rIns="0" bIns="0" rtlCol="0" anchor="ctr"/>
          <a:lstStyle/>
          <a:p>
            <a:pPr indent="0" marL="0">
              <a:buNone/>
            </a:pPr>
            <a:r>
              <a:rPr lang="en-US" sz="1400" b="1" dirty="0">
                <a:solidFill>
                  <a:srgbClr val="E90802"/>
                </a:solidFill>
              </a:rPr>
              <a:t>Found by breaking our own result: a 3B verifier rubber-stamps unless forced to quote</a:t>
            </a:r>
            <a:endParaRPr lang="en-US" sz="1400" dirty="0"/>
          </a:p>
        </p:txBody>
      </p:sp>
      <p:sp>
        <p:nvSpPr>
          <p:cNvPr id="6" name="rubber-b"/>
          <p:cNvSpPr txBox="1"/>
          <p:nvPr/>
        </p:nvSpPr>
        <p:spPr>
          <a:xfrm>
            <a:off x="786384" y="1773936"/>
            <a:ext cx="10588752" cy="4663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An earlier version reported precision 0.92 and zero contradictions across 258 facts, calling “Aluminium is the rarest metal in the Earth's crust” SUPPORTED with confidence 1.0. Requiring a verbatim quote from the evidence moved precision to 0.42 and made contradictions appear.</a:t>
            </a:r>
            <a:endParaRPr lang="en-US" sz="1200" dirty="0"/>
          </a:p>
        </p:txBody>
      </p:sp>
      <p:graphicFrame>
        <p:nvGraphicFramePr>
          <p:cNvPr id="15" name="fixes"/>
          <p:cNvGraphicFramePr>
            <a:graphicFrameLocks noGrp="1"/>
          </p:cNvGraphicFramePr>
          <p:nvPr>
            <p:extLst>
              <p:ext uri="{D42A27DB-BD31-4B8C-83A1-F6EECF244321}">
                <p14:modId xmlns:p14="http://schemas.microsoft.com/office/powerpoint/2010/main" val="1579011935"/>
              </p:ext>
            </p:extLst>
          </p:nvPr>
        </p:nvGraphicFramePr>
        <p:xfrm>
          <a:off x="548640" y="2606040"/>
          <a:ext cx="11064240" cy="914400"/>
        </p:xfrm>
        <a:graphic>
          <a:graphicData uri="http://schemas.openxmlformats.org/drawingml/2006/table">
            <a:tbl>
              <a:tblPr/>
              <a:tblGrid>
                <a:gridCol w="4206240"/>
                <a:gridCol w="4114800"/>
                <a:gridCol w="2743200"/>
              </a:tblGrid>
              <a:tr h="420624">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What would fix it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Judges are 3B; metrics track the judge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Stronger local judge (7–14B)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tested — 4.2× more found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Union is dominated by the permissive judge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Majority vote, or a third judge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tested — majority wins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Undecided dominates — 146 of 258 verdicts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Dense retrieval, query expansion, reranking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Refined facts are sometimes still flagged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Iterative refinement, maximum two passes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12 questions, 86 facts, no human annotation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Larger benchmark, human-verified references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Recall is itself judge-dependent (0.41 vs 0.28)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Fixed entailment model across all runs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8"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Two rows are now measured rather than proposed. The rest remain proposed directions, not validated results.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TAKEAWAYS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Four things this reimplementation establishes</a:t>
            </a:r>
            <a:endParaRPr lang="en-US" sz="3000" dirty="0"/>
          </a:p>
        </p:txBody>
      </p:sp>
      <p:sp>
        <p:nvSpPr>
          <p:cNvPr id="4" name="tk1"/>
          <p:cNvSpPr/>
          <p:nvPr/>
        </p:nvSpPr>
        <p:spPr>
          <a:xfrm>
            <a:off x="548640" y="1234440"/>
            <a:ext cx="11064240" cy="1024128"/>
          </a:xfrm>
          <a:prstGeom prst="roundRect">
            <a:avLst>
              <a:gd name="adj" fmla="val 5357"/>
            </a:avLst>
          </a:prstGeom>
          <a:solidFill>
            <a:srgbClr val="333333"/>
          </a:solidFill>
          <a:ln w="12700">
            <a:solidFill>
              <a:srgbClr val="333333"/>
            </a:solidFill>
            <a:prstDash val="solid"/>
          </a:ln>
        </p:spPr>
      </p:sp>
      <p:sp>
        <p:nvSpPr>
          <p:cNvPr id="5" name="tk-b1"/>
          <p:cNvSpPr/>
          <p:nvPr/>
        </p:nvSpPr>
        <p:spPr>
          <a:xfrm>
            <a:off x="777240" y="1517904"/>
            <a:ext cx="457200" cy="457200"/>
          </a:xfrm>
          <a:prstGeom prst="ellipse">
            <a:avLst/>
          </a:prstGeom>
          <a:solidFill>
            <a:srgbClr val="E90802"/>
          </a:solidFill>
          <a:ln w="12700">
            <a:solidFill>
              <a:srgbClr val="E90802"/>
            </a:solidFill>
            <a:prstDash val="solid"/>
          </a:ln>
        </p:spPr>
      </p:sp>
      <p:sp>
        <p:nvSpPr>
          <p:cNvPr id="6" name="tk-n1"/>
          <p:cNvSpPr txBox="1"/>
          <p:nvPr/>
        </p:nvSpPr>
        <p:spPr>
          <a:xfrm>
            <a:off x="777240" y="151790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k-t1"/>
          <p:cNvSpPr txBox="1"/>
          <p:nvPr/>
        </p:nvSpPr>
        <p:spPr>
          <a:xfrm>
            <a:off x="1417320" y="1344168"/>
            <a:ext cx="9966960" cy="804672"/>
          </a:xfrm>
          <a:prstGeom prst="rect">
            <a:avLst/>
          </a:prstGeom>
          <a:noFill/>
          <a:ln/>
        </p:spPr>
        <p:txBody>
          <a:bodyPr wrap="square" lIns="0" tIns="0" rIns="0" bIns="0" rtlCol="0" anchor="ctr"/>
          <a:lstStyle/>
          <a:p>
            <a:pPr indent="0" marL="0">
              <a:lnSpc>
                <a:spcPct val="115000"/>
              </a:lnSpc>
              <a:buNone/>
            </a:pPr>
            <a:r>
              <a:rPr lang="en-US" sz="1300" dirty="0">
                <a:solidFill>
                  <a:srgbClr val="EDEDED"/>
                </a:solidFill>
                <a:latin typeface="Arial" pitchFamily="34" charset="0"/>
                <a:ea typeface="Arial" pitchFamily="34" charset="-122"/>
                <a:cs typeface="Arial" pitchFamily="34" charset="-120"/>
              </a:rPr>
              <a:t>The whole VeriFact pipeline runs on a 4 GB consumer GPU with quantized 3B models, free Wikipedia evidence and no API key — and scales to 7–8B on a free T4.</a:t>
            </a:r>
            <a:endParaRPr lang="en-US" sz="1300" dirty="0"/>
          </a:p>
        </p:txBody>
      </p:sp>
      <p:sp>
        <p:nvSpPr>
          <p:cNvPr id="8" name="tk2"/>
          <p:cNvSpPr/>
          <p:nvPr/>
        </p:nvSpPr>
        <p:spPr>
          <a:xfrm>
            <a:off x="548640" y="2423160"/>
            <a:ext cx="11064240" cy="1024128"/>
          </a:xfrm>
          <a:prstGeom prst="roundRect">
            <a:avLst>
              <a:gd name="adj" fmla="val 5357"/>
            </a:avLst>
          </a:prstGeom>
          <a:solidFill>
            <a:srgbClr val="333333"/>
          </a:solidFill>
          <a:ln w="12700">
            <a:solidFill>
              <a:srgbClr val="333333"/>
            </a:solidFill>
            <a:prstDash val="solid"/>
          </a:ln>
        </p:spPr>
      </p:sp>
      <p:sp>
        <p:nvSpPr>
          <p:cNvPr id="9" name="tk-b2"/>
          <p:cNvSpPr/>
          <p:nvPr/>
        </p:nvSpPr>
        <p:spPr>
          <a:xfrm>
            <a:off x="777240" y="2706624"/>
            <a:ext cx="457200" cy="457200"/>
          </a:xfrm>
          <a:prstGeom prst="ellipse">
            <a:avLst/>
          </a:prstGeom>
          <a:solidFill>
            <a:srgbClr val="E90802"/>
          </a:solidFill>
          <a:ln w="12700">
            <a:solidFill>
              <a:srgbClr val="E90802"/>
            </a:solidFill>
            <a:prstDash val="solid"/>
          </a:ln>
        </p:spPr>
      </p:sp>
      <p:sp>
        <p:nvSpPr>
          <p:cNvPr id="10" name="tk-n2"/>
          <p:cNvSpPr txBox="1"/>
          <p:nvPr/>
        </p:nvSpPr>
        <p:spPr>
          <a:xfrm>
            <a:off x="777240" y="270662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k-t2"/>
          <p:cNvSpPr txBox="1"/>
          <p:nvPr/>
        </p:nvSpPr>
        <p:spPr>
          <a:xfrm>
            <a:off x="1417320" y="2532888"/>
            <a:ext cx="9966960" cy="804672"/>
          </a:xfrm>
          <a:prstGeom prst="rect">
            <a:avLst/>
          </a:prstGeom>
          <a:noFill/>
          <a:ln/>
        </p:spPr>
        <p:txBody>
          <a:bodyPr wrap="square" lIns="0" tIns="0" rIns="0" bIns="0" rtlCol="0" anchor="ctr"/>
          <a:lstStyle/>
          <a:p>
            <a:pPr indent="0" marL="0">
              <a:lnSpc>
                <a:spcPct val="115000"/>
              </a:lnSpc>
              <a:buNone/>
            </a:pPr>
            <a:r>
              <a:rPr lang="en-US" sz="1300" dirty="0">
                <a:solidFill>
                  <a:srgbClr val="EDEDED"/>
                </a:solidFill>
                <a:latin typeface="Arial" pitchFamily="34" charset="0"/>
                <a:ea typeface="Arial" pitchFamily="34" charset="-122"/>
                <a:cs typeface="Arial" pitchFamily="34" charset="-120"/>
              </a:rPr>
              <a:t>Refinement changed the verdict on 39–46% of refined facts across three model configurations, against 24.9% in the paper. The phenomenon is robust to model size.</a:t>
            </a:r>
            <a:endParaRPr lang="en-US" sz="1300" dirty="0"/>
          </a:p>
        </p:txBody>
      </p:sp>
      <p:sp>
        <p:nvSpPr>
          <p:cNvPr id="12" name="tk3"/>
          <p:cNvSpPr/>
          <p:nvPr/>
        </p:nvSpPr>
        <p:spPr>
          <a:xfrm>
            <a:off x="548640" y="3611880"/>
            <a:ext cx="11064240" cy="1024128"/>
          </a:xfrm>
          <a:prstGeom prst="roundRect">
            <a:avLst>
              <a:gd name="adj" fmla="val 5357"/>
            </a:avLst>
          </a:prstGeom>
          <a:solidFill>
            <a:srgbClr val="333333"/>
          </a:solidFill>
          <a:ln w="12700">
            <a:solidFill>
              <a:srgbClr val="333333"/>
            </a:solidFill>
            <a:prstDash val="solid"/>
          </a:ln>
        </p:spPr>
      </p:sp>
      <p:sp>
        <p:nvSpPr>
          <p:cNvPr id="13" name="tk-b3"/>
          <p:cNvSpPr/>
          <p:nvPr/>
        </p:nvSpPr>
        <p:spPr>
          <a:xfrm>
            <a:off x="777240" y="3895344"/>
            <a:ext cx="457200" cy="457200"/>
          </a:xfrm>
          <a:prstGeom prst="ellipse">
            <a:avLst/>
          </a:prstGeom>
          <a:solidFill>
            <a:srgbClr val="E90802"/>
          </a:solidFill>
          <a:ln w="12700">
            <a:solidFill>
              <a:srgbClr val="E90802"/>
            </a:solidFill>
            <a:prstDash val="solid"/>
          </a:ln>
        </p:spPr>
      </p:sp>
      <p:sp>
        <p:nvSpPr>
          <p:cNvPr id="14" name="tk-n3"/>
          <p:cNvSpPr txBox="1"/>
          <p:nvPr/>
        </p:nvSpPr>
        <p:spPr>
          <a:xfrm>
            <a:off x="777240" y="389534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5" name="tk-t3"/>
          <p:cNvSpPr txBox="1"/>
          <p:nvPr/>
        </p:nvSpPr>
        <p:spPr>
          <a:xfrm>
            <a:off x="1417320" y="3721608"/>
            <a:ext cx="9966960" cy="804672"/>
          </a:xfrm>
          <a:prstGeom prst="rect">
            <a:avLst/>
          </a:prstGeom>
          <a:noFill/>
          <a:ln/>
        </p:spPr>
        <p:txBody>
          <a:bodyPr wrap="square" lIns="0" tIns="0" rIns="0" bIns="0" rtlCol="0" anchor="ctr"/>
          <a:lstStyle/>
          <a:p>
            <a:pPr indent="0" marL="0">
              <a:lnSpc>
                <a:spcPct val="115000"/>
              </a:lnSpc>
              <a:buNone/>
            </a:pPr>
            <a:r>
              <a:rPr lang="en-US" sz="1300" dirty="0">
                <a:solidFill>
                  <a:srgbClr val="EDEDED"/>
                </a:solidFill>
                <a:latin typeface="Arial" pitchFamily="34" charset="0"/>
                <a:ea typeface="Arial" pitchFamily="34" charset="-122"/>
                <a:cs typeface="Arial" pitchFamily="34" charset="-120"/>
              </a:rPr>
              <a:t>These metrics measure the judge as much as the system: identical facts score 0.105 incomplete at 3B and 0.438 at 7B; identical answers score 0.41 recall at 3B and 0.28 at 7B.</a:t>
            </a:r>
            <a:endParaRPr lang="en-US" sz="1300" dirty="0"/>
          </a:p>
        </p:txBody>
      </p:sp>
      <p:sp>
        <p:nvSpPr>
          <p:cNvPr id="16" name="tk4"/>
          <p:cNvSpPr/>
          <p:nvPr/>
        </p:nvSpPr>
        <p:spPr>
          <a:xfrm>
            <a:off x="548640" y="4800600"/>
            <a:ext cx="11064240" cy="1024128"/>
          </a:xfrm>
          <a:prstGeom prst="roundRect">
            <a:avLst>
              <a:gd name="adj" fmla="val 5357"/>
            </a:avLst>
          </a:prstGeom>
          <a:solidFill>
            <a:srgbClr val="333333"/>
          </a:solidFill>
          <a:ln w="19050">
            <a:solidFill>
              <a:srgbClr val="E90802"/>
            </a:solidFill>
            <a:prstDash val="solid"/>
          </a:ln>
        </p:spPr>
      </p:sp>
      <p:sp>
        <p:nvSpPr>
          <p:cNvPr id="17" name="tk-b4"/>
          <p:cNvSpPr/>
          <p:nvPr/>
        </p:nvSpPr>
        <p:spPr>
          <a:xfrm>
            <a:off x="777240" y="5084064"/>
            <a:ext cx="457200" cy="457200"/>
          </a:xfrm>
          <a:prstGeom prst="ellipse">
            <a:avLst/>
          </a:prstGeom>
          <a:solidFill>
            <a:srgbClr val="E90802"/>
          </a:solidFill>
          <a:ln w="12700">
            <a:solidFill>
              <a:srgbClr val="E90802"/>
            </a:solidFill>
            <a:prstDash val="solid"/>
          </a:ln>
        </p:spPr>
      </p:sp>
      <p:sp>
        <p:nvSpPr>
          <p:cNvPr id="18" name="tk-n4"/>
          <p:cNvSpPr txBox="1"/>
          <p:nvPr/>
        </p:nvSpPr>
        <p:spPr>
          <a:xfrm>
            <a:off x="777240" y="508406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9" name="tk-t4"/>
          <p:cNvSpPr txBox="1"/>
          <p:nvPr/>
        </p:nvSpPr>
        <p:spPr>
          <a:xfrm>
            <a:off x="1417320" y="4910328"/>
            <a:ext cx="9966960" cy="804672"/>
          </a:xfrm>
          <a:prstGeom prst="rect">
            <a:avLst/>
          </a:prstGeom>
          <a:noFill/>
          <a:ln/>
        </p:spPr>
        <p:txBody>
          <a:bodyPr wrap="square" lIns="0" tIns="0" rIns="0" bIns="0" rtlCol="0" anchor="ctr"/>
          <a:lstStyle/>
          <a:p>
            <a:pPr indent="0" marL="0">
              <a:lnSpc>
                <a:spcPct val="115000"/>
              </a:lnSpc>
              <a:buNone/>
            </a:pPr>
            <a:r>
              <a:rPr lang="en-US" sz="1300" dirty="0">
                <a:solidFill>
                  <a:srgbClr val="EDEDED"/>
                </a:solidFill>
                <a:latin typeface="Arial" pitchFamily="34" charset="0"/>
                <a:ea typeface="Arial" pitchFamily="34" charset="-122"/>
                <a:cs typeface="Arial" pitchFamily="34" charset="-120"/>
              </a:rPr>
              <a:t>Majority vote beat the paper's union rule on precision in every configuration — but the large incomplete-rate advantage we first reported was a 3B artifact, and we say so.</a:t>
            </a:r>
            <a:endParaRPr lang="en-US" sz="1300" dirty="0"/>
          </a:p>
        </p:txBody>
      </p:sp>
      <p:sp>
        <p:nvSpPr>
          <p:cNvPr id="20"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Repository: config-driven, cached, 59 tests  ·  three runs reproducible from one command without a GPU</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APPENDIX — NOT PRESENTED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Step 2B: word mapping, the paper's Algorithm 1</a:t>
            </a:r>
            <a:endParaRPr lang="en-US" sz="3000" dirty="0"/>
          </a:p>
        </p:txBody>
      </p:sp>
      <p:sp>
        <p:nvSpPr>
          <p:cNvPr id="4" name="algo"/>
          <p:cNvSpPr txBox="1"/>
          <p:nvPr/>
        </p:nvSpPr>
        <p:spPr>
          <a:xfrm>
            <a:off x="548640" y="1188720"/>
            <a:ext cx="5486400" cy="146304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For each fact, take its longest common substring with the response.</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Mark those response characters as covered.</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Collect the contiguous runs that stayed uncovered.</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Send those spans to the judges as missing-relation candidates.</a:t>
            </a:r>
            <a:endParaRPr lang="en-US" sz="1400" dirty="0"/>
          </a:p>
        </p:txBody>
      </p:sp>
      <p:sp>
        <p:nvSpPr>
          <p:cNvPr id="5" name="impl"/>
          <p:cNvSpPr/>
          <p:nvPr/>
        </p:nvSpPr>
        <p:spPr>
          <a:xfrm>
            <a:off x="548640" y="2788920"/>
            <a:ext cx="5486400" cy="1691640"/>
          </a:xfrm>
          <a:prstGeom prst="roundRect">
            <a:avLst>
              <a:gd name="adj" fmla="val 3243"/>
            </a:avLst>
          </a:prstGeom>
          <a:solidFill>
            <a:srgbClr val="EDEDED"/>
          </a:solidFill>
          <a:ln w="12700">
            <a:solidFill>
              <a:srgbClr val="EDEDED"/>
            </a:solidFill>
            <a:prstDash val="solid"/>
          </a:ln>
        </p:spPr>
      </p:sp>
      <p:sp>
        <p:nvSpPr>
          <p:cNvPr id="6" name="impl-h"/>
          <p:cNvSpPr txBox="1"/>
          <p:nvPr/>
        </p:nvSpPr>
        <p:spPr>
          <a:xfrm>
            <a:off x="786384" y="2990088"/>
            <a:ext cx="5010912" cy="310896"/>
          </a:xfrm>
          <a:prstGeom prst="rect">
            <a:avLst/>
          </a:prstGeom>
          <a:noFill/>
          <a:ln/>
        </p:spPr>
        <p:txBody>
          <a:bodyPr wrap="square" lIns="0" tIns="0" rIns="0" bIns="0" rtlCol="0" anchor="ctr"/>
          <a:lstStyle/>
          <a:p>
            <a:pPr indent="0" marL="0">
              <a:buNone/>
            </a:pPr>
            <a:r>
              <a:rPr lang="en-US" sz="1500" b="1" dirty="0">
                <a:solidFill>
                  <a:srgbClr val="000000"/>
                </a:solidFill>
              </a:rPr>
              <a:t>Implementation</a:t>
            </a:r>
            <a:endParaRPr lang="en-US" sz="1500" dirty="0"/>
          </a:p>
        </p:txBody>
      </p:sp>
      <p:sp>
        <p:nvSpPr>
          <p:cNvPr id="7" name="impl-b"/>
          <p:cNvSpPr txBox="1"/>
          <p:nvPr/>
        </p:nvSpPr>
        <p:spPr>
          <a:xfrm>
            <a:off x="786384" y="3374136"/>
            <a:ext cx="5010912" cy="9235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Normalization for case, whitespace and line breaks is index-preserving — one character in, one character out — so span offsets still point into the original answer.</a:t>
            </a:r>
            <a:endParaRPr lang="en-US" sz="1200" dirty="0"/>
          </a:p>
        </p:txBody>
      </p:sp>
      <p:sp>
        <p:nvSpPr>
          <p:cNvPr id="8" name="cov-box"/>
          <p:cNvSpPr/>
          <p:nvPr/>
        </p:nvSpPr>
        <p:spPr>
          <a:xfrm>
            <a:off x="6355080" y="1188720"/>
            <a:ext cx="5257800" cy="1691640"/>
          </a:xfrm>
          <a:prstGeom prst="roundRect">
            <a:avLst>
              <a:gd name="adj" fmla="val 3243"/>
            </a:avLst>
          </a:prstGeom>
          <a:solidFill>
            <a:srgbClr val="000000"/>
          </a:solidFill>
          <a:ln w="12700">
            <a:solidFill>
              <a:srgbClr val="000000"/>
            </a:solidFill>
            <a:prstDash val="solid"/>
          </a:ln>
        </p:spPr>
      </p:sp>
      <p:sp>
        <p:nvSpPr>
          <p:cNvPr id="9" name="cov-text"/>
          <p:cNvSpPr txBox="1"/>
          <p:nvPr/>
        </p:nvSpPr>
        <p:spPr>
          <a:xfrm>
            <a:off x="6592824" y="1353312"/>
            <a:ext cx="4800600" cy="1097280"/>
          </a:xfrm>
          <a:prstGeom prst="rect">
            <a:avLst/>
          </a:prstGeom>
          <a:noFill/>
          <a:ln/>
        </p:spPr>
        <p:txBody>
          <a:bodyPr wrap="square" lIns="0" tIns="0" rIns="0" bIns="0" rtlCol="0" anchor="ctr"/>
          <a:lstStyle/>
          <a:p>
            <a:pPr indent="0" marL="0">
              <a:lnSpc>
                <a:spcPct val="120000"/>
              </a:lnSpc>
              <a:buNone/>
            </a:pPr>
            <a:r>
              <a:rPr lang="en-US" sz="1300" dirty="0">
                <a:solidFill>
                  <a:srgbClr val="757575"/>
                </a:solidFill>
                <a:latin typeface="Arial" pitchFamily="34" charset="0"/>
                <a:ea typeface="Arial" pitchFamily="34" charset="-122"/>
                <a:cs typeface="Arial" pitchFamily="34" charset="-120"/>
              </a:rPr>
              <a:t>If the demand for gold as jewelry were to disappear, </a:t>
            </a:r>
            <a:pPr indent="0" marL="0">
              <a:lnSpc>
                <a:spcPct val="120000"/>
              </a:lnSpc>
              <a:buNone/>
            </a:pPr>
            <a:r>
              <a:rPr lang="en-US" sz="1300" b="1" dirty="0">
                <a:solidFill>
                  <a:srgbClr val="E90802"/>
                </a:solidFill>
                <a:latin typeface="Arial" pitchFamily="34" charset="0"/>
                <a:ea typeface="Arial" pitchFamily="34" charset="-122"/>
                <a:cs typeface="Arial" pitchFamily="34" charset="-120"/>
              </a:rPr>
              <a:t>making it more competitive with other materials like </a:t>
            </a:r>
            <a:pPr indent="0" marL="0">
              <a:lnSpc>
                <a:spcPct val="120000"/>
              </a:lnSpc>
              <a:buNone/>
            </a:pPr>
            <a:r>
              <a:rPr lang="en-US" sz="1300" dirty="0">
                <a:solidFill>
                  <a:srgbClr val="757575"/>
                </a:solidFill>
                <a:latin typeface="Arial" pitchFamily="34" charset="0"/>
                <a:ea typeface="Arial" pitchFamily="34" charset="-122"/>
                <a:cs typeface="Arial" pitchFamily="34" charset="-120"/>
              </a:rPr>
              <a:t>copper and silver.</a:t>
            </a:r>
            <a:endParaRPr lang="en-US" sz="1300" dirty="0"/>
          </a:p>
        </p:txBody>
      </p:sp>
      <p:sp>
        <p:nvSpPr>
          <p:cNvPr id="10" name="cov-key"/>
          <p:cNvSpPr txBox="1"/>
          <p:nvPr/>
        </p:nvSpPr>
        <p:spPr>
          <a:xfrm>
            <a:off x="6592824" y="2523744"/>
            <a:ext cx="4800600" cy="237744"/>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grey = matched by some fact   ·   scarlet = uncovered span</a:t>
            </a:r>
            <a:endParaRPr lang="en-US" sz="1000" dirty="0"/>
          </a:p>
        </p:txBody>
      </p:sp>
      <p:sp>
        <p:nvSpPr>
          <p:cNvPr id="11" name="twoq"/>
          <p:cNvSpPr/>
          <p:nvPr/>
        </p:nvSpPr>
        <p:spPr>
          <a:xfrm>
            <a:off x="6355080" y="3017520"/>
            <a:ext cx="5257800" cy="1463040"/>
          </a:xfrm>
          <a:prstGeom prst="roundRect">
            <a:avLst>
              <a:gd name="adj" fmla="val 3750"/>
            </a:avLst>
          </a:prstGeom>
          <a:solidFill>
            <a:srgbClr val="FFFFFF"/>
          </a:solidFill>
          <a:ln w="12700">
            <a:solidFill>
              <a:srgbClr val="EDEDED"/>
            </a:solidFill>
            <a:prstDash val="solid"/>
          </a:ln>
        </p:spPr>
      </p:sp>
      <p:sp>
        <p:nvSpPr>
          <p:cNvPr id="12" name="twoq-h"/>
          <p:cNvSpPr txBox="1"/>
          <p:nvPr/>
        </p:nvSpPr>
        <p:spPr>
          <a:xfrm>
            <a:off x="6592824" y="3218688"/>
            <a:ext cx="4782312" cy="310896"/>
          </a:xfrm>
          <a:prstGeom prst="rect">
            <a:avLst/>
          </a:prstGeom>
          <a:noFill/>
          <a:ln/>
        </p:spPr>
        <p:txBody>
          <a:bodyPr wrap="square" lIns="0" tIns="0" rIns="0" bIns="0" rtlCol="0" anchor="ctr"/>
          <a:lstStyle/>
          <a:p>
            <a:pPr indent="0" marL="0">
              <a:buNone/>
            </a:pPr>
            <a:r>
              <a:rPr lang="en-US" sz="1500" b="1" dirty="0">
                <a:solidFill>
                  <a:srgbClr val="000000"/>
                </a:solidFill>
              </a:rPr>
              <a:t>Then two judge questions</a:t>
            </a:r>
            <a:endParaRPr lang="en-US" sz="1500" dirty="0"/>
          </a:p>
        </p:txBody>
      </p:sp>
      <p:sp>
        <p:nvSpPr>
          <p:cNvPr id="13" name="twoq-b"/>
          <p:cNvSpPr txBox="1"/>
          <p:nvPr/>
        </p:nvSpPr>
        <p:spPr>
          <a:xfrm>
            <a:off x="6592824" y="3602736"/>
            <a:ext cx="4782312" cy="6949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1. Does the span express a temporal or contingency relation?</a:t>
            </a:r>
            <a:endParaRPr lang="en-US" sz="1200" dirty="0"/>
          </a:p>
          <a:p>
            <a:pPr indent="0" marL="0">
              <a:lnSpc>
                <a:spcPct val="120000"/>
              </a:lnSpc>
              <a:buNone/>
            </a:pPr>
            <a:r>
              <a:rPr lang="en-US" sz="1200" dirty="0">
                <a:solidFill>
                  <a:srgbClr val="333333"/>
                </a:solidFill>
                <a:latin typeface="Arial" pitchFamily="34" charset="0"/>
                <a:ea typeface="Arial" pitchFamily="34" charset="-122"/>
                <a:cs typeface="Arial" pitchFamily="34" charset="-120"/>
              </a:rPr>
              <a:t>2. Does any single existing fact already capture it?</a:t>
            </a:r>
            <a:endParaRPr lang="en-US" sz="1200" dirty="0"/>
          </a:p>
        </p:txBody>
      </p:sp>
      <p:sp>
        <p:nvSpPr>
          <p:cNvPr id="14" name="wm1"/>
          <p:cNvSpPr/>
          <p:nvPr/>
        </p:nvSpPr>
        <p:spPr>
          <a:xfrm>
            <a:off x="548640" y="4663440"/>
            <a:ext cx="3566160" cy="1188720"/>
          </a:xfrm>
          <a:prstGeom prst="roundRect">
            <a:avLst>
              <a:gd name="adj" fmla="val 4615"/>
            </a:avLst>
          </a:prstGeom>
          <a:solidFill>
            <a:srgbClr val="EDEDED"/>
          </a:solidFill>
          <a:ln w="12700">
            <a:solidFill>
              <a:srgbClr val="EDEDED"/>
            </a:solidFill>
            <a:prstDash val="solid"/>
          </a:ln>
        </p:spPr>
      </p:sp>
      <p:sp>
        <p:nvSpPr>
          <p:cNvPr id="15" name="wm1-l"/>
          <p:cNvSpPr txBox="1"/>
          <p:nvPr/>
        </p:nvSpPr>
        <p:spPr>
          <a:xfrm>
            <a:off x="749808" y="482803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CHARACTER COVERAGE</a:t>
            </a:r>
            <a:endParaRPr lang="en-US" sz="1000" dirty="0"/>
          </a:p>
        </p:txBody>
      </p:sp>
      <p:sp>
        <p:nvSpPr>
          <p:cNvPr id="16" name="wm1-v"/>
          <p:cNvSpPr txBox="1"/>
          <p:nvPr/>
        </p:nvSpPr>
        <p:spPr>
          <a:xfrm>
            <a:off x="749808" y="5084064"/>
            <a:ext cx="3163824" cy="530352"/>
          </a:xfrm>
          <a:prstGeom prst="rect">
            <a:avLst/>
          </a:prstGeom>
          <a:noFill/>
          <a:ln/>
        </p:spPr>
        <p:txBody>
          <a:bodyPr wrap="square" lIns="0" tIns="0" rIns="0" bIns="0" rtlCol="0" anchor="ctr"/>
          <a:lstStyle/>
          <a:p>
            <a:pPr indent="0" marL="0">
              <a:buNone/>
            </a:pPr>
            <a:r>
              <a:rPr lang="en-US" sz="2400" b="1" dirty="0">
                <a:solidFill>
                  <a:srgbClr val="000000"/>
                </a:solidFill>
              </a:rPr>
              <a:t>0.55–0.59</a:t>
            </a:r>
            <a:endParaRPr lang="en-US" sz="2400" dirty="0"/>
          </a:p>
        </p:txBody>
      </p:sp>
      <p:sp>
        <p:nvSpPr>
          <p:cNvPr id="17" name="wm2"/>
          <p:cNvSpPr/>
          <p:nvPr/>
        </p:nvSpPr>
        <p:spPr>
          <a:xfrm>
            <a:off x="4297680" y="4663440"/>
            <a:ext cx="3566160" cy="1188720"/>
          </a:xfrm>
          <a:prstGeom prst="roundRect">
            <a:avLst>
              <a:gd name="adj" fmla="val 4615"/>
            </a:avLst>
          </a:prstGeom>
          <a:solidFill>
            <a:srgbClr val="EDEDED"/>
          </a:solidFill>
          <a:ln w="12700">
            <a:solidFill>
              <a:srgbClr val="EDEDED"/>
            </a:solidFill>
            <a:prstDash val="solid"/>
          </a:ln>
        </p:spPr>
      </p:sp>
      <p:sp>
        <p:nvSpPr>
          <p:cNvPr id="18" name="wm2-l"/>
          <p:cNvSpPr txBox="1"/>
          <p:nvPr/>
        </p:nvSpPr>
        <p:spPr>
          <a:xfrm>
            <a:off x="4498848" y="482803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CANDIDATE SPANS FOUND</a:t>
            </a:r>
            <a:endParaRPr lang="en-US" sz="1000" dirty="0"/>
          </a:p>
        </p:txBody>
      </p:sp>
      <p:sp>
        <p:nvSpPr>
          <p:cNvPr id="19" name="wm2-v"/>
          <p:cNvSpPr txBox="1"/>
          <p:nvPr/>
        </p:nvSpPr>
        <p:spPr>
          <a:xfrm>
            <a:off x="4498848" y="5084064"/>
            <a:ext cx="3163824" cy="530352"/>
          </a:xfrm>
          <a:prstGeom prst="rect">
            <a:avLst/>
          </a:prstGeom>
          <a:noFill/>
          <a:ln/>
        </p:spPr>
        <p:txBody>
          <a:bodyPr wrap="square" lIns="0" tIns="0" rIns="0" bIns="0" rtlCol="0" anchor="ctr"/>
          <a:lstStyle/>
          <a:p>
            <a:pPr indent="0" marL="0">
              <a:buNone/>
            </a:pPr>
            <a:r>
              <a:rPr lang="en-US" sz="2400" b="1" dirty="0">
                <a:solidFill>
                  <a:srgbClr val="000000"/>
                </a:solidFill>
              </a:rPr>
              <a:t>73</a:t>
            </a:r>
            <a:endParaRPr lang="en-US" sz="2400" dirty="0"/>
          </a:p>
        </p:txBody>
      </p:sp>
      <p:sp>
        <p:nvSpPr>
          <p:cNvPr id="20" name="wm3"/>
          <p:cNvSpPr/>
          <p:nvPr/>
        </p:nvSpPr>
        <p:spPr>
          <a:xfrm>
            <a:off x="8046720" y="4663440"/>
            <a:ext cx="3566160" cy="1188720"/>
          </a:xfrm>
          <a:prstGeom prst="roundRect">
            <a:avLst>
              <a:gd name="adj" fmla="val 4615"/>
            </a:avLst>
          </a:prstGeom>
          <a:solidFill>
            <a:srgbClr val="EDEDED"/>
          </a:solidFill>
          <a:ln w="12700">
            <a:solidFill>
              <a:srgbClr val="EDEDED"/>
            </a:solidFill>
            <a:prstDash val="solid"/>
          </a:ln>
        </p:spPr>
      </p:sp>
      <p:sp>
        <p:nvSpPr>
          <p:cNvPr id="21" name="wm3-l"/>
          <p:cNvSpPr txBox="1"/>
          <p:nvPr/>
        </p:nvSpPr>
        <p:spPr>
          <a:xfrm>
            <a:off x="8247888" y="482803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FACT ADDED ONLY WHEN</a:t>
            </a:r>
            <a:endParaRPr lang="en-US" sz="1000" dirty="0"/>
          </a:p>
        </p:txBody>
      </p:sp>
      <p:sp>
        <p:nvSpPr>
          <p:cNvPr id="22" name="wm3-v"/>
          <p:cNvSpPr txBox="1"/>
          <p:nvPr/>
        </p:nvSpPr>
        <p:spPr>
          <a:xfrm>
            <a:off x="8247888" y="5084064"/>
            <a:ext cx="3163824" cy="530352"/>
          </a:xfrm>
          <a:prstGeom prst="rect">
            <a:avLst/>
          </a:prstGeom>
          <a:noFill/>
          <a:ln/>
        </p:spPr>
        <p:txBody>
          <a:bodyPr wrap="square" lIns="0" tIns="0" rIns="0" bIns="0" rtlCol="0" anchor="ctr"/>
          <a:lstStyle/>
          <a:p>
            <a:pPr indent="0" marL="0">
              <a:buNone/>
            </a:pPr>
            <a:r>
              <a:rPr lang="en-US" sz="1600" b="1" dirty="0">
                <a:solidFill>
                  <a:srgbClr val="E90802"/>
                </a:solidFill>
              </a:rPr>
              <a:t>relation ∧ ¬covered</a:t>
            </a:r>
            <a:endParaRPr lang="en-US" sz="1600" dirty="0"/>
          </a:p>
        </p:txBody>
      </p:sp>
      <p:sp>
        <p:nvSpPr>
          <p:cNvPr id="2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Kept lexical, as in the paper. A semantic variant is listed as future work rather than silently substituted.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APPENDIX — NOT PRESENTED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Full ranked list of proposed improvements</a:t>
            </a:r>
            <a:endParaRPr lang="en-US" sz="3000" dirty="0"/>
          </a:p>
        </p:txBody>
      </p:sp>
      <p:sp>
        <p:nvSpPr>
          <p:cNvPr id="4" name="a-meas"/>
          <p:cNvSpPr/>
          <p:nvPr/>
        </p:nvSpPr>
        <p:spPr>
          <a:xfrm>
            <a:off x="548640" y="1188720"/>
            <a:ext cx="5486400" cy="4480560"/>
          </a:xfrm>
          <a:prstGeom prst="roundRect">
            <a:avLst>
              <a:gd name="adj" fmla="val 1224"/>
            </a:avLst>
          </a:prstGeom>
          <a:solidFill>
            <a:srgbClr val="FFFFFF"/>
          </a:solidFill>
          <a:ln w="12700">
            <a:solidFill>
              <a:srgbClr val="EDEDED"/>
            </a:solidFill>
            <a:prstDash val="solid"/>
          </a:ln>
        </p:spPr>
      </p:sp>
      <p:sp>
        <p:nvSpPr>
          <p:cNvPr id="5" name="a-meas-h"/>
          <p:cNvSpPr txBox="1"/>
          <p:nvPr/>
        </p:nvSpPr>
        <p:spPr>
          <a:xfrm>
            <a:off x="786384" y="1389888"/>
            <a:ext cx="5010912" cy="310896"/>
          </a:xfrm>
          <a:prstGeom prst="rect">
            <a:avLst/>
          </a:prstGeom>
          <a:noFill/>
          <a:ln/>
        </p:spPr>
        <p:txBody>
          <a:bodyPr wrap="square" lIns="0" tIns="0" rIns="0" bIns="0" rtlCol="0" anchor="ctr"/>
          <a:lstStyle/>
          <a:p>
            <a:pPr indent="0" marL="0">
              <a:buNone/>
            </a:pPr>
            <a:r>
              <a:rPr lang="en-US" sz="1500" b="1" dirty="0">
                <a:solidFill>
                  <a:srgbClr val="E90802"/>
                </a:solidFill>
              </a:rPr>
              <a:t>Measurement quality</a:t>
            </a:r>
            <a:endParaRPr lang="en-US" sz="1500" dirty="0"/>
          </a:p>
        </p:txBody>
      </p:sp>
      <p:sp>
        <p:nvSpPr>
          <p:cNvPr id="6" name="a-meas-l"/>
          <p:cNvSpPr txBox="1"/>
          <p:nvPr/>
        </p:nvSpPr>
        <p:spPr>
          <a:xfrm>
            <a:off x="786384" y="1737360"/>
            <a:ext cx="5029200" cy="37490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Stronger local judge — tested, 7–8B on a T4</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Majority vote over union — tested, higher precision</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Third judge plus self-consistency</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Verification ensemble — LLM verdict plus an NLI model</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Evidence-aware verification — name the span, then judge</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One fixed entailment model for recall across all runs</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Better reference sets — several answers, human verification</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Calibration of the three label thresholds</a:t>
            </a:r>
            <a:endParaRPr lang="en-US" sz="1300" dirty="0"/>
          </a:p>
        </p:txBody>
      </p:sp>
      <p:sp>
        <p:nvSpPr>
          <p:cNvPr id="7" name="a-econ"/>
          <p:cNvSpPr/>
          <p:nvPr/>
        </p:nvSpPr>
        <p:spPr>
          <a:xfrm>
            <a:off x="6355080" y="1188720"/>
            <a:ext cx="5257800" cy="4480560"/>
          </a:xfrm>
          <a:prstGeom prst="roundRect">
            <a:avLst>
              <a:gd name="adj" fmla="val 1224"/>
            </a:avLst>
          </a:prstGeom>
          <a:solidFill>
            <a:srgbClr val="FFFFFF"/>
          </a:solidFill>
          <a:ln w="12700">
            <a:solidFill>
              <a:srgbClr val="EDEDED"/>
            </a:solidFill>
            <a:prstDash val="solid"/>
          </a:ln>
        </p:spPr>
      </p:sp>
      <p:sp>
        <p:nvSpPr>
          <p:cNvPr id="8" name="a-econ-h"/>
          <p:cNvSpPr txBox="1"/>
          <p:nvPr/>
        </p:nvSpPr>
        <p:spPr>
          <a:xfrm>
            <a:off x="6592824" y="138988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Retrieval, cost and coverage</a:t>
            </a:r>
            <a:endParaRPr lang="en-US" sz="1500" dirty="0"/>
          </a:p>
        </p:txBody>
      </p:sp>
      <p:sp>
        <p:nvSpPr>
          <p:cNvPr id="9" name="a-econ-l"/>
          <p:cNvSpPr txBox="1"/>
          <p:nvPr/>
        </p:nvSpPr>
        <p:spPr>
          <a:xfrm>
            <a:off x="6592824" y="1737360"/>
            <a:ext cx="4800600" cy="37490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Query expansion, dense embeddings, cross-encoder reranking</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Iterative refinement, maximum two passes</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Hybrid rule + LLM relation detection (implemented, off)</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Adaptive evidence count, driven by uncertainty</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Knowledge-source diversification, routed by claim type</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Claim difficulty routing — small model, then large</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Fine-tuned detector; distillation from a large open teacher</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The remaining baselines: FactScore, FactCheck-GPT, VERIFY</a:t>
            </a:r>
            <a:endParaRPr lang="en-US" sz="1300" dirty="0"/>
          </a:p>
        </p:txBody>
      </p:sp>
      <p:sp>
        <p:nvSpPr>
          <p:cNvPr id="10"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The first two items are now measured. The rest are proposed directions with expected metric effects.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APPENDIX — NOT PRESENTED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Experiment B, and known hazards</a:t>
            </a:r>
            <a:endParaRPr lang="en-US" sz="3000" dirty="0"/>
          </a:p>
        </p:txBody>
      </p:sp>
      <p:sp>
        <p:nvSpPr>
          <p:cNvPr id="4" name="expb"/>
          <p:cNvSpPr/>
          <p:nvPr/>
        </p:nvSpPr>
        <p:spPr>
          <a:xfrm>
            <a:off x="548640" y="1188720"/>
            <a:ext cx="11064240" cy="1737360"/>
          </a:xfrm>
          <a:prstGeom prst="roundRect">
            <a:avLst>
              <a:gd name="adj" fmla="val 3158"/>
            </a:avLst>
          </a:prstGeom>
          <a:solidFill>
            <a:srgbClr val="FFFFFF"/>
          </a:solidFill>
          <a:ln w="12700">
            <a:solidFill>
              <a:srgbClr val="EDEDED"/>
            </a:solidFill>
            <a:prstDash val="solid"/>
          </a:ln>
        </p:spPr>
      </p:sp>
      <p:sp>
        <p:nvSpPr>
          <p:cNvPr id="5" name="expb-h"/>
          <p:cNvSpPr txBox="1"/>
          <p:nvPr/>
        </p:nvSpPr>
        <p:spPr>
          <a:xfrm>
            <a:off x="786384" y="1389888"/>
            <a:ext cx="10588752" cy="310896"/>
          </a:xfrm>
          <a:prstGeom prst="rect">
            <a:avLst/>
          </a:prstGeom>
          <a:noFill/>
          <a:ln/>
        </p:spPr>
        <p:txBody>
          <a:bodyPr wrap="square" lIns="0" tIns="0" rIns="0" bIns="0" rtlCol="0" anchor="ctr"/>
          <a:lstStyle/>
          <a:p>
            <a:pPr indent="0" marL="0">
              <a:buNone/>
            </a:pPr>
            <a:r>
              <a:rPr lang="en-US" sz="1400" b="1" dirty="0">
                <a:solidFill>
                  <a:srgbClr val="E90802"/>
                </a:solidFill>
              </a:rPr>
              <a:t>Experiment B — the whole pipeline at 7B, including the extractor</a:t>
            </a:r>
            <a:endParaRPr lang="en-US" sz="1400" dirty="0"/>
          </a:p>
        </p:txBody>
      </p:sp>
      <p:sp>
        <p:nvSpPr>
          <p:cNvPr id="6" name="expb-b"/>
          <p:cNvSpPr txBox="1"/>
          <p:nvPr/>
        </p:nvSpPr>
        <p:spPr>
          <a:xfrm>
            <a:off x="786384" y="1773936"/>
            <a:ext cx="10588752"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Baseline: 15.92 facts per answer against 21.50, incomplete rate 0.319, precision 0.5050. Refinement then costs far less precision (−0.025, against −0.118 in experiment A).</a:t>
            </a:r>
            <a:endParaRPr lang="en-US" sz="1200" dirty="0"/>
          </a:p>
          <a:p>
            <a:pPr indent="0" marL="0">
              <a:lnSpc>
                <a:spcPct val="120000"/>
              </a:lnSpc>
              <a:buNone/>
            </a:pPr>
            <a:r>
              <a:rPr lang="en-US" sz="1200" dirty="0">
                <a:solidFill>
                  <a:srgbClr val="333333"/>
                </a:solidFill>
                <a:latin typeface="Arial" pitchFamily="34" charset="0"/>
                <a:ea typeface="Arial" pitchFamily="34" charset="-122"/>
                <a:cs typeface="Arial" pitchFamily="34" charset="-120"/>
              </a:rPr>
              <a:t>A stronger extractor writes fewer, coarser, more self-contained facts, so there is less to repair — the same trade the paper notes for VERIFY (18.5 facts per response against VeriFact's 32.3).</a:t>
            </a:r>
            <a:endParaRPr lang="en-US" sz="1200" dirty="0"/>
          </a:p>
          <a:p>
            <a:pPr indent="0" marL="0">
              <a:lnSpc>
                <a:spcPct val="120000"/>
              </a:lnSpc>
              <a:buNone/>
            </a:pPr>
            <a:r>
              <a:rPr lang="en-US" sz="1200" dirty="0">
                <a:solidFill>
                  <a:srgbClr val="333333"/>
                </a:solidFill>
                <a:latin typeface="Arial" pitchFamily="34" charset="0"/>
                <a:ea typeface="Arial" pitchFamily="34" charset="-122"/>
                <a:cs typeface="Arial" pitchFamily="34" charset="-120"/>
              </a:rPr>
              <a:t>B changed the extractor, the judge, the verifier and the recall entailment model at once, so its columns read only against its own baseline.</a:t>
            </a:r>
            <a:endParaRPr lang="en-US" sz="1200" dirty="0"/>
          </a:p>
        </p:txBody>
      </p:sp>
      <p:sp>
        <p:nvSpPr>
          <p:cNvPr id="7" name="haz0"/>
          <p:cNvSpPr/>
          <p:nvPr/>
        </p:nvSpPr>
        <p:spPr>
          <a:xfrm>
            <a:off x="548640" y="3154680"/>
            <a:ext cx="3547872" cy="2606040"/>
          </a:xfrm>
          <a:prstGeom prst="roundRect">
            <a:avLst>
              <a:gd name="adj" fmla="val 2105"/>
            </a:avLst>
          </a:prstGeom>
          <a:solidFill>
            <a:srgbClr val="000000"/>
          </a:solidFill>
          <a:ln w="12700">
            <a:solidFill>
              <a:srgbClr val="000000"/>
            </a:solidFill>
            <a:prstDash val="solid"/>
          </a:ln>
        </p:spPr>
      </p:sp>
      <p:sp>
        <p:nvSpPr>
          <p:cNvPr id="8" name="haz0-h"/>
          <p:cNvSpPr txBox="1"/>
          <p:nvPr/>
        </p:nvSpPr>
        <p:spPr>
          <a:xfrm>
            <a:off x="786384" y="335584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GPU hazard</a:t>
            </a:r>
            <a:endParaRPr lang="en-US" sz="1300" dirty="0"/>
          </a:p>
        </p:txBody>
      </p:sp>
      <p:sp>
        <p:nvSpPr>
          <p:cNvPr id="9" name="haz0-b"/>
          <p:cNvSpPr txBox="1"/>
          <p:nvPr/>
        </p:nvSpPr>
        <p:spPr>
          <a:xfrm>
            <a:off x="786384" y="3739896"/>
            <a:ext cx="3072384" cy="1837944"/>
          </a:xfrm>
          <a:prstGeom prst="rect">
            <a:avLst/>
          </a:prstGeom>
          <a:noFill/>
          <a:ln/>
        </p:spPr>
        <p:txBody>
          <a:bodyPr wrap="square" lIns="0" tIns="0" rIns="0" bIns="0" rtlCol="0" anchor="t"/>
          <a:lstStyle/>
          <a:p>
            <a:pPr indent="0" marL="0">
              <a:lnSpc>
                <a:spcPct val="120000"/>
              </a:lnSpc>
              <a:buNone/>
            </a:pPr>
            <a:r>
              <a:rPr lang="en-US" sz="1100" dirty="0">
                <a:solidFill>
                  <a:srgbClr val="EDEDED"/>
                </a:solidFill>
                <a:latin typeface="Arial" pitchFamily="34" charset="0"/>
                <a:ea typeface="Arial" pitchFamily="34" charset="-122"/>
                <a:cs typeface="Arial" pitchFamily="34" charset="-120"/>
              </a:rPr>
              <a:t>Two 3B Q4_K_M judges do not fit in 4 GB. The pipeline drives one judge at a time over the whole fact list, then releases its weights — otherwise the backend waits for the resident model's keep-alive and every call pays a ~20 s model load.</a:t>
            </a:r>
            <a:endParaRPr lang="en-US" sz="1100" dirty="0"/>
          </a:p>
        </p:txBody>
      </p:sp>
      <p:sp>
        <p:nvSpPr>
          <p:cNvPr id="10" name="haz1"/>
          <p:cNvSpPr/>
          <p:nvPr/>
        </p:nvSpPr>
        <p:spPr>
          <a:xfrm>
            <a:off x="4279392" y="3154680"/>
            <a:ext cx="3547872" cy="2606040"/>
          </a:xfrm>
          <a:prstGeom prst="roundRect">
            <a:avLst>
              <a:gd name="adj" fmla="val 2105"/>
            </a:avLst>
          </a:prstGeom>
          <a:solidFill>
            <a:srgbClr val="000000"/>
          </a:solidFill>
          <a:ln w="12700">
            <a:solidFill>
              <a:srgbClr val="000000"/>
            </a:solidFill>
            <a:prstDash val="solid"/>
          </a:ln>
        </p:spPr>
      </p:sp>
      <p:sp>
        <p:nvSpPr>
          <p:cNvPr id="11" name="haz1-h"/>
          <p:cNvSpPr txBox="1"/>
          <p:nvPr/>
        </p:nvSpPr>
        <p:spPr>
          <a:xfrm>
            <a:off x="4517136" y="335584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Retrieval hazard</a:t>
            </a:r>
            <a:endParaRPr lang="en-US" sz="1300" dirty="0"/>
          </a:p>
        </p:txBody>
      </p:sp>
      <p:sp>
        <p:nvSpPr>
          <p:cNvPr id="12" name="haz1-b"/>
          <p:cNvSpPr txBox="1"/>
          <p:nvPr/>
        </p:nvSpPr>
        <p:spPr>
          <a:xfrm>
            <a:off x="4517136" y="3739896"/>
            <a:ext cx="3072384" cy="1837944"/>
          </a:xfrm>
          <a:prstGeom prst="rect">
            <a:avLst/>
          </a:prstGeom>
          <a:noFill/>
          <a:ln/>
        </p:spPr>
        <p:txBody>
          <a:bodyPr wrap="square" lIns="0" tIns="0" rIns="0" bIns="0" rtlCol="0" anchor="t"/>
          <a:lstStyle/>
          <a:p>
            <a:pPr indent="0" marL="0">
              <a:lnSpc>
                <a:spcPct val="120000"/>
              </a:lnSpc>
              <a:buNone/>
            </a:pPr>
            <a:r>
              <a:rPr lang="en-US" sz="1100" dirty="0">
                <a:solidFill>
                  <a:srgbClr val="EDEDED"/>
                </a:solidFill>
                <a:latin typeface="Arial" pitchFamily="34" charset="0"/>
                <a:ea typeface="Arial" pitchFamily="34" charset="-122"/>
                <a:cs typeface="Arial" pitchFamily="34" charset="-120"/>
              </a:rPr>
              <a:t>Wikipedia rate-limits unauthenticated clients. Failed requests are not cached, so without retries a 429 silently becomes “no evidence” and two runs of the same pipeline disagree. Fixed with retries, backoff and Retry-After.</a:t>
            </a:r>
            <a:endParaRPr lang="en-US" sz="1100" dirty="0"/>
          </a:p>
        </p:txBody>
      </p:sp>
      <p:sp>
        <p:nvSpPr>
          <p:cNvPr id="13" name="haz2"/>
          <p:cNvSpPr/>
          <p:nvPr/>
        </p:nvSpPr>
        <p:spPr>
          <a:xfrm>
            <a:off x="8010144" y="3154680"/>
            <a:ext cx="3547872" cy="2606040"/>
          </a:xfrm>
          <a:prstGeom prst="roundRect">
            <a:avLst>
              <a:gd name="adj" fmla="val 2105"/>
            </a:avLst>
          </a:prstGeom>
          <a:solidFill>
            <a:srgbClr val="000000"/>
          </a:solidFill>
          <a:ln w="12700">
            <a:solidFill>
              <a:srgbClr val="000000"/>
            </a:solidFill>
            <a:prstDash val="solid"/>
          </a:ln>
        </p:spPr>
      </p:sp>
      <p:sp>
        <p:nvSpPr>
          <p:cNvPr id="14" name="haz2-h"/>
          <p:cNvSpPr txBox="1"/>
          <p:nvPr/>
        </p:nvSpPr>
        <p:spPr>
          <a:xfrm>
            <a:off x="8247888" y="335584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Reproducibility</a:t>
            </a:r>
            <a:endParaRPr lang="en-US" sz="1300" dirty="0"/>
          </a:p>
        </p:txBody>
      </p:sp>
      <p:sp>
        <p:nvSpPr>
          <p:cNvPr id="15" name="haz2-b"/>
          <p:cNvSpPr txBox="1"/>
          <p:nvPr/>
        </p:nvSpPr>
        <p:spPr>
          <a:xfrm>
            <a:off x="8247888" y="3739896"/>
            <a:ext cx="3072384" cy="1837944"/>
          </a:xfrm>
          <a:prstGeom prst="rect">
            <a:avLst/>
          </a:prstGeom>
          <a:noFill/>
          <a:ln/>
        </p:spPr>
        <p:txBody>
          <a:bodyPr wrap="square" lIns="0" tIns="0" rIns="0" bIns="0" rtlCol="0" anchor="t"/>
          <a:lstStyle/>
          <a:p>
            <a:pPr indent="0" marL="0">
              <a:lnSpc>
                <a:spcPct val="120000"/>
              </a:lnSpc>
              <a:buNone/>
            </a:pPr>
            <a:r>
              <a:rPr lang="en-US" sz="1100" dirty="0">
                <a:solidFill>
                  <a:srgbClr val="EDEDED"/>
                </a:solidFill>
                <a:latin typeface="Arial" pitchFamily="34" charset="0"/>
                <a:ea typeface="Arial" pitchFamily="34" charset="-122"/>
                <a:cs typeface="Arial" pitchFamily="34" charset="-120"/>
              </a:rPr>
              <a:t>Every LLM call is cached under hash(model + prompt + parameters), every page on disk. Temperature-0 decoding is not bit-reproducible until the cache is warm; all three runs replay exactly from the shipped caches.</a:t>
            </a:r>
            <a:endParaRPr lang="en-US" sz="1100" dirty="0"/>
          </a:p>
        </p:txBody>
      </p:sp>
      <p:sp>
        <p:nvSpPr>
          <p:cNvPr id="16"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Full write-up in colab/RESULTS.md; all three runs reproduce from one command with no GPU.</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Texas Tech">
  <a:themeElements>
    <a:clrScheme name="Texas Tech">
      <a:dk1>
        <a:srgbClr val="000000"/>
      </a:dk1>
      <a:lt1>
        <a:srgbClr val="FFFFFF"/>
      </a:lt1>
      <a:dk2>
        <a:srgbClr val="333333"/>
      </a:dk2>
      <a:lt2>
        <a:srgbClr val="EDEDED"/>
      </a:lt2>
      <a:accent1>
        <a:srgbClr val="E90802"/>
      </a:accent1>
      <a:accent2>
        <a:srgbClr val="757575"/>
      </a:accent2>
      <a:accent3>
        <a:srgbClr val="333333"/>
      </a:accent3>
      <a:accent4>
        <a:srgbClr val="EDEDED"/>
      </a:accent4>
      <a:accent5>
        <a:srgbClr val="000000"/>
      </a:accent5>
      <a:accent6>
        <a:srgbClr val="E90802"/>
      </a:accent6>
      <a:hlink>
        <a:srgbClr val="E90802"/>
      </a:hlink>
      <a:folHlink>
        <a:srgbClr val="757575"/>
      </a:folHlink>
    </a:clrScheme>
    <a:fontScheme name="Texas Tech">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Texas Tech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VERIFACT-Lite</dc:title>
  <dc:subject>Reimplementation of VeriFact (EMNLP 2025)</dc:subject>
  <dc:creator>VERIFACT-Lite</dc:creator>
  <cp:lastModifiedBy>VERIFACT-Lite</cp:lastModifiedBy>
  <cp:revision>1</cp:revision>
  <dcterms:created xsi:type="dcterms:W3CDTF">2026-10-07T23:33:28Z</dcterms:created>
  <dcterms:modified xsi:type="dcterms:W3CDTF">2026-10-07T23:33:28Z</dcterms:modified>
</cp:coreProperties>
</file>