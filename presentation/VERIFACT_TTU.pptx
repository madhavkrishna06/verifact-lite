
<file path=[Content_Types].xml><?xml version="1.0" encoding="utf-8"?>
<Types xmlns="http://schemas.openxmlformats.org/package/2006/content-types">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Talk" id="{3C82F99C-11C9-A1B4-4251-9486EDAE6C71}">
          <p14:sldIdLst>
            <p14:sldId id="256"/>
            <p14:sldId id="257"/>
            <p14:sldId id="258"/>
            <p14:sldId id="259"/>
            <p14:sldId id="260"/>
            <p14:sldId id="261"/>
            <p14:sldId id="262"/>
            <p14:sldId id="263"/>
            <p14:sldId id="264"/>
            <p14:sldId id="265"/>
            <p14:sldId id="266"/>
            <p14:sldId id="267"/>
            <p14:sldId id="268"/>
            <p14:sldId id="269"/>
            <p14:sldId id="27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17" d="100"/>
          <a:sy n="117" d="100"/>
        </p:scale>
        <p:origin x="318" y="10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0"/>
        <c:ser>
          <c:idx val="0"/>
          <c:order val="0"/>
          <c:tx>
            <c:strRef>
              <c:f>Sheet1!$B$1</c:f>
              <c:strCache>
                <c:ptCount val="1"/>
                <c:pt idx="0">
                  <c:v>Baseline</c:v>
                </c:pt>
              </c:strCache>
            </c:strRef>
          </c:tx>
          <c:spPr>
            <a:solidFill>
              <a:srgbClr val="B4B4B4"/>
            </a:solidFill>
            <a:effectLst/>
          </c:spPr>
          <c:invertIfNegative val="0"/>
          <c:dLbls>
            <c:numFmt formatCode="0.000" sourceLinked="0"/>
            <c:spPr>
              <a:noFill/>
              <a:ln>
                <a:noFill/>
              </a:ln>
              <a:effectLst/>
            </c:spPr>
            <c:txPr>
              <a:bodyPr/>
              <a:lstStyle/>
              <a:p>
                <a:pPr>
                  <a:defRPr sz="1000" b="0" i="0" u="none" strike="noStrike">
                    <a:solidFill>
                      <a:srgbClr val="444444"/>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Precision</c:v>
                </c:pt>
                <c:pt idx="1">
                  <c:v>Recall</c:v>
                </c:pt>
                <c:pt idx="2">
                  <c:v>F1</c:v>
                </c:pt>
              </c:strCache>
            </c:strRef>
          </c:cat>
          <c:val>
            <c:numRef>
              <c:f>Sheet1!$B$2:$B$4</c:f>
              <c:numCache>
                <c:formatCode>General</c:formatCode>
                <c:ptCount val="3"/>
                <c:pt idx="0">
                  <c:v>0.42</c:v>
                </c:pt>
                <c:pt idx="1">
                  <c:v>0.40770000000000001</c:v>
                </c:pt>
                <c:pt idx="2">
                  <c:v>0.4138</c:v>
                </c:pt>
              </c:numCache>
            </c:numRef>
          </c:val>
          <c:extLst>
            <c:ext xmlns:c16="http://schemas.microsoft.com/office/drawing/2014/chart" uri="{C3380CC4-5D6E-409C-BE32-E72D297353CC}">
              <c16:uniqueId val="{00000000-AE06-4537-B4FD-246AF77FE4A2}"/>
            </c:ext>
          </c:extLst>
        </c:ser>
        <c:ser>
          <c:idx val="1"/>
          <c:order val="1"/>
          <c:tx>
            <c:strRef>
              <c:f>Sheet1!$C$1</c:f>
              <c:strCache>
                <c:ptCount val="1"/>
                <c:pt idx="0">
                  <c:v>VERIFACT-Lite</c:v>
                </c:pt>
              </c:strCache>
            </c:strRef>
          </c:tx>
          <c:spPr>
            <a:solidFill>
              <a:srgbClr val="E90802"/>
            </a:solidFill>
            <a:effectLst/>
          </c:spPr>
          <c:invertIfNegative val="0"/>
          <c:dLbls>
            <c:numFmt formatCode="0.000" sourceLinked="0"/>
            <c:spPr>
              <a:noFill/>
              <a:ln>
                <a:noFill/>
              </a:ln>
              <a:effectLst/>
            </c:spPr>
            <c:txPr>
              <a:bodyPr/>
              <a:lstStyle/>
              <a:p>
                <a:pPr>
                  <a:defRPr sz="1000" b="0" i="0" u="none" strike="noStrike">
                    <a:solidFill>
                      <a:srgbClr val="444444"/>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Precision</c:v>
                </c:pt>
                <c:pt idx="1">
                  <c:v>Recall</c:v>
                </c:pt>
                <c:pt idx="2">
                  <c:v>F1</c:v>
                </c:pt>
              </c:strCache>
            </c:strRef>
          </c:cat>
          <c:val>
            <c:numRef>
              <c:f>Sheet1!$C$2:$C$4</c:f>
              <c:numCache>
                <c:formatCode>General</c:formatCode>
                <c:ptCount val="3"/>
                <c:pt idx="0">
                  <c:v>0.34260000000000002</c:v>
                </c:pt>
                <c:pt idx="1">
                  <c:v>0.40770000000000001</c:v>
                </c:pt>
                <c:pt idx="2">
                  <c:v>0.37230000000000002</c:v>
                </c:pt>
              </c:numCache>
            </c:numRef>
          </c:val>
          <c:extLst>
            <c:ext xmlns:c16="http://schemas.microsoft.com/office/drawing/2014/chart" uri="{C3380CC4-5D6E-409C-BE32-E72D297353CC}">
              <c16:uniqueId val="{00000001-AE06-4537-B4FD-246AF77FE4A2}"/>
            </c:ext>
          </c:extLst>
        </c:ser>
        <c:dLbls>
          <c:showLegendKey val="0"/>
          <c:showVal val="1"/>
          <c:showCatName val="0"/>
          <c:showSerName val="0"/>
          <c:showPercent val="0"/>
          <c:showBubbleSize val="0"/>
        </c:dLbls>
        <c:gapWidth val="6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50" b="0" i="0" u="none" strike="noStrike">
                <a:solidFill>
                  <a:srgbClr val="444444"/>
                </a:solidFill>
                <a:latin typeface="+mn-lt"/>
              </a:defRPr>
            </a:pPr>
            <a:endParaRPr lang="en-US"/>
          </a:p>
        </c:txPr>
        <c:crossAx val="2094734552"/>
        <c:crosses val="autoZero"/>
        <c:auto val="1"/>
        <c:lblAlgn val="ctr"/>
        <c:lblOffset val="100"/>
        <c:noMultiLvlLbl val="1"/>
      </c:catAx>
      <c:valAx>
        <c:axId val="2094734552"/>
        <c:scaling>
          <c:orientation val="minMax"/>
          <c:max val="0.55000000000000004"/>
          <c:min val="0"/>
        </c:scaling>
        <c:delete val="0"/>
        <c:axPos val="l"/>
        <c:majorGridlines>
          <c:spPr>
            <a:ln w="12700" cap="flat">
              <a:solidFill>
                <a:srgbClr val="EFEFEF"/>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950" b="0" i="0" u="none" strike="noStrike">
                <a:solidFill>
                  <a:srgbClr val="767676"/>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050">
              <a:solidFill>
                <a:srgbClr val="767676"/>
              </a:solidFill>
              <a:latin typeface="+mn-lt"/>
              <a:cs typeface="+mn-lt"/>
            </a:defRPr>
          </a:pPr>
          <a:endParaRPr lang="en-US"/>
        </a:p>
      </c:txPr>
    </c:legend>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67887333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[0:20] One sentence: we rebuilt the paper's mechanism on local hardware, measured it against its own baseline, then re-ran the whole thing with larger judges to find out which conclusions were real. Move on quickly.</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[1:15] This example is the whole paper. Verifying the stripped claim gives a meaningless verdict, because it is not what the answer said. Read the two fact lists side by side, then point at the three numbers: measured on human annotation, not anecdote.</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[0:45] Three sentences on what the framework is, then the bottom strip: this is what the paper claims. Say explicitly that the bottom row is the paper's, not ours — the rest of the talk is about which of these behaviours survive at this scale.</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[1:15] Walk the four boxes left to right in about thirty seconds. Spend the rest on the two bottom cards: these are the two mechanisms we reimplemented. The union rule matters later — we test whether it is the right choice.</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[0:55] Do not read the table. Say: every paid or large component has a local stand-in, and the detection logic itself is unchanged. Then the bottom strip — twelve questions written to contain conditions, comparisons and event order, and an answer key written by hand before any run.</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[0:50] The key methodological point: the answer is generated once, so the baseline and VERIFACT-Lite differ only in whether refinement runs. Read the recall definition out loud — it explains why recall never moves between the two.</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[1:30] The main reproduction slide. The mechanism does what the paper says to the fact set, and measured precision goes down. Flag that contradicted did not move at all — that becomes the tell two slides from now.</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[0:45] Walk the table once, then read the three card headings only. Each half of the contribution moves its own metric, and the two compose.</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[1:15] This slide justifies the paper and explains the precision drop. A quarter to nearly half of verdicts are decided by whether the claim kept its context. Dwell on the contradicted row — it is the result we could not get until the judges were bigger, which is the next section.</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[1:00] Frame this as the contribution: the paper ran one configuration, we ran three and asked which results were real. Be explicit that A is the controlled comparison and B is not — that distinction is why the next two slides can say anything at all.</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[1:30] The strongest finding of the project, and it is a methodological one. Any factuality score of this kind is a property of the judge as much as of the system under test. Say plainly: this is why we do not compare our absolute numbers with the paper's.</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[1:15] Two claims, opposite fates. Majority beating union survives everywhere. The dramatic incomplete-rate gap was a 3B artifact and we say so. Then the bottom table: for relations the union really is one judge's opinion at every size, but for incompleteness bigger judges finally complement each other — 33 exceeds both 32 and 27, which is the behaviour the union rule assumes.</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[0:55] Point at the Agreement column, not the numbers. The claim is that the mechanism behaves as described; the claim is explicitly not that the numbers match.</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[0:55] Six changes to the method, not to our code. Each card says what the paper does and what we measured that argues against it. Spend the time on the two in scarlet. Refining blind to the evidence explains a result the paper reports and never accounts for — precision falls after refinement. Calibrating the detector matters because the paper ranks 12 models on a metric that moves 4.2× when only the detector changes, which is larger than most of the gaps being ranked.</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[0:40] Close on points 3 and 4. Point 3 is the finding that generalises beyond this paper. Point 4 is where we corrected ourselves between versions of this talk, which is the honest thing to show. Leave the slide up for the questions.</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a:effectLst/>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a:effectLst/>
      </p:bgPr>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338560" y="6327648"/>
            <a:ext cx="365760" cy="256032"/>
          </a:xfrm>
          <a:prstGeom prst="rect">
            <a:avLst/>
          </a:prstGeom>
          <a:extLst>
            <a:ext uri="{C572A759-6A51-4108-AA02-DFA0A04FC94B}">
              <ma14:wrappingTextBoxFlag xmlns:ma14="http://schemas.microsoft.com/office/mac/drawingml/2011/main" xmlns="" val="0"/>
            </a:ext>
          </a:extLst>
        </p:spPr>
        <p:txBody>
          <a:bodyPr/>
          <a:lstStyle>
            <a:lvl1pPr>
              <a:defRPr sz="900">
                <a:solidFill>
                  <a:srgbClr val="767676"/>
                </a:solidFill>
              </a:defRPr>
            </a:lvl1pPr>
          </a:lstStyle>
          <a:p>
            <a:pPr algn="r"/>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338560" y="6327648"/>
            <a:ext cx="365760" cy="256032"/>
          </a:xfrm>
          <a:prstGeom prst="rect">
            <a:avLst/>
          </a:prstGeom>
          <a:extLst>
            <a:ext uri="{C572A759-6A51-4108-AA02-DFA0A04FC94B}">
              <ma14:wrappingTextBoxFlag xmlns:ma14="http://schemas.microsoft.com/office/mac/drawingml/2011/main" xmlns="" val="0"/>
            </a:ext>
          </a:extLst>
        </p:spPr>
        <p:txBody>
          <a:bodyPr/>
          <a:lstStyle>
            <a:lvl1pPr>
              <a:defRPr sz="900">
                <a:solidFill>
                  <a:srgbClr val="767676"/>
                </a:solidFill>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chart" Target="../charts/char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cover-eyebrow"/>
          <p:cNvSpPr txBox="1"/>
          <p:nvPr/>
        </p:nvSpPr>
        <p:spPr>
          <a:xfrm>
            <a:off x="548640" y="1874520"/>
            <a:ext cx="11064240" cy="274320"/>
          </a:xfrm>
          <a:prstGeom prst="rect">
            <a:avLst/>
          </a:prstGeom>
          <a:noFill/>
          <a:ln/>
        </p:spPr>
        <p:txBody>
          <a:bodyPr wrap="square" lIns="0" tIns="0" rIns="0" bIns="0" rtlCol="0" anchor="ctr"/>
          <a:lstStyle/>
          <a:p>
            <a:pPr marL="0" indent="0">
              <a:buNone/>
            </a:pPr>
            <a:r>
              <a:rPr lang="en-US" sz="1100" b="1" kern="0" spc="200" dirty="0">
                <a:solidFill>
                  <a:srgbClr val="E90802"/>
                </a:solidFill>
                <a:latin typeface="Arial" pitchFamily="34" charset="0"/>
                <a:ea typeface="Arial" pitchFamily="34" charset="-122"/>
                <a:cs typeface="Arial" pitchFamily="34" charset="-120"/>
              </a:rPr>
              <a:t>PAPER REIMPLEMENTATION  ·  NEURAL NETWORKS</a:t>
            </a:r>
            <a:endParaRPr lang="en-US" sz="1100" dirty="0"/>
          </a:p>
        </p:txBody>
      </p:sp>
      <p:sp>
        <p:nvSpPr>
          <p:cNvPr id="3" name="cover-title"/>
          <p:cNvSpPr txBox="1"/>
          <p:nvPr/>
        </p:nvSpPr>
        <p:spPr>
          <a:xfrm>
            <a:off x="548640" y="2240280"/>
            <a:ext cx="11064240" cy="914400"/>
          </a:xfrm>
          <a:prstGeom prst="rect">
            <a:avLst/>
          </a:prstGeom>
          <a:noFill/>
          <a:ln/>
        </p:spPr>
        <p:txBody>
          <a:bodyPr wrap="square" lIns="0" tIns="0" rIns="0" bIns="0" rtlCol="0" anchor="ctr"/>
          <a:lstStyle/>
          <a:p>
            <a:pPr marL="0" indent="0">
              <a:buNone/>
            </a:pPr>
            <a:r>
              <a:rPr lang="en-US" sz="5000" b="1" dirty="0">
                <a:solidFill>
                  <a:srgbClr val="1A1A1A"/>
                </a:solidFill>
              </a:rPr>
              <a:t>VERIFACT</a:t>
            </a:r>
            <a:endParaRPr lang="en-US" sz="5000" dirty="0"/>
          </a:p>
        </p:txBody>
      </p:sp>
      <p:sp>
        <p:nvSpPr>
          <p:cNvPr id="4" name="cover-rule"/>
          <p:cNvSpPr/>
          <p:nvPr/>
        </p:nvSpPr>
        <p:spPr>
          <a:xfrm>
            <a:off x="576072" y="3273552"/>
            <a:ext cx="1737360" cy="45720"/>
          </a:xfrm>
          <a:prstGeom prst="rect">
            <a:avLst/>
          </a:prstGeom>
          <a:solidFill>
            <a:srgbClr val="E90802"/>
          </a:solidFill>
          <a:ln w="3175">
            <a:solidFill>
              <a:srgbClr val="E90802"/>
            </a:solidFill>
            <a:prstDash val="solid"/>
          </a:ln>
        </p:spPr>
        <p:txBody>
          <a:bodyPr/>
          <a:lstStyle/>
          <a:p>
            <a:endParaRPr lang="en-IN"/>
          </a:p>
        </p:txBody>
      </p:sp>
      <p:sp>
        <p:nvSpPr>
          <p:cNvPr id="5" name="cover-body"/>
          <p:cNvSpPr txBox="1"/>
          <p:nvPr/>
        </p:nvSpPr>
        <p:spPr>
          <a:xfrm>
            <a:off x="548640" y="3547872"/>
            <a:ext cx="10241280" cy="365760"/>
          </a:xfrm>
          <a:prstGeom prst="rect">
            <a:avLst/>
          </a:prstGeom>
          <a:noFill/>
          <a:ln/>
        </p:spPr>
        <p:txBody>
          <a:bodyPr wrap="square" lIns="0" tIns="0" rIns="0" bIns="0" rtlCol="0" anchor="ctr"/>
          <a:lstStyle/>
          <a:p>
            <a:pPr marL="0" indent="0">
              <a:buNone/>
            </a:pPr>
            <a:r>
              <a:rPr lang="en-US" sz="1600" dirty="0">
                <a:solidFill>
                  <a:srgbClr val="444444"/>
                </a:solidFill>
                <a:latin typeface="Arial" pitchFamily="34" charset="0"/>
                <a:ea typeface="Arial" pitchFamily="34" charset="-122"/>
                <a:cs typeface="Arial" pitchFamily="34" charset="-120"/>
              </a:rPr>
              <a:t>Reproducing a context-preserving fact-verification pipeline with open-source, locally hosted models</a:t>
            </a:r>
            <a:endParaRPr lang="en-US" sz="1600" dirty="0"/>
          </a:p>
        </p:txBody>
      </p:sp>
      <p:sp>
        <p:nvSpPr>
          <p:cNvPr id="6" name="cover-by-label"/>
          <p:cNvSpPr txBox="1"/>
          <p:nvPr/>
        </p:nvSpPr>
        <p:spPr>
          <a:xfrm>
            <a:off x="548640" y="4041648"/>
            <a:ext cx="10241280" cy="237744"/>
          </a:xfrm>
          <a:prstGeom prst="rect">
            <a:avLst/>
          </a:prstGeom>
          <a:noFill/>
          <a:ln/>
        </p:spPr>
        <p:txBody>
          <a:bodyPr wrap="square" lIns="0" tIns="0" rIns="0" bIns="0" rtlCol="0" anchor="ctr"/>
          <a:lstStyle/>
          <a:p>
            <a:pPr marL="0" indent="0">
              <a:buNone/>
            </a:pPr>
            <a:r>
              <a:rPr lang="en-US" sz="1000" b="1" kern="0" spc="200" dirty="0">
                <a:solidFill>
                  <a:srgbClr val="767676"/>
                </a:solidFill>
                <a:latin typeface="Arial" pitchFamily="34" charset="0"/>
                <a:ea typeface="Arial" pitchFamily="34" charset="-122"/>
                <a:cs typeface="Arial" pitchFamily="34" charset="-120"/>
              </a:rPr>
              <a:t>By</a:t>
            </a:r>
            <a:endParaRPr lang="en-US" sz="1000" dirty="0"/>
          </a:p>
        </p:txBody>
      </p:sp>
      <p:sp>
        <p:nvSpPr>
          <p:cNvPr id="7" name="cover-by"/>
          <p:cNvSpPr txBox="1"/>
          <p:nvPr/>
        </p:nvSpPr>
        <p:spPr>
          <a:xfrm>
            <a:off x="548640" y="4297680"/>
            <a:ext cx="10607040" cy="292608"/>
          </a:xfrm>
          <a:prstGeom prst="rect">
            <a:avLst/>
          </a:prstGeom>
          <a:noFill/>
          <a:ln/>
        </p:spPr>
        <p:txBody>
          <a:bodyPr wrap="square" lIns="0" tIns="0" rIns="0" bIns="0" rtlCol="0" anchor="ctr"/>
          <a:lstStyle/>
          <a:p>
            <a:pPr marL="0" indent="0">
              <a:buNone/>
            </a:pPr>
            <a:r>
              <a:rPr lang="en-US" sz="1300" b="1" dirty="0">
                <a:solidFill>
                  <a:srgbClr val="1A1A1A"/>
                </a:solidFill>
                <a:latin typeface="Arial" pitchFamily="34" charset="0"/>
                <a:ea typeface="Arial" pitchFamily="34" charset="-122"/>
                <a:cs typeface="Arial" pitchFamily="34" charset="-120"/>
              </a:rPr>
              <a:t>Madhav Krishna Arumulla  ·  Sanskar Jadhav  ·  Sri Charan Komati Reddy  ·  Gourav Verma  ·  Trinath Reddy Vundela</a:t>
            </a:r>
            <a:endParaRPr lang="en-US" sz="1300" dirty="0"/>
          </a:p>
        </p:txBody>
      </p:sp>
      <p:sp>
        <p:nvSpPr>
          <p:cNvPr id="8" name="chip0"/>
          <p:cNvSpPr/>
          <p:nvPr/>
        </p:nvSpPr>
        <p:spPr>
          <a:xfrm>
            <a:off x="548640" y="4892040"/>
            <a:ext cx="2631643" cy="365760"/>
          </a:xfrm>
          <a:prstGeom prst="roundRect">
            <a:avLst>
              <a:gd name="adj" fmla="val 50000"/>
            </a:avLst>
          </a:prstGeom>
          <a:solidFill>
            <a:srgbClr val="FFFFFF"/>
          </a:solidFill>
          <a:ln w="9525">
            <a:solidFill>
              <a:srgbClr val="DCDCDC"/>
            </a:solidFill>
            <a:prstDash val="solid"/>
          </a:ln>
        </p:spPr>
        <p:txBody>
          <a:bodyPr/>
          <a:lstStyle/>
          <a:p>
            <a:endParaRPr lang="en-IN"/>
          </a:p>
        </p:txBody>
      </p:sp>
      <p:sp>
        <p:nvSpPr>
          <p:cNvPr id="9" name="chip-t0"/>
          <p:cNvSpPr txBox="1"/>
          <p:nvPr/>
        </p:nvSpPr>
        <p:spPr>
          <a:xfrm>
            <a:off x="548640" y="4892040"/>
            <a:ext cx="2631643" cy="365760"/>
          </a:xfrm>
          <a:prstGeom prst="rect">
            <a:avLst/>
          </a:prstGeom>
          <a:noFill/>
          <a:ln/>
        </p:spPr>
        <p:txBody>
          <a:bodyPr wrap="square" lIns="0" tIns="0" rIns="0" bIns="0" rtlCol="0" anchor="ctr"/>
          <a:lstStyle/>
          <a:p>
            <a:pPr marL="0" indent="0" algn="ctr">
              <a:buNone/>
            </a:pPr>
            <a:r>
              <a:rPr lang="en-US" sz="1100" dirty="0">
                <a:solidFill>
                  <a:srgbClr val="444444"/>
                </a:solidFill>
                <a:latin typeface="Arial" pitchFamily="34" charset="0"/>
                <a:ea typeface="Arial" pitchFamily="34" charset="-122"/>
                <a:cs typeface="Arial" pitchFamily="34" charset="-120"/>
              </a:rPr>
              <a:t>Qwen2.5-3B to Llama-3.1-8B</a:t>
            </a:r>
            <a:endParaRPr lang="en-US" sz="1100" dirty="0"/>
          </a:p>
        </p:txBody>
      </p:sp>
      <p:sp>
        <p:nvSpPr>
          <p:cNvPr id="10" name="chip1"/>
          <p:cNvSpPr/>
          <p:nvPr/>
        </p:nvSpPr>
        <p:spPr>
          <a:xfrm>
            <a:off x="3381451" y="4892040"/>
            <a:ext cx="2546604" cy="365760"/>
          </a:xfrm>
          <a:prstGeom prst="roundRect">
            <a:avLst>
              <a:gd name="adj" fmla="val 50000"/>
            </a:avLst>
          </a:prstGeom>
          <a:solidFill>
            <a:srgbClr val="FFFFFF"/>
          </a:solidFill>
          <a:ln w="9525">
            <a:solidFill>
              <a:srgbClr val="DCDCDC"/>
            </a:solidFill>
            <a:prstDash val="solid"/>
          </a:ln>
        </p:spPr>
        <p:txBody>
          <a:bodyPr/>
          <a:lstStyle/>
          <a:p>
            <a:endParaRPr lang="en-IN"/>
          </a:p>
        </p:txBody>
      </p:sp>
      <p:sp>
        <p:nvSpPr>
          <p:cNvPr id="11" name="chip-t1"/>
          <p:cNvSpPr txBox="1"/>
          <p:nvPr/>
        </p:nvSpPr>
        <p:spPr>
          <a:xfrm>
            <a:off x="3381451" y="4892040"/>
            <a:ext cx="2546604" cy="365760"/>
          </a:xfrm>
          <a:prstGeom prst="rect">
            <a:avLst/>
          </a:prstGeom>
          <a:noFill/>
          <a:ln/>
        </p:spPr>
        <p:txBody>
          <a:bodyPr wrap="square" lIns="0" tIns="0" rIns="0" bIns="0" rtlCol="0" anchor="ctr"/>
          <a:lstStyle/>
          <a:p>
            <a:pPr marL="0" indent="0" algn="ctr">
              <a:buNone/>
            </a:pPr>
            <a:r>
              <a:rPr lang="en-US" sz="1100" dirty="0">
                <a:solidFill>
                  <a:srgbClr val="444444"/>
                </a:solidFill>
                <a:latin typeface="Arial" pitchFamily="34" charset="0"/>
                <a:ea typeface="Arial" pitchFamily="34" charset="-122"/>
                <a:cs typeface="Arial" pitchFamily="34" charset="-120"/>
              </a:rPr>
              <a:t>Q4_K_M, 4 GB GPU and a T4</a:t>
            </a:r>
            <a:endParaRPr lang="en-US" sz="1100" dirty="0"/>
          </a:p>
        </p:txBody>
      </p:sp>
      <p:sp>
        <p:nvSpPr>
          <p:cNvPr id="12" name="chip2"/>
          <p:cNvSpPr/>
          <p:nvPr/>
        </p:nvSpPr>
        <p:spPr>
          <a:xfrm>
            <a:off x="6129223" y="4892040"/>
            <a:ext cx="1951330" cy="365760"/>
          </a:xfrm>
          <a:prstGeom prst="roundRect">
            <a:avLst>
              <a:gd name="adj" fmla="val 50000"/>
            </a:avLst>
          </a:prstGeom>
          <a:solidFill>
            <a:srgbClr val="FFFFFF"/>
          </a:solidFill>
          <a:ln w="9525">
            <a:solidFill>
              <a:srgbClr val="DCDCDC"/>
            </a:solidFill>
            <a:prstDash val="solid"/>
          </a:ln>
        </p:spPr>
        <p:txBody>
          <a:bodyPr/>
          <a:lstStyle/>
          <a:p>
            <a:endParaRPr lang="en-IN"/>
          </a:p>
        </p:txBody>
      </p:sp>
      <p:sp>
        <p:nvSpPr>
          <p:cNvPr id="13" name="chip-t2"/>
          <p:cNvSpPr txBox="1"/>
          <p:nvPr/>
        </p:nvSpPr>
        <p:spPr>
          <a:xfrm>
            <a:off x="6129223" y="4892040"/>
            <a:ext cx="1951330" cy="365760"/>
          </a:xfrm>
          <a:prstGeom prst="rect">
            <a:avLst/>
          </a:prstGeom>
          <a:noFill/>
          <a:ln/>
        </p:spPr>
        <p:txBody>
          <a:bodyPr wrap="square" lIns="0" tIns="0" rIns="0" bIns="0" rtlCol="0" anchor="ctr"/>
          <a:lstStyle/>
          <a:p>
            <a:pPr marL="0" indent="0" algn="ctr">
              <a:buNone/>
            </a:pPr>
            <a:r>
              <a:rPr lang="en-US" sz="1100" dirty="0">
                <a:solidFill>
                  <a:srgbClr val="444444"/>
                </a:solidFill>
                <a:latin typeface="Arial" pitchFamily="34" charset="0"/>
                <a:ea typeface="Arial" pitchFamily="34" charset="-122"/>
                <a:cs typeface="Arial" pitchFamily="34" charset="-120"/>
              </a:rPr>
              <a:t>Wikipedia evidence</a:t>
            </a:r>
            <a:endParaRPr lang="en-US" sz="1100" dirty="0"/>
          </a:p>
        </p:txBody>
      </p:sp>
      <p:sp>
        <p:nvSpPr>
          <p:cNvPr id="14" name="chip3"/>
          <p:cNvSpPr/>
          <p:nvPr/>
        </p:nvSpPr>
        <p:spPr>
          <a:xfrm>
            <a:off x="8281721" y="4892040"/>
            <a:ext cx="3141878" cy="365760"/>
          </a:xfrm>
          <a:prstGeom prst="roundRect">
            <a:avLst>
              <a:gd name="adj" fmla="val 50000"/>
            </a:avLst>
          </a:prstGeom>
          <a:solidFill>
            <a:srgbClr val="FFFFFF"/>
          </a:solidFill>
          <a:ln w="9525">
            <a:solidFill>
              <a:srgbClr val="E90802"/>
            </a:solidFill>
            <a:prstDash val="solid"/>
          </a:ln>
        </p:spPr>
        <p:txBody>
          <a:bodyPr/>
          <a:lstStyle/>
          <a:p>
            <a:endParaRPr lang="en-IN"/>
          </a:p>
        </p:txBody>
      </p:sp>
      <p:sp>
        <p:nvSpPr>
          <p:cNvPr id="15" name="chip-t3"/>
          <p:cNvSpPr txBox="1"/>
          <p:nvPr/>
        </p:nvSpPr>
        <p:spPr>
          <a:xfrm>
            <a:off x="8281721" y="4892040"/>
            <a:ext cx="3141878" cy="365760"/>
          </a:xfrm>
          <a:prstGeom prst="rect">
            <a:avLst/>
          </a:prstGeom>
          <a:noFill/>
          <a:ln/>
        </p:spPr>
        <p:txBody>
          <a:bodyPr wrap="square" lIns="0" tIns="0" rIns="0" bIns="0" rtlCol="0" anchor="ctr"/>
          <a:lstStyle/>
          <a:p>
            <a:pPr marL="0" indent="0" algn="ctr">
              <a:buNone/>
            </a:pPr>
            <a:r>
              <a:rPr lang="en-US" sz="1100" dirty="0">
                <a:solidFill>
                  <a:srgbClr val="E90802"/>
                </a:solidFill>
                <a:latin typeface="Arial" pitchFamily="34" charset="0"/>
                <a:ea typeface="Arial" pitchFamily="34" charset="-122"/>
                <a:cs typeface="Arial" pitchFamily="34" charset="-120"/>
              </a:rPr>
              <a:t>12 questions, 86 reference facts</a:t>
            </a:r>
            <a:endParaRPr lang="en-US" sz="1100" dirty="0"/>
          </a:p>
        </p:txBody>
      </p:sp>
      <p:sp>
        <p:nvSpPr>
          <p:cNvPr id="16" name="cover-foot"/>
          <p:cNvSpPr txBox="1"/>
          <p:nvPr/>
        </p:nvSpPr>
        <p:spPr>
          <a:xfrm>
            <a:off x="548640" y="5806440"/>
            <a:ext cx="11064240" cy="274320"/>
          </a:xfrm>
          <a:prstGeom prst="rect">
            <a:avLst/>
          </a:prstGeom>
          <a:noFill/>
          <a:ln/>
        </p:spPr>
        <p:txBody>
          <a:bodyPr wrap="square" lIns="0" tIns="0" rIns="0" bIns="0" rtlCol="0" anchor="ctr"/>
          <a:lstStyle/>
          <a:p>
            <a:pPr marL="0" indent="0">
              <a:buNone/>
            </a:pPr>
            <a:r>
              <a:rPr lang="en-US" sz="1050" dirty="0">
                <a:solidFill>
                  <a:srgbClr val="767676"/>
                </a:solidFill>
                <a:latin typeface="Arial" pitchFamily="34" charset="0"/>
                <a:ea typeface="Arial" pitchFamily="34" charset="-122"/>
                <a:cs typeface="Arial" pitchFamily="34" charset="-120"/>
              </a:rPr>
              <a:t>Liu, Zhang, Munir, Gu &amp; Wang — EMNLP </a:t>
            </a:r>
            <a:r>
              <a:rPr lang="en-US" sz="1050">
                <a:solidFill>
                  <a:srgbClr val="767676"/>
                </a:solidFill>
                <a:latin typeface="Arial" pitchFamily="34" charset="0"/>
                <a:ea typeface="Arial" pitchFamily="34" charset="-122"/>
                <a:cs typeface="Arial" pitchFamily="34" charset="-120"/>
              </a:rPr>
              <a:t>2025 </a:t>
            </a:r>
            <a:endParaRPr lang="en-US" sz="10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eyebrow"/>
          <p:cNvSpPr txBox="1"/>
          <p:nvPr/>
        </p:nvSpPr>
        <p:spPr>
          <a:xfrm>
            <a:off x="548640" y="347472"/>
            <a:ext cx="11064240" cy="237744"/>
          </a:xfrm>
          <a:prstGeom prst="rect">
            <a:avLst/>
          </a:prstGeom>
          <a:noFill/>
          <a:ln/>
        </p:spPr>
        <p:txBody>
          <a:bodyPr wrap="square" lIns="0" tIns="0" rIns="0" bIns="0" rtlCol="0" anchor="ctr"/>
          <a:lstStyle/>
          <a:p>
            <a:pPr marL="0" indent="0">
              <a:buNone/>
            </a:pPr>
            <a:r>
              <a:rPr lang="en-US" sz="1000" b="1" kern="0" spc="200" dirty="0">
                <a:solidFill>
                  <a:srgbClr val="E90802"/>
                </a:solidFill>
                <a:latin typeface="Arial" pitchFamily="34" charset="0"/>
                <a:ea typeface="Arial" pitchFamily="34" charset="-122"/>
                <a:cs typeface="Arial" pitchFamily="34" charset="-120"/>
              </a:rPr>
              <a:t>THE PROBLEM</a:t>
            </a:r>
            <a:endParaRPr lang="en-US" sz="1000" dirty="0"/>
          </a:p>
        </p:txBody>
      </p:sp>
      <p:sp>
        <p:nvSpPr>
          <p:cNvPr id="3" name="title"/>
          <p:cNvSpPr txBox="1"/>
          <p:nvPr/>
        </p:nvSpPr>
        <p:spPr>
          <a:xfrm>
            <a:off x="548640" y="621792"/>
            <a:ext cx="11064240" cy="548640"/>
          </a:xfrm>
          <a:prstGeom prst="rect">
            <a:avLst/>
          </a:prstGeom>
          <a:noFill/>
          <a:ln/>
        </p:spPr>
        <p:txBody>
          <a:bodyPr wrap="square" lIns="0" tIns="0" rIns="0" bIns="0" rtlCol="0" anchor="ctr"/>
          <a:lstStyle/>
          <a:p>
            <a:pPr marL="0" indent="0">
              <a:buNone/>
            </a:pPr>
            <a:r>
              <a:rPr lang="en-US" sz="2700" b="1" dirty="0">
                <a:solidFill>
                  <a:srgbClr val="1A1A1A"/>
                </a:solidFill>
              </a:rPr>
              <a:t>Atomic facts lose the context that makes them true</a:t>
            </a:r>
            <a:endParaRPr lang="en-US" sz="2700" dirty="0"/>
          </a:p>
        </p:txBody>
      </p:sp>
      <p:sp>
        <p:nvSpPr>
          <p:cNvPr id="4" name="subtitle"/>
          <p:cNvSpPr txBox="1"/>
          <p:nvPr/>
        </p:nvSpPr>
        <p:spPr>
          <a:xfrm>
            <a:off x="548640" y="1188720"/>
            <a:ext cx="11064240" cy="256032"/>
          </a:xfrm>
          <a:prstGeom prst="rect">
            <a:avLst/>
          </a:prstGeom>
          <a:noFill/>
          <a:ln/>
        </p:spPr>
        <p:txBody>
          <a:bodyPr wrap="square" lIns="0" tIns="0" rIns="0" bIns="0" rtlCol="0" anchor="ctr"/>
          <a:lstStyle/>
          <a:p>
            <a:pPr marL="0" indent="0">
              <a:buNone/>
            </a:pPr>
            <a:r>
              <a:rPr lang="en-US" sz="1350" dirty="0">
                <a:solidFill>
                  <a:srgbClr val="767676"/>
                </a:solidFill>
                <a:latin typeface="Arial" pitchFamily="34" charset="0"/>
                <a:ea typeface="Arial" pitchFamily="34" charset="-122"/>
                <a:cs typeface="Arial" pitchFamily="34" charset="-120"/>
              </a:rPr>
              <a:t>The challenge of context-free fact verification</a:t>
            </a:r>
            <a:endParaRPr lang="en-US" sz="1350" dirty="0"/>
          </a:p>
        </p:txBody>
      </p:sp>
      <p:sp>
        <p:nvSpPr>
          <p:cNvPr id="5" name="head-rule"/>
          <p:cNvSpPr/>
          <p:nvPr/>
        </p:nvSpPr>
        <p:spPr>
          <a:xfrm>
            <a:off x="548640" y="1499616"/>
            <a:ext cx="11064240" cy="10973"/>
          </a:xfrm>
          <a:prstGeom prst="rect">
            <a:avLst/>
          </a:prstGeom>
          <a:solidFill>
            <a:srgbClr val="DCDCDC"/>
          </a:solidFill>
          <a:ln w="3175">
            <a:solidFill>
              <a:srgbClr val="DCDCDC"/>
            </a:solidFill>
            <a:prstDash val="solid"/>
          </a:ln>
        </p:spPr>
        <p:txBody>
          <a:bodyPr/>
          <a:lstStyle/>
          <a:p>
            <a:endParaRPr lang="en-IN"/>
          </a:p>
        </p:txBody>
      </p:sp>
      <p:sp>
        <p:nvSpPr>
          <p:cNvPr id="6" name="quote"/>
          <p:cNvSpPr/>
          <p:nvPr/>
        </p:nvSpPr>
        <p:spPr>
          <a:xfrm>
            <a:off x="548640" y="1600200"/>
            <a:ext cx="11064240" cy="731520"/>
          </a:xfrm>
          <a:prstGeom prst="rect">
            <a:avLst/>
          </a:prstGeom>
          <a:solidFill>
            <a:srgbClr val="F4F4F4"/>
          </a:solidFill>
          <a:ln w="9525">
            <a:solidFill>
              <a:srgbClr val="F4F4F4"/>
            </a:solidFill>
            <a:prstDash val="solid"/>
          </a:ln>
        </p:spPr>
        <p:txBody>
          <a:bodyPr/>
          <a:lstStyle/>
          <a:p>
            <a:endParaRPr lang="en-IN"/>
          </a:p>
        </p:txBody>
      </p:sp>
      <p:sp>
        <p:nvSpPr>
          <p:cNvPr id="7" name="quote-text"/>
          <p:cNvSpPr txBox="1"/>
          <p:nvPr/>
        </p:nvSpPr>
        <p:spPr>
          <a:xfrm>
            <a:off x="804672" y="1673352"/>
            <a:ext cx="10552176" cy="585216"/>
          </a:xfrm>
          <a:prstGeom prst="rect">
            <a:avLst/>
          </a:prstGeom>
          <a:noFill/>
          <a:ln/>
        </p:spPr>
        <p:txBody>
          <a:bodyPr wrap="square" lIns="0" tIns="0" rIns="0" bIns="0" rtlCol="0" anchor="ctr"/>
          <a:lstStyle/>
          <a:p>
            <a:pPr marL="0" indent="0">
              <a:lnSpc>
                <a:spcPct val="112000"/>
              </a:lnSpc>
              <a:buNone/>
            </a:pPr>
            <a:r>
              <a:rPr lang="en-US" sz="1150" b="1" dirty="0">
                <a:solidFill>
                  <a:srgbClr val="767676"/>
                </a:solidFill>
                <a:latin typeface="Arial" pitchFamily="34" charset="0"/>
                <a:ea typeface="Arial" pitchFamily="34" charset="-122"/>
                <a:cs typeface="Arial" pitchFamily="34" charset="-120"/>
              </a:rPr>
              <a:t>Model answer:  </a:t>
            </a:r>
            <a:r>
              <a:rPr lang="en-US" sz="1400" dirty="0">
                <a:solidFill>
                  <a:srgbClr val="1A1A1A"/>
                </a:solidFill>
                <a:latin typeface="Arial" pitchFamily="34" charset="0"/>
                <a:ea typeface="Arial" pitchFamily="34" charset="-122"/>
                <a:cs typeface="Arial" pitchFamily="34" charset="-120"/>
              </a:rPr>
              <a:t>"If the demand for gold as jewelry were to disappear, the price of gold could drop by 20–50% or more, </a:t>
            </a:r>
            <a:r>
              <a:rPr lang="en-US" sz="1400" b="1" dirty="0">
                <a:solidFill>
                  <a:srgbClr val="E90802"/>
                </a:solidFill>
                <a:latin typeface="Arial" pitchFamily="34" charset="0"/>
                <a:ea typeface="Arial" pitchFamily="34" charset="-122"/>
                <a:cs typeface="Arial" pitchFamily="34" charset="-120"/>
              </a:rPr>
              <a:t>making</a:t>
            </a:r>
            <a:r>
              <a:rPr lang="en-US" sz="1400" dirty="0">
                <a:solidFill>
                  <a:srgbClr val="1A1A1A"/>
                </a:solidFill>
                <a:latin typeface="Arial" pitchFamily="34" charset="0"/>
                <a:ea typeface="Arial" pitchFamily="34" charset="-122"/>
                <a:cs typeface="Arial" pitchFamily="34" charset="-120"/>
              </a:rPr>
              <a:t> it more competitive with other materials like copper and silver."</a:t>
            </a:r>
            <a:endParaRPr lang="en-US" sz="1150" dirty="0"/>
          </a:p>
        </p:txBody>
      </p:sp>
      <p:sp>
        <p:nvSpPr>
          <p:cNvPr id="8" name="safe"/>
          <p:cNvSpPr/>
          <p:nvPr/>
        </p:nvSpPr>
        <p:spPr>
          <a:xfrm>
            <a:off x="548640" y="2514600"/>
            <a:ext cx="5394960" cy="2240280"/>
          </a:xfrm>
          <a:prstGeom prst="rect">
            <a:avLst/>
          </a:prstGeom>
          <a:solidFill>
            <a:srgbClr val="FFFFFF"/>
          </a:solidFill>
          <a:ln w="9525">
            <a:solidFill>
              <a:srgbClr val="DCDCDC"/>
            </a:solidFill>
            <a:prstDash val="solid"/>
          </a:ln>
        </p:spPr>
        <p:txBody>
          <a:bodyPr/>
          <a:lstStyle/>
          <a:p>
            <a:endParaRPr lang="en-IN"/>
          </a:p>
        </p:txBody>
      </p:sp>
      <p:sp>
        <p:nvSpPr>
          <p:cNvPr id="9" name="safe-h"/>
          <p:cNvSpPr txBox="1"/>
          <p:nvPr/>
        </p:nvSpPr>
        <p:spPr>
          <a:xfrm>
            <a:off x="804672" y="2715768"/>
            <a:ext cx="4882896" cy="292608"/>
          </a:xfrm>
          <a:prstGeom prst="rect">
            <a:avLst/>
          </a:prstGeom>
          <a:noFill/>
          <a:ln/>
        </p:spPr>
        <p:txBody>
          <a:bodyPr wrap="square" lIns="0" tIns="0" rIns="0" bIns="0" rtlCol="0" anchor="ctr"/>
          <a:lstStyle/>
          <a:p>
            <a:pPr marL="0" indent="0">
              <a:buNone/>
            </a:pPr>
            <a:r>
              <a:rPr lang="en-US" sz="1450" b="1" dirty="0">
                <a:solidFill>
                  <a:srgbClr val="1A1A1A"/>
                </a:solidFill>
              </a:rPr>
              <a:t>Extracted by SAFE</a:t>
            </a:r>
            <a:endParaRPr lang="en-US" sz="1450" dirty="0"/>
          </a:p>
        </p:txBody>
      </p:sp>
      <p:sp>
        <p:nvSpPr>
          <p:cNvPr id="10" name="safe-list"/>
          <p:cNvSpPr txBox="1"/>
          <p:nvPr/>
        </p:nvSpPr>
        <p:spPr>
          <a:xfrm>
            <a:off x="804672" y="2980944"/>
            <a:ext cx="4882896" cy="1664208"/>
          </a:xfrm>
          <a:prstGeom prst="rect">
            <a:avLst/>
          </a:prstGeom>
          <a:noFill/>
          <a:ln/>
        </p:spPr>
        <p:txBody>
          <a:bodyPr wrap="square" lIns="0" tIns="0" rIns="0" bIns="0" rtlCol="0" anchor="ctr"/>
          <a:lstStyle/>
          <a:p>
            <a:pPr marL="342900" indent="-342900">
              <a:spcAft>
                <a:spcPts val="400"/>
              </a:spcAft>
              <a:buSzPct val="100000"/>
              <a:buChar char="•"/>
            </a:pPr>
            <a:r>
              <a:rPr lang="en-US" sz="1250" dirty="0">
                <a:solidFill>
                  <a:srgbClr val="444444"/>
                </a:solidFill>
                <a:latin typeface="Arial" pitchFamily="34" charset="0"/>
                <a:ea typeface="Arial" pitchFamily="34" charset="-122"/>
                <a:cs typeface="Arial" pitchFamily="34" charset="-120"/>
              </a:rPr>
              <a:t>There is a demand for gold as jewelry.</a:t>
            </a:r>
            <a:endParaRPr lang="en-US" sz="1250" dirty="0"/>
          </a:p>
          <a:p>
            <a:pPr marL="342900" indent="-342900">
              <a:spcAft>
                <a:spcPts val="400"/>
              </a:spcAft>
              <a:buSzPct val="100000"/>
              <a:buChar char="•"/>
            </a:pPr>
            <a:r>
              <a:rPr lang="en-US" sz="1250" dirty="0">
                <a:solidFill>
                  <a:srgbClr val="444444"/>
                </a:solidFill>
                <a:latin typeface="Arial" pitchFamily="34" charset="0"/>
                <a:ea typeface="Arial" pitchFamily="34" charset="-122"/>
                <a:cs typeface="Arial" pitchFamily="34" charset="-120"/>
              </a:rPr>
              <a:t>The price of gold could drop by 20–50% or more.</a:t>
            </a:r>
            <a:endParaRPr lang="en-US" sz="1250" dirty="0"/>
          </a:p>
          <a:p>
            <a:pPr marL="0" indent="0">
              <a:spcAft>
                <a:spcPts val="400"/>
              </a:spcAft>
              <a:buNone/>
            </a:pPr>
            <a:r>
              <a:rPr lang="en-US" sz="1050" b="1" dirty="0">
                <a:solidFill>
                  <a:srgbClr val="E90802"/>
                </a:solidFill>
                <a:latin typeface="Arial" pitchFamily="34" charset="0"/>
                <a:ea typeface="Arial" pitchFamily="34" charset="-122"/>
                <a:cs typeface="Arial" pitchFamily="34" charset="-120"/>
              </a:rPr>
              <a:t>condition dropped</a:t>
            </a:r>
            <a:endParaRPr lang="en-US" sz="1250" dirty="0"/>
          </a:p>
          <a:p>
            <a:pPr marL="342900" indent="-342900">
              <a:spcAft>
                <a:spcPts val="400"/>
              </a:spcAft>
              <a:buSzPct val="100000"/>
              <a:buChar char="•"/>
            </a:pPr>
            <a:r>
              <a:rPr lang="en-US" sz="1250" dirty="0">
                <a:solidFill>
                  <a:srgbClr val="444444"/>
                </a:solidFill>
                <a:latin typeface="Arial" pitchFamily="34" charset="0"/>
                <a:ea typeface="Arial" pitchFamily="34" charset="-122"/>
                <a:cs typeface="Arial" pitchFamily="34" charset="-120"/>
              </a:rPr>
              <a:t>Copper and silver are competitive with gold in price.</a:t>
            </a:r>
            <a:endParaRPr lang="en-US" sz="1250" dirty="0"/>
          </a:p>
          <a:p>
            <a:pPr marL="0" indent="0">
              <a:spcAft>
                <a:spcPts val="400"/>
              </a:spcAft>
              <a:buNone/>
            </a:pPr>
            <a:r>
              <a:rPr lang="en-US" sz="1050" b="1" dirty="0">
                <a:solidFill>
                  <a:srgbClr val="E90802"/>
                </a:solidFill>
                <a:latin typeface="Arial" pitchFamily="34" charset="0"/>
                <a:ea typeface="Arial" pitchFamily="34" charset="-122"/>
                <a:cs typeface="Arial" pitchFamily="34" charset="-120"/>
              </a:rPr>
              <a:t>stated unconditionally; the causal link in “making” is never extracted</a:t>
            </a:r>
            <a:endParaRPr lang="en-US" sz="1250" dirty="0"/>
          </a:p>
        </p:txBody>
      </p:sp>
      <p:sp>
        <p:nvSpPr>
          <p:cNvPr id="11" name="vf"/>
          <p:cNvSpPr/>
          <p:nvPr/>
        </p:nvSpPr>
        <p:spPr>
          <a:xfrm>
            <a:off x="6217920" y="2514600"/>
            <a:ext cx="5394960" cy="2240280"/>
          </a:xfrm>
          <a:prstGeom prst="rect">
            <a:avLst/>
          </a:prstGeom>
          <a:solidFill>
            <a:srgbClr val="FFFFFF"/>
          </a:solidFill>
          <a:ln w="9525">
            <a:solidFill>
              <a:srgbClr val="DCDCDC"/>
            </a:solidFill>
            <a:prstDash val="solid"/>
          </a:ln>
        </p:spPr>
        <p:txBody>
          <a:bodyPr/>
          <a:lstStyle/>
          <a:p>
            <a:endParaRPr lang="en-IN"/>
          </a:p>
        </p:txBody>
      </p:sp>
      <p:sp>
        <p:nvSpPr>
          <p:cNvPr id="12" name="vf-edge"/>
          <p:cNvSpPr/>
          <p:nvPr/>
        </p:nvSpPr>
        <p:spPr>
          <a:xfrm>
            <a:off x="6217920" y="2514600"/>
            <a:ext cx="29261" cy="2240280"/>
          </a:xfrm>
          <a:prstGeom prst="rect">
            <a:avLst/>
          </a:prstGeom>
          <a:solidFill>
            <a:srgbClr val="E90802"/>
          </a:solidFill>
          <a:ln w="3175">
            <a:solidFill>
              <a:srgbClr val="E90802"/>
            </a:solidFill>
            <a:prstDash val="solid"/>
          </a:ln>
        </p:spPr>
        <p:txBody>
          <a:bodyPr/>
          <a:lstStyle/>
          <a:p>
            <a:endParaRPr lang="en-IN"/>
          </a:p>
        </p:txBody>
      </p:sp>
      <p:sp>
        <p:nvSpPr>
          <p:cNvPr id="13" name="vf-h"/>
          <p:cNvSpPr txBox="1"/>
          <p:nvPr/>
        </p:nvSpPr>
        <p:spPr>
          <a:xfrm>
            <a:off x="6473952" y="2715768"/>
            <a:ext cx="4882896" cy="292608"/>
          </a:xfrm>
          <a:prstGeom prst="rect">
            <a:avLst/>
          </a:prstGeom>
          <a:noFill/>
          <a:ln/>
        </p:spPr>
        <p:txBody>
          <a:bodyPr wrap="square" lIns="0" tIns="0" rIns="0" bIns="0" rtlCol="0" anchor="ctr"/>
          <a:lstStyle/>
          <a:p>
            <a:pPr marL="0" indent="0">
              <a:buNone/>
            </a:pPr>
            <a:r>
              <a:rPr lang="en-US" sz="1450" b="1" dirty="0">
                <a:solidFill>
                  <a:srgbClr val="E90802"/>
                </a:solidFill>
              </a:rPr>
              <a:t>Extracted by VeriFact</a:t>
            </a:r>
            <a:endParaRPr lang="en-US" sz="1450" dirty="0"/>
          </a:p>
        </p:txBody>
      </p:sp>
      <p:sp>
        <p:nvSpPr>
          <p:cNvPr id="14" name="vf-list"/>
          <p:cNvSpPr txBox="1"/>
          <p:nvPr/>
        </p:nvSpPr>
        <p:spPr>
          <a:xfrm>
            <a:off x="6473952" y="2980944"/>
            <a:ext cx="4882896" cy="1664208"/>
          </a:xfrm>
          <a:prstGeom prst="rect">
            <a:avLst/>
          </a:prstGeom>
          <a:noFill/>
          <a:ln/>
        </p:spPr>
        <p:txBody>
          <a:bodyPr wrap="square" lIns="0" tIns="0" rIns="0" bIns="0" rtlCol="0" anchor="ctr"/>
          <a:lstStyle/>
          <a:p>
            <a:pPr marL="342900" indent="-342900">
              <a:spcAft>
                <a:spcPts val="400"/>
              </a:spcAft>
              <a:buSzPct val="100000"/>
              <a:buChar char="•"/>
            </a:pPr>
            <a:r>
              <a:rPr lang="en-US" sz="1250" dirty="0">
                <a:solidFill>
                  <a:srgbClr val="444444"/>
                </a:solidFill>
                <a:latin typeface="Arial" pitchFamily="34" charset="0"/>
                <a:ea typeface="Arial" pitchFamily="34" charset="-122"/>
                <a:cs typeface="Arial" pitchFamily="34" charset="-120"/>
              </a:rPr>
              <a:t>There is a demand for gold as jewelry.</a:t>
            </a:r>
            <a:endParaRPr lang="en-US" sz="1250" dirty="0"/>
          </a:p>
          <a:p>
            <a:pPr marL="342900" indent="-342900">
              <a:spcAft>
                <a:spcPts val="400"/>
              </a:spcAft>
              <a:buSzPct val="100000"/>
              <a:buChar char="•"/>
            </a:pPr>
            <a:r>
              <a:rPr lang="en-US" sz="1250" dirty="0">
                <a:solidFill>
                  <a:srgbClr val="444444"/>
                </a:solidFill>
                <a:latin typeface="Arial" pitchFamily="34" charset="0"/>
                <a:ea typeface="Arial" pitchFamily="34" charset="-122"/>
                <a:cs typeface="Arial" pitchFamily="34" charset="-120"/>
              </a:rPr>
              <a:t>If the demand for gold as jewelry disappeared, the price of gold could drop by 20–50% or more.</a:t>
            </a:r>
            <a:endParaRPr lang="en-US" sz="1250" dirty="0"/>
          </a:p>
          <a:p>
            <a:pPr marL="342900" indent="-342900">
              <a:spcAft>
                <a:spcPts val="400"/>
              </a:spcAft>
              <a:buSzPct val="100000"/>
              <a:buChar char="•"/>
            </a:pPr>
            <a:r>
              <a:rPr lang="en-US" sz="1250" dirty="0">
                <a:solidFill>
                  <a:srgbClr val="444444"/>
                </a:solidFill>
                <a:latin typeface="Arial" pitchFamily="34" charset="0"/>
                <a:ea typeface="Arial" pitchFamily="34" charset="-122"/>
                <a:cs typeface="Arial" pitchFamily="34" charset="-120"/>
              </a:rPr>
              <a:t>A 20–50% drop in the price of gold could make copper and silver competitive with gold.</a:t>
            </a:r>
            <a:endParaRPr lang="en-US" sz="1250" dirty="0"/>
          </a:p>
          <a:p>
            <a:pPr marL="0" indent="0">
              <a:spcAft>
                <a:spcPts val="400"/>
              </a:spcAft>
              <a:buNone/>
            </a:pPr>
            <a:r>
              <a:rPr lang="en-US" sz="1050" b="1" dirty="0">
                <a:solidFill>
                  <a:srgbClr val="E90802"/>
                </a:solidFill>
                <a:latin typeface="Arial" pitchFamily="34" charset="0"/>
                <a:ea typeface="Arial" pitchFamily="34" charset="-122"/>
                <a:cs typeface="Arial" pitchFamily="34" charset="-120"/>
              </a:rPr>
              <a:t>condition preserved, causal relation recovered as its own fact</a:t>
            </a:r>
            <a:endParaRPr lang="en-US" sz="1250" dirty="0"/>
          </a:p>
        </p:txBody>
      </p:sp>
      <p:sp>
        <p:nvSpPr>
          <p:cNvPr id="15" name="p0-rule"/>
          <p:cNvSpPr/>
          <p:nvPr/>
        </p:nvSpPr>
        <p:spPr>
          <a:xfrm>
            <a:off x="548640" y="4983480"/>
            <a:ext cx="3505200" cy="25603"/>
          </a:xfrm>
          <a:prstGeom prst="rect">
            <a:avLst/>
          </a:prstGeom>
          <a:solidFill>
            <a:srgbClr val="DCDCDC"/>
          </a:solidFill>
          <a:ln w="3175">
            <a:solidFill>
              <a:srgbClr val="DCDCDC"/>
            </a:solidFill>
            <a:prstDash val="solid"/>
          </a:ln>
        </p:spPr>
        <p:txBody>
          <a:bodyPr/>
          <a:lstStyle/>
          <a:p>
            <a:endParaRPr lang="en-IN"/>
          </a:p>
        </p:txBody>
      </p:sp>
      <p:sp>
        <p:nvSpPr>
          <p:cNvPr id="16" name="p0-l"/>
          <p:cNvSpPr txBox="1"/>
          <p:nvPr/>
        </p:nvSpPr>
        <p:spPr>
          <a:xfrm>
            <a:off x="548640" y="5129784"/>
            <a:ext cx="3505200" cy="219456"/>
          </a:xfrm>
          <a:prstGeom prst="rect">
            <a:avLst/>
          </a:prstGeom>
          <a:noFill/>
          <a:ln/>
        </p:spPr>
        <p:txBody>
          <a:bodyPr wrap="square" lIns="0" tIns="0" rIns="0" bIns="0" rtlCol="0" anchor="ctr"/>
          <a:lstStyle/>
          <a:p>
            <a:pPr marL="0" indent="0">
              <a:buNone/>
            </a:pPr>
            <a:r>
              <a:rPr lang="en-US" sz="950" b="1" kern="0" spc="100" dirty="0">
                <a:solidFill>
                  <a:srgbClr val="767676"/>
                </a:solidFill>
                <a:latin typeface="Arial" pitchFamily="34" charset="0"/>
                <a:ea typeface="Arial" pitchFamily="34" charset="-122"/>
                <a:cs typeface="Arial" pitchFamily="34" charset="-120"/>
              </a:rPr>
              <a:t>INCOMPLETE FACTS IN SAFE</a:t>
            </a:r>
            <a:endParaRPr lang="en-US" sz="950" dirty="0"/>
          </a:p>
        </p:txBody>
      </p:sp>
      <p:sp>
        <p:nvSpPr>
          <p:cNvPr id="17" name="p0-v"/>
          <p:cNvSpPr txBox="1"/>
          <p:nvPr/>
        </p:nvSpPr>
        <p:spPr>
          <a:xfrm>
            <a:off x="548640" y="5367528"/>
            <a:ext cx="3505200" cy="457200"/>
          </a:xfrm>
          <a:prstGeom prst="rect">
            <a:avLst/>
          </a:prstGeom>
          <a:noFill/>
          <a:ln/>
        </p:spPr>
        <p:txBody>
          <a:bodyPr wrap="square" lIns="0" tIns="0" rIns="0" bIns="0" rtlCol="0" anchor="ctr"/>
          <a:lstStyle/>
          <a:p>
            <a:pPr marL="0" indent="0">
              <a:buNone/>
            </a:pPr>
            <a:r>
              <a:rPr lang="en-US" sz="2400" b="1" dirty="0">
                <a:solidFill>
                  <a:srgbClr val="1A1A1A"/>
                </a:solidFill>
              </a:rPr>
              <a:t>12.68%</a:t>
            </a:r>
            <a:endParaRPr lang="en-US" sz="2400" dirty="0"/>
          </a:p>
        </p:txBody>
      </p:sp>
      <p:sp>
        <p:nvSpPr>
          <p:cNvPr id="18" name="p0-f"/>
          <p:cNvSpPr txBox="1"/>
          <p:nvPr/>
        </p:nvSpPr>
        <p:spPr>
          <a:xfrm>
            <a:off x="548640" y="5852160"/>
            <a:ext cx="3505200" cy="420624"/>
          </a:xfrm>
          <a:prstGeom prst="rect">
            <a:avLst/>
          </a:prstGeom>
          <a:noFill/>
          <a:ln/>
        </p:spPr>
        <p:txBody>
          <a:bodyPr wrap="square" lIns="0" tIns="0" rIns="0" bIns="0" rtlCol="0" anchor="ctr"/>
          <a:lstStyle/>
          <a:p>
            <a:pPr marL="0" indent="0">
              <a:lnSpc>
                <a:spcPct val="110000"/>
              </a:lnSpc>
              <a:buNone/>
            </a:pPr>
            <a:r>
              <a:rPr lang="en-US" sz="1050" dirty="0">
                <a:solidFill>
                  <a:srgbClr val="767676"/>
                </a:solidFill>
                <a:latin typeface="Arial" pitchFamily="34" charset="0"/>
                <a:ea typeface="Arial" pitchFamily="34" charset="-122"/>
                <a:cs typeface="Arial" pitchFamily="34" charset="-120"/>
              </a:rPr>
              <a:t>451 facts, human-annotated</a:t>
            </a:r>
            <a:endParaRPr lang="en-US" sz="1050" dirty="0"/>
          </a:p>
        </p:txBody>
      </p:sp>
      <p:sp>
        <p:nvSpPr>
          <p:cNvPr id="19" name="p1-rule"/>
          <p:cNvSpPr/>
          <p:nvPr/>
        </p:nvSpPr>
        <p:spPr>
          <a:xfrm>
            <a:off x="4328160" y="4983480"/>
            <a:ext cx="3505200" cy="25603"/>
          </a:xfrm>
          <a:prstGeom prst="rect">
            <a:avLst/>
          </a:prstGeom>
          <a:solidFill>
            <a:srgbClr val="DCDCDC"/>
          </a:solidFill>
          <a:ln w="3175">
            <a:solidFill>
              <a:srgbClr val="DCDCDC"/>
            </a:solidFill>
            <a:prstDash val="solid"/>
          </a:ln>
        </p:spPr>
        <p:txBody>
          <a:bodyPr/>
          <a:lstStyle/>
          <a:p>
            <a:endParaRPr lang="en-IN"/>
          </a:p>
        </p:txBody>
      </p:sp>
      <p:sp>
        <p:nvSpPr>
          <p:cNvPr id="20" name="p1-l"/>
          <p:cNvSpPr txBox="1"/>
          <p:nvPr/>
        </p:nvSpPr>
        <p:spPr>
          <a:xfrm>
            <a:off x="4328160" y="5129784"/>
            <a:ext cx="3505200" cy="219456"/>
          </a:xfrm>
          <a:prstGeom prst="rect">
            <a:avLst/>
          </a:prstGeom>
          <a:noFill/>
          <a:ln/>
        </p:spPr>
        <p:txBody>
          <a:bodyPr wrap="square" lIns="0" tIns="0" rIns="0" bIns="0" rtlCol="0" anchor="ctr"/>
          <a:lstStyle/>
          <a:p>
            <a:pPr marL="0" indent="0">
              <a:buNone/>
            </a:pPr>
            <a:r>
              <a:rPr lang="en-US" sz="950" b="1" kern="0" spc="100" dirty="0">
                <a:solidFill>
                  <a:srgbClr val="767676"/>
                </a:solidFill>
                <a:latin typeface="Arial" pitchFamily="34" charset="0"/>
                <a:ea typeface="Arial" pitchFamily="34" charset="-122"/>
                <a:cs typeface="Arial" pitchFamily="34" charset="-120"/>
              </a:rPr>
              <a:t>MISSING FACTS PER RESPONSE</a:t>
            </a:r>
            <a:endParaRPr lang="en-US" sz="950" dirty="0"/>
          </a:p>
        </p:txBody>
      </p:sp>
      <p:sp>
        <p:nvSpPr>
          <p:cNvPr id="21" name="p1-v"/>
          <p:cNvSpPr txBox="1"/>
          <p:nvPr/>
        </p:nvSpPr>
        <p:spPr>
          <a:xfrm>
            <a:off x="4328160" y="5367528"/>
            <a:ext cx="3505200" cy="457200"/>
          </a:xfrm>
          <a:prstGeom prst="rect">
            <a:avLst/>
          </a:prstGeom>
          <a:noFill/>
          <a:ln/>
        </p:spPr>
        <p:txBody>
          <a:bodyPr wrap="square" lIns="0" tIns="0" rIns="0" bIns="0" rtlCol="0" anchor="ctr"/>
          <a:lstStyle/>
          <a:p>
            <a:pPr marL="0" indent="0">
              <a:buNone/>
            </a:pPr>
            <a:r>
              <a:rPr lang="en-US" sz="2400" b="1" dirty="0">
                <a:solidFill>
                  <a:srgbClr val="1A1A1A"/>
                </a:solidFill>
              </a:rPr>
              <a:t>1.24</a:t>
            </a:r>
            <a:endParaRPr lang="en-US" sz="2400" dirty="0"/>
          </a:p>
        </p:txBody>
      </p:sp>
      <p:sp>
        <p:nvSpPr>
          <p:cNvPr id="22" name="p1-f"/>
          <p:cNvSpPr txBox="1"/>
          <p:nvPr/>
        </p:nvSpPr>
        <p:spPr>
          <a:xfrm>
            <a:off x="4328160" y="5852160"/>
            <a:ext cx="3505200" cy="420624"/>
          </a:xfrm>
          <a:prstGeom prst="rect">
            <a:avLst/>
          </a:prstGeom>
          <a:noFill/>
          <a:ln/>
        </p:spPr>
        <p:txBody>
          <a:bodyPr wrap="square" lIns="0" tIns="0" rIns="0" bIns="0" rtlCol="0" anchor="ctr"/>
          <a:lstStyle/>
          <a:p>
            <a:pPr marL="0" indent="0">
              <a:lnSpc>
                <a:spcPct val="110000"/>
              </a:lnSpc>
              <a:buNone/>
            </a:pPr>
            <a:r>
              <a:rPr lang="en-US" sz="1050" dirty="0">
                <a:solidFill>
                  <a:srgbClr val="767676"/>
                </a:solidFill>
                <a:latin typeface="Arial" pitchFamily="34" charset="0"/>
                <a:ea typeface="Arial" pitchFamily="34" charset="-122"/>
                <a:cs typeface="Arial" pitchFamily="34" charset="-120"/>
              </a:rPr>
              <a:t>relations never extracted</a:t>
            </a:r>
            <a:endParaRPr lang="en-US" sz="1050" dirty="0"/>
          </a:p>
        </p:txBody>
      </p:sp>
      <p:sp>
        <p:nvSpPr>
          <p:cNvPr id="23" name="p2-rule"/>
          <p:cNvSpPr/>
          <p:nvPr/>
        </p:nvSpPr>
        <p:spPr>
          <a:xfrm>
            <a:off x="8107680" y="4983480"/>
            <a:ext cx="3505200" cy="25603"/>
          </a:xfrm>
          <a:prstGeom prst="rect">
            <a:avLst/>
          </a:prstGeom>
          <a:solidFill>
            <a:srgbClr val="DCDCDC"/>
          </a:solidFill>
          <a:ln w="3175">
            <a:solidFill>
              <a:srgbClr val="DCDCDC"/>
            </a:solidFill>
            <a:prstDash val="solid"/>
          </a:ln>
        </p:spPr>
        <p:txBody>
          <a:bodyPr/>
          <a:lstStyle/>
          <a:p>
            <a:endParaRPr lang="en-IN"/>
          </a:p>
        </p:txBody>
      </p:sp>
      <p:sp>
        <p:nvSpPr>
          <p:cNvPr id="24" name="p2-l"/>
          <p:cNvSpPr txBox="1"/>
          <p:nvPr/>
        </p:nvSpPr>
        <p:spPr>
          <a:xfrm>
            <a:off x="8107680" y="5129784"/>
            <a:ext cx="3505200" cy="219456"/>
          </a:xfrm>
          <a:prstGeom prst="rect">
            <a:avLst/>
          </a:prstGeom>
          <a:noFill/>
          <a:ln/>
        </p:spPr>
        <p:txBody>
          <a:bodyPr wrap="square" lIns="0" tIns="0" rIns="0" bIns="0" rtlCol="0" anchor="ctr"/>
          <a:lstStyle/>
          <a:p>
            <a:pPr marL="0" indent="0">
              <a:buNone/>
            </a:pPr>
            <a:r>
              <a:rPr lang="en-US" sz="950" b="1" kern="0" spc="100" dirty="0">
                <a:solidFill>
                  <a:srgbClr val="767676"/>
                </a:solidFill>
                <a:latin typeface="Arial" pitchFamily="34" charset="0"/>
                <a:ea typeface="Arial" pitchFamily="34" charset="-122"/>
                <a:cs typeface="Arial" pitchFamily="34" charset="-120"/>
              </a:rPr>
              <a:t>OF THOSE, OMITTED CONDITIONS</a:t>
            </a:r>
            <a:endParaRPr lang="en-US" sz="950" dirty="0"/>
          </a:p>
        </p:txBody>
      </p:sp>
      <p:sp>
        <p:nvSpPr>
          <p:cNvPr id="25" name="p2-v"/>
          <p:cNvSpPr txBox="1"/>
          <p:nvPr/>
        </p:nvSpPr>
        <p:spPr>
          <a:xfrm>
            <a:off x="8107680" y="5367528"/>
            <a:ext cx="3505200" cy="457200"/>
          </a:xfrm>
          <a:prstGeom prst="rect">
            <a:avLst/>
          </a:prstGeom>
          <a:noFill/>
          <a:ln/>
        </p:spPr>
        <p:txBody>
          <a:bodyPr wrap="square" lIns="0" tIns="0" rIns="0" bIns="0" rtlCol="0" anchor="ctr"/>
          <a:lstStyle/>
          <a:p>
            <a:pPr marL="0" indent="0">
              <a:buNone/>
            </a:pPr>
            <a:r>
              <a:rPr lang="en-US" sz="2400" b="1" dirty="0">
                <a:solidFill>
                  <a:srgbClr val="1A1A1A"/>
                </a:solidFill>
              </a:rPr>
              <a:t>51%</a:t>
            </a:r>
            <a:endParaRPr lang="en-US" sz="2400" dirty="0"/>
          </a:p>
        </p:txBody>
      </p:sp>
      <p:sp>
        <p:nvSpPr>
          <p:cNvPr id="26" name="p2-f"/>
          <p:cNvSpPr txBox="1"/>
          <p:nvPr/>
        </p:nvSpPr>
        <p:spPr>
          <a:xfrm>
            <a:off x="8107680" y="5852160"/>
            <a:ext cx="3505200" cy="420624"/>
          </a:xfrm>
          <a:prstGeom prst="rect">
            <a:avLst/>
          </a:prstGeom>
          <a:noFill/>
          <a:ln/>
        </p:spPr>
        <p:txBody>
          <a:bodyPr wrap="square" lIns="0" tIns="0" rIns="0" bIns="0" rtlCol="0" anchor="ctr"/>
          <a:lstStyle/>
          <a:p>
            <a:pPr marL="0" indent="0">
              <a:lnSpc>
                <a:spcPct val="110000"/>
              </a:lnSpc>
              <a:buNone/>
            </a:pPr>
            <a:r>
              <a:rPr lang="en-US" sz="1050" dirty="0">
                <a:solidFill>
                  <a:srgbClr val="767676"/>
                </a:solidFill>
                <a:latin typeface="Arial" pitchFamily="34" charset="0"/>
                <a:ea typeface="Arial" pitchFamily="34" charset="-122"/>
                <a:cs typeface="Arial" pitchFamily="34" charset="-120"/>
              </a:rPr>
              <a:t>the gold case above</a:t>
            </a:r>
            <a:endParaRPr lang="en-US" sz="1050" dirty="0"/>
          </a:p>
        </p:txBody>
      </p:sp>
      <p:sp>
        <p:nvSpPr>
          <p:cNvPr id="27" name="note"/>
          <p:cNvSpPr txBox="1"/>
          <p:nvPr/>
        </p:nvSpPr>
        <p:spPr>
          <a:xfrm>
            <a:off x="548640" y="6291072"/>
            <a:ext cx="10607040" cy="274320"/>
          </a:xfrm>
          <a:prstGeom prst="rect">
            <a:avLst/>
          </a:prstGeom>
          <a:noFill/>
          <a:ln/>
        </p:spPr>
        <p:txBody>
          <a:bodyPr wrap="square" lIns="0" tIns="0" rIns="0" bIns="0" rtlCol="0" anchor="ctr"/>
          <a:lstStyle/>
          <a:p>
            <a:pPr marL="0" indent="0">
              <a:buNone/>
            </a:pPr>
            <a:r>
              <a:rPr lang="en-US" sz="950" dirty="0">
                <a:solidFill>
                  <a:srgbClr val="767676"/>
                </a:solidFill>
                <a:latin typeface="Arial" pitchFamily="34" charset="0"/>
                <a:ea typeface="Arial" pitchFamily="34" charset="-122"/>
                <a:cs typeface="Arial" pitchFamily="34" charset="-120"/>
              </a:rPr>
              <a:t>VeriFact: Liu, Zhang, Munir, Gu &amp; Wang, EMNLP 2025, pp. 17908–17925  ·  github.com/launchnlp/VeriFact</a:t>
            </a:r>
            <a:endParaRPr lang="en-US" sz="950" dirty="0"/>
          </a:p>
        </p:txBody>
      </p:sp>
      <p:sp>
        <p:nvSpPr>
          <p:cNvPr id="28" name="Slide Number Placeholder 0"/>
          <p:cNvSpPr>
            <a:spLocks noGrp="1"/>
          </p:cNvSpPr>
          <p:nvPr>
            <p:ph type="sldNum" sz="quarter" idx="4294967295"/>
          </p:nvPr>
        </p:nvSpPr>
        <p:spPr>
          <a:xfrm>
            <a:off x="11338560" y="6327648"/>
            <a:ext cx="365760" cy="256032"/>
          </a:xfrm>
          <a:prstGeom prst="rect">
            <a:avLst/>
          </a:prstGeom>
          <a:extLst>
            <a:ext uri="{C572A759-6A51-4108-AA02-DFA0A04FC94B}">
              <ma14:wrappingTextBoxFlag xmlns:ma14="http://schemas.microsoft.com/office/mac/drawingml/2011/main" xmlns="" val="0"/>
            </a:ext>
          </a:extLst>
        </p:spPr>
        <p:txBody>
          <a:bodyPr/>
          <a:lstStyle>
            <a:lvl1pPr>
              <a:defRPr sz="900">
                <a:solidFill>
                  <a:srgbClr val="767676"/>
                </a:solidFill>
              </a:defRPr>
            </a:lvl1pPr>
          </a:lstStyle>
          <a:p>
            <a:pPr algn="r"/>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eyebrow"/>
          <p:cNvSpPr txBox="1"/>
          <p:nvPr/>
        </p:nvSpPr>
        <p:spPr>
          <a:xfrm>
            <a:off x="548640" y="347472"/>
            <a:ext cx="11064240" cy="237744"/>
          </a:xfrm>
          <a:prstGeom prst="rect">
            <a:avLst/>
          </a:prstGeom>
          <a:noFill/>
          <a:ln/>
        </p:spPr>
        <p:txBody>
          <a:bodyPr wrap="square" lIns="0" tIns="0" rIns="0" bIns="0" rtlCol="0" anchor="ctr"/>
          <a:lstStyle/>
          <a:p>
            <a:pPr marL="0" indent="0">
              <a:buNone/>
            </a:pPr>
            <a:r>
              <a:rPr lang="en-US" sz="1000" b="1" kern="0" spc="200" dirty="0">
                <a:solidFill>
                  <a:srgbClr val="E90802"/>
                </a:solidFill>
                <a:latin typeface="Arial" pitchFamily="34" charset="0"/>
                <a:ea typeface="Arial" pitchFamily="34" charset="-122"/>
                <a:cs typeface="Arial" pitchFamily="34" charset="-120"/>
              </a:rPr>
              <a:t>THE SOLUTION</a:t>
            </a:r>
            <a:endParaRPr lang="en-US" sz="1000" dirty="0"/>
          </a:p>
        </p:txBody>
      </p:sp>
      <p:sp>
        <p:nvSpPr>
          <p:cNvPr id="3" name="title"/>
          <p:cNvSpPr txBox="1"/>
          <p:nvPr/>
        </p:nvSpPr>
        <p:spPr>
          <a:xfrm>
            <a:off x="548640" y="621792"/>
            <a:ext cx="11064240" cy="548640"/>
          </a:xfrm>
          <a:prstGeom prst="rect">
            <a:avLst/>
          </a:prstGeom>
          <a:noFill/>
          <a:ln/>
        </p:spPr>
        <p:txBody>
          <a:bodyPr wrap="square" lIns="0" tIns="0" rIns="0" bIns="0" rtlCol="0" anchor="ctr"/>
          <a:lstStyle/>
          <a:p>
            <a:pPr marL="0" indent="0">
              <a:buNone/>
            </a:pPr>
            <a:r>
              <a:rPr lang="en-US" sz="2700" b="1" dirty="0">
                <a:solidFill>
                  <a:srgbClr val="1A1A1A"/>
                </a:solidFill>
              </a:rPr>
              <a:t>VeriFact — repair the facts before verifying them</a:t>
            </a:r>
            <a:endParaRPr lang="en-US" sz="2700" dirty="0"/>
          </a:p>
        </p:txBody>
      </p:sp>
      <p:sp>
        <p:nvSpPr>
          <p:cNvPr id="4" name="subtitle"/>
          <p:cNvSpPr txBox="1"/>
          <p:nvPr/>
        </p:nvSpPr>
        <p:spPr>
          <a:xfrm>
            <a:off x="548640" y="1188720"/>
            <a:ext cx="11064240" cy="256032"/>
          </a:xfrm>
          <a:prstGeom prst="rect">
            <a:avLst/>
          </a:prstGeom>
          <a:noFill/>
          <a:ln/>
        </p:spPr>
        <p:txBody>
          <a:bodyPr wrap="square" lIns="0" tIns="0" rIns="0" bIns="0" rtlCol="0" anchor="ctr"/>
          <a:lstStyle/>
          <a:p>
            <a:pPr marL="0" indent="0">
              <a:buNone/>
            </a:pPr>
            <a:r>
              <a:rPr lang="en-US" sz="1350" dirty="0">
                <a:solidFill>
                  <a:srgbClr val="767676"/>
                </a:solidFill>
                <a:latin typeface="Arial" pitchFamily="34" charset="0"/>
                <a:ea typeface="Arial" pitchFamily="34" charset="-122"/>
                <a:cs typeface="Arial" pitchFamily="34" charset="-120"/>
              </a:rPr>
              <a:t>Preserving context instead of accepting what decomposition left behind</a:t>
            </a:r>
            <a:endParaRPr lang="en-US" sz="1350" dirty="0"/>
          </a:p>
        </p:txBody>
      </p:sp>
      <p:sp>
        <p:nvSpPr>
          <p:cNvPr id="5" name="head-rule"/>
          <p:cNvSpPr/>
          <p:nvPr/>
        </p:nvSpPr>
        <p:spPr>
          <a:xfrm>
            <a:off x="548640" y="1499616"/>
            <a:ext cx="11064240" cy="10973"/>
          </a:xfrm>
          <a:prstGeom prst="rect">
            <a:avLst/>
          </a:prstGeom>
          <a:solidFill>
            <a:srgbClr val="DCDCDC"/>
          </a:solidFill>
          <a:ln w="3175">
            <a:solidFill>
              <a:srgbClr val="DCDCDC"/>
            </a:solidFill>
            <a:prstDash val="solid"/>
          </a:ln>
        </p:spPr>
        <p:txBody>
          <a:bodyPr/>
          <a:lstStyle/>
          <a:p>
            <a:endParaRPr lang="en-IN"/>
          </a:p>
        </p:txBody>
      </p:sp>
      <p:sp>
        <p:nvSpPr>
          <p:cNvPr id="6" name="sol0"/>
          <p:cNvSpPr/>
          <p:nvPr/>
        </p:nvSpPr>
        <p:spPr>
          <a:xfrm>
            <a:off x="548640" y="1600200"/>
            <a:ext cx="3505200" cy="2148840"/>
          </a:xfrm>
          <a:prstGeom prst="rect">
            <a:avLst/>
          </a:prstGeom>
          <a:solidFill>
            <a:srgbClr val="FFFFFF"/>
          </a:solidFill>
          <a:ln w="9525">
            <a:solidFill>
              <a:srgbClr val="DCDCDC"/>
            </a:solidFill>
            <a:prstDash val="solid"/>
          </a:ln>
        </p:spPr>
        <p:txBody>
          <a:bodyPr/>
          <a:lstStyle/>
          <a:p>
            <a:endParaRPr lang="en-IN"/>
          </a:p>
        </p:txBody>
      </p:sp>
      <p:sp>
        <p:nvSpPr>
          <p:cNvPr id="7" name="sol0-h"/>
          <p:cNvSpPr txBox="1"/>
          <p:nvPr/>
        </p:nvSpPr>
        <p:spPr>
          <a:xfrm>
            <a:off x="804672" y="1801368"/>
            <a:ext cx="2993136" cy="292608"/>
          </a:xfrm>
          <a:prstGeom prst="rect">
            <a:avLst/>
          </a:prstGeom>
          <a:noFill/>
          <a:ln/>
        </p:spPr>
        <p:txBody>
          <a:bodyPr wrap="square" lIns="0" tIns="0" rIns="0" bIns="0" rtlCol="0" anchor="ctr"/>
          <a:lstStyle/>
          <a:p>
            <a:pPr marL="0" indent="0">
              <a:buNone/>
            </a:pPr>
            <a:r>
              <a:rPr lang="en-US" sz="1450" b="1" dirty="0">
                <a:solidFill>
                  <a:srgbClr val="1A1A1A"/>
                </a:solidFill>
              </a:rPr>
              <a:t>What VeriFact is</a:t>
            </a:r>
            <a:endParaRPr lang="en-US" sz="1450" dirty="0"/>
          </a:p>
        </p:txBody>
      </p:sp>
      <p:sp>
        <p:nvSpPr>
          <p:cNvPr id="8" name="sol0-b"/>
          <p:cNvSpPr txBox="1"/>
          <p:nvPr/>
        </p:nvSpPr>
        <p:spPr>
          <a:xfrm>
            <a:off x="804672" y="2203704"/>
            <a:ext cx="2993136" cy="1380744"/>
          </a:xfrm>
          <a:prstGeom prst="rect">
            <a:avLst/>
          </a:prstGeom>
          <a:noFill/>
          <a:ln/>
        </p:spPr>
        <p:txBody>
          <a:bodyPr wrap="square" lIns="0" tIns="0" rIns="0" bIns="0" rtlCol="0" anchor="t"/>
          <a:lstStyle/>
          <a:p>
            <a:pPr marL="0" indent="0">
              <a:lnSpc>
                <a:spcPct val="125000"/>
              </a:lnSpc>
              <a:buNone/>
            </a:pPr>
            <a:r>
              <a:rPr lang="en-US" sz="1250" dirty="0">
                <a:solidFill>
                  <a:srgbClr val="444444"/>
                </a:solidFill>
                <a:latin typeface="Arial" pitchFamily="34" charset="0"/>
                <a:ea typeface="Arial" pitchFamily="34" charset="-122"/>
                <a:cs typeface="Arial" pitchFamily="34" charset="-120"/>
              </a:rPr>
              <a:t>A factuality framework that inserts two steps between decomposition and verification: detect broken facts, then repair them. The extractor and the verifier are inherited unchanged.</a:t>
            </a:r>
            <a:endParaRPr lang="en-US" sz="1250" dirty="0"/>
          </a:p>
        </p:txBody>
      </p:sp>
      <p:sp>
        <p:nvSpPr>
          <p:cNvPr id="9" name="sol1"/>
          <p:cNvSpPr/>
          <p:nvPr/>
        </p:nvSpPr>
        <p:spPr>
          <a:xfrm>
            <a:off x="4328160" y="1600200"/>
            <a:ext cx="3505200" cy="2148840"/>
          </a:xfrm>
          <a:prstGeom prst="rect">
            <a:avLst/>
          </a:prstGeom>
          <a:solidFill>
            <a:srgbClr val="FFFFFF"/>
          </a:solidFill>
          <a:ln w="9525">
            <a:solidFill>
              <a:srgbClr val="DCDCDC"/>
            </a:solidFill>
            <a:prstDash val="solid"/>
          </a:ln>
        </p:spPr>
        <p:txBody>
          <a:bodyPr/>
          <a:lstStyle/>
          <a:p>
            <a:endParaRPr lang="en-IN"/>
          </a:p>
        </p:txBody>
      </p:sp>
      <p:sp>
        <p:nvSpPr>
          <p:cNvPr id="10" name="sol1-h"/>
          <p:cNvSpPr txBox="1"/>
          <p:nvPr/>
        </p:nvSpPr>
        <p:spPr>
          <a:xfrm>
            <a:off x="4584192" y="1801368"/>
            <a:ext cx="2993136" cy="292608"/>
          </a:xfrm>
          <a:prstGeom prst="rect">
            <a:avLst/>
          </a:prstGeom>
          <a:noFill/>
          <a:ln/>
        </p:spPr>
        <p:txBody>
          <a:bodyPr wrap="square" lIns="0" tIns="0" rIns="0" bIns="0" rtlCol="0" anchor="ctr"/>
          <a:lstStyle/>
          <a:p>
            <a:pPr marL="0" indent="0">
              <a:buNone/>
            </a:pPr>
            <a:r>
              <a:rPr lang="en-US" sz="1450" b="1" dirty="0">
                <a:solidFill>
                  <a:srgbClr val="1A1A1A"/>
                </a:solidFill>
              </a:rPr>
              <a:t>The two defects it targets</a:t>
            </a:r>
            <a:endParaRPr lang="en-US" sz="1450" dirty="0"/>
          </a:p>
        </p:txBody>
      </p:sp>
      <p:sp>
        <p:nvSpPr>
          <p:cNvPr id="11" name="sol1-b"/>
          <p:cNvSpPr txBox="1"/>
          <p:nvPr/>
        </p:nvSpPr>
        <p:spPr>
          <a:xfrm>
            <a:off x="4584192" y="2203704"/>
            <a:ext cx="2993136" cy="1380744"/>
          </a:xfrm>
          <a:prstGeom prst="rect">
            <a:avLst/>
          </a:prstGeom>
          <a:noFill/>
          <a:ln/>
        </p:spPr>
        <p:txBody>
          <a:bodyPr wrap="square" lIns="0" tIns="0" rIns="0" bIns="0" rtlCol="0" anchor="t"/>
          <a:lstStyle/>
          <a:p>
            <a:pPr marL="0" indent="0">
              <a:lnSpc>
                <a:spcPct val="125000"/>
              </a:lnSpc>
              <a:buNone/>
            </a:pPr>
            <a:r>
              <a:rPr lang="en-US" sz="1250" dirty="0">
                <a:solidFill>
                  <a:srgbClr val="444444"/>
                </a:solidFill>
                <a:latin typeface="Arial" pitchFamily="34" charset="0"/>
                <a:ea typeface="Arial" pitchFamily="34" charset="-122"/>
                <a:cs typeface="Arial" pitchFamily="34" charset="-120"/>
              </a:rPr>
              <a:t>Incomplete facts — an ambiguous reference, a dropped condition, a missing comparison target. And missing facts — an inter-sentence temporal or causal relation that no atomic fact carries.</a:t>
            </a:r>
            <a:endParaRPr lang="en-US" sz="1250" dirty="0"/>
          </a:p>
        </p:txBody>
      </p:sp>
      <p:sp>
        <p:nvSpPr>
          <p:cNvPr id="12" name="sol2"/>
          <p:cNvSpPr/>
          <p:nvPr/>
        </p:nvSpPr>
        <p:spPr>
          <a:xfrm>
            <a:off x="8107680" y="1600200"/>
            <a:ext cx="3505200" cy="2148840"/>
          </a:xfrm>
          <a:prstGeom prst="rect">
            <a:avLst/>
          </a:prstGeom>
          <a:solidFill>
            <a:srgbClr val="FFFFFF"/>
          </a:solidFill>
          <a:ln w="9525">
            <a:solidFill>
              <a:srgbClr val="DCDCDC"/>
            </a:solidFill>
            <a:prstDash val="solid"/>
          </a:ln>
        </p:spPr>
        <p:txBody>
          <a:bodyPr/>
          <a:lstStyle/>
          <a:p>
            <a:endParaRPr lang="en-IN"/>
          </a:p>
        </p:txBody>
      </p:sp>
      <p:sp>
        <p:nvSpPr>
          <p:cNvPr id="13" name="sol2-h"/>
          <p:cNvSpPr txBox="1"/>
          <p:nvPr/>
        </p:nvSpPr>
        <p:spPr>
          <a:xfrm>
            <a:off x="8363712" y="1801368"/>
            <a:ext cx="2993136" cy="292608"/>
          </a:xfrm>
          <a:prstGeom prst="rect">
            <a:avLst/>
          </a:prstGeom>
          <a:noFill/>
          <a:ln/>
        </p:spPr>
        <p:txBody>
          <a:bodyPr wrap="square" lIns="0" tIns="0" rIns="0" bIns="0" rtlCol="0" anchor="ctr"/>
          <a:lstStyle/>
          <a:p>
            <a:pPr marL="0" indent="0">
              <a:buNone/>
            </a:pPr>
            <a:r>
              <a:rPr lang="en-US" sz="1450" b="1" dirty="0">
                <a:solidFill>
                  <a:srgbClr val="1A1A1A"/>
                </a:solidFill>
              </a:rPr>
              <a:t>The trade it makes</a:t>
            </a:r>
            <a:endParaRPr lang="en-US" sz="1450" dirty="0"/>
          </a:p>
        </p:txBody>
      </p:sp>
      <p:sp>
        <p:nvSpPr>
          <p:cNvPr id="14" name="sol2-b"/>
          <p:cNvSpPr txBox="1"/>
          <p:nvPr/>
        </p:nvSpPr>
        <p:spPr>
          <a:xfrm>
            <a:off x="8363712" y="2203704"/>
            <a:ext cx="2993136" cy="1380744"/>
          </a:xfrm>
          <a:prstGeom prst="rect">
            <a:avLst/>
          </a:prstGeom>
          <a:noFill/>
          <a:ln/>
        </p:spPr>
        <p:txBody>
          <a:bodyPr wrap="square" lIns="0" tIns="0" rIns="0" bIns="0" rtlCol="0" anchor="t"/>
          <a:lstStyle/>
          <a:p>
            <a:pPr marL="0" indent="0">
              <a:lnSpc>
                <a:spcPct val="125000"/>
              </a:lnSpc>
              <a:buNone/>
            </a:pPr>
            <a:r>
              <a:rPr lang="en-US" sz="1250" dirty="0">
                <a:solidFill>
                  <a:srgbClr val="444444"/>
                </a:solidFill>
                <a:latin typeface="Arial" pitchFamily="34" charset="0"/>
                <a:ea typeface="Arial" pitchFamily="34" charset="-122"/>
                <a:cs typeface="Arial" pitchFamily="34" charset="-120"/>
              </a:rPr>
              <a:t>Detection recalls 0.89 of incomplete and 0.85 of missing facts. One LLM agrees with human annotators at only κ = 0.33, so detections are unioned, not voted, and refinement absorbs the false positives.</a:t>
            </a:r>
            <a:endParaRPr lang="en-US" sz="1250" dirty="0"/>
          </a:p>
        </p:txBody>
      </p:sp>
      <p:sp>
        <p:nvSpPr>
          <p:cNvPr id="15" name="pr-h"/>
          <p:cNvSpPr txBox="1"/>
          <p:nvPr/>
        </p:nvSpPr>
        <p:spPr>
          <a:xfrm>
            <a:off x="548640" y="3977640"/>
            <a:ext cx="11064240" cy="274320"/>
          </a:xfrm>
          <a:prstGeom prst="rect">
            <a:avLst/>
          </a:prstGeom>
          <a:noFill/>
          <a:ln/>
        </p:spPr>
        <p:txBody>
          <a:bodyPr wrap="square" lIns="0" tIns="0" rIns="0" bIns="0" rtlCol="0" anchor="ctr"/>
          <a:lstStyle/>
          <a:p>
            <a:pPr marL="0" indent="0">
              <a:buNone/>
            </a:pPr>
            <a:r>
              <a:rPr lang="en-US" sz="1250" b="1" dirty="0">
                <a:solidFill>
                  <a:srgbClr val="1A1A1A"/>
                </a:solidFill>
                <a:latin typeface="Arial" pitchFamily="34" charset="0"/>
                <a:ea typeface="Arial" pitchFamily="34" charset="-122"/>
                <a:cs typeface="Arial" pitchFamily="34" charset="-120"/>
              </a:rPr>
              <a:t>What the paper reports on FACTRBENCH</a:t>
            </a:r>
            <a:endParaRPr lang="en-US" sz="1250" dirty="0"/>
          </a:p>
        </p:txBody>
      </p:sp>
      <p:sp>
        <p:nvSpPr>
          <p:cNvPr id="16" name="pr0-rule"/>
          <p:cNvSpPr/>
          <p:nvPr/>
        </p:nvSpPr>
        <p:spPr>
          <a:xfrm>
            <a:off x="548640" y="4370832"/>
            <a:ext cx="2560320" cy="25603"/>
          </a:xfrm>
          <a:prstGeom prst="rect">
            <a:avLst/>
          </a:prstGeom>
          <a:solidFill>
            <a:srgbClr val="DCDCDC"/>
          </a:solidFill>
          <a:ln w="3175">
            <a:solidFill>
              <a:srgbClr val="DCDCDC"/>
            </a:solidFill>
            <a:prstDash val="solid"/>
          </a:ln>
        </p:spPr>
        <p:txBody>
          <a:bodyPr/>
          <a:lstStyle/>
          <a:p>
            <a:endParaRPr lang="en-IN"/>
          </a:p>
        </p:txBody>
      </p:sp>
      <p:sp>
        <p:nvSpPr>
          <p:cNvPr id="17" name="pr0-l"/>
          <p:cNvSpPr txBox="1"/>
          <p:nvPr/>
        </p:nvSpPr>
        <p:spPr>
          <a:xfrm>
            <a:off x="548640" y="4517136"/>
            <a:ext cx="2560320" cy="219456"/>
          </a:xfrm>
          <a:prstGeom prst="rect">
            <a:avLst/>
          </a:prstGeom>
          <a:noFill/>
          <a:ln/>
        </p:spPr>
        <p:txBody>
          <a:bodyPr wrap="square" lIns="0" tIns="0" rIns="0" bIns="0" rtlCol="0" anchor="ctr"/>
          <a:lstStyle/>
          <a:p>
            <a:pPr marL="0" indent="0">
              <a:buNone/>
            </a:pPr>
            <a:r>
              <a:rPr lang="en-US" sz="950" b="1" kern="0" spc="100" dirty="0">
                <a:solidFill>
                  <a:srgbClr val="767676"/>
                </a:solidFill>
                <a:latin typeface="Arial" pitchFamily="34" charset="0"/>
                <a:ea typeface="Arial" pitchFamily="34" charset="-122"/>
                <a:cs typeface="Arial" pitchFamily="34" charset="-120"/>
              </a:rPr>
              <a:t>INCOMPLETE FACTS</a:t>
            </a:r>
            <a:endParaRPr lang="en-US" sz="950" dirty="0"/>
          </a:p>
        </p:txBody>
      </p:sp>
      <p:sp>
        <p:nvSpPr>
          <p:cNvPr id="18" name="pr0-v"/>
          <p:cNvSpPr txBox="1"/>
          <p:nvPr/>
        </p:nvSpPr>
        <p:spPr>
          <a:xfrm>
            <a:off x="548640" y="4754880"/>
            <a:ext cx="2560320" cy="457200"/>
          </a:xfrm>
          <a:prstGeom prst="rect">
            <a:avLst/>
          </a:prstGeom>
          <a:noFill/>
          <a:ln/>
        </p:spPr>
        <p:txBody>
          <a:bodyPr wrap="square" lIns="0" tIns="0" rIns="0" bIns="0" rtlCol="0" anchor="ctr"/>
          <a:lstStyle/>
          <a:p>
            <a:pPr marL="0" indent="0">
              <a:buNone/>
            </a:pPr>
            <a:r>
              <a:rPr lang="en-US" sz="2000" b="1" dirty="0">
                <a:solidFill>
                  <a:srgbClr val="1A1A1A"/>
                </a:solidFill>
              </a:rPr>
              <a:t>56.7% → 22.5%</a:t>
            </a:r>
            <a:endParaRPr lang="en-US" sz="2000" dirty="0"/>
          </a:p>
        </p:txBody>
      </p:sp>
      <p:sp>
        <p:nvSpPr>
          <p:cNvPr id="19" name="pr0-f"/>
          <p:cNvSpPr txBox="1"/>
          <p:nvPr/>
        </p:nvSpPr>
        <p:spPr>
          <a:xfrm>
            <a:off x="548640" y="5239512"/>
            <a:ext cx="2560320" cy="420624"/>
          </a:xfrm>
          <a:prstGeom prst="rect">
            <a:avLst/>
          </a:prstGeom>
          <a:noFill/>
          <a:ln/>
        </p:spPr>
        <p:txBody>
          <a:bodyPr wrap="square" lIns="0" tIns="0" rIns="0" bIns="0" rtlCol="0" anchor="ctr"/>
          <a:lstStyle/>
          <a:p>
            <a:pPr marL="0" indent="0">
              <a:lnSpc>
                <a:spcPct val="110000"/>
              </a:lnSpc>
              <a:buNone/>
            </a:pPr>
            <a:r>
              <a:rPr lang="en-US" sz="1050" dirty="0">
                <a:solidFill>
                  <a:srgbClr val="767676"/>
                </a:solidFill>
                <a:latin typeface="Arial" pitchFamily="34" charset="0"/>
                <a:ea typeface="Arial" pitchFamily="34" charset="-122"/>
                <a:cs typeface="Arial" pitchFamily="34" charset="-120"/>
              </a:rPr>
              <a:t>SAFE, after refinement</a:t>
            </a:r>
            <a:endParaRPr lang="en-US" sz="1050" dirty="0"/>
          </a:p>
        </p:txBody>
      </p:sp>
      <p:sp>
        <p:nvSpPr>
          <p:cNvPr id="20" name="pr1-rule"/>
          <p:cNvSpPr/>
          <p:nvPr/>
        </p:nvSpPr>
        <p:spPr>
          <a:xfrm>
            <a:off x="3383280" y="4370832"/>
            <a:ext cx="2560320" cy="25603"/>
          </a:xfrm>
          <a:prstGeom prst="rect">
            <a:avLst/>
          </a:prstGeom>
          <a:solidFill>
            <a:srgbClr val="DCDCDC"/>
          </a:solidFill>
          <a:ln w="3175">
            <a:solidFill>
              <a:srgbClr val="DCDCDC"/>
            </a:solidFill>
            <a:prstDash val="solid"/>
          </a:ln>
        </p:spPr>
        <p:txBody>
          <a:bodyPr/>
          <a:lstStyle/>
          <a:p>
            <a:endParaRPr lang="en-IN"/>
          </a:p>
        </p:txBody>
      </p:sp>
      <p:sp>
        <p:nvSpPr>
          <p:cNvPr id="21" name="pr1-l"/>
          <p:cNvSpPr txBox="1"/>
          <p:nvPr/>
        </p:nvSpPr>
        <p:spPr>
          <a:xfrm>
            <a:off x="3383280" y="4517136"/>
            <a:ext cx="2560320" cy="219456"/>
          </a:xfrm>
          <a:prstGeom prst="rect">
            <a:avLst/>
          </a:prstGeom>
          <a:noFill/>
          <a:ln/>
        </p:spPr>
        <p:txBody>
          <a:bodyPr wrap="square" lIns="0" tIns="0" rIns="0" bIns="0" rtlCol="0" anchor="ctr"/>
          <a:lstStyle/>
          <a:p>
            <a:pPr marL="0" indent="0">
              <a:buNone/>
            </a:pPr>
            <a:r>
              <a:rPr lang="en-US" sz="950" b="1" kern="0" spc="100" dirty="0">
                <a:solidFill>
                  <a:srgbClr val="767676"/>
                </a:solidFill>
                <a:latin typeface="Arial" pitchFamily="34" charset="0"/>
                <a:ea typeface="Arial" pitchFamily="34" charset="-122"/>
                <a:cs typeface="Arial" pitchFamily="34" charset="-120"/>
              </a:rPr>
              <a:t>MISSING FACTS / RESPONSE</a:t>
            </a:r>
            <a:endParaRPr lang="en-US" sz="950" dirty="0"/>
          </a:p>
        </p:txBody>
      </p:sp>
      <p:sp>
        <p:nvSpPr>
          <p:cNvPr id="22" name="pr1-v"/>
          <p:cNvSpPr txBox="1"/>
          <p:nvPr/>
        </p:nvSpPr>
        <p:spPr>
          <a:xfrm>
            <a:off x="3383280" y="4754880"/>
            <a:ext cx="2560320" cy="457200"/>
          </a:xfrm>
          <a:prstGeom prst="rect">
            <a:avLst/>
          </a:prstGeom>
          <a:noFill/>
          <a:ln/>
        </p:spPr>
        <p:txBody>
          <a:bodyPr wrap="square" lIns="0" tIns="0" rIns="0" bIns="0" rtlCol="0" anchor="ctr"/>
          <a:lstStyle/>
          <a:p>
            <a:pPr marL="0" indent="0">
              <a:buNone/>
            </a:pPr>
            <a:r>
              <a:rPr lang="en-US" sz="2000" b="1" dirty="0">
                <a:solidFill>
                  <a:srgbClr val="1A1A1A"/>
                </a:solidFill>
              </a:rPr>
              <a:t>1.22 → 0.76</a:t>
            </a:r>
            <a:endParaRPr lang="en-US" sz="2000" dirty="0"/>
          </a:p>
        </p:txBody>
      </p:sp>
      <p:sp>
        <p:nvSpPr>
          <p:cNvPr id="23" name="pr1-f"/>
          <p:cNvSpPr txBox="1"/>
          <p:nvPr/>
        </p:nvSpPr>
        <p:spPr>
          <a:xfrm>
            <a:off x="3383280" y="5239512"/>
            <a:ext cx="2560320" cy="420624"/>
          </a:xfrm>
          <a:prstGeom prst="rect">
            <a:avLst/>
          </a:prstGeom>
          <a:noFill/>
          <a:ln/>
        </p:spPr>
        <p:txBody>
          <a:bodyPr wrap="square" lIns="0" tIns="0" rIns="0" bIns="0" rtlCol="0" anchor="ctr"/>
          <a:lstStyle/>
          <a:p>
            <a:pPr marL="0" indent="0">
              <a:lnSpc>
                <a:spcPct val="110000"/>
              </a:lnSpc>
              <a:buNone/>
            </a:pPr>
            <a:r>
              <a:rPr lang="en-US" sz="1050" dirty="0">
                <a:solidFill>
                  <a:srgbClr val="767676"/>
                </a:solidFill>
                <a:latin typeface="Arial" pitchFamily="34" charset="0"/>
                <a:ea typeface="Arial" pitchFamily="34" charset="-122"/>
                <a:cs typeface="Arial" pitchFamily="34" charset="-120"/>
              </a:rPr>
              <a:t>−37%</a:t>
            </a:r>
            <a:endParaRPr lang="en-US" sz="1050" dirty="0"/>
          </a:p>
        </p:txBody>
      </p:sp>
      <p:sp>
        <p:nvSpPr>
          <p:cNvPr id="24" name="pr2-rule"/>
          <p:cNvSpPr/>
          <p:nvPr/>
        </p:nvSpPr>
        <p:spPr>
          <a:xfrm>
            <a:off x="6217920" y="4370832"/>
            <a:ext cx="2560320" cy="25603"/>
          </a:xfrm>
          <a:prstGeom prst="rect">
            <a:avLst/>
          </a:prstGeom>
          <a:solidFill>
            <a:srgbClr val="E90802"/>
          </a:solidFill>
          <a:ln w="3175">
            <a:solidFill>
              <a:srgbClr val="E90802"/>
            </a:solidFill>
            <a:prstDash val="solid"/>
          </a:ln>
        </p:spPr>
        <p:txBody>
          <a:bodyPr/>
          <a:lstStyle/>
          <a:p>
            <a:endParaRPr lang="en-IN"/>
          </a:p>
        </p:txBody>
      </p:sp>
      <p:sp>
        <p:nvSpPr>
          <p:cNvPr id="25" name="pr2-l"/>
          <p:cNvSpPr txBox="1"/>
          <p:nvPr/>
        </p:nvSpPr>
        <p:spPr>
          <a:xfrm>
            <a:off x="6217920" y="4517136"/>
            <a:ext cx="2560320" cy="219456"/>
          </a:xfrm>
          <a:prstGeom prst="rect">
            <a:avLst/>
          </a:prstGeom>
          <a:noFill/>
          <a:ln/>
        </p:spPr>
        <p:txBody>
          <a:bodyPr wrap="square" lIns="0" tIns="0" rIns="0" bIns="0" rtlCol="0" anchor="ctr"/>
          <a:lstStyle/>
          <a:p>
            <a:pPr marL="0" indent="0">
              <a:buNone/>
            </a:pPr>
            <a:r>
              <a:rPr lang="en-US" sz="950" b="1" kern="0" spc="100" dirty="0">
                <a:solidFill>
                  <a:srgbClr val="767676"/>
                </a:solidFill>
                <a:latin typeface="Arial" pitchFamily="34" charset="0"/>
                <a:ea typeface="Arial" pitchFamily="34" charset="-122"/>
                <a:cs typeface="Arial" pitchFamily="34" charset="-120"/>
              </a:rPr>
              <a:t>VERDICT CHANGES</a:t>
            </a:r>
            <a:endParaRPr lang="en-US" sz="950" dirty="0"/>
          </a:p>
        </p:txBody>
      </p:sp>
      <p:sp>
        <p:nvSpPr>
          <p:cNvPr id="26" name="pr2-v"/>
          <p:cNvSpPr txBox="1"/>
          <p:nvPr/>
        </p:nvSpPr>
        <p:spPr>
          <a:xfrm>
            <a:off x="6217920" y="4754880"/>
            <a:ext cx="2560320" cy="457200"/>
          </a:xfrm>
          <a:prstGeom prst="rect">
            <a:avLst/>
          </a:prstGeom>
          <a:noFill/>
          <a:ln/>
        </p:spPr>
        <p:txBody>
          <a:bodyPr wrap="square" lIns="0" tIns="0" rIns="0" bIns="0" rtlCol="0" anchor="ctr"/>
          <a:lstStyle/>
          <a:p>
            <a:pPr marL="0" indent="0">
              <a:buNone/>
            </a:pPr>
            <a:r>
              <a:rPr lang="en-US" sz="2000" b="1" dirty="0">
                <a:solidFill>
                  <a:srgbClr val="E90802"/>
                </a:solidFill>
              </a:rPr>
              <a:t>24.9%</a:t>
            </a:r>
            <a:endParaRPr lang="en-US" sz="2000" dirty="0"/>
          </a:p>
        </p:txBody>
      </p:sp>
      <p:sp>
        <p:nvSpPr>
          <p:cNvPr id="27" name="pr2-f"/>
          <p:cNvSpPr txBox="1"/>
          <p:nvPr/>
        </p:nvSpPr>
        <p:spPr>
          <a:xfrm>
            <a:off x="6217920" y="5239512"/>
            <a:ext cx="2560320" cy="420624"/>
          </a:xfrm>
          <a:prstGeom prst="rect">
            <a:avLst/>
          </a:prstGeom>
          <a:noFill/>
          <a:ln/>
        </p:spPr>
        <p:txBody>
          <a:bodyPr wrap="square" lIns="0" tIns="0" rIns="0" bIns="0" rtlCol="0" anchor="ctr"/>
          <a:lstStyle/>
          <a:p>
            <a:pPr marL="0" indent="0">
              <a:lnSpc>
                <a:spcPct val="110000"/>
              </a:lnSpc>
              <a:buNone/>
            </a:pPr>
            <a:r>
              <a:rPr lang="en-US" sz="1050" dirty="0">
                <a:solidFill>
                  <a:srgbClr val="767676"/>
                </a:solidFill>
                <a:latin typeface="Arial" pitchFamily="34" charset="0"/>
                <a:ea typeface="Arial" pitchFamily="34" charset="-122"/>
                <a:cs typeface="Arial" pitchFamily="34" charset="-120"/>
              </a:rPr>
              <a:t>supported ↓, contradicted ↑</a:t>
            </a:r>
            <a:endParaRPr lang="en-US" sz="1050" dirty="0"/>
          </a:p>
        </p:txBody>
      </p:sp>
      <p:sp>
        <p:nvSpPr>
          <p:cNvPr id="28" name="pr3-rule"/>
          <p:cNvSpPr/>
          <p:nvPr/>
        </p:nvSpPr>
        <p:spPr>
          <a:xfrm>
            <a:off x="9052560" y="4370832"/>
            <a:ext cx="2560320" cy="25603"/>
          </a:xfrm>
          <a:prstGeom prst="rect">
            <a:avLst/>
          </a:prstGeom>
          <a:solidFill>
            <a:srgbClr val="DCDCDC"/>
          </a:solidFill>
          <a:ln w="3175">
            <a:solidFill>
              <a:srgbClr val="DCDCDC"/>
            </a:solidFill>
            <a:prstDash val="solid"/>
          </a:ln>
        </p:spPr>
        <p:txBody>
          <a:bodyPr/>
          <a:lstStyle/>
          <a:p>
            <a:endParaRPr lang="en-IN"/>
          </a:p>
        </p:txBody>
      </p:sp>
      <p:sp>
        <p:nvSpPr>
          <p:cNvPr id="29" name="pr3-l"/>
          <p:cNvSpPr txBox="1"/>
          <p:nvPr/>
        </p:nvSpPr>
        <p:spPr>
          <a:xfrm>
            <a:off x="9052560" y="4517136"/>
            <a:ext cx="2560320" cy="219456"/>
          </a:xfrm>
          <a:prstGeom prst="rect">
            <a:avLst/>
          </a:prstGeom>
          <a:noFill/>
          <a:ln/>
        </p:spPr>
        <p:txBody>
          <a:bodyPr wrap="square" lIns="0" tIns="0" rIns="0" bIns="0" rtlCol="0" anchor="ctr"/>
          <a:lstStyle/>
          <a:p>
            <a:pPr marL="0" indent="0">
              <a:buNone/>
            </a:pPr>
            <a:r>
              <a:rPr lang="en-US" sz="950" b="1" kern="0" spc="100" dirty="0">
                <a:solidFill>
                  <a:srgbClr val="767676"/>
                </a:solidFill>
                <a:latin typeface="Arial" pitchFamily="34" charset="0"/>
                <a:ea typeface="Arial" pitchFamily="34" charset="-122"/>
                <a:cs typeface="Arial" pitchFamily="34" charset="-120"/>
              </a:rPr>
              <a:t>BEST F1 REPORTED</a:t>
            </a:r>
            <a:endParaRPr lang="en-US" sz="950" dirty="0"/>
          </a:p>
        </p:txBody>
      </p:sp>
      <p:sp>
        <p:nvSpPr>
          <p:cNvPr id="30" name="pr3-v"/>
          <p:cNvSpPr txBox="1"/>
          <p:nvPr/>
        </p:nvSpPr>
        <p:spPr>
          <a:xfrm>
            <a:off x="9052560" y="4754880"/>
            <a:ext cx="2560320" cy="457200"/>
          </a:xfrm>
          <a:prstGeom prst="rect">
            <a:avLst/>
          </a:prstGeom>
          <a:noFill/>
          <a:ln/>
        </p:spPr>
        <p:txBody>
          <a:bodyPr wrap="square" lIns="0" tIns="0" rIns="0" bIns="0" rtlCol="0" anchor="ctr"/>
          <a:lstStyle/>
          <a:p>
            <a:pPr marL="0" indent="0">
              <a:buNone/>
            </a:pPr>
            <a:r>
              <a:rPr lang="en-US" sz="2000" b="1" dirty="0">
                <a:solidFill>
                  <a:srgbClr val="1A1A1A"/>
                </a:solidFill>
              </a:rPr>
              <a:t>57.5</a:t>
            </a:r>
            <a:endParaRPr lang="en-US" sz="2000" dirty="0"/>
          </a:p>
        </p:txBody>
      </p:sp>
      <p:sp>
        <p:nvSpPr>
          <p:cNvPr id="31" name="pr3-f"/>
          <p:cNvSpPr txBox="1"/>
          <p:nvPr/>
        </p:nvSpPr>
        <p:spPr>
          <a:xfrm>
            <a:off x="9052560" y="5239512"/>
            <a:ext cx="2560320" cy="420624"/>
          </a:xfrm>
          <a:prstGeom prst="rect">
            <a:avLst/>
          </a:prstGeom>
          <a:noFill/>
          <a:ln/>
        </p:spPr>
        <p:txBody>
          <a:bodyPr wrap="square" lIns="0" tIns="0" rIns="0" bIns="0" rtlCol="0" anchor="ctr"/>
          <a:lstStyle/>
          <a:p>
            <a:pPr marL="0" indent="0">
              <a:lnSpc>
                <a:spcPct val="110000"/>
              </a:lnSpc>
              <a:buNone/>
            </a:pPr>
            <a:r>
              <a:rPr lang="en-US" sz="1050" dirty="0">
                <a:solidFill>
                  <a:srgbClr val="767676"/>
                </a:solidFill>
                <a:latin typeface="Arial" pitchFamily="34" charset="0"/>
                <a:ea typeface="Arial" pitchFamily="34" charset="-122"/>
                <a:cs typeface="Arial" pitchFamily="34" charset="-120"/>
              </a:rPr>
              <a:t>Qwen 2.5-32B</a:t>
            </a:r>
            <a:endParaRPr lang="en-US" sz="1050" dirty="0"/>
          </a:p>
        </p:txBody>
      </p:sp>
      <p:sp>
        <p:nvSpPr>
          <p:cNvPr id="32" name="note"/>
          <p:cNvSpPr txBox="1"/>
          <p:nvPr/>
        </p:nvSpPr>
        <p:spPr>
          <a:xfrm>
            <a:off x="548640" y="6291072"/>
            <a:ext cx="10607040" cy="274320"/>
          </a:xfrm>
          <a:prstGeom prst="rect">
            <a:avLst/>
          </a:prstGeom>
          <a:noFill/>
          <a:ln/>
        </p:spPr>
        <p:txBody>
          <a:bodyPr wrap="square" lIns="0" tIns="0" rIns="0" bIns="0" rtlCol="0" anchor="ctr"/>
          <a:lstStyle/>
          <a:p>
            <a:pPr marL="0" indent="0">
              <a:buNone/>
            </a:pPr>
            <a:r>
              <a:rPr lang="en-US" sz="950" dirty="0">
                <a:solidFill>
                  <a:srgbClr val="767676"/>
                </a:solidFill>
                <a:latin typeface="Arial" pitchFamily="34" charset="0"/>
                <a:ea typeface="Arial" pitchFamily="34" charset="-122"/>
                <a:cs typeface="Arial" pitchFamily="34" charset="-120"/>
              </a:rPr>
              <a:t>These are the paper's numbers, on 1,096 prompts with GPT-4o, Llama 3.3-70B and Qwen 2.5-32B.</a:t>
            </a:r>
            <a:endParaRPr lang="en-US" sz="950" dirty="0"/>
          </a:p>
        </p:txBody>
      </p:sp>
      <p:sp>
        <p:nvSpPr>
          <p:cNvPr id="33" name="Slide Number Placeholder 0"/>
          <p:cNvSpPr>
            <a:spLocks noGrp="1"/>
          </p:cNvSpPr>
          <p:nvPr>
            <p:ph type="sldNum" sz="quarter" idx="4294967295"/>
          </p:nvPr>
        </p:nvSpPr>
        <p:spPr>
          <a:xfrm>
            <a:off x="11338560" y="6327648"/>
            <a:ext cx="365760" cy="256032"/>
          </a:xfrm>
          <a:prstGeom prst="rect">
            <a:avLst/>
          </a:prstGeom>
          <a:extLst>
            <a:ext uri="{C572A759-6A51-4108-AA02-DFA0A04FC94B}">
              <ma14:wrappingTextBoxFlag xmlns:ma14="http://schemas.microsoft.com/office/mac/drawingml/2011/main" xmlns="" val="0"/>
            </a:ext>
          </a:extLst>
        </p:spPr>
        <p:txBody>
          <a:bodyPr/>
          <a:lstStyle>
            <a:lvl1pPr>
              <a:defRPr sz="900">
                <a:solidFill>
                  <a:srgbClr val="767676"/>
                </a:solidFill>
              </a:defRPr>
            </a:lvl1pPr>
          </a:lstStyle>
          <a:p>
            <a:pPr algn="r"/>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eyebrow"/>
          <p:cNvSpPr txBox="1"/>
          <p:nvPr/>
        </p:nvSpPr>
        <p:spPr>
          <a:xfrm>
            <a:off x="548640" y="347472"/>
            <a:ext cx="11064240" cy="237744"/>
          </a:xfrm>
          <a:prstGeom prst="rect">
            <a:avLst/>
          </a:prstGeom>
          <a:noFill/>
          <a:ln/>
        </p:spPr>
        <p:txBody>
          <a:bodyPr wrap="square" lIns="0" tIns="0" rIns="0" bIns="0" rtlCol="0" anchor="ctr"/>
          <a:lstStyle/>
          <a:p>
            <a:pPr marL="0" indent="0">
              <a:buNone/>
            </a:pPr>
            <a:r>
              <a:rPr lang="en-US" sz="1000" b="1" kern="0" spc="200" dirty="0">
                <a:solidFill>
                  <a:srgbClr val="E90802"/>
                </a:solidFill>
                <a:latin typeface="Arial" pitchFamily="34" charset="0"/>
                <a:ea typeface="Arial" pitchFamily="34" charset="-122"/>
                <a:cs typeface="Arial" pitchFamily="34" charset="-120"/>
              </a:rPr>
              <a:t>HOW VERIFACT WORKS</a:t>
            </a:r>
            <a:endParaRPr lang="en-US" sz="1000" dirty="0"/>
          </a:p>
        </p:txBody>
      </p:sp>
      <p:sp>
        <p:nvSpPr>
          <p:cNvPr id="3" name="title"/>
          <p:cNvSpPr txBox="1"/>
          <p:nvPr/>
        </p:nvSpPr>
        <p:spPr>
          <a:xfrm>
            <a:off x="548640" y="621792"/>
            <a:ext cx="11064240" cy="548640"/>
          </a:xfrm>
          <a:prstGeom prst="rect">
            <a:avLst/>
          </a:prstGeom>
          <a:noFill/>
          <a:ln/>
        </p:spPr>
        <p:txBody>
          <a:bodyPr wrap="square" lIns="0" tIns="0" rIns="0" bIns="0" rtlCol="0" anchor="ctr"/>
          <a:lstStyle/>
          <a:p>
            <a:pPr marL="0" indent="0">
              <a:buNone/>
            </a:pPr>
            <a:r>
              <a:rPr lang="en-US" sz="2700" b="1" dirty="0">
                <a:solidFill>
                  <a:srgbClr val="1A1A1A"/>
                </a:solidFill>
              </a:rPr>
              <a:t>Four steps, three judges, union of detections</a:t>
            </a:r>
            <a:endParaRPr lang="en-US" sz="2700" dirty="0"/>
          </a:p>
        </p:txBody>
      </p:sp>
      <p:sp>
        <p:nvSpPr>
          <p:cNvPr id="4" name="subtitle"/>
          <p:cNvSpPr txBox="1"/>
          <p:nvPr/>
        </p:nvSpPr>
        <p:spPr>
          <a:xfrm>
            <a:off x="548640" y="1188720"/>
            <a:ext cx="11064240" cy="256032"/>
          </a:xfrm>
          <a:prstGeom prst="rect">
            <a:avLst/>
          </a:prstGeom>
          <a:noFill/>
          <a:ln/>
        </p:spPr>
        <p:txBody>
          <a:bodyPr wrap="square" lIns="0" tIns="0" rIns="0" bIns="0" rtlCol="0" anchor="ctr"/>
          <a:lstStyle/>
          <a:p>
            <a:pPr marL="0" indent="0">
              <a:buNone/>
            </a:pPr>
            <a:r>
              <a:rPr lang="en-US" sz="1350" dirty="0">
                <a:solidFill>
                  <a:srgbClr val="767676"/>
                </a:solidFill>
                <a:latin typeface="Arial" pitchFamily="34" charset="0"/>
                <a:ea typeface="Arial" pitchFamily="34" charset="-122"/>
                <a:cs typeface="Arial" pitchFamily="34" charset="-120"/>
              </a:rPr>
              <a:t>Steps 2 and 3 are the paper's contribution; steps 1 and 4 are inherited</a:t>
            </a:r>
            <a:endParaRPr lang="en-US" sz="1350" dirty="0"/>
          </a:p>
        </p:txBody>
      </p:sp>
      <p:sp>
        <p:nvSpPr>
          <p:cNvPr id="5" name="head-rule"/>
          <p:cNvSpPr/>
          <p:nvPr/>
        </p:nvSpPr>
        <p:spPr>
          <a:xfrm>
            <a:off x="548640" y="1499616"/>
            <a:ext cx="11064240" cy="10973"/>
          </a:xfrm>
          <a:prstGeom prst="rect">
            <a:avLst/>
          </a:prstGeom>
          <a:solidFill>
            <a:srgbClr val="DCDCDC"/>
          </a:solidFill>
          <a:ln w="3175">
            <a:solidFill>
              <a:srgbClr val="DCDCDC"/>
            </a:solidFill>
            <a:prstDash val="solid"/>
          </a:ln>
        </p:spPr>
        <p:txBody>
          <a:bodyPr/>
          <a:lstStyle/>
          <a:p>
            <a:endParaRPr lang="en-IN"/>
          </a:p>
        </p:txBody>
      </p:sp>
      <p:sp>
        <p:nvSpPr>
          <p:cNvPr id="6" name="step1"/>
          <p:cNvSpPr/>
          <p:nvPr/>
        </p:nvSpPr>
        <p:spPr>
          <a:xfrm>
            <a:off x="548640" y="1600200"/>
            <a:ext cx="2560320" cy="2103120"/>
          </a:xfrm>
          <a:prstGeom prst="rect">
            <a:avLst/>
          </a:prstGeom>
          <a:solidFill>
            <a:srgbClr val="FFFFFF"/>
          </a:solidFill>
          <a:ln w="9525">
            <a:solidFill>
              <a:srgbClr val="DCDCDC"/>
            </a:solidFill>
            <a:prstDash val="solid"/>
          </a:ln>
        </p:spPr>
        <p:txBody>
          <a:bodyPr/>
          <a:lstStyle/>
          <a:p>
            <a:endParaRPr lang="en-IN"/>
          </a:p>
        </p:txBody>
      </p:sp>
      <p:sp>
        <p:nvSpPr>
          <p:cNvPr id="7" name="step1-badge"/>
          <p:cNvSpPr txBox="1"/>
          <p:nvPr/>
        </p:nvSpPr>
        <p:spPr>
          <a:xfrm>
            <a:off x="804672" y="1801368"/>
            <a:ext cx="2048256" cy="292608"/>
          </a:xfrm>
          <a:prstGeom prst="rect">
            <a:avLst/>
          </a:prstGeom>
          <a:noFill/>
          <a:ln/>
        </p:spPr>
        <p:txBody>
          <a:bodyPr wrap="square" lIns="0" tIns="0" rIns="0" bIns="0" rtlCol="0" anchor="ctr"/>
          <a:lstStyle/>
          <a:p>
            <a:pPr marL="0" indent="0">
              <a:buNone/>
            </a:pPr>
            <a:r>
              <a:rPr lang="en-US" sz="1600" b="1" dirty="0">
                <a:solidFill>
                  <a:srgbClr val="767676"/>
                </a:solidFill>
              </a:rPr>
              <a:t>1</a:t>
            </a:r>
            <a:endParaRPr lang="en-US" sz="1600" dirty="0"/>
          </a:p>
        </p:txBody>
      </p:sp>
      <p:sp>
        <p:nvSpPr>
          <p:cNvPr id="8" name="step1-h"/>
          <p:cNvSpPr txBox="1"/>
          <p:nvPr/>
        </p:nvSpPr>
        <p:spPr>
          <a:xfrm>
            <a:off x="804672" y="2185416"/>
            <a:ext cx="2048256" cy="292608"/>
          </a:xfrm>
          <a:prstGeom prst="rect">
            <a:avLst/>
          </a:prstGeom>
          <a:noFill/>
          <a:ln/>
        </p:spPr>
        <p:txBody>
          <a:bodyPr wrap="square" lIns="0" tIns="0" rIns="0" bIns="0" rtlCol="0" anchor="ctr"/>
          <a:lstStyle/>
          <a:p>
            <a:pPr marL="0" indent="0">
              <a:buNone/>
            </a:pPr>
            <a:r>
              <a:rPr lang="en-US" sz="1450" b="1" dirty="0">
                <a:solidFill>
                  <a:srgbClr val="1A1A1A"/>
                </a:solidFill>
              </a:rPr>
              <a:t>Decompose</a:t>
            </a:r>
            <a:endParaRPr lang="en-US" sz="1450" dirty="0"/>
          </a:p>
        </p:txBody>
      </p:sp>
      <p:sp>
        <p:nvSpPr>
          <p:cNvPr id="9" name="step1-b"/>
          <p:cNvSpPr txBox="1"/>
          <p:nvPr/>
        </p:nvSpPr>
        <p:spPr>
          <a:xfrm>
            <a:off x="804672" y="2587752"/>
            <a:ext cx="2048256" cy="950976"/>
          </a:xfrm>
          <a:prstGeom prst="rect">
            <a:avLst/>
          </a:prstGeom>
          <a:noFill/>
          <a:ln/>
        </p:spPr>
        <p:txBody>
          <a:bodyPr wrap="square" lIns="0" tIns="0" rIns="0" bIns="0" rtlCol="0" anchor="t"/>
          <a:lstStyle/>
          <a:p>
            <a:pPr marL="0" indent="0">
              <a:lnSpc>
                <a:spcPct val="125000"/>
              </a:lnSpc>
              <a:buNone/>
            </a:pPr>
            <a:r>
              <a:rPr lang="en-US" sz="1200" dirty="0">
                <a:solidFill>
                  <a:srgbClr val="444444"/>
                </a:solidFill>
                <a:latin typeface="Arial" pitchFamily="34" charset="0"/>
                <a:ea typeface="Arial" pitchFamily="34" charset="-122"/>
                <a:cs typeface="Arial" pitchFamily="34" charset="-120"/>
              </a:rPr>
              <a:t>SAFE's extractor splits each sentence into atomic facts, then resolves vague references.</a:t>
            </a:r>
            <a:endParaRPr lang="en-US" sz="1200" dirty="0"/>
          </a:p>
        </p:txBody>
      </p:sp>
      <p:sp>
        <p:nvSpPr>
          <p:cNvPr id="10" name="step2"/>
          <p:cNvSpPr/>
          <p:nvPr/>
        </p:nvSpPr>
        <p:spPr>
          <a:xfrm>
            <a:off x="3383280" y="1600200"/>
            <a:ext cx="2560320" cy="2103120"/>
          </a:xfrm>
          <a:prstGeom prst="rect">
            <a:avLst/>
          </a:prstGeom>
          <a:solidFill>
            <a:srgbClr val="FFFFFF"/>
          </a:solidFill>
          <a:ln w="9525">
            <a:solidFill>
              <a:srgbClr val="DCDCDC"/>
            </a:solidFill>
            <a:prstDash val="solid"/>
          </a:ln>
        </p:spPr>
        <p:txBody>
          <a:bodyPr/>
          <a:lstStyle/>
          <a:p>
            <a:endParaRPr lang="en-IN"/>
          </a:p>
        </p:txBody>
      </p:sp>
      <p:sp>
        <p:nvSpPr>
          <p:cNvPr id="11" name="step2-edge"/>
          <p:cNvSpPr/>
          <p:nvPr/>
        </p:nvSpPr>
        <p:spPr>
          <a:xfrm>
            <a:off x="3383280" y="1600200"/>
            <a:ext cx="29261" cy="2103120"/>
          </a:xfrm>
          <a:prstGeom prst="rect">
            <a:avLst/>
          </a:prstGeom>
          <a:solidFill>
            <a:srgbClr val="E90802"/>
          </a:solidFill>
          <a:ln w="3175">
            <a:solidFill>
              <a:srgbClr val="E90802"/>
            </a:solidFill>
            <a:prstDash val="solid"/>
          </a:ln>
        </p:spPr>
        <p:txBody>
          <a:bodyPr/>
          <a:lstStyle/>
          <a:p>
            <a:endParaRPr lang="en-IN"/>
          </a:p>
        </p:txBody>
      </p:sp>
      <p:sp>
        <p:nvSpPr>
          <p:cNvPr id="12" name="step2-badge"/>
          <p:cNvSpPr txBox="1"/>
          <p:nvPr/>
        </p:nvSpPr>
        <p:spPr>
          <a:xfrm>
            <a:off x="3639312" y="1801368"/>
            <a:ext cx="2048256" cy="292608"/>
          </a:xfrm>
          <a:prstGeom prst="rect">
            <a:avLst/>
          </a:prstGeom>
          <a:noFill/>
          <a:ln/>
        </p:spPr>
        <p:txBody>
          <a:bodyPr wrap="square" lIns="0" tIns="0" rIns="0" bIns="0" rtlCol="0" anchor="ctr"/>
          <a:lstStyle/>
          <a:p>
            <a:pPr marL="0" indent="0">
              <a:buNone/>
            </a:pPr>
            <a:r>
              <a:rPr lang="en-US" sz="1600" b="1" dirty="0">
                <a:solidFill>
                  <a:srgbClr val="E90802"/>
                </a:solidFill>
              </a:rPr>
              <a:t>2</a:t>
            </a:r>
            <a:endParaRPr lang="en-US" sz="1600" dirty="0"/>
          </a:p>
        </p:txBody>
      </p:sp>
      <p:sp>
        <p:nvSpPr>
          <p:cNvPr id="13" name="step2-h"/>
          <p:cNvSpPr txBox="1"/>
          <p:nvPr/>
        </p:nvSpPr>
        <p:spPr>
          <a:xfrm>
            <a:off x="3639312" y="2185416"/>
            <a:ext cx="2048256" cy="292608"/>
          </a:xfrm>
          <a:prstGeom prst="rect">
            <a:avLst/>
          </a:prstGeom>
          <a:noFill/>
          <a:ln/>
        </p:spPr>
        <p:txBody>
          <a:bodyPr wrap="square" lIns="0" tIns="0" rIns="0" bIns="0" rtlCol="0" anchor="ctr"/>
          <a:lstStyle/>
          <a:p>
            <a:pPr marL="0" indent="0">
              <a:buNone/>
            </a:pPr>
            <a:r>
              <a:rPr lang="en-US" sz="1450" b="1" dirty="0">
                <a:solidFill>
                  <a:srgbClr val="E90802"/>
                </a:solidFill>
              </a:rPr>
              <a:t>Detect</a:t>
            </a:r>
            <a:endParaRPr lang="en-US" sz="1450" dirty="0"/>
          </a:p>
        </p:txBody>
      </p:sp>
      <p:sp>
        <p:nvSpPr>
          <p:cNvPr id="14" name="step2-b"/>
          <p:cNvSpPr txBox="1"/>
          <p:nvPr/>
        </p:nvSpPr>
        <p:spPr>
          <a:xfrm>
            <a:off x="3639312" y="2587752"/>
            <a:ext cx="2048256" cy="950976"/>
          </a:xfrm>
          <a:prstGeom prst="rect">
            <a:avLst/>
          </a:prstGeom>
          <a:noFill/>
          <a:ln/>
        </p:spPr>
        <p:txBody>
          <a:bodyPr wrap="square" lIns="0" tIns="0" rIns="0" bIns="0" rtlCol="0" anchor="t"/>
          <a:lstStyle/>
          <a:p>
            <a:pPr marL="0" indent="0">
              <a:lnSpc>
                <a:spcPct val="125000"/>
              </a:lnSpc>
              <a:buNone/>
            </a:pPr>
            <a:r>
              <a:rPr lang="en-US" sz="1200" dirty="0">
                <a:solidFill>
                  <a:srgbClr val="444444"/>
                </a:solidFill>
                <a:latin typeface="Arial" pitchFamily="34" charset="0"/>
                <a:ea typeface="Arial" pitchFamily="34" charset="-122"/>
                <a:cs typeface="Arial" pitchFamily="34" charset="-120"/>
              </a:rPr>
              <a:t>Judges flag incomplete facts by subtype, and missing temporal or contingency relations.</a:t>
            </a:r>
            <a:endParaRPr lang="en-US" sz="1200" dirty="0"/>
          </a:p>
        </p:txBody>
      </p:sp>
      <p:sp>
        <p:nvSpPr>
          <p:cNvPr id="15" name="step3"/>
          <p:cNvSpPr/>
          <p:nvPr/>
        </p:nvSpPr>
        <p:spPr>
          <a:xfrm>
            <a:off x="6217920" y="1600200"/>
            <a:ext cx="2560320" cy="2103120"/>
          </a:xfrm>
          <a:prstGeom prst="rect">
            <a:avLst/>
          </a:prstGeom>
          <a:solidFill>
            <a:srgbClr val="FFFFFF"/>
          </a:solidFill>
          <a:ln w="9525">
            <a:solidFill>
              <a:srgbClr val="DCDCDC"/>
            </a:solidFill>
            <a:prstDash val="solid"/>
          </a:ln>
        </p:spPr>
        <p:txBody>
          <a:bodyPr/>
          <a:lstStyle/>
          <a:p>
            <a:endParaRPr lang="en-IN"/>
          </a:p>
        </p:txBody>
      </p:sp>
      <p:sp>
        <p:nvSpPr>
          <p:cNvPr id="16" name="step3-edge"/>
          <p:cNvSpPr/>
          <p:nvPr/>
        </p:nvSpPr>
        <p:spPr>
          <a:xfrm>
            <a:off x="6217920" y="1600200"/>
            <a:ext cx="29261" cy="2103120"/>
          </a:xfrm>
          <a:prstGeom prst="rect">
            <a:avLst/>
          </a:prstGeom>
          <a:solidFill>
            <a:srgbClr val="E90802"/>
          </a:solidFill>
          <a:ln w="3175">
            <a:solidFill>
              <a:srgbClr val="E90802"/>
            </a:solidFill>
            <a:prstDash val="solid"/>
          </a:ln>
        </p:spPr>
        <p:txBody>
          <a:bodyPr/>
          <a:lstStyle/>
          <a:p>
            <a:endParaRPr lang="en-IN"/>
          </a:p>
        </p:txBody>
      </p:sp>
      <p:sp>
        <p:nvSpPr>
          <p:cNvPr id="17" name="step3-badge"/>
          <p:cNvSpPr txBox="1"/>
          <p:nvPr/>
        </p:nvSpPr>
        <p:spPr>
          <a:xfrm>
            <a:off x="6473952" y="1801368"/>
            <a:ext cx="2048256" cy="292608"/>
          </a:xfrm>
          <a:prstGeom prst="rect">
            <a:avLst/>
          </a:prstGeom>
          <a:noFill/>
          <a:ln/>
        </p:spPr>
        <p:txBody>
          <a:bodyPr wrap="square" lIns="0" tIns="0" rIns="0" bIns="0" rtlCol="0" anchor="ctr"/>
          <a:lstStyle/>
          <a:p>
            <a:pPr marL="0" indent="0">
              <a:buNone/>
            </a:pPr>
            <a:r>
              <a:rPr lang="en-US" sz="1600" b="1" dirty="0">
                <a:solidFill>
                  <a:srgbClr val="E90802"/>
                </a:solidFill>
              </a:rPr>
              <a:t>3</a:t>
            </a:r>
            <a:endParaRPr lang="en-US" sz="1600" dirty="0"/>
          </a:p>
        </p:txBody>
      </p:sp>
      <p:sp>
        <p:nvSpPr>
          <p:cNvPr id="18" name="step3-h"/>
          <p:cNvSpPr txBox="1"/>
          <p:nvPr/>
        </p:nvSpPr>
        <p:spPr>
          <a:xfrm>
            <a:off x="6473952" y="2185416"/>
            <a:ext cx="2048256" cy="292608"/>
          </a:xfrm>
          <a:prstGeom prst="rect">
            <a:avLst/>
          </a:prstGeom>
          <a:noFill/>
          <a:ln/>
        </p:spPr>
        <p:txBody>
          <a:bodyPr wrap="square" lIns="0" tIns="0" rIns="0" bIns="0" rtlCol="0" anchor="ctr"/>
          <a:lstStyle/>
          <a:p>
            <a:pPr marL="0" indent="0">
              <a:buNone/>
            </a:pPr>
            <a:r>
              <a:rPr lang="en-US" sz="1450" b="1" dirty="0">
                <a:solidFill>
                  <a:srgbClr val="E90802"/>
                </a:solidFill>
              </a:rPr>
              <a:t>Refine</a:t>
            </a:r>
            <a:endParaRPr lang="en-US" sz="1450" dirty="0"/>
          </a:p>
        </p:txBody>
      </p:sp>
      <p:sp>
        <p:nvSpPr>
          <p:cNvPr id="19" name="step3-b"/>
          <p:cNvSpPr txBox="1"/>
          <p:nvPr/>
        </p:nvSpPr>
        <p:spPr>
          <a:xfrm>
            <a:off x="6473952" y="2587752"/>
            <a:ext cx="2048256" cy="950976"/>
          </a:xfrm>
          <a:prstGeom prst="rect">
            <a:avLst/>
          </a:prstGeom>
          <a:noFill/>
          <a:ln/>
        </p:spPr>
        <p:txBody>
          <a:bodyPr wrap="square" lIns="0" tIns="0" rIns="0" bIns="0" rtlCol="0" anchor="t"/>
          <a:lstStyle/>
          <a:p>
            <a:pPr marL="0" indent="0">
              <a:lnSpc>
                <a:spcPct val="125000"/>
              </a:lnSpc>
              <a:buNone/>
            </a:pPr>
            <a:r>
              <a:rPr lang="en-US" sz="1200" dirty="0">
                <a:solidFill>
                  <a:srgbClr val="444444"/>
                </a:solidFill>
                <a:latin typeface="Arial" pitchFamily="34" charset="0"/>
                <a:ea typeface="Arial" pitchFamily="34" charset="-122"/>
                <a:cs typeface="Arial" pitchFamily="34" charset="-120"/>
              </a:rPr>
              <a:t>Self-reflection rewrites each flagged fact and writes one new fact per missing relation.</a:t>
            </a:r>
            <a:endParaRPr lang="en-US" sz="1200" dirty="0"/>
          </a:p>
        </p:txBody>
      </p:sp>
      <p:sp>
        <p:nvSpPr>
          <p:cNvPr id="20" name="step4"/>
          <p:cNvSpPr/>
          <p:nvPr/>
        </p:nvSpPr>
        <p:spPr>
          <a:xfrm>
            <a:off x="9052560" y="1600200"/>
            <a:ext cx="2560320" cy="2103120"/>
          </a:xfrm>
          <a:prstGeom prst="rect">
            <a:avLst/>
          </a:prstGeom>
          <a:solidFill>
            <a:srgbClr val="FFFFFF"/>
          </a:solidFill>
          <a:ln w="9525">
            <a:solidFill>
              <a:srgbClr val="DCDCDC"/>
            </a:solidFill>
            <a:prstDash val="solid"/>
          </a:ln>
        </p:spPr>
        <p:txBody>
          <a:bodyPr/>
          <a:lstStyle/>
          <a:p>
            <a:endParaRPr lang="en-IN"/>
          </a:p>
        </p:txBody>
      </p:sp>
      <p:sp>
        <p:nvSpPr>
          <p:cNvPr id="21" name="step4-badge"/>
          <p:cNvSpPr txBox="1"/>
          <p:nvPr/>
        </p:nvSpPr>
        <p:spPr>
          <a:xfrm>
            <a:off x="9308592" y="1801368"/>
            <a:ext cx="2048256" cy="292608"/>
          </a:xfrm>
          <a:prstGeom prst="rect">
            <a:avLst/>
          </a:prstGeom>
          <a:noFill/>
          <a:ln/>
        </p:spPr>
        <p:txBody>
          <a:bodyPr wrap="square" lIns="0" tIns="0" rIns="0" bIns="0" rtlCol="0" anchor="ctr"/>
          <a:lstStyle/>
          <a:p>
            <a:pPr marL="0" indent="0">
              <a:buNone/>
            </a:pPr>
            <a:r>
              <a:rPr lang="en-US" sz="1600" b="1" dirty="0">
                <a:solidFill>
                  <a:srgbClr val="767676"/>
                </a:solidFill>
              </a:rPr>
              <a:t>4</a:t>
            </a:r>
            <a:endParaRPr lang="en-US" sz="1600" dirty="0"/>
          </a:p>
        </p:txBody>
      </p:sp>
      <p:sp>
        <p:nvSpPr>
          <p:cNvPr id="22" name="step4-h"/>
          <p:cNvSpPr txBox="1"/>
          <p:nvPr/>
        </p:nvSpPr>
        <p:spPr>
          <a:xfrm>
            <a:off x="9308592" y="2185416"/>
            <a:ext cx="2048256" cy="292608"/>
          </a:xfrm>
          <a:prstGeom prst="rect">
            <a:avLst/>
          </a:prstGeom>
          <a:noFill/>
          <a:ln/>
        </p:spPr>
        <p:txBody>
          <a:bodyPr wrap="square" lIns="0" tIns="0" rIns="0" bIns="0" rtlCol="0" anchor="ctr"/>
          <a:lstStyle/>
          <a:p>
            <a:pPr marL="0" indent="0">
              <a:buNone/>
            </a:pPr>
            <a:r>
              <a:rPr lang="en-US" sz="1450" b="1" dirty="0">
                <a:solidFill>
                  <a:srgbClr val="1A1A1A"/>
                </a:solidFill>
              </a:rPr>
              <a:t>Verify</a:t>
            </a:r>
            <a:endParaRPr lang="en-US" sz="1450" dirty="0"/>
          </a:p>
        </p:txBody>
      </p:sp>
      <p:sp>
        <p:nvSpPr>
          <p:cNvPr id="23" name="step4-b"/>
          <p:cNvSpPr txBox="1"/>
          <p:nvPr/>
        </p:nvSpPr>
        <p:spPr>
          <a:xfrm>
            <a:off x="9308592" y="2587752"/>
            <a:ext cx="2048256" cy="950976"/>
          </a:xfrm>
          <a:prstGeom prst="rect">
            <a:avLst/>
          </a:prstGeom>
          <a:noFill/>
          <a:ln/>
        </p:spPr>
        <p:txBody>
          <a:bodyPr wrap="square" lIns="0" tIns="0" rIns="0" bIns="0" rtlCol="0" anchor="t"/>
          <a:lstStyle/>
          <a:p>
            <a:pPr marL="0" indent="0">
              <a:lnSpc>
                <a:spcPct val="125000"/>
              </a:lnSpc>
              <a:buNone/>
            </a:pPr>
            <a:r>
              <a:rPr lang="en-US" sz="1200" dirty="0">
                <a:solidFill>
                  <a:srgbClr val="444444"/>
                </a:solidFill>
                <a:latin typeface="Arial" pitchFamily="34" charset="0"/>
                <a:ea typeface="Arial" pitchFamily="34" charset="-122"/>
                <a:cs typeface="Arial" pitchFamily="34" charset="-120"/>
              </a:rPr>
              <a:t>Google Search via Serper, cross-encoder reranking, then Supported / Contradicted / Undecided.</a:t>
            </a:r>
            <a:endParaRPr lang="en-US" sz="1200" dirty="0"/>
          </a:p>
        </p:txBody>
      </p:sp>
      <p:sp>
        <p:nvSpPr>
          <p:cNvPr id="24" name="detect"/>
          <p:cNvSpPr/>
          <p:nvPr/>
        </p:nvSpPr>
        <p:spPr>
          <a:xfrm>
            <a:off x="548640" y="3977640"/>
            <a:ext cx="5394960" cy="1783080"/>
          </a:xfrm>
          <a:prstGeom prst="rect">
            <a:avLst/>
          </a:prstGeom>
          <a:solidFill>
            <a:srgbClr val="F4F4F4"/>
          </a:solidFill>
          <a:ln w="9525">
            <a:solidFill>
              <a:srgbClr val="F4F4F4"/>
            </a:solidFill>
            <a:prstDash val="solid"/>
          </a:ln>
        </p:spPr>
        <p:txBody>
          <a:bodyPr/>
          <a:lstStyle/>
          <a:p>
            <a:endParaRPr lang="en-IN"/>
          </a:p>
        </p:txBody>
      </p:sp>
      <p:sp>
        <p:nvSpPr>
          <p:cNvPr id="25" name="detect-h"/>
          <p:cNvSpPr txBox="1"/>
          <p:nvPr/>
        </p:nvSpPr>
        <p:spPr>
          <a:xfrm>
            <a:off x="804672" y="4178808"/>
            <a:ext cx="4882896" cy="292608"/>
          </a:xfrm>
          <a:prstGeom prst="rect">
            <a:avLst/>
          </a:prstGeom>
          <a:noFill/>
          <a:ln/>
        </p:spPr>
        <p:txBody>
          <a:bodyPr wrap="square" lIns="0" tIns="0" rIns="0" bIns="0" rtlCol="0" anchor="ctr"/>
          <a:lstStyle/>
          <a:p>
            <a:pPr marL="0" indent="0">
              <a:buNone/>
            </a:pPr>
            <a:r>
              <a:rPr lang="en-US" sz="1450" b="1" dirty="0">
                <a:solidFill>
                  <a:srgbClr val="1A1A1A"/>
                </a:solidFill>
              </a:rPr>
              <a:t>Detecting incomplete facts</a:t>
            </a:r>
            <a:endParaRPr lang="en-US" sz="1450" dirty="0"/>
          </a:p>
        </p:txBody>
      </p:sp>
      <p:sp>
        <p:nvSpPr>
          <p:cNvPr id="26" name="detect-b"/>
          <p:cNvSpPr txBox="1"/>
          <p:nvPr/>
        </p:nvSpPr>
        <p:spPr>
          <a:xfrm>
            <a:off x="804672" y="4581144"/>
            <a:ext cx="4882896" cy="1014984"/>
          </a:xfrm>
          <a:prstGeom prst="rect">
            <a:avLst/>
          </a:prstGeom>
          <a:noFill/>
          <a:ln/>
        </p:spPr>
        <p:txBody>
          <a:bodyPr wrap="square" lIns="0" tIns="0" rIns="0" bIns="0" rtlCol="0" anchor="t"/>
          <a:lstStyle/>
          <a:p>
            <a:pPr marL="0" indent="0">
              <a:lnSpc>
                <a:spcPct val="125000"/>
              </a:lnSpc>
              <a:buNone/>
            </a:pPr>
            <a:r>
              <a:rPr lang="en-US" sz="1250" dirty="0">
                <a:solidFill>
                  <a:srgbClr val="444444"/>
                </a:solidFill>
                <a:latin typeface="Arial" pitchFamily="34" charset="0"/>
                <a:ea typeface="Arial" pitchFamily="34" charset="-122"/>
                <a:cs typeface="Arial" pitchFamily="34" charset="-120"/>
              </a:rPr>
              <a:t>Each fact is judged against the response it came from, and labelled with one of four subtypes: ambiguous concept or pronoun, missing comparison, omitted condition or source, other.</a:t>
            </a:r>
            <a:endParaRPr lang="en-US" sz="1250" dirty="0"/>
          </a:p>
        </p:txBody>
      </p:sp>
      <p:sp>
        <p:nvSpPr>
          <p:cNvPr id="27" name="relate"/>
          <p:cNvSpPr/>
          <p:nvPr/>
        </p:nvSpPr>
        <p:spPr>
          <a:xfrm>
            <a:off x="6217920" y="3977640"/>
            <a:ext cx="5394960" cy="1783080"/>
          </a:xfrm>
          <a:prstGeom prst="rect">
            <a:avLst/>
          </a:prstGeom>
          <a:solidFill>
            <a:srgbClr val="F4F4F4"/>
          </a:solidFill>
          <a:ln w="9525">
            <a:solidFill>
              <a:srgbClr val="F4F4F4"/>
            </a:solidFill>
            <a:prstDash val="solid"/>
          </a:ln>
        </p:spPr>
        <p:txBody>
          <a:bodyPr/>
          <a:lstStyle/>
          <a:p>
            <a:endParaRPr lang="en-IN"/>
          </a:p>
        </p:txBody>
      </p:sp>
      <p:sp>
        <p:nvSpPr>
          <p:cNvPr id="28" name="relate-edge"/>
          <p:cNvSpPr/>
          <p:nvPr/>
        </p:nvSpPr>
        <p:spPr>
          <a:xfrm>
            <a:off x="6217920" y="3977640"/>
            <a:ext cx="29261" cy="1783080"/>
          </a:xfrm>
          <a:prstGeom prst="rect">
            <a:avLst/>
          </a:prstGeom>
          <a:solidFill>
            <a:srgbClr val="E90802"/>
          </a:solidFill>
          <a:ln w="3175">
            <a:solidFill>
              <a:srgbClr val="E90802"/>
            </a:solidFill>
            <a:prstDash val="solid"/>
          </a:ln>
        </p:spPr>
        <p:txBody>
          <a:bodyPr/>
          <a:lstStyle/>
          <a:p>
            <a:endParaRPr lang="en-IN"/>
          </a:p>
        </p:txBody>
      </p:sp>
      <p:sp>
        <p:nvSpPr>
          <p:cNvPr id="29" name="relate-h"/>
          <p:cNvSpPr txBox="1"/>
          <p:nvPr/>
        </p:nvSpPr>
        <p:spPr>
          <a:xfrm>
            <a:off x="6473952" y="4178808"/>
            <a:ext cx="4882896" cy="292608"/>
          </a:xfrm>
          <a:prstGeom prst="rect">
            <a:avLst/>
          </a:prstGeom>
          <a:noFill/>
          <a:ln/>
        </p:spPr>
        <p:txBody>
          <a:bodyPr wrap="square" lIns="0" tIns="0" rIns="0" bIns="0" rtlCol="0" anchor="ctr"/>
          <a:lstStyle/>
          <a:p>
            <a:pPr marL="0" indent="0">
              <a:buNone/>
            </a:pPr>
            <a:r>
              <a:rPr lang="en-US" sz="1450" b="1" dirty="0">
                <a:solidFill>
                  <a:srgbClr val="E90802"/>
                </a:solidFill>
              </a:rPr>
              <a:t>Detecting missing relations</a:t>
            </a:r>
            <a:endParaRPr lang="en-US" sz="1450" dirty="0"/>
          </a:p>
        </p:txBody>
      </p:sp>
      <p:sp>
        <p:nvSpPr>
          <p:cNvPr id="30" name="relate-b"/>
          <p:cNvSpPr txBox="1"/>
          <p:nvPr/>
        </p:nvSpPr>
        <p:spPr>
          <a:xfrm>
            <a:off x="6473952" y="4581144"/>
            <a:ext cx="4882896" cy="1014984"/>
          </a:xfrm>
          <a:prstGeom prst="rect">
            <a:avLst/>
          </a:prstGeom>
          <a:noFill/>
          <a:ln/>
        </p:spPr>
        <p:txBody>
          <a:bodyPr wrap="square" lIns="0" tIns="0" rIns="0" bIns="0" rtlCol="0" anchor="t"/>
          <a:lstStyle/>
          <a:p>
            <a:pPr marL="0" indent="0">
              <a:lnSpc>
                <a:spcPct val="125000"/>
              </a:lnSpc>
              <a:buNone/>
            </a:pPr>
            <a:r>
              <a:rPr lang="en-US" sz="1250" dirty="0">
                <a:solidFill>
                  <a:srgbClr val="444444"/>
                </a:solidFill>
                <a:latin typeface="Arial" pitchFamily="34" charset="0"/>
                <a:ea typeface="Arial" pitchFamily="34" charset="-122"/>
                <a:cs typeface="Arial" pitchFamily="34" charset="-120"/>
              </a:rPr>
              <a:t>Word mapping marks every response character covered by some fact. Each uncovered span is then asked two questions: does it express a temporal or contingency relation, and is it already captured by a single existing fact?</a:t>
            </a:r>
            <a:endParaRPr lang="en-US" sz="1250" dirty="0"/>
          </a:p>
        </p:txBody>
      </p:sp>
      <p:sp>
        <p:nvSpPr>
          <p:cNvPr id="31" name="note"/>
          <p:cNvSpPr txBox="1"/>
          <p:nvPr/>
        </p:nvSpPr>
        <p:spPr>
          <a:xfrm>
            <a:off x="548640" y="6291072"/>
            <a:ext cx="10607040" cy="274320"/>
          </a:xfrm>
          <a:prstGeom prst="rect">
            <a:avLst/>
          </a:prstGeom>
          <a:noFill/>
          <a:ln/>
        </p:spPr>
        <p:txBody>
          <a:bodyPr wrap="square" lIns="0" tIns="0" rIns="0" bIns="0" rtlCol="0" anchor="ctr"/>
          <a:lstStyle/>
          <a:p>
            <a:pPr marL="0" indent="0">
              <a:buNone/>
            </a:pPr>
            <a:r>
              <a:rPr lang="en-US" sz="950" dirty="0">
                <a:solidFill>
                  <a:srgbClr val="767676"/>
                </a:solidFill>
                <a:latin typeface="Arial" pitchFamily="34" charset="0"/>
                <a:ea typeface="Arial" pitchFamily="34" charset="-122"/>
                <a:cs typeface="Arial" pitchFamily="34" charset="-120"/>
              </a:rPr>
              <a:t>The three detection judges are GPT-4o + Llama 3.3-70B + Qwen 2.5-32B </a:t>
            </a:r>
            <a:endParaRPr lang="en-US" sz="950" dirty="0"/>
          </a:p>
        </p:txBody>
      </p:sp>
      <p:sp>
        <p:nvSpPr>
          <p:cNvPr id="32" name="Slide Number Placeholder 0"/>
          <p:cNvSpPr>
            <a:spLocks noGrp="1"/>
          </p:cNvSpPr>
          <p:nvPr>
            <p:ph type="sldNum" sz="quarter" idx="4294967295"/>
          </p:nvPr>
        </p:nvSpPr>
        <p:spPr>
          <a:xfrm>
            <a:off x="11338560" y="6327648"/>
            <a:ext cx="365760" cy="256032"/>
          </a:xfrm>
          <a:prstGeom prst="rect">
            <a:avLst/>
          </a:prstGeom>
          <a:extLst>
            <a:ext uri="{C572A759-6A51-4108-AA02-DFA0A04FC94B}">
              <ma14:wrappingTextBoxFlag xmlns:ma14="http://schemas.microsoft.com/office/mac/drawingml/2011/main" xmlns="" val="0"/>
            </a:ext>
          </a:extLst>
        </p:spPr>
        <p:txBody>
          <a:bodyPr/>
          <a:lstStyle>
            <a:lvl1pPr>
              <a:defRPr sz="900">
                <a:solidFill>
                  <a:srgbClr val="767676"/>
                </a:solidFill>
              </a:defRPr>
            </a:lvl1pPr>
          </a:lstStyle>
          <a:p>
            <a:pPr algn="r"/>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eyebrow"/>
          <p:cNvSpPr txBox="1"/>
          <p:nvPr/>
        </p:nvSpPr>
        <p:spPr>
          <a:xfrm>
            <a:off x="548640" y="347472"/>
            <a:ext cx="11064240" cy="237744"/>
          </a:xfrm>
          <a:prstGeom prst="rect">
            <a:avLst/>
          </a:prstGeom>
          <a:noFill/>
          <a:ln/>
        </p:spPr>
        <p:txBody>
          <a:bodyPr wrap="square" lIns="0" tIns="0" rIns="0" bIns="0" rtlCol="0" anchor="ctr"/>
          <a:lstStyle/>
          <a:p>
            <a:pPr marL="0" indent="0">
              <a:buNone/>
            </a:pPr>
            <a:r>
              <a:rPr lang="en-US" sz="1000" b="1" kern="0" spc="200" dirty="0">
                <a:solidFill>
                  <a:srgbClr val="E90802"/>
                </a:solidFill>
                <a:latin typeface="Arial" pitchFamily="34" charset="0"/>
                <a:ea typeface="Arial" pitchFamily="34" charset="-122"/>
                <a:cs typeface="Arial" pitchFamily="34" charset="-120"/>
              </a:rPr>
              <a:t>RECREATING THE RESULTS  ·  1 OF 5</a:t>
            </a:r>
            <a:endParaRPr lang="en-US" sz="1000" dirty="0"/>
          </a:p>
        </p:txBody>
      </p:sp>
      <p:sp>
        <p:nvSpPr>
          <p:cNvPr id="3" name="title"/>
          <p:cNvSpPr txBox="1"/>
          <p:nvPr/>
        </p:nvSpPr>
        <p:spPr>
          <a:xfrm>
            <a:off x="548640" y="621792"/>
            <a:ext cx="11064240" cy="548640"/>
          </a:xfrm>
          <a:prstGeom prst="rect">
            <a:avLst/>
          </a:prstGeom>
          <a:noFill/>
          <a:ln/>
        </p:spPr>
        <p:txBody>
          <a:bodyPr wrap="square" lIns="0" tIns="0" rIns="0" bIns="0" rtlCol="0" anchor="ctr"/>
          <a:lstStyle/>
          <a:p>
            <a:pPr marL="0" indent="0">
              <a:buNone/>
            </a:pPr>
            <a:r>
              <a:rPr lang="en-US" sz="2700" b="1" dirty="0">
                <a:solidFill>
                  <a:srgbClr val="1A1A1A"/>
                </a:solidFill>
              </a:rPr>
              <a:t>Setting up the experiment</a:t>
            </a:r>
            <a:endParaRPr lang="en-US" sz="2700" dirty="0"/>
          </a:p>
        </p:txBody>
      </p:sp>
      <p:sp>
        <p:nvSpPr>
          <p:cNvPr id="4" name="subtitle"/>
          <p:cNvSpPr txBox="1"/>
          <p:nvPr/>
        </p:nvSpPr>
        <p:spPr>
          <a:xfrm>
            <a:off x="548640" y="1188720"/>
            <a:ext cx="11064240" cy="256032"/>
          </a:xfrm>
          <a:prstGeom prst="rect">
            <a:avLst/>
          </a:prstGeom>
          <a:noFill/>
          <a:ln/>
        </p:spPr>
        <p:txBody>
          <a:bodyPr wrap="square" lIns="0" tIns="0" rIns="0" bIns="0" rtlCol="0" anchor="ctr"/>
          <a:lstStyle/>
          <a:p>
            <a:pPr marL="0" indent="0">
              <a:buNone/>
            </a:pPr>
            <a:r>
              <a:rPr lang="en-US" sz="1350" dirty="0">
                <a:solidFill>
                  <a:srgbClr val="767676"/>
                </a:solidFill>
                <a:latin typeface="Arial" pitchFamily="34" charset="0"/>
                <a:ea typeface="Arial" pitchFamily="34" charset="-122"/>
                <a:cs typeface="Arial" pitchFamily="34" charset="-120"/>
              </a:rPr>
              <a:t>Every remote or paid component replaced by a local one</a:t>
            </a:r>
            <a:endParaRPr lang="en-US" sz="1350" dirty="0"/>
          </a:p>
        </p:txBody>
      </p:sp>
      <p:sp>
        <p:nvSpPr>
          <p:cNvPr id="5" name="head-rule"/>
          <p:cNvSpPr/>
          <p:nvPr/>
        </p:nvSpPr>
        <p:spPr>
          <a:xfrm>
            <a:off x="548640" y="1499616"/>
            <a:ext cx="11064240" cy="10973"/>
          </a:xfrm>
          <a:prstGeom prst="rect">
            <a:avLst/>
          </a:prstGeom>
          <a:solidFill>
            <a:srgbClr val="DCDCDC"/>
          </a:solidFill>
          <a:ln w="3175">
            <a:solidFill>
              <a:srgbClr val="DCDCDC"/>
            </a:solidFill>
            <a:prstDash val="solid"/>
          </a:ln>
        </p:spPr>
        <p:txBody>
          <a:bodyPr/>
          <a:lstStyle/>
          <a:p>
            <a:endParaRPr lang="en-IN"/>
          </a:p>
        </p:txBody>
      </p:sp>
      <p:graphicFrame>
        <p:nvGraphicFramePr>
          <p:cNvPr id="6" name="map"/>
          <p:cNvGraphicFramePr>
            <a:graphicFrameLocks noGrp="1"/>
          </p:cNvGraphicFramePr>
          <p:nvPr>
            <p:extLst>
              <p:ext uri="{D42A27DB-BD31-4B8C-83A1-F6EECF244321}">
                <p14:modId xmlns:p14="http://schemas.microsoft.com/office/powerpoint/2010/main" val="3753226532"/>
              </p:ext>
            </p:extLst>
          </p:nvPr>
        </p:nvGraphicFramePr>
        <p:xfrm>
          <a:off x="548640" y="1600200"/>
          <a:ext cx="11064240" cy="2926080"/>
        </p:xfrm>
        <a:graphic>
          <a:graphicData uri="http://schemas.openxmlformats.org/drawingml/2006/table">
            <a:tbl>
              <a:tblPr/>
              <a:tblGrid>
                <a:gridCol w="3017520">
                  <a:extLst>
                    <a:ext uri="{9D8B030D-6E8A-4147-A177-3AD203B41FA5}">
                      <a16:colId xmlns:a16="http://schemas.microsoft.com/office/drawing/2014/main" val="20000"/>
                    </a:ext>
                  </a:extLst>
                </a:gridCol>
                <a:gridCol w="4023360">
                  <a:extLst>
                    <a:ext uri="{9D8B030D-6E8A-4147-A177-3AD203B41FA5}">
                      <a16:colId xmlns:a16="http://schemas.microsoft.com/office/drawing/2014/main" val="20001"/>
                    </a:ext>
                  </a:extLst>
                </a:gridCol>
                <a:gridCol w="4023360">
                  <a:extLst>
                    <a:ext uri="{9D8B030D-6E8A-4147-A177-3AD203B41FA5}">
                      <a16:colId xmlns:a16="http://schemas.microsoft.com/office/drawing/2014/main" val="20002"/>
                    </a:ext>
                  </a:extLst>
                </a:gridCol>
              </a:tblGrid>
              <a:tr h="365760">
                <a:tc>
                  <a:txBody>
                    <a:bodyPr/>
                    <a:lstStyle/>
                    <a:p>
                      <a:pPr marL="0" indent="0" algn="l">
                        <a:buNone/>
                      </a:pPr>
                      <a:r>
                        <a:rPr lang="en-US" sz="1250" b="1" dirty="0">
                          <a:solidFill>
                            <a:srgbClr val="1A1A1A"/>
                          </a:solidFill>
                          <a:latin typeface="Arial" pitchFamily="34" charset="0"/>
                          <a:ea typeface="Arial" pitchFamily="34" charset="-122"/>
                          <a:cs typeface="Arial" pitchFamily="34" charset="-120"/>
                        </a:rPr>
                        <a:t>Component</a:t>
                      </a:r>
                      <a:endParaRPr lang="en-US" sz="1250" dirty="0">
                        <a:latin typeface="Arial" charset="0"/>
                        <a:ea typeface="Arial" charset="0"/>
                        <a:cs typeface="Arial" charset="0"/>
                      </a:endParaRPr>
                    </a:p>
                  </a:txBody>
                  <a:tcPr marL="109728" marR="109728" marT="36576" marB="36576" anchor="ctr">
                    <a:lnL w="6350" cap="flat" cmpd="sng" algn="ctr">
                      <a:solidFill>
                        <a:srgbClr val="DCDCDC"/>
                      </a:solidFill>
                      <a:prstDash val="solid"/>
                      <a:round/>
                      <a:headEnd type="none" w="med" len="med"/>
                      <a:tailEnd type="none" w="med" len="med"/>
                    </a:lnL>
                    <a:lnR w="6350" cap="flat" cmpd="sng" algn="ctr">
                      <a:solidFill>
                        <a:srgbClr val="DCDCDC"/>
                      </a:solidFill>
                      <a:prstDash val="solid"/>
                      <a:round/>
                      <a:headEnd type="none" w="med" len="med"/>
                      <a:tailEnd type="none" w="med" len="med"/>
                    </a:lnR>
                    <a:lnT w="6350" cap="flat" cmpd="sng" algn="ctr">
                      <a:solidFill>
                        <a:srgbClr val="DCDCDC"/>
                      </a:solidFill>
                      <a:prstDash val="solid"/>
                      <a:round/>
                      <a:headEnd type="none" w="med" len="med"/>
                      <a:tailEnd type="none" w="med" len="med"/>
                    </a:lnT>
                    <a:lnB w="6350" cap="flat" cmpd="sng" algn="ctr">
                      <a:solidFill>
                        <a:srgbClr val="DCDCDC"/>
                      </a:solidFill>
                      <a:prstDash val="solid"/>
                      <a:round/>
                      <a:headEnd type="none" w="med" len="med"/>
                      <a:tailEnd type="none" w="med" len="med"/>
                    </a:lnB>
                    <a:solidFill>
                      <a:srgbClr val="F4F4F4"/>
                    </a:solidFill>
                  </a:tcPr>
                </a:tc>
                <a:tc>
                  <a:txBody>
                    <a:bodyPr/>
                    <a:lstStyle/>
                    <a:p>
                      <a:pPr marL="0" indent="0" algn="l">
                        <a:buNone/>
                      </a:pPr>
                      <a:r>
                        <a:rPr lang="en-US" sz="1250" b="1" dirty="0">
                          <a:solidFill>
                            <a:srgbClr val="1A1A1A"/>
                          </a:solidFill>
                          <a:latin typeface="Arial" pitchFamily="34" charset="0"/>
                          <a:ea typeface="Arial" pitchFamily="34" charset="-122"/>
                          <a:cs typeface="Arial" pitchFamily="34" charset="-120"/>
                        </a:rPr>
                        <a:t>Paper</a:t>
                      </a:r>
                      <a:endParaRPr lang="en-US" sz="1250" dirty="0">
                        <a:latin typeface="Arial" charset="0"/>
                        <a:ea typeface="Arial" charset="0"/>
                        <a:cs typeface="Arial" charset="0"/>
                      </a:endParaRPr>
                    </a:p>
                  </a:txBody>
                  <a:tcPr marL="109728" marR="109728" marT="36576" marB="36576" anchor="ctr">
                    <a:lnL w="6350" cap="flat" cmpd="sng" algn="ctr">
                      <a:solidFill>
                        <a:srgbClr val="DCDCDC"/>
                      </a:solidFill>
                      <a:prstDash val="solid"/>
                      <a:round/>
                      <a:headEnd type="none" w="med" len="med"/>
                      <a:tailEnd type="none" w="med" len="med"/>
                    </a:lnL>
                    <a:lnR w="6350" cap="flat" cmpd="sng" algn="ctr">
                      <a:solidFill>
                        <a:srgbClr val="DCDCDC"/>
                      </a:solidFill>
                      <a:prstDash val="solid"/>
                      <a:round/>
                      <a:headEnd type="none" w="med" len="med"/>
                      <a:tailEnd type="none" w="med" len="med"/>
                    </a:lnR>
                    <a:lnT w="6350" cap="flat" cmpd="sng" algn="ctr">
                      <a:solidFill>
                        <a:srgbClr val="DCDCDC"/>
                      </a:solidFill>
                      <a:prstDash val="solid"/>
                      <a:round/>
                      <a:headEnd type="none" w="med" len="med"/>
                      <a:tailEnd type="none" w="med" len="med"/>
                    </a:lnT>
                    <a:lnB w="6350" cap="flat" cmpd="sng" algn="ctr">
                      <a:solidFill>
                        <a:srgbClr val="DCDCDC"/>
                      </a:solidFill>
                      <a:prstDash val="solid"/>
                      <a:round/>
                      <a:headEnd type="none" w="med" len="med"/>
                      <a:tailEnd type="none" w="med" len="med"/>
                    </a:lnB>
                    <a:solidFill>
                      <a:srgbClr val="F4F4F4"/>
                    </a:solidFill>
                  </a:tcPr>
                </a:tc>
                <a:tc>
                  <a:txBody>
                    <a:bodyPr/>
                    <a:lstStyle/>
                    <a:p>
                      <a:pPr marL="0" indent="0" algn="l">
                        <a:buNone/>
                      </a:pPr>
                      <a:r>
                        <a:rPr lang="en-US" sz="1250" b="1" dirty="0">
                          <a:solidFill>
                            <a:srgbClr val="1A1A1A"/>
                          </a:solidFill>
                          <a:latin typeface="Arial" pitchFamily="34" charset="0"/>
                          <a:ea typeface="Arial" pitchFamily="34" charset="-122"/>
                          <a:cs typeface="Arial" pitchFamily="34" charset="-120"/>
                        </a:rPr>
                        <a:t>Reimplementation </a:t>
                      </a:r>
                      <a:endParaRPr lang="en-US" sz="1250" dirty="0">
                        <a:latin typeface="Arial" charset="0"/>
                        <a:ea typeface="Arial" charset="0"/>
                        <a:cs typeface="Arial" charset="0"/>
                      </a:endParaRPr>
                    </a:p>
                  </a:txBody>
                  <a:tcPr marL="109728" marR="109728" marT="36576" marB="36576" anchor="ctr">
                    <a:lnL w="6350" cap="flat" cmpd="sng" algn="ctr">
                      <a:solidFill>
                        <a:srgbClr val="DCDCDC"/>
                      </a:solidFill>
                      <a:prstDash val="solid"/>
                      <a:round/>
                      <a:headEnd type="none" w="med" len="med"/>
                      <a:tailEnd type="none" w="med" len="med"/>
                    </a:lnL>
                    <a:lnR w="6350" cap="flat" cmpd="sng" algn="ctr">
                      <a:solidFill>
                        <a:srgbClr val="DCDCDC"/>
                      </a:solidFill>
                      <a:prstDash val="solid"/>
                      <a:round/>
                      <a:headEnd type="none" w="med" len="med"/>
                      <a:tailEnd type="none" w="med" len="med"/>
                    </a:lnR>
                    <a:lnT w="6350" cap="flat" cmpd="sng" algn="ctr">
                      <a:solidFill>
                        <a:srgbClr val="DCDCDC"/>
                      </a:solidFill>
                      <a:prstDash val="solid"/>
                      <a:round/>
                      <a:headEnd type="none" w="med" len="med"/>
                      <a:tailEnd type="none" w="med" len="med"/>
                    </a:lnT>
                    <a:lnB w="6350" cap="flat" cmpd="sng" algn="ctr">
                      <a:solidFill>
                        <a:srgbClr val="DCDCDC"/>
                      </a:solidFill>
                      <a:prstDash val="solid"/>
                      <a:round/>
                      <a:headEnd type="none" w="med" len="med"/>
                      <a:tailEnd type="none" w="med" len="med"/>
                    </a:lnB>
                    <a:solidFill>
                      <a:srgbClr val="F4F4F4"/>
                    </a:solidFill>
                  </a:tcPr>
                </a:tc>
                <a:extLst>
                  <a:ext uri="{0D108BD9-81ED-4DB2-BD59-A6C34878D82A}">
                    <a16:rowId xmlns:a16="http://schemas.microsoft.com/office/drawing/2014/main" val="10000"/>
                  </a:ext>
                </a:extLst>
              </a:tr>
              <a:tr h="365760">
                <a:tc>
                  <a:txBody>
                    <a:bodyPr/>
                    <a:lstStyle/>
                    <a:p>
                      <a:pPr marL="0" indent="0" algn="l">
                        <a:buNone/>
                      </a:pPr>
                      <a:r>
                        <a:rPr lang="en-US" sz="1250" dirty="0">
                          <a:solidFill>
                            <a:srgbClr val="444444"/>
                          </a:solidFill>
                          <a:latin typeface="Arial" pitchFamily="34" charset="0"/>
                          <a:ea typeface="Arial" pitchFamily="34" charset="-122"/>
                          <a:cs typeface="Arial" pitchFamily="34" charset="-120"/>
                        </a:rPr>
                        <a:t>Judges</a:t>
                      </a:r>
                      <a:endParaRPr lang="en-US" sz="1250" dirty="0">
                        <a:latin typeface="Arial" charset="0"/>
                        <a:ea typeface="Arial" charset="0"/>
                        <a:cs typeface="Arial" charset="0"/>
                      </a:endParaRPr>
                    </a:p>
                  </a:txBody>
                  <a:tcPr marL="109728" marR="109728" marT="36576" marB="36576" anchor="ctr">
                    <a:lnL w="6350" cap="flat" cmpd="sng" algn="ctr">
                      <a:solidFill>
                        <a:srgbClr val="DCDCDC"/>
                      </a:solidFill>
                      <a:prstDash val="solid"/>
                      <a:round/>
                      <a:headEnd type="none" w="med" len="med"/>
                      <a:tailEnd type="none" w="med" len="med"/>
                    </a:lnL>
                    <a:lnR w="6350" cap="flat" cmpd="sng" algn="ctr">
                      <a:solidFill>
                        <a:srgbClr val="DCDCDC"/>
                      </a:solidFill>
                      <a:prstDash val="solid"/>
                      <a:round/>
                      <a:headEnd type="none" w="med" len="med"/>
                      <a:tailEnd type="none" w="med" len="med"/>
                    </a:lnR>
                    <a:lnT w="6350" cap="flat" cmpd="sng" algn="ctr">
                      <a:solidFill>
                        <a:srgbClr val="DCDCDC"/>
                      </a:solidFill>
                      <a:prstDash val="solid"/>
                      <a:round/>
                      <a:headEnd type="none" w="med" len="med"/>
                      <a:tailEnd type="none" w="med" len="med"/>
                    </a:lnT>
                    <a:lnB w="6350" cap="flat" cmpd="sng" algn="ctr">
                      <a:solidFill>
                        <a:srgbClr val="DCDCDC"/>
                      </a:solidFill>
                      <a:prstDash val="solid"/>
                      <a:round/>
                      <a:headEnd type="none" w="med" len="med"/>
                      <a:tailEnd type="none" w="med" len="med"/>
                    </a:lnB>
                    <a:solidFill>
                      <a:srgbClr val="FFFFFF"/>
                    </a:solidFill>
                  </a:tcPr>
                </a:tc>
                <a:tc>
                  <a:txBody>
                    <a:bodyPr/>
                    <a:lstStyle/>
                    <a:p>
                      <a:pPr marL="0" indent="0" algn="l">
                        <a:buNone/>
                      </a:pPr>
                      <a:r>
                        <a:rPr lang="en-US" sz="1250" dirty="0">
                          <a:solidFill>
                            <a:srgbClr val="444444"/>
                          </a:solidFill>
                          <a:latin typeface="Arial" pitchFamily="34" charset="0"/>
                          <a:ea typeface="Arial" pitchFamily="34" charset="-122"/>
                          <a:cs typeface="Arial" pitchFamily="34" charset="-120"/>
                        </a:rPr>
                        <a:t>GPT-4o + Llama 3.3-70B + Qwen 2.5-32B</a:t>
                      </a:r>
                      <a:endParaRPr lang="en-US" sz="1250" dirty="0">
                        <a:latin typeface="Arial" charset="0"/>
                        <a:ea typeface="Arial" charset="0"/>
                        <a:cs typeface="Arial" charset="0"/>
                      </a:endParaRPr>
                    </a:p>
                  </a:txBody>
                  <a:tcPr marL="109728" marR="109728" marT="36576" marB="36576" anchor="ctr">
                    <a:lnL w="6350" cap="flat" cmpd="sng" algn="ctr">
                      <a:solidFill>
                        <a:srgbClr val="DCDCDC"/>
                      </a:solidFill>
                      <a:prstDash val="solid"/>
                      <a:round/>
                      <a:headEnd type="none" w="med" len="med"/>
                      <a:tailEnd type="none" w="med" len="med"/>
                    </a:lnL>
                    <a:lnR w="6350" cap="flat" cmpd="sng" algn="ctr">
                      <a:solidFill>
                        <a:srgbClr val="DCDCDC"/>
                      </a:solidFill>
                      <a:prstDash val="solid"/>
                      <a:round/>
                      <a:headEnd type="none" w="med" len="med"/>
                      <a:tailEnd type="none" w="med" len="med"/>
                    </a:lnR>
                    <a:lnT w="6350" cap="flat" cmpd="sng" algn="ctr">
                      <a:solidFill>
                        <a:srgbClr val="DCDCDC"/>
                      </a:solidFill>
                      <a:prstDash val="solid"/>
                      <a:round/>
                      <a:headEnd type="none" w="med" len="med"/>
                      <a:tailEnd type="none" w="med" len="med"/>
                    </a:lnT>
                    <a:lnB w="6350" cap="flat" cmpd="sng" algn="ctr">
                      <a:solidFill>
                        <a:srgbClr val="DCDCDC"/>
                      </a:solidFill>
                      <a:prstDash val="solid"/>
                      <a:round/>
                      <a:headEnd type="none" w="med" len="med"/>
                      <a:tailEnd type="none" w="med" len="med"/>
                    </a:lnB>
                    <a:solidFill>
                      <a:srgbClr val="FFFFFF"/>
                    </a:solidFill>
                  </a:tcPr>
                </a:tc>
                <a:tc>
                  <a:txBody>
                    <a:bodyPr/>
                    <a:lstStyle/>
                    <a:p>
                      <a:pPr marL="0" indent="0" algn="l">
                        <a:buNone/>
                      </a:pPr>
                      <a:r>
                        <a:rPr lang="en-US" sz="1250" dirty="0">
                          <a:solidFill>
                            <a:srgbClr val="444444"/>
                          </a:solidFill>
                          <a:latin typeface="Arial" pitchFamily="34" charset="0"/>
                          <a:ea typeface="Arial" pitchFamily="34" charset="-122"/>
                          <a:cs typeface="Arial" pitchFamily="34" charset="-120"/>
                        </a:rPr>
                        <a:t>Qwen2.5-3B + Llama-3.2-3B, and 7–8B</a:t>
                      </a:r>
                      <a:endParaRPr lang="en-US" sz="1250" dirty="0">
                        <a:latin typeface="Arial" charset="0"/>
                        <a:ea typeface="Arial" charset="0"/>
                        <a:cs typeface="Arial" charset="0"/>
                      </a:endParaRPr>
                    </a:p>
                  </a:txBody>
                  <a:tcPr marL="109728" marR="109728" marT="36576" marB="36576" anchor="ctr">
                    <a:lnL w="6350" cap="flat" cmpd="sng" algn="ctr">
                      <a:solidFill>
                        <a:srgbClr val="DCDCDC"/>
                      </a:solidFill>
                      <a:prstDash val="solid"/>
                      <a:round/>
                      <a:headEnd type="none" w="med" len="med"/>
                      <a:tailEnd type="none" w="med" len="med"/>
                    </a:lnL>
                    <a:lnR w="6350" cap="flat" cmpd="sng" algn="ctr">
                      <a:solidFill>
                        <a:srgbClr val="DCDCDC"/>
                      </a:solidFill>
                      <a:prstDash val="solid"/>
                      <a:round/>
                      <a:headEnd type="none" w="med" len="med"/>
                      <a:tailEnd type="none" w="med" len="med"/>
                    </a:lnR>
                    <a:lnT w="6350" cap="flat" cmpd="sng" algn="ctr">
                      <a:solidFill>
                        <a:srgbClr val="DCDCDC"/>
                      </a:solidFill>
                      <a:prstDash val="solid"/>
                      <a:round/>
                      <a:headEnd type="none" w="med" len="med"/>
                      <a:tailEnd type="none" w="med" len="med"/>
                    </a:lnT>
                    <a:lnB w="6350" cap="flat" cmpd="sng" algn="ctr">
                      <a:solidFill>
                        <a:srgbClr val="DCDCD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65760">
                <a:tc>
                  <a:txBody>
                    <a:bodyPr/>
                    <a:lstStyle/>
                    <a:p>
                      <a:pPr marL="0" indent="0" algn="l">
                        <a:buNone/>
                      </a:pPr>
                      <a:r>
                        <a:rPr lang="en-US" sz="1250" dirty="0">
                          <a:solidFill>
                            <a:srgbClr val="444444"/>
                          </a:solidFill>
                          <a:latin typeface="Arial" pitchFamily="34" charset="0"/>
                          <a:ea typeface="Arial" pitchFamily="34" charset="-122"/>
                          <a:cs typeface="Arial" pitchFamily="34" charset="-120"/>
                        </a:rPr>
                        <a:t>Extract / refine / verify</a:t>
                      </a:r>
                      <a:endParaRPr lang="en-US" sz="1250" dirty="0">
                        <a:latin typeface="Arial" charset="0"/>
                        <a:ea typeface="Arial" charset="0"/>
                        <a:cs typeface="Arial" charset="0"/>
                      </a:endParaRPr>
                    </a:p>
                  </a:txBody>
                  <a:tcPr marL="109728" marR="109728" marT="36576" marB="36576" anchor="ctr">
                    <a:lnL w="6350" cap="flat" cmpd="sng" algn="ctr">
                      <a:solidFill>
                        <a:srgbClr val="DCDCDC"/>
                      </a:solidFill>
                      <a:prstDash val="solid"/>
                      <a:round/>
                      <a:headEnd type="none" w="med" len="med"/>
                      <a:tailEnd type="none" w="med" len="med"/>
                    </a:lnL>
                    <a:lnR w="6350" cap="flat" cmpd="sng" algn="ctr">
                      <a:solidFill>
                        <a:srgbClr val="DCDCDC"/>
                      </a:solidFill>
                      <a:prstDash val="solid"/>
                      <a:round/>
                      <a:headEnd type="none" w="med" len="med"/>
                      <a:tailEnd type="none" w="med" len="med"/>
                    </a:lnR>
                    <a:lnT w="6350" cap="flat" cmpd="sng" algn="ctr">
                      <a:solidFill>
                        <a:srgbClr val="DCDCDC"/>
                      </a:solidFill>
                      <a:prstDash val="solid"/>
                      <a:round/>
                      <a:headEnd type="none" w="med" len="med"/>
                      <a:tailEnd type="none" w="med" len="med"/>
                    </a:lnT>
                    <a:lnB w="6350" cap="flat" cmpd="sng" algn="ctr">
                      <a:solidFill>
                        <a:srgbClr val="DCDCDC"/>
                      </a:solidFill>
                      <a:prstDash val="solid"/>
                      <a:round/>
                      <a:headEnd type="none" w="med" len="med"/>
                      <a:tailEnd type="none" w="med" len="med"/>
                    </a:lnB>
                    <a:solidFill>
                      <a:srgbClr val="FFFFFF"/>
                    </a:solidFill>
                  </a:tcPr>
                </a:tc>
                <a:tc>
                  <a:txBody>
                    <a:bodyPr/>
                    <a:lstStyle/>
                    <a:p>
                      <a:pPr marL="0" indent="0" algn="l">
                        <a:buNone/>
                      </a:pPr>
                      <a:r>
                        <a:rPr lang="en-US" sz="1250" dirty="0">
                          <a:solidFill>
                            <a:srgbClr val="444444"/>
                          </a:solidFill>
                          <a:latin typeface="Arial" pitchFamily="34" charset="0"/>
                          <a:ea typeface="Arial" pitchFamily="34" charset="-122"/>
                          <a:cs typeface="Arial" pitchFamily="34" charset="-120"/>
                        </a:rPr>
                        <a:t>Llama 3.3-70B-Instruct</a:t>
                      </a:r>
                      <a:endParaRPr lang="en-US" sz="1250" dirty="0">
                        <a:latin typeface="Arial" charset="0"/>
                        <a:ea typeface="Arial" charset="0"/>
                        <a:cs typeface="Arial" charset="0"/>
                      </a:endParaRPr>
                    </a:p>
                  </a:txBody>
                  <a:tcPr marL="109728" marR="109728" marT="36576" marB="36576" anchor="ctr">
                    <a:lnL w="6350" cap="flat" cmpd="sng" algn="ctr">
                      <a:solidFill>
                        <a:srgbClr val="DCDCDC"/>
                      </a:solidFill>
                      <a:prstDash val="solid"/>
                      <a:round/>
                      <a:headEnd type="none" w="med" len="med"/>
                      <a:tailEnd type="none" w="med" len="med"/>
                    </a:lnL>
                    <a:lnR w="6350" cap="flat" cmpd="sng" algn="ctr">
                      <a:solidFill>
                        <a:srgbClr val="DCDCDC"/>
                      </a:solidFill>
                      <a:prstDash val="solid"/>
                      <a:round/>
                      <a:headEnd type="none" w="med" len="med"/>
                      <a:tailEnd type="none" w="med" len="med"/>
                    </a:lnR>
                    <a:lnT w="6350" cap="flat" cmpd="sng" algn="ctr">
                      <a:solidFill>
                        <a:srgbClr val="DCDCDC"/>
                      </a:solidFill>
                      <a:prstDash val="solid"/>
                      <a:round/>
                      <a:headEnd type="none" w="med" len="med"/>
                      <a:tailEnd type="none" w="med" len="med"/>
                    </a:lnT>
                    <a:lnB w="6350" cap="flat" cmpd="sng" algn="ctr">
                      <a:solidFill>
                        <a:srgbClr val="DCDCDC"/>
                      </a:solidFill>
                      <a:prstDash val="solid"/>
                      <a:round/>
                      <a:headEnd type="none" w="med" len="med"/>
                      <a:tailEnd type="none" w="med" len="med"/>
                    </a:lnB>
                    <a:solidFill>
                      <a:srgbClr val="FFFFFF"/>
                    </a:solidFill>
                  </a:tcPr>
                </a:tc>
                <a:tc>
                  <a:txBody>
                    <a:bodyPr/>
                    <a:lstStyle/>
                    <a:p>
                      <a:pPr marL="0" indent="0" algn="l">
                        <a:buNone/>
                      </a:pPr>
                      <a:r>
                        <a:rPr lang="en-US" sz="1250" dirty="0">
                          <a:solidFill>
                            <a:srgbClr val="444444"/>
                          </a:solidFill>
                          <a:latin typeface="Arial" pitchFamily="34" charset="0"/>
                          <a:ea typeface="Arial" pitchFamily="34" charset="-122"/>
                          <a:cs typeface="Arial" pitchFamily="34" charset="-120"/>
                        </a:rPr>
                        <a:t>Qwen2.5-3B, and Qwen2.5-7B</a:t>
                      </a:r>
                      <a:endParaRPr lang="en-US" sz="1250" dirty="0">
                        <a:latin typeface="Arial" charset="0"/>
                        <a:ea typeface="Arial" charset="0"/>
                        <a:cs typeface="Arial" charset="0"/>
                      </a:endParaRPr>
                    </a:p>
                  </a:txBody>
                  <a:tcPr marL="109728" marR="109728" marT="36576" marB="36576" anchor="ctr">
                    <a:lnL w="6350" cap="flat" cmpd="sng" algn="ctr">
                      <a:solidFill>
                        <a:srgbClr val="DCDCDC"/>
                      </a:solidFill>
                      <a:prstDash val="solid"/>
                      <a:round/>
                      <a:headEnd type="none" w="med" len="med"/>
                      <a:tailEnd type="none" w="med" len="med"/>
                    </a:lnL>
                    <a:lnR w="6350" cap="flat" cmpd="sng" algn="ctr">
                      <a:solidFill>
                        <a:srgbClr val="DCDCDC"/>
                      </a:solidFill>
                      <a:prstDash val="solid"/>
                      <a:round/>
                      <a:headEnd type="none" w="med" len="med"/>
                      <a:tailEnd type="none" w="med" len="med"/>
                    </a:lnR>
                    <a:lnT w="6350" cap="flat" cmpd="sng" algn="ctr">
                      <a:solidFill>
                        <a:srgbClr val="DCDCDC"/>
                      </a:solidFill>
                      <a:prstDash val="solid"/>
                      <a:round/>
                      <a:headEnd type="none" w="med" len="med"/>
                      <a:tailEnd type="none" w="med" len="med"/>
                    </a:lnT>
                    <a:lnB w="6350" cap="flat" cmpd="sng" algn="ctr">
                      <a:solidFill>
                        <a:srgbClr val="DCDCDC"/>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65760">
                <a:tc>
                  <a:txBody>
                    <a:bodyPr/>
                    <a:lstStyle/>
                    <a:p>
                      <a:pPr marL="0" indent="0" algn="l">
                        <a:buNone/>
                      </a:pPr>
                      <a:r>
                        <a:rPr lang="en-US" sz="1250" dirty="0">
                          <a:solidFill>
                            <a:srgbClr val="444444"/>
                          </a:solidFill>
                          <a:latin typeface="Arial" pitchFamily="34" charset="0"/>
                          <a:ea typeface="Arial" pitchFamily="34" charset="-122"/>
                          <a:cs typeface="Arial" pitchFamily="34" charset="-120"/>
                        </a:rPr>
                        <a:t>Evidence source</a:t>
                      </a:r>
                      <a:endParaRPr lang="en-US" sz="1250" dirty="0">
                        <a:latin typeface="Arial" charset="0"/>
                        <a:ea typeface="Arial" charset="0"/>
                        <a:cs typeface="Arial" charset="0"/>
                      </a:endParaRPr>
                    </a:p>
                  </a:txBody>
                  <a:tcPr marL="109728" marR="109728" marT="36576" marB="36576" anchor="ctr">
                    <a:lnL w="6350" cap="flat" cmpd="sng" algn="ctr">
                      <a:solidFill>
                        <a:srgbClr val="DCDCDC"/>
                      </a:solidFill>
                      <a:prstDash val="solid"/>
                      <a:round/>
                      <a:headEnd type="none" w="med" len="med"/>
                      <a:tailEnd type="none" w="med" len="med"/>
                    </a:lnL>
                    <a:lnR w="6350" cap="flat" cmpd="sng" algn="ctr">
                      <a:solidFill>
                        <a:srgbClr val="DCDCDC"/>
                      </a:solidFill>
                      <a:prstDash val="solid"/>
                      <a:round/>
                      <a:headEnd type="none" w="med" len="med"/>
                      <a:tailEnd type="none" w="med" len="med"/>
                    </a:lnR>
                    <a:lnT w="6350" cap="flat" cmpd="sng" algn="ctr">
                      <a:solidFill>
                        <a:srgbClr val="DCDCDC"/>
                      </a:solidFill>
                      <a:prstDash val="solid"/>
                      <a:round/>
                      <a:headEnd type="none" w="med" len="med"/>
                      <a:tailEnd type="none" w="med" len="med"/>
                    </a:lnT>
                    <a:lnB w="6350" cap="flat" cmpd="sng" algn="ctr">
                      <a:solidFill>
                        <a:srgbClr val="DCDCDC"/>
                      </a:solidFill>
                      <a:prstDash val="solid"/>
                      <a:round/>
                      <a:headEnd type="none" w="med" len="med"/>
                      <a:tailEnd type="none" w="med" len="med"/>
                    </a:lnB>
                    <a:solidFill>
                      <a:srgbClr val="FFFFFF"/>
                    </a:solidFill>
                  </a:tcPr>
                </a:tc>
                <a:tc>
                  <a:txBody>
                    <a:bodyPr/>
                    <a:lstStyle/>
                    <a:p>
                      <a:pPr marL="0" indent="0" algn="l">
                        <a:buNone/>
                      </a:pPr>
                      <a:r>
                        <a:rPr lang="en-US" sz="1250" dirty="0">
                          <a:solidFill>
                            <a:srgbClr val="444444"/>
                          </a:solidFill>
                          <a:latin typeface="Arial" pitchFamily="34" charset="0"/>
                          <a:ea typeface="Arial" pitchFamily="34" charset="-122"/>
                          <a:cs typeface="Arial" pitchFamily="34" charset="-120"/>
                        </a:rPr>
                        <a:t>Google Search via Serper (paid)</a:t>
                      </a:r>
                      <a:endParaRPr lang="en-US" sz="1250" dirty="0">
                        <a:latin typeface="Arial" charset="0"/>
                        <a:ea typeface="Arial" charset="0"/>
                        <a:cs typeface="Arial" charset="0"/>
                      </a:endParaRPr>
                    </a:p>
                  </a:txBody>
                  <a:tcPr marL="109728" marR="109728" marT="36576" marB="36576" anchor="ctr">
                    <a:lnL w="6350" cap="flat" cmpd="sng" algn="ctr">
                      <a:solidFill>
                        <a:srgbClr val="DCDCDC"/>
                      </a:solidFill>
                      <a:prstDash val="solid"/>
                      <a:round/>
                      <a:headEnd type="none" w="med" len="med"/>
                      <a:tailEnd type="none" w="med" len="med"/>
                    </a:lnL>
                    <a:lnR w="6350" cap="flat" cmpd="sng" algn="ctr">
                      <a:solidFill>
                        <a:srgbClr val="DCDCDC"/>
                      </a:solidFill>
                      <a:prstDash val="solid"/>
                      <a:round/>
                      <a:headEnd type="none" w="med" len="med"/>
                      <a:tailEnd type="none" w="med" len="med"/>
                    </a:lnR>
                    <a:lnT w="6350" cap="flat" cmpd="sng" algn="ctr">
                      <a:solidFill>
                        <a:srgbClr val="DCDCDC"/>
                      </a:solidFill>
                      <a:prstDash val="solid"/>
                      <a:round/>
                      <a:headEnd type="none" w="med" len="med"/>
                      <a:tailEnd type="none" w="med" len="med"/>
                    </a:lnT>
                    <a:lnB w="6350" cap="flat" cmpd="sng" algn="ctr">
                      <a:solidFill>
                        <a:srgbClr val="DCDCDC"/>
                      </a:solidFill>
                      <a:prstDash val="solid"/>
                      <a:round/>
                      <a:headEnd type="none" w="med" len="med"/>
                      <a:tailEnd type="none" w="med" len="med"/>
                    </a:lnB>
                    <a:solidFill>
                      <a:srgbClr val="FFFFFF"/>
                    </a:solidFill>
                  </a:tcPr>
                </a:tc>
                <a:tc>
                  <a:txBody>
                    <a:bodyPr/>
                    <a:lstStyle/>
                    <a:p>
                      <a:pPr marL="0" indent="0" algn="l">
                        <a:buNone/>
                      </a:pPr>
                      <a:r>
                        <a:rPr lang="en-US" sz="1250" dirty="0">
                          <a:solidFill>
                            <a:srgbClr val="444444"/>
                          </a:solidFill>
                          <a:latin typeface="Arial" pitchFamily="34" charset="0"/>
                          <a:ea typeface="Arial" pitchFamily="34" charset="-122"/>
                          <a:cs typeface="Arial" pitchFamily="34" charset="-120"/>
                        </a:rPr>
                        <a:t>Wikipedia API, cached for replay</a:t>
                      </a:r>
                      <a:endParaRPr lang="en-US" sz="1250" dirty="0">
                        <a:latin typeface="Arial" charset="0"/>
                        <a:ea typeface="Arial" charset="0"/>
                        <a:cs typeface="Arial" charset="0"/>
                      </a:endParaRPr>
                    </a:p>
                  </a:txBody>
                  <a:tcPr marL="109728" marR="109728" marT="36576" marB="36576" anchor="ctr">
                    <a:lnL w="6350" cap="flat" cmpd="sng" algn="ctr">
                      <a:solidFill>
                        <a:srgbClr val="DCDCDC"/>
                      </a:solidFill>
                      <a:prstDash val="solid"/>
                      <a:round/>
                      <a:headEnd type="none" w="med" len="med"/>
                      <a:tailEnd type="none" w="med" len="med"/>
                    </a:lnL>
                    <a:lnR w="6350" cap="flat" cmpd="sng" algn="ctr">
                      <a:solidFill>
                        <a:srgbClr val="DCDCDC"/>
                      </a:solidFill>
                      <a:prstDash val="solid"/>
                      <a:round/>
                      <a:headEnd type="none" w="med" len="med"/>
                      <a:tailEnd type="none" w="med" len="med"/>
                    </a:lnR>
                    <a:lnT w="6350" cap="flat" cmpd="sng" algn="ctr">
                      <a:solidFill>
                        <a:srgbClr val="DCDCDC"/>
                      </a:solidFill>
                      <a:prstDash val="solid"/>
                      <a:round/>
                      <a:headEnd type="none" w="med" len="med"/>
                      <a:tailEnd type="none" w="med" len="med"/>
                    </a:lnT>
                    <a:lnB w="6350" cap="flat" cmpd="sng" algn="ctr">
                      <a:solidFill>
                        <a:srgbClr val="DCDCDC"/>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65760">
                <a:tc>
                  <a:txBody>
                    <a:bodyPr/>
                    <a:lstStyle/>
                    <a:p>
                      <a:pPr marL="0" indent="0" algn="l">
                        <a:buNone/>
                      </a:pPr>
                      <a:r>
                        <a:rPr lang="en-US" sz="1250" dirty="0">
                          <a:solidFill>
                            <a:srgbClr val="444444"/>
                          </a:solidFill>
                          <a:latin typeface="Arial" pitchFamily="34" charset="0"/>
                          <a:ea typeface="Arial" pitchFamily="34" charset="-122"/>
                          <a:cs typeface="Arial" pitchFamily="34" charset="-120"/>
                        </a:rPr>
                        <a:t>Evidence ranking</a:t>
                      </a:r>
                      <a:endParaRPr lang="en-US" sz="1250" dirty="0">
                        <a:latin typeface="Arial" charset="0"/>
                        <a:ea typeface="Arial" charset="0"/>
                        <a:cs typeface="Arial" charset="0"/>
                      </a:endParaRPr>
                    </a:p>
                  </a:txBody>
                  <a:tcPr marL="109728" marR="109728" marT="36576" marB="36576" anchor="ctr">
                    <a:lnL w="6350" cap="flat" cmpd="sng" algn="ctr">
                      <a:solidFill>
                        <a:srgbClr val="DCDCDC"/>
                      </a:solidFill>
                      <a:prstDash val="solid"/>
                      <a:round/>
                      <a:headEnd type="none" w="med" len="med"/>
                      <a:tailEnd type="none" w="med" len="med"/>
                    </a:lnL>
                    <a:lnR w="6350" cap="flat" cmpd="sng" algn="ctr">
                      <a:solidFill>
                        <a:srgbClr val="DCDCDC"/>
                      </a:solidFill>
                      <a:prstDash val="solid"/>
                      <a:round/>
                      <a:headEnd type="none" w="med" len="med"/>
                      <a:tailEnd type="none" w="med" len="med"/>
                    </a:lnR>
                    <a:lnT w="6350" cap="flat" cmpd="sng" algn="ctr">
                      <a:solidFill>
                        <a:srgbClr val="DCDCDC"/>
                      </a:solidFill>
                      <a:prstDash val="solid"/>
                      <a:round/>
                      <a:headEnd type="none" w="med" len="med"/>
                      <a:tailEnd type="none" w="med" len="med"/>
                    </a:lnT>
                    <a:lnB w="6350" cap="flat" cmpd="sng" algn="ctr">
                      <a:solidFill>
                        <a:srgbClr val="DCDCDC"/>
                      </a:solidFill>
                      <a:prstDash val="solid"/>
                      <a:round/>
                      <a:headEnd type="none" w="med" len="med"/>
                      <a:tailEnd type="none" w="med" len="med"/>
                    </a:lnB>
                    <a:solidFill>
                      <a:srgbClr val="FFFFFF"/>
                    </a:solidFill>
                  </a:tcPr>
                </a:tc>
                <a:tc>
                  <a:txBody>
                    <a:bodyPr/>
                    <a:lstStyle/>
                    <a:p>
                      <a:pPr marL="0" indent="0" algn="l">
                        <a:buNone/>
                      </a:pPr>
                      <a:r>
                        <a:rPr lang="en-US" sz="1250" dirty="0">
                          <a:solidFill>
                            <a:srgbClr val="444444"/>
                          </a:solidFill>
                          <a:latin typeface="Arial" pitchFamily="34" charset="0"/>
                          <a:ea typeface="Arial" pitchFamily="34" charset="-122"/>
                          <a:cs typeface="Arial" pitchFamily="34" charset="-120"/>
                        </a:rPr>
                        <a:t>cross-encoder reranker</a:t>
                      </a:r>
                      <a:endParaRPr lang="en-US" sz="1250" dirty="0">
                        <a:latin typeface="Arial" charset="0"/>
                        <a:ea typeface="Arial" charset="0"/>
                        <a:cs typeface="Arial" charset="0"/>
                      </a:endParaRPr>
                    </a:p>
                  </a:txBody>
                  <a:tcPr marL="109728" marR="109728" marT="36576" marB="36576" anchor="ctr">
                    <a:lnL w="6350" cap="flat" cmpd="sng" algn="ctr">
                      <a:solidFill>
                        <a:srgbClr val="DCDCDC"/>
                      </a:solidFill>
                      <a:prstDash val="solid"/>
                      <a:round/>
                      <a:headEnd type="none" w="med" len="med"/>
                      <a:tailEnd type="none" w="med" len="med"/>
                    </a:lnL>
                    <a:lnR w="6350" cap="flat" cmpd="sng" algn="ctr">
                      <a:solidFill>
                        <a:srgbClr val="DCDCDC"/>
                      </a:solidFill>
                      <a:prstDash val="solid"/>
                      <a:round/>
                      <a:headEnd type="none" w="med" len="med"/>
                      <a:tailEnd type="none" w="med" len="med"/>
                    </a:lnR>
                    <a:lnT w="6350" cap="flat" cmpd="sng" algn="ctr">
                      <a:solidFill>
                        <a:srgbClr val="DCDCDC"/>
                      </a:solidFill>
                      <a:prstDash val="solid"/>
                      <a:round/>
                      <a:headEnd type="none" w="med" len="med"/>
                      <a:tailEnd type="none" w="med" len="med"/>
                    </a:lnT>
                    <a:lnB w="6350" cap="flat" cmpd="sng" algn="ctr">
                      <a:solidFill>
                        <a:srgbClr val="DCDCDC"/>
                      </a:solidFill>
                      <a:prstDash val="solid"/>
                      <a:round/>
                      <a:headEnd type="none" w="med" len="med"/>
                      <a:tailEnd type="none" w="med" len="med"/>
                    </a:lnB>
                    <a:solidFill>
                      <a:srgbClr val="FFFFFF"/>
                    </a:solidFill>
                  </a:tcPr>
                </a:tc>
                <a:tc>
                  <a:txBody>
                    <a:bodyPr/>
                    <a:lstStyle/>
                    <a:p>
                      <a:pPr marL="0" indent="0" algn="l">
                        <a:buNone/>
                      </a:pPr>
                      <a:r>
                        <a:rPr lang="en-US" sz="1250" dirty="0">
                          <a:solidFill>
                            <a:srgbClr val="444444"/>
                          </a:solidFill>
                          <a:latin typeface="Arial" pitchFamily="34" charset="0"/>
                          <a:ea typeface="Arial" pitchFamily="34" charset="-122"/>
                          <a:cs typeface="Arial" pitchFamily="34" charset="-120"/>
                        </a:rPr>
                        <a:t>BM25 over retrieved paragraphs</a:t>
                      </a:r>
                      <a:endParaRPr lang="en-US" sz="1250" dirty="0">
                        <a:latin typeface="Arial" charset="0"/>
                        <a:ea typeface="Arial" charset="0"/>
                        <a:cs typeface="Arial" charset="0"/>
                      </a:endParaRPr>
                    </a:p>
                  </a:txBody>
                  <a:tcPr marL="109728" marR="109728" marT="36576" marB="36576" anchor="ctr">
                    <a:lnL w="6350" cap="flat" cmpd="sng" algn="ctr">
                      <a:solidFill>
                        <a:srgbClr val="DCDCDC"/>
                      </a:solidFill>
                      <a:prstDash val="solid"/>
                      <a:round/>
                      <a:headEnd type="none" w="med" len="med"/>
                      <a:tailEnd type="none" w="med" len="med"/>
                    </a:lnL>
                    <a:lnR w="6350" cap="flat" cmpd="sng" algn="ctr">
                      <a:solidFill>
                        <a:srgbClr val="DCDCDC"/>
                      </a:solidFill>
                      <a:prstDash val="solid"/>
                      <a:round/>
                      <a:headEnd type="none" w="med" len="med"/>
                      <a:tailEnd type="none" w="med" len="med"/>
                    </a:lnR>
                    <a:lnT w="6350" cap="flat" cmpd="sng" algn="ctr">
                      <a:solidFill>
                        <a:srgbClr val="DCDCDC"/>
                      </a:solidFill>
                      <a:prstDash val="solid"/>
                      <a:round/>
                      <a:headEnd type="none" w="med" len="med"/>
                      <a:tailEnd type="none" w="med" len="med"/>
                    </a:lnT>
                    <a:lnB w="6350" cap="flat" cmpd="sng" algn="ctr">
                      <a:solidFill>
                        <a:srgbClr val="DCDCDC"/>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365760">
                <a:tc>
                  <a:txBody>
                    <a:bodyPr/>
                    <a:lstStyle/>
                    <a:p>
                      <a:pPr marL="0" indent="0" algn="l">
                        <a:buNone/>
                      </a:pPr>
                      <a:r>
                        <a:rPr lang="en-US" sz="1250" dirty="0">
                          <a:solidFill>
                            <a:srgbClr val="444444"/>
                          </a:solidFill>
                          <a:latin typeface="Arial" pitchFamily="34" charset="0"/>
                          <a:ea typeface="Arial" pitchFamily="34" charset="-122"/>
                          <a:cs typeface="Arial" pitchFamily="34" charset="-120"/>
                        </a:rPr>
                        <a:t>Benchmark</a:t>
                      </a:r>
                      <a:endParaRPr lang="en-US" sz="1250" dirty="0">
                        <a:latin typeface="Arial" charset="0"/>
                        <a:ea typeface="Arial" charset="0"/>
                        <a:cs typeface="Arial" charset="0"/>
                      </a:endParaRPr>
                    </a:p>
                  </a:txBody>
                  <a:tcPr marL="109728" marR="109728" marT="36576" marB="36576" anchor="ctr">
                    <a:lnL w="6350" cap="flat" cmpd="sng" algn="ctr">
                      <a:solidFill>
                        <a:srgbClr val="DCDCDC"/>
                      </a:solidFill>
                      <a:prstDash val="solid"/>
                      <a:round/>
                      <a:headEnd type="none" w="med" len="med"/>
                      <a:tailEnd type="none" w="med" len="med"/>
                    </a:lnL>
                    <a:lnR w="6350" cap="flat" cmpd="sng" algn="ctr">
                      <a:solidFill>
                        <a:srgbClr val="DCDCDC"/>
                      </a:solidFill>
                      <a:prstDash val="solid"/>
                      <a:round/>
                      <a:headEnd type="none" w="med" len="med"/>
                      <a:tailEnd type="none" w="med" len="med"/>
                    </a:lnR>
                    <a:lnT w="6350" cap="flat" cmpd="sng" algn="ctr">
                      <a:solidFill>
                        <a:srgbClr val="DCDCDC"/>
                      </a:solidFill>
                      <a:prstDash val="solid"/>
                      <a:round/>
                      <a:headEnd type="none" w="med" len="med"/>
                      <a:tailEnd type="none" w="med" len="med"/>
                    </a:lnT>
                    <a:lnB w="6350" cap="flat" cmpd="sng" algn="ctr">
                      <a:solidFill>
                        <a:srgbClr val="DCDCDC"/>
                      </a:solidFill>
                      <a:prstDash val="solid"/>
                      <a:round/>
                      <a:headEnd type="none" w="med" len="med"/>
                      <a:tailEnd type="none" w="med" len="med"/>
                    </a:lnB>
                    <a:solidFill>
                      <a:srgbClr val="FFFFFF"/>
                    </a:solidFill>
                  </a:tcPr>
                </a:tc>
                <a:tc>
                  <a:txBody>
                    <a:bodyPr/>
                    <a:lstStyle/>
                    <a:p>
                      <a:pPr marL="0" indent="0" algn="l">
                        <a:buNone/>
                      </a:pPr>
                      <a:r>
                        <a:rPr lang="en-US" sz="1250" dirty="0">
                          <a:solidFill>
                            <a:srgbClr val="444444"/>
                          </a:solidFill>
                          <a:latin typeface="Arial" pitchFamily="34" charset="0"/>
                          <a:ea typeface="Arial" pitchFamily="34" charset="-122"/>
                          <a:cs typeface="Arial" pitchFamily="34" charset="-120"/>
                        </a:rPr>
                        <a:t>FACTRBENCH, 1,096 prompts</a:t>
                      </a:r>
                      <a:endParaRPr lang="en-US" sz="1250" dirty="0">
                        <a:latin typeface="Arial" charset="0"/>
                        <a:ea typeface="Arial" charset="0"/>
                        <a:cs typeface="Arial" charset="0"/>
                      </a:endParaRPr>
                    </a:p>
                  </a:txBody>
                  <a:tcPr marL="109728" marR="109728" marT="36576" marB="36576" anchor="ctr">
                    <a:lnL w="6350" cap="flat" cmpd="sng" algn="ctr">
                      <a:solidFill>
                        <a:srgbClr val="DCDCDC"/>
                      </a:solidFill>
                      <a:prstDash val="solid"/>
                      <a:round/>
                      <a:headEnd type="none" w="med" len="med"/>
                      <a:tailEnd type="none" w="med" len="med"/>
                    </a:lnL>
                    <a:lnR w="6350" cap="flat" cmpd="sng" algn="ctr">
                      <a:solidFill>
                        <a:srgbClr val="DCDCDC"/>
                      </a:solidFill>
                      <a:prstDash val="solid"/>
                      <a:round/>
                      <a:headEnd type="none" w="med" len="med"/>
                      <a:tailEnd type="none" w="med" len="med"/>
                    </a:lnR>
                    <a:lnT w="6350" cap="flat" cmpd="sng" algn="ctr">
                      <a:solidFill>
                        <a:srgbClr val="DCDCDC"/>
                      </a:solidFill>
                      <a:prstDash val="solid"/>
                      <a:round/>
                      <a:headEnd type="none" w="med" len="med"/>
                      <a:tailEnd type="none" w="med" len="med"/>
                    </a:lnT>
                    <a:lnB w="6350" cap="flat" cmpd="sng" algn="ctr">
                      <a:solidFill>
                        <a:srgbClr val="DCDCDC"/>
                      </a:solidFill>
                      <a:prstDash val="solid"/>
                      <a:round/>
                      <a:headEnd type="none" w="med" len="med"/>
                      <a:tailEnd type="none" w="med" len="med"/>
                    </a:lnB>
                    <a:solidFill>
                      <a:srgbClr val="FFFFFF"/>
                    </a:solidFill>
                  </a:tcPr>
                </a:tc>
                <a:tc>
                  <a:txBody>
                    <a:bodyPr/>
                    <a:lstStyle/>
                    <a:p>
                      <a:pPr marL="0" indent="0" algn="l">
                        <a:buNone/>
                      </a:pPr>
                      <a:r>
                        <a:rPr lang="en-US" sz="1250" dirty="0">
                          <a:solidFill>
                            <a:srgbClr val="444444"/>
                          </a:solidFill>
                          <a:latin typeface="Arial" pitchFamily="34" charset="0"/>
                          <a:ea typeface="Arial" pitchFamily="34" charset="-122"/>
                          <a:cs typeface="Arial" pitchFamily="34" charset="-120"/>
                        </a:rPr>
                        <a:t>mini benchmark, 12 prompts</a:t>
                      </a:r>
                      <a:endParaRPr lang="en-US" sz="1250" dirty="0">
                        <a:latin typeface="Arial" charset="0"/>
                        <a:ea typeface="Arial" charset="0"/>
                        <a:cs typeface="Arial" charset="0"/>
                      </a:endParaRPr>
                    </a:p>
                  </a:txBody>
                  <a:tcPr marL="109728" marR="109728" marT="36576" marB="36576" anchor="ctr">
                    <a:lnL w="6350" cap="flat" cmpd="sng" algn="ctr">
                      <a:solidFill>
                        <a:srgbClr val="DCDCDC"/>
                      </a:solidFill>
                      <a:prstDash val="solid"/>
                      <a:round/>
                      <a:headEnd type="none" w="med" len="med"/>
                      <a:tailEnd type="none" w="med" len="med"/>
                    </a:lnL>
                    <a:lnR w="6350" cap="flat" cmpd="sng" algn="ctr">
                      <a:solidFill>
                        <a:srgbClr val="DCDCDC"/>
                      </a:solidFill>
                      <a:prstDash val="solid"/>
                      <a:round/>
                      <a:headEnd type="none" w="med" len="med"/>
                      <a:tailEnd type="none" w="med" len="med"/>
                    </a:lnR>
                    <a:lnT w="6350" cap="flat" cmpd="sng" algn="ctr">
                      <a:solidFill>
                        <a:srgbClr val="DCDCDC"/>
                      </a:solidFill>
                      <a:prstDash val="solid"/>
                      <a:round/>
                      <a:headEnd type="none" w="med" len="med"/>
                      <a:tailEnd type="none" w="med" len="med"/>
                    </a:lnT>
                    <a:lnB w="6350" cap="flat" cmpd="sng" algn="ctr">
                      <a:solidFill>
                        <a:srgbClr val="DCDCDC"/>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365760">
                <a:tc>
                  <a:txBody>
                    <a:bodyPr/>
                    <a:lstStyle/>
                    <a:p>
                      <a:pPr marL="0" indent="0" algn="l">
                        <a:buNone/>
                      </a:pPr>
                      <a:r>
                        <a:rPr lang="en-US" sz="1250" dirty="0">
                          <a:solidFill>
                            <a:srgbClr val="444444"/>
                          </a:solidFill>
                          <a:latin typeface="Arial" pitchFamily="34" charset="0"/>
                          <a:ea typeface="Arial" pitchFamily="34" charset="-122"/>
                          <a:cs typeface="Arial" pitchFamily="34" charset="-120"/>
                        </a:rPr>
                        <a:t>Reference facts</a:t>
                      </a:r>
                      <a:endParaRPr lang="en-US" sz="1250" dirty="0">
                        <a:latin typeface="Arial" charset="0"/>
                        <a:ea typeface="Arial" charset="0"/>
                        <a:cs typeface="Arial" charset="0"/>
                      </a:endParaRPr>
                    </a:p>
                  </a:txBody>
                  <a:tcPr marL="109728" marR="109728" marT="36576" marB="36576" anchor="ctr">
                    <a:lnL w="6350" cap="flat" cmpd="sng" algn="ctr">
                      <a:solidFill>
                        <a:srgbClr val="DCDCDC"/>
                      </a:solidFill>
                      <a:prstDash val="solid"/>
                      <a:round/>
                      <a:headEnd type="none" w="med" len="med"/>
                      <a:tailEnd type="none" w="med" len="med"/>
                    </a:lnL>
                    <a:lnR w="6350" cap="flat" cmpd="sng" algn="ctr">
                      <a:solidFill>
                        <a:srgbClr val="DCDCDC"/>
                      </a:solidFill>
                      <a:prstDash val="solid"/>
                      <a:round/>
                      <a:headEnd type="none" w="med" len="med"/>
                      <a:tailEnd type="none" w="med" len="med"/>
                    </a:lnR>
                    <a:lnT w="6350" cap="flat" cmpd="sng" algn="ctr">
                      <a:solidFill>
                        <a:srgbClr val="DCDCDC"/>
                      </a:solidFill>
                      <a:prstDash val="solid"/>
                      <a:round/>
                      <a:headEnd type="none" w="med" len="med"/>
                      <a:tailEnd type="none" w="med" len="med"/>
                    </a:lnT>
                    <a:lnB w="6350" cap="flat" cmpd="sng" algn="ctr">
                      <a:solidFill>
                        <a:srgbClr val="DCDCDC"/>
                      </a:solidFill>
                      <a:prstDash val="solid"/>
                      <a:round/>
                      <a:headEnd type="none" w="med" len="med"/>
                      <a:tailEnd type="none" w="med" len="med"/>
                    </a:lnB>
                    <a:solidFill>
                      <a:srgbClr val="FFFFFF"/>
                    </a:solidFill>
                  </a:tcPr>
                </a:tc>
                <a:tc>
                  <a:txBody>
                    <a:bodyPr/>
                    <a:lstStyle/>
                    <a:p>
                      <a:pPr marL="0" indent="0" algn="l">
                        <a:buNone/>
                      </a:pPr>
                      <a:r>
                        <a:rPr lang="en-US" sz="1250" dirty="0">
                          <a:solidFill>
                            <a:srgbClr val="444444"/>
                          </a:solidFill>
                          <a:latin typeface="Arial" pitchFamily="34" charset="0"/>
                          <a:ea typeface="Arial" pitchFamily="34" charset="-122"/>
                          <a:cs typeface="Arial" pitchFamily="34" charset="-120"/>
                        </a:rPr>
                        <a:t>4 frontier LLMs + human answers</a:t>
                      </a:r>
                      <a:endParaRPr lang="en-US" sz="1250" dirty="0">
                        <a:latin typeface="Arial" charset="0"/>
                        <a:ea typeface="Arial" charset="0"/>
                        <a:cs typeface="Arial" charset="0"/>
                      </a:endParaRPr>
                    </a:p>
                  </a:txBody>
                  <a:tcPr marL="109728" marR="109728" marT="36576" marB="36576" anchor="ctr">
                    <a:lnL w="6350" cap="flat" cmpd="sng" algn="ctr">
                      <a:solidFill>
                        <a:srgbClr val="DCDCDC"/>
                      </a:solidFill>
                      <a:prstDash val="solid"/>
                      <a:round/>
                      <a:headEnd type="none" w="med" len="med"/>
                      <a:tailEnd type="none" w="med" len="med"/>
                    </a:lnL>
                    <a:lnR w="6350" cap="flat" cmpd="sng" algn="ctr">
                      <a:solidFill>
                        <a:srgbClr val="DCDCDC"/>
                      </a:solidFill>
                      <a:prstDash val="solid"/>
                      <a:round/>
                      <a:headEnd type="none" w="med" len="med"/>
                      <a:tailEnd type="none" w="med" len="med"/>
                    </a:lnR>
                    <a:lnT w="6350" cap="flat" cmpd="sng" algn="ctr">
                      <a:solidFill>
                        <a:srgbClr val="DCDCDC"/>
                      </a:solidFill>
                      <a:prstDash val="solid"/>
                      <a:round/>
                      <a:headEnd type="none" w="med" len="med"/>
                      <a:tailEnd type="none" w="med" len="med"/>
                    </a:lnT>
                    <a:lnB w="6350" cap="flat" cmpd="sng" algn="ctr">
                      <a:solidFill>
                        <a:srgbClr val="DCDCDC"/>
                      </a:solidFill>
                      <a:prstDash val="solid"/>
                      <a:round/>
                      <a:headEnd type="none" w="med" len="med"/>
                      <a:tailEnd type="none" w="med" len="med"/>
                    </a:lnB>
                    <a:solidFill>
                      <a:srgbClr val="FFFFFF"/>
                    </a:solidFill>
                  </a:tcPr>
                </a:tc>
                <a:tc>
                  <a:txBody>
                    <a:bodyPr/>
                    <a:lstStyle/>
                    <a:p>
                      <a:pPr marL="0" indent="0" algn="l">
                        <a:buNone/>
                      </a:pPr>
                      <a:r>
                        <a:rPr lang="en-US" sz="1250" dirty="0">
                          <a:solidFill>
                            <a:srgbClr val="444444"/>
                          </a:solidFill>
                          <a:latin typeface="Arial" pitchFamily="34" charset="0"/>
                          <a:ea typeface="Arial" pitchFamily="34" charset="-122"/>
                          <a:cs typeface="Arial" pitchFamily="34" charset="-120"/>
                        </a:rPr>
                        <a:t>86 facts, written and verified by hand</a:t>
                      </a:r>
                      <a:endParaRPr lang="en-US" sz="1250" dirty="0">
                        <a:latin typeface="Arial" charset="0"/>
                        <a:ea typeface="Arial" charset="0"/>
                        <a:cs typeface="Arial" charset="0"/>
                      </a:endParaRPr>
                    </a:p>
                  </a:txBody>
                  <a:tcPr marL="109728" marR="109728" marT="36576" marB="36576" anchor="ctr">
                    <a:lnL w="6350" cap="flat" cmpd="sng" algn="ctr">
                      <a:solidFill>
                        <a:srgbClr val="DCDCDC"/>
                      </a:solidFill>
                      <a:prstDash val="solid"/>
                      <a:round/>
                      <a:headEnd type="none" w="med" len="med"/>
                      <a:tailEnd type="none" w="med" len="med"/>
                    </a:lnL>
                    <a:lnR w="6350" cap="flat" cmpd="sng" algn="ctr">
                      <a:solidFill>
                        <a:srgbClr val="DCDCDC"/>
                      </a:solidFill>
                      <a:prstDash val="solid"/>
                      <a:round/>
                      <a:headEnd type="none" w="med" len="med"/>
                      <a:tailEnd type="none" w="med" len="med"/>
                    </a:lnR>
                    <a:lnT w="6350" cap="flat" cmpd="sng" algn="ctr">
                      <a:solidFill>
                        <a:srgbClr val="DCDCDC"/>
                      </a:solidFill>
                      <a:prstDash val="solid"/>
                      <a:round/>
                      <a:headEnd type="none" w="med" len="med"/>
                      <a:tailEnd type="none" w="med" len="med"/>
                    </a:lnT>
                    <a:lnB w="6350" cap="flat" cmpd="sng" algn="ctr">
                      <a:solidFill>
                        <a:srgbClr val="DCDCDC"/>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365760">
                <a:tc>
                  <a:txBody>
                    <a:bodyPr/>
                    <a:lstStyle/>
                    <a:p>
                      <a:pPr marL="0" indent="0" algn="l">
                        <a:buNone/>
                      </a:pPr>
                      <a:r>
                        <a:rPr lang="en-US" sz="1250" dirty="0">
                          <a:solidFill>
                            <a:srgbClr val="444444"/>
                          </a:solidFill>
                          <a:latin typeface="Arial" pitchFamily="34" charset="0"/>
                          <a:ea typeface="Arial" pitchFamily="34" charset="-122"/>
                          <a:cs typeface="Arial" pitchFamily="34" charset="-120"/>
                        </a:rPr>
                        <a:t>Serving</a:t>
                      </a:r>
                      <a:endParaRPr lang="en-US" sz="1250" dirty="0">
                        <a:latin typeface="Arial" charset="0"/>
                        <a:ea typeface="Arial" charset="0"/>
                        <a:cs typeface="Arial" charset="0"/>
                      </a:endParaRPr>
                    </a:p>
                  </a:txBody>
                  <a:tcPr marL="109728" marR="109728" marT="36576" marB="36576" anchor="ctr">
                    <a:lnL w="6350" cap="flat" cmpd="sng" algn="ctr">
                      <a:solidFill>
                        <a:srgbClr val="DCDCDC"/>
                      </a:solidFill>
                      <a:prstDash val="solid"/>
                      <a:round/>
                      <a:headEnd type="none" w="med" len="med"/>
                      <a:tailEnd type="none" w="med" len="med"/>
                    </a:lnL>
                    <a:lnR w="6350" cap="flat" cmpd="sng" algn="ctr">
                      <a:solidFill>
                        <a:srgbClr val="DCDCDC"/>
                      </a:solidFill>
                      <a:prstDash val="solid"/>
                      <a:round/>
                      <a:headEnd type="none" w="med" len="med"/>
                      <a:tailEnd type="none" w="med" len="med"/>
                    </a:lnR>
                    <a:lnT w="6350" cap="flat" cmpd="sng" algn="ctr">
                      <a:solidFill>
                        <a:srgbClr val="DCDCDC"/>
                      </a:solidFill>
                      <a:prstDash val="solid"/>
                      <a:round/>
                      <a:headEnd type="none" w="med" len="med"/>
                      <a:tailEnd type="none" w="med" len="med"/>
                    </a:lnT>
                    <a:lnB w="6350" cap="flat" cmpd="sng" algn="ctr">
                      <a:solidFill>
                        <a:srgbClr val="DCDCDC"/>
                      </a:solidFill>
                      <a:prstDash val="solid"/>
                      <a:round/>
                      <a:headEnd type="none" w="med" len="med"/>
                      <a:tailEnd type="none" w="med" len="med"/>
                    </a:lnB>
                    <a:solidFill>
                      <a:srgbClr val="FFFFFF"/>
                    </a:solidFill>
                  </a:tcPr>
                </a:tc>
                <a:tc>
                  <a:txBody>
                    <a:bodyPr/>
                    <a:lstStyle/>
                    <a:p>
                      <a:pPr marL="0" indent="0" algn="l">
                        <a:buNone/>
                      </a:pPr>
                      <a:r>
                        <a:rPr lang="en-US" sz="1250" dirty="0">
                          <a:solidFill>
                            <a:srgbClr val="444444"/>
                          </a:solidFill>
                          <a:latin typeface="Arial" pitchFamily="34" charset="0"/>
                          <a:ea typeface="Arial" pitchFamily="34" charset="-122"/>
                          <a:cs typeface="Arial" pitchFamily="34" charset="-120"/>
                        </a:rPr>
                        <a:t>vLLM, multi-GPU</a:t>
                      </a:r>
                      <a:endParaRPr lang="en-US" sz="1250" dirty="0">
                        <a:latin typeface="Arial" charset="0"/>
                        <a:ea typeface="Arial" charset="0"/>
                        <a:cs typeface="Arial" charset="0"/>
                      </a:endParaRPr>
                    </a:p>
                  </a:txBody>
                  <a:tcPr marL="109728" marR="109728" marT="36576" marB="36576" anchor="ctr">
                    <a:lnL w="6350" cap="flat" cmpd="sng" algn="ctr">
                      <a:solidFill>
                        <a:srgbClr val="DCDCDC"/>
                      </a:solidFill>
                      <a:prstDash val="solid"/>
                      <a:round/>
                      <a:headEnd type="none" w="med" len="med"/>
                      <a:tailEnd type="none" w="med" len="med"/>
                    </a:lnL>
                    <a:lnR w="6350" cap="flat" cmpd="sng" algn="ctr">
                      <a:solidFill>
                        <a:srgbClr val="DCDCDC"/>
                      </a:solidFill>
                      <a:prstDash val="solid"/>
                      <a:round/>
                      <a:headEnd type="none" w="med" len="med"/>
                      <a:tailEnd type="none" w="med" len="med"/>
                    </a:lnR>
                    <a:lnT w="6350" cap="flat" cmpd="sng" algn="ctr">
                      <a:solidFill>
                        <a:srgbClr val="DCDCDC"/>
                      </a:solidFill>
                      <a:prstDash val="solid"/>
                      <a:round/>
                      <a:headEnd type="none" w="med" len="med"/>
                      <a:tailEnd type="none" w="med" len="med"/>
                    </a:lnT>
                    <a:lnB w="6350" cap="flat" cmpd="sng" algn="ctr">
                      <a:solidFill>
                        <a:srgbClr val="DCDCDC"/>
                      </a:solidFill>
                      <a:prstDash val="solid"/>
                      <a:round/>
                      <a:headEnd type="none" w="med" len="med"/>
                      <a:tailEnd type="none" w="med" len="med"/>
                    </a:lnB>
                    <a:solidFill>
                      <a:srgbClr val="FFFFFF"/>
                    </a:solidFill>
                  </a:tcPr>
                </a:tc>
                <a:tc>
                  <a:txBody>
                    <a:bodyPr/>
                    <a:lstStyle/>
                    <a:p>
                      <a:pPr marL="0" indent="0" algn="l">
                        <a:buNone/>
                      </a:pPr>
                      <a:r>
                        <a:rPr lang="en-US" sz="1250" dirty="0">
                          <a:solidFill>
                            <a:srgbClr val="444444"/>
                          </a:solidFill>
                          <a:latin typeface="Arial" pitchFamily="34" charset="0"/>
                          <a:ea typeface="Arial" pitchFamily="34" charset="-122"/>
                          <a:cs typeface="Arial" pitchFamily="34" charset="-120"/>
                        </a:rPr>
                        <a:t>Ollama on a 4 GB VRAM GPU and </a:t>
                      </a:r>
                      <a:r>
                        <a:rPr lang="en-US" sz="1250" dirty="0" err="1">
                          <a:solidFill>
                            <a:srgbClr val="444444"/>
                          </a:solidFill>
                          <a:latin typeface="Arial" pitchFamily="34" charset="0"/>
                          <a:ea typeface="Arial" pitchFamily="34" charset="-122"/>
                          <a:cs typeface="Arial" pitchFamily="34" charset="-120"/>
                        </a:rPr>
                        <a:t>Colab</a:t>
                      </a:r>
                      <a:r>
                        <a:rPr lang="en-US" sz="1250" dirty="0">
                          <a:solidFill>
                            <a:srgbClr val="444444"/>
                          </a:solidFill>
                          <a:latin typeface="Arial" pitchFamily="34" charset="0"/>
                          <a:ea typeface="Arial" pitchFamily="34" charset="-122"/>
                          <a:cs typeface="Arial" pitchFamily="34" charset="-120"/>
                        </a:rPr>
                        <a:t> T4</a:t>
                      </a:r>
                      <a:endParaRPr lang="en-US" sz="1250" dirty="0">
                        <a:latin typeface="Arial" charset="0"/>
                        <a:ea typeface="Arial" charset="0"/>
                        <a:cs typeface="Arial" charset="0"/>
                      </a:endParaRPr>
                    </a:p>
                  </a:txBody>
                  <a:tcPr marL="109728" marR="109728" marT="36576" marB="36576" anchor="ctr">
                    <a:lnL w="6350" cap="flat" cmpd="sng" algn="ctr">
                      <a:solidFill>
                        <a:srgbClr val="DCDCDC"/>
                      </a:solidFill>
                      <a:prstDash val="solid"/>
                      <a:round/>
                      <a:headEnd type="none" w="med" len="med"/>
                      <a:tailEnd type="none" w="med" len="med"/>
                    </a:lnL>
                    <a:lnR w="6350" cap="flat" cmpd="sng" algn="ctr">
                      <a:solidFill>
                        <a:srgbClr val="DCDCDC"/>
                      </a:solidFill>
                      <a:prstDash val="solid"/>
                      <a:round/>
                      <a:headEnd type="none" w="med" len="med"/>
                      <a:tailEnd type="none" w="med" len="med"/>
                    </a:lnR>
                    <a:lnT w="6350" cap="flat" cmpd="sng" algn="ctr">
                      <a:solidFill>
                        <a:srgbClr val="DCDCDC"/>
                      </a:solidFill>
                      <a:prstDash val="solid"/>
                      <a:round/>
                      <a:headEnd type="none" w="med" len="med"/>
                      <a:tailEnd type="none" w="med" len="med"/>
                    </a:lnT>
                    <a:lnB w="6350" cap="flat" cmpd="sng" algn="ctr">
                      <a:solidFill>
                        <a:srgbClr val="DCDCDC"/>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bl>
          </a:graphicData>
        </a:graphic>
      </p:graphicFrame>
      <p:sp>
        <p:nvSpPr>
          <p:cNvPr id="7" name="sc0-rule"/>
          <p:cNvSpPr/>
          <p:nvPr/>
        </p:nvSpPr>
        <p:spPr>
          <a:xfrm>
            <a:off x="548640" y="4663440"/>
            <a:ext cx="2560320" cy="25603"/>
          </a:xfrm>
          <a:prstGeom prst="rect">
            <a:avLst/>
          </a:prstGeom>
          <a:solidFill>
            <a:srgbClr val="DCDCDC"/>
          </a:solidFill>
          <a:ln w="3175">
            <a:solidFill>
              <a:srgbClr val="DCDCDC"/>
            </a:solidFill>
            <a:prstDash val="solid"/>
          </a:ln>
        </p:spPr>
        <p:txBody>
          <a:bodyPr/>
          <a:lstStyle/>
          <a:p>
            <a:endParaRPr lang="en-IN"/>
          </a:p>
        </p:txBody>
      </p:sp>
      <p:sp>
        <p:nvSpPr>
          <p:cNvPr id="8" name="sc0-l"/>
          <p:cNvSpPr txBox="1"/>
          <p:nvPr/>
        </p:nvSpPr>
        <p:spPr>
          <a:xfrm>
            <a:off x="548640" y="4809744"/>
            <a:ext cx="2560320" cy="219456"/>
          </a:xfrm>
          <a:prstGeom prst="rect">
            <a:avLst/>
          </a:prstGeom>
          <a:noFill/>
          <a:ln/>
        </p:spPr>
        <p:txBody>
          <a:bodyPr wrap="square" lIns="0" tIns="0" rIns="0" bIns="0" rtlCol="0" anchor="ctr"/>
          <a:lstStyle/>
          <a:p>
            <a:pPr marL="0" indent="0">
              <a:buNone/>
            </a:pPr>
            <a:r>
              <a:rPr lang="en-US" sz="950" b="1" kern="0" spc="100" dirty="0">
                <a:solidFill>
                  <a:srgbClr val="767676"/>
                </a:solidFill>
                <a:latin typeface="Arial" pitchFamily="34" charset="0"/>
                <a:ea typeface="Arial" pitchFamily="34" charset="-122"/>
                <a:cs typeface="Arial" pitchFamily="34" charset="-120"/>
              </a:rPr>
              <a:t>QUESTIONS</a:t>
            </a:r>
            <a:endParaRPr lang="en-US" sz="950" dirty="0"/>
          </a:p>
        </p:txBody>
      </p:sp>
      <p:sp>
        <p:nvSpPr>
          <p:cNvPr id="9" name="sc0-v"/>
          <p:cNvSpPr txBox="1"/>
          <p:nvPr/>
        </p:nvSpPr>
        <p:spPr>
          <a:xfrm>
            <a:off x="548640" y="5047488"/>
            <a:ext cx="2560320" cy="457200"/>
          </a:xfrm>
          <a:prstGeom prst="rect">
            <a:avLst/>
          </a:prstGeom>
          <a:noFill/>
          <a:ln/>
        </p:spPr>
        <p:txBody>
          <a:bodyPr wrap="square" lIns="0" tIns="0" rIns="0" bIns="0" rtlCol="0" anchor="ctr"/>
          <a:lstStyle/>
          <a:p>
            <a:pPr marL="0" indent="0">
              <a:buNone/>
            </a:pPr>
            <a:r>
              <a:rPr lang="en-US" sz="2400" b="1" dirty="0">
                <a:solidFill>
                  <a:srgbClr val="1A1A1A"/>
                </a:solidFill>
              </a:rPr>
              <a:t>12</a:t>
            </a:r>
            <a:endParaRPr lang="en-US" sz="2400" dirty="0"/>
          </a:p>
        </p:txBody>
      </p:sp>
      <p:sp>
        <p:nvSpPr>
          <p:cNvPr id="10" name="sc0-f"/>
          <p:cNvSpPr txBox="1"/>
          <p:nvPr/>
        </p:nvSpPr>
        <p:spPr>
          <a:xfrm>
            <a:off x="548640" y="5532120"/>
            <a:ext cx="2560320" cy="420624"/>
          </a:xfrm>
          <a:prstGeom prst="rect">
            <a:avLst/>
          </a:prstGeom>
          <a:noFill/>
          <a:ln/>
        </p:spPr>
        <p:txBody>
          <a:bodyPr wrap="square" lIns="0" tIns="0" rIns="0" bIns="0" rtlCol="0" anchor="ctr"/>
          <a:lstStyle/>
          <a:p>
            <a:pPr marL="0" indent="0">
              <a:lnSpc>
                <a:spcPct val="110000"/>
              </a:lnSpc>
              <a:buNone/>
            </a:pPr>
            <a:r>
              <a:rPr lang="en-US" sz="1050" dirty="0">
                <a:solidFill>
                  <a:srgbClr val="767676"/>
                </a:solidFill>
                <a:latin typeface="Arial" pitchFamily="34" charset="0"/>
                <a:ea typeface="Arial" pitchFamily="34" charset="-122"/>
                <a:cs typeface="Arial" pitchFamily="34" charset="-120"/>
              </a:rPr>
              <a:t>written for the failure modes</a:t>
            </a:r>
            <a:endParaRPr lang="en-US" sz="1050" dirty="0"/>
          </a:p>
        </p:txBody>
      </p:sp>
      <p:sp>
        <p:nvSpPr>
          <p:cNvPr id="11" name="sc1-rule"/>
          <p:cNvSpPr/>
          <p:nvPr/>
        </p:nvSpPr>
        <p:spPr>
          <a:xfrm>
            <a:off x="3383280" y="4663440"/>
            <a:ext cx="2560320" cy="25603"/>
          </a:xfrm>
          <a:prstGeom prst="rect">
            <a:avLst/>
          </a:prstGeom>
          <a:solidFill>
            <a:srgbClr val="DCDCDC"/>
          </a:solidFill>
          <a:ln w="3175">
            <a:solidFill>
              <a:srgbClr val="DCDCDC"/>
            </a:solidFill>
            <a:prstDash val="solid"/>
          </a:ln>
        </p:spPr>
        <p:txBody>
          <a:bodyPr/>
          <a:lstStyle/>
          <a:p>
            <a:endParaRPr lang="en-IN"/>
          </a:p>
        </p:txBody>
      </p:sp>
      <p:sp>
        <p:nvSpPr>
          <p:cNvPr id="12" name="sc1-l"/>
          <p:cNvSpPr txBox="1"/>
          <p:nvPr/>
        </p:nvSpPr>
        <p:spPr>
          <a:xfrm>
            <a:off x="3383280" y="4809744"/>
            <a:ext cx="2560320" cy="219456"/>
          </a:xfrm>
          <a:prstGeom prst="rect">
            <a:avLst/>
          </a:prstGeom>
          <a:noFill/>
          <a:ln/>
        </p:spPr>
        <p:txBody>
          <a:bodyPr wrap="square" lIns="0" tIns="0" rIns="0" bIns="0" rtlCol="0" anchor="ctr"/>
          <a:lstStyle/>
          <a:p>
            <a:pPr marL="0" indent="0">
              <a:buNone/>
            </a:pPr>
            <a:r>
              <a:rPr lang="en-US" sz="950" b="1" kern="0" spc="100" dirty="0">
                <a:solidFill>
                  <a:srgbClr val="767676"/>
                </a:solidFill>
                <a:latin typeface="Arial" pitchFamily="34" charset="0"/>
                <a:ea typeface="Arial" pitchFamily="34" charset="-122"/>
                <a:cs typeface="Arial" pitchFamily="34" charset="-120"/>
              </a:rPr>
              <a:t>REFERENCE FACTS</a:t>
            </a:r>
            <a:endParaRPr lang="en-US" sz="950" dirty="0"/>
          </a:p>
        </p:txBody>
      </p:sp>
      <p:sp>
        <p:nvSpPr>
          <p:cNvPr id="13" name="sc1-v"/>
          <p:cNvSpPr txBox="1"/>
          <p:nvPr/>
        </p:nvSpPr>
        <p:spPr>
          <a:xfrm>
            <a:off x="3383280" y="5047488"/>
            <a:ext cx="2560320" cy="457200"/>
          </a:xfrm>
          <a:prstGeom prst="rect">
            <a:avLst/>
          </a:prstGeom>
          <a:noFill/>
          <a:ln/>
        </p:spPr>
        <p:txBody>
          <a:bodyPr wrap="square" lIns="0" tIns="0" rIns="0" bIns="0" rtlCol="0" anchor="ctr"/>
          <a:lstStyle/>
          <a:p>
            <a:pPr marL="0" indent="0">
              <a:buNone/>
            </a:pPr>
            <a:r>
              <a:rPr lang="en-US" sz="2400" b="1" dirty="0">
                <a:solidFill>
                  <a:srgbClr val="1A1A1A"/>
                </a:solidFill>
              </a:rPr>
              <a:t>86</a:t>
            </a:r>
            <a:endParaRPr lang="en-US" sz="2400" dirty="0"/>
          </a:p>
        </p:txBody>
      </p:sp>
      <p:sp>
        <p:nvSpPr>
          <p:cNvPr id="14" name="sc1-f"/>
          <p:cNvSpPr txBox="1"/>
          <p:nvPr/>
        </p:nvSpPr>
        <p:spPr>
          <a:xfrm>
            <a:off x="3383280" y="5532120"/>
            <a:ext cx="2560320" cy="420624"/>
          </a:xfrm>
          <a:prstGeom prst="rect">
            <a:avLst/>
          </a:prstGeom>
          <a:noFill/>
          <a:ln/>
        </p:spPr>
        <p:txBody>
          <a:bodyPr wrap="square" lIns="0" tIns="0" rIns="0" bIns="0" rtlCol="0" anchor="ctr"/>
          <a:lstStyle/>
          <a:p>
            <a:pPr marL="0" indent="0">
              <a:lnSpc>
                <a:spcPct val="110000"/>
              </a:lnSpc>
              <a:buNone/>
            </a:pPr>
            <a:r>
              <a:rPr lang="en-US" sz="1050" dirty="0">
                <a:solidFill>
                  <a:srgbClr val="767676"/>
                </a:solidFill>
                <a:latin typeface="Arial" pitchFamily="34" charset="0"/>
                <a:ea typeface="Arial" pitchFamily="34" charset="-122"/>
                <a:cs typeface="Arial" pitchFamily="34" charset="-120"/>
              </a:rPr>
              <a:t>hand-written, sources recorded</a:t>
            </a:r>
            <a:endParaRPr lang="en-US" sz="1050" dirty="0"/>
          </a:p>
        </p:txBody>
      </p:sp>
      <p:sp>
        <p:nvSpPr>
          <p:cNvPr id="15" name="sc2-rule"/>
          <p:cNvSpPr/>
          <p:nvPr/>
        </p:nvSpPr>
        <p:spPr>
          <a:xfrm>
            <a:off x="6217920" y="4663440"/>
            <a:ext cx="2560320" cy="25603"/>
          </a:xfrm>
          <a:prstGeom prst="rect">
            <a:avLst/>
          </a:prstGeom>
          <a:solidFill>
            <a:srgbClr val="DCDCDC"/>
          </a:solidFill>
          <a:ln w="3175">
            <a:solidFill>
              <a:srgbClr val="DCDCDC"/>
            </a:solidFill>
            <a:prstDash val="solid"/>
          </a:ln>
        </p:spPr>
        <p:txBody>
          <a:bodyPr/>
          <a:lstStyle/>
          <a:p>
            <a:endParaRPr lang="en-IN"/>
          </a:p>
        </p:txBody>
      </p:sp>
      <p:sp>
        <p:nvSpPr>
          <p:cNvPr id="16" name="sc2-l"/>
          <p:cNvSpPr txBox="1"/>
          <p:nvPr/>
        </p:nvSpPr>
        <p:spPr>
          <a:xfrm>
            <a:off x="6217920" y="4809744"/>
            <a:ext cx="2560320" cy="219456"/>
          </a:xfrm>
          <a:prstGeom prst="rect">
            <a:avLst/>
          </a:prstGeom>
          <a:noFill/>
          <a:ln/>
        </p:spPr>
        <p:txBody>
          <a:bodyPr wrap="square" lIns="0" tIns="0" rIns="0" bIns="0" rtlCol="0" anchor="ctr"/>
          <a:lstStyle/>
          <a:p>
            <a:pPr marL="0" indent="0">
              <a:buNone/>
            </a:pPr>
            <a:r>
              <a:rPr lang="en-US" sz="950" b="1" kern="0" spc="100" dirty="0">
                <a:solidFill>
                  <a:srgbClr val="767676"/>
                </a:solidFill>
                <a:latin typeface="Arial" pitchFamily="34" charset="0"/>
                <a:ea typeface="Arial" pitchFamily="34" charset="-122"/>
                <a:cs typeface="Arial" pitchFamily="34" charset="-120"/>
              </a:rPr>
              <a:t>UNIT TESTS</a:t>
            </a:r>
            <a:endParaRPr lang="en-US" sz="950" dirty="0"/>
          </a:p>
        </p:txBody>
      </p:sp>
      <p:sp>
        <p:nvSpPr>
          <p:cNvPr id="17" name="sc2-v"/>
          <p:cNvSpPr txBox="1"/>
          <p:nvPr/>
        </p:nvSpPr>
        <p:spPr>
          <a:xfrm>
            <a:off x="6217920" y="5047488"/>
            <a:ext cx="2560320" cy="457200"/>
          </a:xfrm>
          <a:prstGeom prst="rect">
            <a:avLst/>
          </a:prstGeom>
          <a:noFill/>
          <a:ln/>
        </p:spPr>
        <p:txBody>
          <a:bodyPr wrap="square" lIns="0" tIns="0" rIns="0" bIns="0" rtlCol="0" anchor="ctr"/>
          <a:lstStyle/>
          <a:p>
            <a:pPr marL="0" indent="0">
              <a:buNone/>
            </a:pPr>
            <a:r>
              <a:rPr lang="en-US" sz="2400" b="1" dirty="0">
                <a:solidFill>
                  <a:srgbClr val="1A1A1A"/>
                </a:solidFill>
              </a:rPr>
              <a:t>59</a:t>
            </a:r>
            <a:endParaRPr lang="en-US" sz="2400" dirty="0"/>
          </a:p>
        </p:txBody>
      </p:sp>
      <p:sp>
        <p:nvSpPr>
          <p:cNvPr id="18" name="sc2-f"/>
          <p:cNvSpPr txBox="1"/>
          <p:nvPr/>
        </p:nvSpPr>
        <p:spPr>
          <a:xfrm>
            <a:off x="6217920" y="5532120"/>
            <a:ext cx="2560320" cy="420624"/>
          </a:xfrm>
          <a:prstGeom prst="rect">
            <a:avLst/>
          </a:prstGeom>
          <a:noFill/>
          <a:ln/>
        </p:spPr>
        <p:txBody>
          <a:bodyPr wrap="square" lIns="0" tIns="0" rIns="0" bIns="0" rtlCol="0" anchor="ctr"/>
          <a:lstStyle/>
          <a:p>
            <a:pPr marL="0" indent="0">
              <a:lnSpc>
                <a:spcPct val="110000"/>
              </a:lnSpc>
              <a:buNone/>
            </a:pPr>
            <a:r>
              <a:rPr lang="en-US" sz="1050" dirty="0">
                <a:solidFill>
                  <a:srgbClr val="767676"/>
                </a:solidFill>
                <a:latin typeface="Arial" pitchFamily="34" charset="0"/>
                <a:ea typeface="Arial" pitchFamily="34" charset="-122"/>
                <a:cs typeface="Arial" pitchFamily="34" charset="-120"/>
              </a:rPr>
              <a:t>detection, mapping and scoring</a:t>
            </a:r>
            <a:endParaRPr lang="en-US" sz="1050" dirty="0"/>
          </a:p>
        </p:txBody>
      </p:sp>
      <p:sp>
        <p:nvSpPr>
          <p:cNvPr id="19" name="sc3-rule"/>
          <p:cNvSpPr/>
          <p:nvPr/>
        </p:nvSpPr>
        <p:spPr>
          <a:xfrm>
            <a:off x="9052560" y="4663440"/>
            <a:ext cx="2560320" cy="25603"/>
          </a:xfrm>
          <a:prstGeom prst="rect">
            <a:avLst/>
          </a:prstGeom>
          <a:solidFill>
            <a:srgbClr val="E90802"/>
          </a:solidFill>
          <a:ln w="3175">
            <a:solidFill>
              <a:srgbClr val="E90802"/>
            </a:solidFill>
            <a:prstDash val="solid"/>
          </a:ln>
        </p:spPr>
        <p:txBody>
          <a:bodyPr/>
          <a:lstStyle/>
          <a:p>
            <a:endParaRPr lang="en-IN"/>
          </a:p>
        </p:txBody>
      </p:sp>
      <p:sp>
        <p:nvSpPr>
          <p:cNvPr id="20" name="sc3-l"/>
          <p:cNvSpPr txBox="1"/>
          <p:nvPr/>
        </p:nvSpPr>
        <p:spPr>
          <a:xfrm>
            <a:off x="9052560" y="4809744"/>
            <a:ext cx="2560320" cy="219456"/>
          </a:xfrm>
          <a:prstGeom prst="rect">
            <a:avLst/>
          </a:prstGeom>
          <a:noFill/>
          <a:ln/>
        </p:spPr>
        <p:txBody>
          <a:bodyPr wrap="square" lIns="0" tIns="0" rIns="0" bIns="0" rtlCol="0" anchor="ctr"/>
          <a:lstStyle/>
          <a:p>
            <a:pPr marL="0" indent="0">
              <a:buNone/>
            </a:pPr>
            <a:r>
              <a:rPr lang="en-US" sz="950" b="1" kern="0" spc="100" dirty="0">
                <a:solidFill>
                  <a:srgbClr val="767676"/>
                </a:solidFill>
                <a:latin typeface="Arial" pitchFamily="34" charset="0"/>
                <a:ea typeface="Arial" pitchFamily="34" charset="-122"/>
                <a:cs typeface="Arial" pitchFamily="34" charset="-120"/>
              </a:rPr>
              <a:t>TOTAL COST</a:t>
            </a:r>
            <a:endParaRPr lang="en-US" sz="950" dirty="0"/>
          </a:p>
        </p:txBody>
      </p:sp>
      <p:sp>
        <p:nvSpPr>
          <p:cNvPr id="21" name="sc3-v"/>
          <p:cNvSpPr txBox="1"/>
          <p:nvPr/>
        </p:nvSpPr>
        <p:spPr>
          <a:xfrm>
            <a:off x="9052560" y="5047488"/>
            <a:ext cx="2560320" cy="457200"/>
          </a:xfrm>
          <a:prstGeom prst="rect">
            <a:avLst/>
          </a:prstGeom>
          <a:noFill/>
          <a:ln/>
        </p:spPr>
        <p:txBody>
          <a:bodyPr wrap="square" lIns="0" tIns="0" rIns="0" bIns="0" rtlCol="0" anchor="ctr"/>
          <a:lstStyle/>
          <a:p>
            <a:pPr marL="0" indent="0">
              <a:buNone/>
            </a:pPr>
            <a:r>
              <a:rPr lang="en-US" sz="2400" b="1" dirty="0">
                <a:solidFill>
                  <a:srgbClr val="E90802"/>
                </a:solidFill>
              </a:rPr>
              <a:t>$0</a:t>
            </a:r>
            <a:endParaRPr lang="en-US" sz="2400" dirty="0"/>
          </a:p>
        </p:txBody>
      </p:sp>
      <p:sp>
        <p:nvSpPr>
          <p:cNvPr id="22" name="sc3-f"/>
          <p:cNvSpPr txBox="1"/>
          <p:nvPr/>
        </p:nvSpPr>
        <p:spPr>
          <a:xfrm>
            <a:off x="9052560" y="5532120"/>
            <a:ext cx="2560320" cy="420624"/>
          </a:xfrm>
          <a:prstGeom prst="rect">
            <a:avLst/>
          </a:prstGeom>
          <a:noFill/>
          <a:ln/>
        </p:spPr>
        <p:txBody>
          <a:bodyPr wrap="square" lIns="0" tIns="0" rIns="0" bIns="0" rtlCol="0" anchor="ctr"/>
          <a:lstStyle/>
          <a:p>
            <a:pPr marL="0" indent="0">
              <a:lnSpc>
                <a:spcPct val="110000"/>
              </a:lnSpc>
              <a:buNone/>
            </a:pPr>
            <a:r>
              <a:rPr lang="en-US" sz="1050" dirty="0">
                <a:solidFill>
                  <a:srgbClr val="767676"/>
                </a:solidFill>
                <a:latin typeface="Arial" pitchFamily="34" charset="0"/>
                <a:ea typeface="Arial" pitchFamily="34" charset="-122"/>
                <a:cs typeface="Arial" pitchFamily="34" charset="-120"/>
              </a:rPr>
              <a:t>4 GB VRAM GPU and Colab T4</a:t>
            </a:r>
            <a:endParaRPr lang="en-US" sz="1050" dirty="0"/>
          </a:p>
        </p:txBody>
      </p:sp>
      <p:sp>
        <p:nvSpPr>
          <p:cNvPr id="23" name="note"/>
          <p:cNvSpPr txBox="1"/>
          <p:nvPr/>
        </p:nvSpPr>
        <p:spPr>
          <a:xfrm>
            <a:off x="548640" y="6327648"/>
            <a:ext cx="10607040" cy="274320"/>
          </a:xfrm>
          <a:prstGeom prst="rect">
            <a:avLst/>
          </a:prstGeom>
          <a:noFill/>
          <a:ln/>
        </p:spPr>
        <p:txBody>
          <a:bodyPr wrap="square" lIns="0" tIns="0" rIns="0" bIns="0" rtlCol="0" anchor="ctr"/>
          <a:lstStyle/>
          <a:p>
            <a:pPr marL="0" indent="0">
              <a:buNone/>
            </a:pPr>
            <a:r>
              <a:rPr lang="en-US" sz="950" dirty="0">
                <a:solidFill>
                  <a:srgbClr val="767676"/>
                </a:solidFill>
                <a:latin typeface="Arial" pitchFamily="34" charset="0"/>
                <a:ea typeface="Arial" pitchFamily="34" charset="-122"/>
                <a:cs typeface="Arial" pitchFamily="34" charset="-120"/>
              </a:rPr>
              <a:t>Reference facts are written from authoritative sources and deliberately not derived from the answer being evaluated.</a:t>
            </a:r>
            <a:endParaRPr lang="en-US" sz="950" dirty="0"/>
          </a:p>
        </p:txBody>
      </p:sp>
      <p:sp>
        <p:nvSpPr>
          <p:cNvPr id="25" name="Slide Number Placeholder 0"/>
          <p:cNvSpPr>
            <a:spLocks noGrp="1"/>
          </p:cNvSpPr>
          <p:nvPr>
            <p:ph type="sldNum" sz="quarter" idx="4294967295"/>
          </p:nvPr>
        </p:nvSpPr>
        <p:spPr>
          <a:xfrm>
            <a:off x="11338560" y="6327648"/>
            <a:ext cx="365760" cy="256032"/>
          </a:xfrm>
          <a:prstGeom prst="rect">
            <a:avLst/>
          </a:prstGeom>
          <a:extLst>
            <a:ext uri="{C572A759-6A51-4108-AA02-DFA0A04FC94B}">
              <ma14:wrappingTextBoxFlag xmlns:ma14="http://schemas.microsoft.com/office/mac/drawingml/2011/main" xmlns="" val="0"/>
            </a:ext>
          </a:extLst>
        </p:spPr>
        <p:txBody>
          <a:bodyPr/>
          <a:lstStyle>
            <a:lvl1pPr>
              <a:defRPr sz="900">
                <a:solidFill>
                  <a:srgbClr val="767676"/>
                </a:solidFill>
              </a:defRPr>
            </a:lvl1pPr>
          </a:lstStyle>
          <a:p>
            <a:pPr algn="r"/>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eyebrow"/>
          <p:cNvSpPr txBox="1"/>
          <p:nvPr/>
        </p:nvSpPr>
        <p:spPr>
          <a:xfrm>
            <a:off x="548640" y="347472"/>
            <a:ext cx="11064240" cy="237744"/>
          </a:xfrm>
          <a:prstGeom prst="rect">
            <a:avLst/>
          </a:prstGeom>
          <a:noFill/>
          <a:ln/>
        </p:spPr>
        <p:txBody>
          <a:bodyPr wrap="square" lIns="0" tIns="0" rIns="0" bIns="0" rtlCol="0" anchor="ctr"/>
          <a:lstStyle/>
          <a:p>
            <a:pPr marL="0" indent="0">
              <a:buNone/>
            </a:pPr>
            <a:r>
              <a:rPr lang="en-US" sz="1000" b="1" kern="0" spc="200" dirty="0">
                <a:solidFill>
                  <a:srgbClr val="E90802"/>
                </a:solidFill>
                <a:latin typeface="Arial" pitchFamily="34" charset="0"/>
                <a:ea typeface="Arial" pitchFamily="34" charset="-122"/>
                <a:cs typeface="Arial" pitchFamily="34" charset="-120"/>
              </a:rPr>
              <a:t>RECREATING THE RESULTS  ·  2 OF 5</a:t>
            </a:r>
            <a:endParaRPr lang="en-US" sz="1000" dirty="0"/>
          </a:p>
        </p:txBody>
      </p:sp>
      <p:sp>
        <p:nvSpPr>
          <p:cNvPr id="3" name="title"/>
          <p:cNvSpPr txBox="1"/>
          <p:nvPr/>
        </p:nvSpPr>
        <p:spPr>
          <a:xfrm>
            <a:off x="548640" y="621792"/>
            <a:ext cx="11064240" cy="548640"/>
          </a:xfrm>
          <a:prstGeom prst="rect">
            <a:avLst/>
          </a:prstGeom>
          <a:noFill/>
          <a:ln/>
        </p:spPr>
        <p:txBody>
          <a:bodyPr wrap="square" lIns="0" tIns="0" rIns="0" bIns="0" rtlCol="0" anchor="ctr"/>
          <a:lstStyle/>
          <a:p>
            <a:pPr marL="0" indent="0">
              <a:buNone/>
            </a:pPr>
            <a:r>
              <a:rPr lang="en-US" sz="2700" b="1" dirty="0">
                <a:solidFill>
                  <a:srgbClr val="1A1A1A"/>
                </a:solidFill>
              </a:rPr>
              <a:t>Generating the baseline</a:t>
            </a:r>
            <a:endParaRPr lang="en-US" sz="2700" dirty="0"/>
          </a:p>
        </p:txBody>
      </p:sp>
      <p:sp>
        <p:nvSpPr>
          <p:cNvPr id="4" name="subtitle"/>
          <p:cNvSpPr txBox="1"/>
          <p:nvPr/>
        </p:nvSpPr>
        <p:spPr>
          <a:xfrm>
            <a:off x="548640" y="1188720"/>
            <a:ext cx="11064240" cy="256032"/>
          </a:xfrm>
          <a:prstGeom prst="rect">
            <a:avLst/>
          </a:prstGeom>
          <a:noFill/>
          <a:ln/>
        </p:spPr>
        <p:txBody>
          <a:bodyPr wrap="square" lIns="0" tIns="0" rIns="0" bIns="0" rtlCol="0" anchor="ctr"/>
          <a:lstStyle/>
          <a:p>
            <a:pPr marL="0" indent="0">
              <a:buNone/>
            </a:pPr>
            <a:r>
              <a:rPr lang="en-US" sz="1350" dirty="0">
                <a:solidFill>
                  <a:srgbClr val="767676"/>
                </a:solidFill>
                <a:latin typeface="Arial" pitchFamily="34" charset="0"/>
                <a:ea typeface="Arial" pitchFamily="34" charset="-122"/>
                <a:cs typeface="Arial" pitchFamily="34" charset="-120"/>
              </a:rPr>
              <a:t>One answer set, scored two ways, so only refinement differs</a:t>
            </a:r>
            <a:endParaRPr lang="en-US" sz="1350" dirty="0"/>
          </a:p>
        </p:txBody>
      </p:sp>
      <p:sp>
        <p:nvSpPr>
          <p:cNvPr id="5" name="head-rule"/>
          <p:cNvSpPr/>
          <p:nvPr/>
        </p:nvSpPr>
        <p:spPr>
          <a:xfrm>
            <a:off x="548640" y="1499616"/>
            <a:ext cx="11064240" cy="10973"/>
          </a:xfrm>
          <a:prstGeom prst="rect">
            <a:avLst/>
          </a:prstGeom>
          <a:solidFill>
            <a:srgbClr val="DCDCDC"/>
          </a:solidFill>
          <a:ln w="3175">
            <a:solidFill>
              <a:srgbClr val="DCDCDC"/>
            </a:solidFill>
            <a:prstDash val="solid"/>
          </a:ln>
        </p:spPr>
        <p:txBody>
          <a:bodyPr/>
          <a:lstStyle/>
          <a:p>
            <a:endParaRPr lang="en-IN"/>
          </a:p>
        </p:txBody>
      </p:sp>
      <p:sp>
        <p:nvSpPr>
          <p:cNvPr id="6" name="gen-box"/>
          <p:cNvSpPr/>
          <p:nvPr/>
        </p:nvSpPr>
        <p:spPr>
          <a:xfrm>
            <a:off x="2377440" y="1600200"/>
            <a:ext cx="7406640" cy="457200"/>
          </a:xfrm>
          <a:prstGeom prst="roundRect">
            <a:avLst>
              <a:gd name="adj" fmla="val 50000"/>
            </a:avLst>
          </a:prstGeom>
          <a:solidFill>
            <a:srgbClr val="FFFFFF"/>
          </a:solidFill>
          <a:ln w="12700">
            <a:solidFill>
              <a:srgbClr val="E90802"/>
            </a:solidFill>
            <a:prstDash val="solid"/>
          </a:ln>
        </p:spPr>
        <p:txBody>
          <a:bodyPr/>
          <a:lstStyle/>
          <a:p>
            <a:endParaRPr lang="en-IN"/>
          </a:p>
        </p:txBody>
      </p:sp>
      <p:sp>
        <p:nvSpPr>
          <p:cNvPr id="7" name="gen-text"/>
          <p:cNvSpPr txBox="1"/>
          <p:nvPr/>
        </p:nvSpPr>
        <p:spPr>
          <a:xfrm>
            <a:off x="2377440" y="1600200"/>
            <a:ext cx="7406640" cy="457200"/>
          </a:xfrm>
          <a:prstGeom prst="rect">
            <a:avLst/>
          </a:prstGeom>
          <a:noFill/>
          <a:ln/>
        </p:spPr>
        <p:txBody>
          <a:bodyPr wrap="square" lIns="0" tIns="0" rIns="0" bIns="0" rtlCol="0" anchor="ctr"/>
          <a:lstStyle/>
          <a:p>
            <a:pPr marL="0" indent="0" algn="ctr">
              <a:buNone/>
            </a:pPr>
            <a:r>
              <a:rPr lang="en-US" sz="1300" b="1" dirty="0">
                <a:solidFill>
                  <a:srgbClr val="E90802"/>
                </a:solidFill>
                <a:latin typeface="Arial" pitchFamily="34" charset="0"/>
                <a:ea typeface="Arial" pitchFamily="34" charset="-122"/>
                <a:cs typeface="Arial" pitchFamily="34" charset="-120"/>
              </a:rPr>
              <a:t>Question → local LLM generates the answer ONCE → reused by every run</a:t>
            </a:r>
            <a:endParaRPr lang="en-US" sz="1300" dirty="0"/>
          </a:p>
        </p:txBody>
      </p:sp>
      <p:sp>
        <p:nvSpPr>
          <p:cNvPr id="8" name="base"/>
          <p:cNvSpPr/>
          <p:nvPr/>
        </p:nvSpPr>
        <p:spPr>
          <a:xfrm>
            <a:off x="548640" y="2286000"/>
            <a:ext cx="5394960" cy="1371600"/>
          </a:xfrm>
          <a:prstGeom prst="rect">
            <a:avLst/>
          </a:prstGeom>
          <a:solidFill>
            <a:srgbClr val="FFFFFF"/>
          </a:solidFill>
          <a:ln w="9525">
            <a:solidFill>
              <a:srgbClr val="DCDCDC"/>
            </a:solidFill>
            <a:prstDash val="solid"/>
          </a:ln>
        </p:spPr>
        <p:txBody>
          <a:bodyPr/>
          <a:lstStyle/>
          <a:p>
            <a:endParaRPr lang="en-IN"/>
          </a:p>
        </p:txBody>
      </p:sp>
      <p:sp>
        <p:nvSpPr>
          <p:cNvPr id="9" name="base-h"/>
          <p:cNvSpPr txBox="1"/>
          <p:nvPr/>
        </p:nvSpPr>
        <p:spPr>
          <a:xfrm>
            <a:off x="804672" y="2487168"/>
            <a:ext cx="4882896" cy="292608"/>
          </a:xfrm>
          <a:prstGeom prst="rect">
            <a:avLst/>
          </a:prstGeom>
          <a:noFill/>
          <a:ln/>
        </p:spPr>
        <p:txBody>
          <a:bodyPr wrap="square" lIns="0" tIns="0" rIns="0" bIns="0" rtlCol="0" anchor="ctr"/>
          <a:lstStyle/>
          <a:p>
            <a:pPr marL="0" indent="0">
              <a:buNone/>
            </a:pPr>
            <a:r>
              <a:rPr lang="en-US" sz="1450" b="1" dirty="0">
                <a:solidFill>
                  <a:srgbClr val="1A1A1A"/>
                </a:solidFill>
              </a:rPr>
              <a:t>Baseline — no refinement</a:t>
            </a:r>
            <a:endParaRPr lang="en-US" sz="1450" dirty="0"/>
          </a:p>
        </p:txBody>
      </p:sp>
      <p:sp>
        <p:nvSpPr>
          <p:cNvPr id="10" name="base-b"/>
          <p:cNvSpPr txBox="1"/>
          <p:nvPr/>
        </p:nvSpPr>
        <p:spPr>
          <a:xfrm>
            <a:off x="804672" y="2889504"/>
            <a:ext cx="4882896" cy="603504"/>
          </a:xfrm>
          <a:prstGeom prst="rect">
            <a:avLst/>
          </a:prstGeom>
          <a:noFill/>
          <a:ln/>
        </p:spPr>
        <p:txBody>
          <a:bodyPr wrap="square" lIns="0" tIns="0" rIns="0" bIns="0" rtlCol="0" anchor="t"/>
          <a:lstStyle/>
          <a:p>
            <a:pPr marL="0" indent="0">
              <a:lnSpc>
                <a:spcPct val="125000"/>
              </a:lnSpc>
              <a:buNone/>
            </a:pPr>
            <a:r>
              <a:rPr lang="en-US" sz="1300" dirty="0">
                <a:solidFill>
                  <a:srgbClr val="444444"/>
                </a:solidFill>
                <a:latin typeface="Arial" pitchFamily="34" charset="0"/>
                <a:ea typeface="Arial" pitchFamily="34" charset="-122"/>
                <a:cs typeface="Arial" pitchFamily="34" charset="-120"/>
              </a:rPr>
              <a:t>SAFE-style extraction  →  retrieval and verification</a:t>
            </a:r>
            <a:endParaRPr lang="en-US" sz="1300" dirty="0"/>
          </a:p>
        </p:txBody>
      </p:sp>
      <p:sp>
        <p:nvSpPr>
          <p:cNvPr id="11" name="vfl"/>
          <p:cNvSpPr/>
          <p:nvPr/>
        </p:nvSpPr>
        <p:spPr>
          <a:xfrm>
            <a:off x="6217920" y="2286000"/>
            <a:ext cx="5394960" cy="1371600"/>
          </a:xfrm>
          <a:prstGeom prst="rect">
            <a:avLst/>
          </a:prstGeom>
          <a:solidFill>
            <a:srgbClr val="FFFFFF"/>
          </a:solidFill>
          <a:ln w="9525">
            <a:solidFill>
              <a:srgbClr val="DCDCDC"/>
            </a:solidFill>
            <a:prstDash val="solid"/>
          </a:ln>
        </p:spPr>
        <p:txBody>
          <a:bodyPr/>
          <a:lstStyle/>
          <a:p>
            <a:endParaRPr lang="en-IN"/>
          </a:p>
        </p:txBody>
      </p:sp>
      <p:sp>
        <p:nvSpPr>
          <p:cNvPr id="12" name="vfl-edge"/>
          <p:cNvSpPr/>
          <p:nvPr/>
        </p:nvSpPr>
        <p:spPr>
          <a:xfrm>
            <a:off x="6217920" y="2286000"/>
            <a:ext cx="29261" cy="1371600"/>
          </a:xfrm>
          <a:prstGeom prst="rect">
            <a:avLst/>
          </a:prstGeom>
          <a:solidFill>
            <a:srgbClr val="E90802"/>
          </a:solidFill>
          <a:ln w="3175">
            <a:solidFill>
              <a:srgbClr val="E90802"/>
            </a:solidFill>
            <a:prstDash val="solid"/>
          </a:ln>
        </p:spPr>
        <p:txBody>
          <a:bodyPr/>
          <a:lstStyle/>
          <a:p>
            <a:endParaRPr lang="en-IN"/>
          </a:p>
        </p:txBody>
      </p:sp>
      <p:sp>
        <p:nvSpPr>
          <p:cNvPr id="13" name="vfl-h"/>
          <p:cNvSpPr txBox="1"/>
          <p:nvPr/>
        </p:nvSpPr>
        <p:spPr>
          <a:xfrm>
            <a:off x="6473952" y="2487168"/>
            <a:ext cx="4882896" cy="292608"/>
          </a:xfrm>
          <a:prstGeom prst="rect">
            <a:avLst/>
          </a:prstGeom>
          <a:noFill/>
          <a:ln/>
        </p:spPr>
        <p:txBody>
          <a:bodyPr wrap="square" lIns="0" tIns="0" rIns="0" bIns="0" rtlCol="0" anchor="ctr"/>
          <a:lstStyle/>
          <a:p>
            <a:pPr marL="0" indent="0">
              <a:buNone/>
            </a:pPr>
            <a:r>
              <a:rPr lang="en-US" sz="1450" b="1" dirty="0">
                <a:solidFill>
                  <a:srgbClr val="E90802"/>
                </a:solidFill>
              </a:rPr>
              <a:t>Reimplemented Model — with refinement</a:t>
            </a:r>
            <a:endParaRPr lang="en-US" sz="1450" dirty="0"/>
          </a:p>
        </p:txBody>
      </p:sp>
      <p:sp>
        <p:nvSpPr>
          <p:cNvPr id="14" name="vfl-b"/>
          <p:cNvSpPr txBox="1"/>
          <p:nvPr/>
        </p:nvSpPr>
        <p:spPr>
          <a:xfrm>
            <a:off x="6473952" y="2889504"/>
            <a:ext cx="4882896" cy="603504"/>
          </a:xfrm>
          <a:prstGeom prst="rect">
            <a:avLst/>
          </a:prstGeom>
          <a:noFill/>
          <a:ln/>
        </p:spPr>
        <p:txBody>
          <a:bodyPr wrap="square" lIns="0" tIns="0" rIns="0" bIns="0" rtlCol="0" anchor="t"/>
          <a:lstStyle/>
          <a:p>
            <a:pPr marL="0" indent="0">
              <a:lnSpc>
                <a:spcPct val="125000"/>
              </a:lnSpc>
              <a:buNone/>
            </a:pPr>
            <a:r>
              <a:rPr lang="en-US" sz="1300" dirty="0">
                <a:solidFill>
                  <a:srgbClr val="444444"/>
                </a:solidFill>
                <a:latin typeface="Arial" pitchFamily="34" charset="0"/>
                <a:ea typeface="Arial" pitchFamily="34" charset="-122"/>
                <a:cs typeface="Arial" pitchFamily="34" charset="-120"/>
              </a:rPr>
              <a:t>The same facts  →  detect  →  refine and add  →  the same retrieval and verification</a:t>
            </a:r>
            <a:endParaRPr lang="en-US" sz="1300" dirty="0"/>
          </a:p>
        </p:txBody>
      </p:sp>
      <p:sp>
        <p:nvSpPr>
          <p:cNvPr id="15" name="met0"/>
          <p:cNvSpPr/>
          <p:nvPr/>
        </p:nvSpPr>
        <p:spPr>
          <a:xfrm>
            <a:off x="548640" y="3840480"/>
            <a:ext cx="3505200" cy="1920240"/>
          </a:xfrm>
          <a:prstGeom prst="rect">
            <a:avLst/>
          </a:prstGeom>
          <a:solidFill>
            <a:srgbClr val="F4F4F4"/>
          </a:solidFill>
          <a:ln w="9525">
            <a:solidFill>
              <a:srgbClr val="F4F4F4"/>
            </a:solidFill>
            <a:prstDash val="solid"/>
          </a:ln>
        </p:spPr>
        <p:txBody>
          <a:bodyPr/>
          <a:lstStyle/>
          <a:p>
            <a:endParaRPr lang="en-IN"/>
          </a:p>
        </p:txBody>
      </p:sp>
      <p:sp>
        <p:nvSpPr>
          <p:cNvPr id="16" name="met0-h"/>
          <p:cNvSpPr txBox="1"/>
          <p:nvPr/>
        </p:nvSpPr>
        <p:spPr>
          <a:xfrm>
            <a:off x="804672" y="4041648"/>
            <a:ext cx="2993136" cy="292608"/>
          </a:xfrm>
          <a:prstGeom prst="rect">
            <a:avLst/>
          </a:prstGeom>
          <a:noFill/>
          <a:ln/>
        </p:spPr>
        <p:txBody>
          <a:bodyPr wrap="square" lIns="0" tIns="0" rIns="0" bIns="0" rtlCol="0" anchor="ctr"/>
          <a:lstStyle/>
          <a:p>
            <a:pPr marL="0" indent="0">
              <a:buNone/>
            </a:pPr>
            <a:r>
              <a:rPr lang="en-US" sz="1450" b="1" dirty="0">
                <a:solidFill>
                  <a:srgbClr val="1A1A1A"/>
                </a:solidFill>
              </a:rPr>
              <a:t>Precision</a:t>
            </a:r>
            <a:endParaRPr lang="en-US" sz="1450" dirty="0"/>
          </a:p>
        </p:txBody>
      </p:sp>
      <p:sp>
        <p:nvSpPr>
          <p:cNvPr id="17" name="met0-b"/>
          <p:cNvSpPr txBox="1"/>
          <p:nvPr/>
        </p:nvSpPr>
        <p:spPr>
          <a:xfrm>
            <a:off x="804672" y="4443984"/>
            <a:ext cx="2993136" cy="1152144"/>
          </a:xfrm>
          <a:prstGeom prst="rect">
            <a:avLst/>
          </a:prstGeom>
          <a:noFill/>
          <a:ln/>
        </p:spPr>
        <p:txBody>
          <a:bodyPr wrap="square" lIns="0" tIns="0" rIns="0" bIns="0" rtlCol="0" anchor="t"/>
          <a:lstStyle/>
          <a:p>
            <a:pPr marL="0" indent="0">
              <a:lnSpc>
                <a:spcPct val="125000"/>
              </a:lnSpc>
              <a:buNone/>
            </a:pPr>
            <a:r>
              <a:rPr lang="en-US" sz="1200" dirty="0">
                <a:solidFill>
                  <a:srgbClr val="444444"/>
                </a:solidFill>
                <a:latin typeface="Arial" pitchFamily="34" charset="0"/>
                <a:ea typeface="Arial" pitchFamily="34" charset="-122"/>
                <a:cs typeface="Arial" pitchFamily="34" charset="-120"/>
              </a:rPr>
              <a:t>Supported facts ÷ all extracted facts. Undecided is reported separately and never counted as support.</a:t>
            </a:r>
            <a:endParaRPr lang="en-US" sz="1200" dirty="0"/>
          </a:p>
        </p:txBody>
      </p:sp>
      <p:sp>
        <p:nvSpPr>
          <p:cNvPr id="18" name="met1"/>
          <p:cNvSpPr/>
          <p:nvPr/>
        </p:nvSpPr>
        <p:spPr>
          <a:xfrm>
            <a:off x="4328160" y="3840480"/>
            <a:ext cx="3505200" cy="1920240"/>
          </a:xfrm>
          <a:prstGeom prst="rect">
            <a:avLst/>
          </a:prstGeom>
          <a:solidFill>
            <a:srgbClr val="F4F4F4"/>
          </a:solidFill>
          <a:ln w="9525">
            <a:solidFill>
              <a:srgbClr val="F4F4F4"/>
            </a:solidFill>
            <a:prstDash val="solid"/>
          </a:ln>
        </p:spPr>
        <p:txBody>
          <a:bodyPr/>
          <a:lstStyle/>
          <a:p>
            <a:endParaRPr lang="en-IN"/>
          </a:p>
        </p:txBody>
      </p:sp>
      <p:sp>
        <p:nvSpPr>
          <p:cNvPr id="19" name="met1-h"/>
          <p:cNvSpPr txBox="1"/>
          <p:nvPr/>
        </p:nvSpPr>
        <p:spPr>
          <a:xfrm>
            <a:off x="4584192" y="4041648"/>
            <a:ext cx="2993136" cy="292608"/>
          </a:xfrm>
          <a:prstGeom prst="rect">
            <a:avLst/>
          </a:prstGeom>
          <a:noFill/>
          <a:ln/>
        </p:spPr>
        <p:txBody>
          <a:bodyPr wrap="square" lIns="0" tIns="0" rIns="0" bIns="0" rtlCol="0" anchor="ctr"/>
          <a:lstStyle/>
          <a:p>
            <a:pPr marL="0" indent="0">
              <a:buNone/>
            </a:pPr>
            <a:r>
              <a:rPr lang="en-US" sz="1450" b="1" dirty="0">
                <a:solidFill>
                  <a:srgbClr val="1A1A1A"/>
                </a:solidFill>
              </a:rPr>
              <a:t>Recall</a:t>
            </a:r>
            <a:endParaRPr lang="en-US" sz="1450" dirty="0"/>
          </a:p>
        </p:txBody>
      </p:sp>
      <p:sp>
        <p:nvSpPr>
          <p:cNvPr id="20" name="met1-b"/>
          <p:cNvSpPr txBox="1"/>
          <p:nvPr/>
        </p:nvSpPr>
        <p:spPr>
          <a:xfrm>
            <a:off x="4584192" y="4443984"/>
            <a:ext cx="2993136" cy="1152144"/>
          </a:xfrm>
          <a:prstGeom prst="rect">
            <a:avLst/>
          </a:prstGeom>
          <a:noFill/>
          <a:ln/>
        </p:spPr>
        <p:txBody>
          <a:bodyPr wrap="square" lIns="0" tIns="0" rIns="0" bIns="0" rtlCol="0" anchor="t"/>
          <a:lstStyle/>
          <a:p>
            <a:pPr marL="0" indent="0">
              <a:lnSpc>
                <a:spcPct val="125000"/>
              </a:lnSpc>
              <a:buNone/>
            </a:pPr>
            <a:r>
              <a:rPr lang="en-US" sz="1200" dirty="0">
                <a:solidFill>
                  <a:srgbClr val="444444"/>
                </a:solidFill>
                <a:latin typeface="Arial" pitchFamily="34" charset="0"/>
                <a:ea typeface="Arial" pitchFamily="34" charset="-122"/>
                <a:cs typeface="Arial" pitchFamily="34" charset="-120"/>
              </a:rPr>
              <a:t>Reference facts entailed by the answer ÷ all 86 reference facts. It scores the answer, so refinement cannot move it.</a:t>
            </a:r>
            <a:endParaRPr lang="en-US" sz="1200" dirty="0"/>
          </a:p>
        </p:txBody>
      </p:sp>
      <p:sp>
        <p:nvSpPr>
          <p:cNvPr id="21" name="met2"/>
          <p:cNvSpPr/>
          <p:nvPr/>
        </p:nvSpPr>
        <p:spPr>
          <a:xfrm>
            <a:off x="8107680" y="3840480"/>
            <a:ext cx="3505200" cy="1920240"/>
          </a:xfrm>
          <a:prstGeom prst="rect">
            <a:avLst/>
          </a:prstGeom>
          <a:solidFill>
            <a:srgbClr val="F4F4F4"/>
          </a:solidFill>
          <a:ln w="9525">
            <a:solidFill>
              <a:srgbClr val="F4F4F4"/>
            </a:solidFill>
            <a:prstDash val="solid"/>
          </a:ln>
        </p:spPr>
        <p:txBody>
          <a:bodyPr/>
          <a:lstStyle/>
          <a:p>
            <a:endParaRPr lang="en-IN"/>
          </a:p>
        </p:txBody>
      </p:sp>
      <p:sp>
        <p:nvSpPr>
          <p:cNvPr id="22" name="met2-h"/>
          <p:cNvSpPr txBox="1"/>
          <p:nvPr/>
        </p:nvSpPr>
        <p:spPr>
          <a:xfrm>
            <a:off x="8363712" y="4041648"/>
            <a:ext cx="2993136" cy="292608"/>
          </a:xfrm>
          <a:prstGeom prst="rect">
            <a:avLst/>
          </a:prstGeom>
          <a:noFill/>
          <a:ln/>
        </p:spPr>
        <p:txBody>
          <a:bodyPr wrap="square" lIns="0" tIns="0" rIns="0" bIns="0" rtlCol="0" anchor="ctr"/>
          <a:lstStyle/>
          <a:p>
            <a:pPr marL="0" indent="0">
              <a:buNone/>
            </a:pPr>
            <a:r>
              <a:rPr lang="en-US" sz="1450" b="1" dirty="0">
                <a:solidFill>
                  <a:srgbClr val="1A1A1A"/>
                </a:solidFill>
              </a:rPr>
              <a:t>Incomplete rate</a:t>
            </a:r>
            <a:endParaRPr lang="en-US" sz="1450" dirty="0"/>
          </a:p>
        </p:txBody>
      </p:sp>
      <p:sp>
        <p:nvSpPr>
          <p:cNvPr id="23" name="met2-b"/>
          <p:cNvSpPr txBox="1"/>
          <p:nvPr/>
        </p:nvSpPr>
        <p:spPr>
          <a:xfrm>
            <a:off x="8363712" y="4443984"/>
            <a:ext cx="2993136" cy="1152144"/>
          </a:xfrm>
          <a:prstGeom prst="rect">
            <a:avLst/>
          </a:prstGeom>
          <a:noFill/>
          <a:ln/>
        </p:spPr>
        <p:txBody>
          <a:bodyPr wrap="square" lIns="0" tIns="0" rIns="0" bIns="0" rtlCol="0" anchor="t"/>
          <a:lstStyle/>
          <a:p>
            <a:pPr marL="0" indent="0">
              <a:lnSpc>
                <a:spcPct val="125000"/>
              </a:lnSpc>
              <a:buNone/>
            </a:pPr>
            <a:r>
              <a:rPr lang="en-US" sz="1200" dirty="0">
                <a:solidFill>
                  <a:srgbClr val="444444"/>
                </a:solidFill>
                <a:latin typeface="Arial" pitchFamily="34" charset="0"/>
                <a:ea typeface="Arial" pitchFamily="34" charset="-122"/>
                <a:cs typeface="Arial" pitchFamily="34" charset="-120"/>
              </a:rPr>
              <a:t>Measured by one designated judge while refinement is driven by the ensemble — facts are never scored by the rule that selected them.</a:t>
            </a:r>
            <a:endParaRPr lang="en-US" sz="1200" dirty="0"/>
          </a:p>
        </p:txBody>
      </p:sp>
      <p:sp>
        <p:nvSpPr>
          <p:cNvPr id="24" name="note"/>
          <p:cNvSpPr txBox="1"/>
          <p:nvPr/>
        </p:nvSpPr>
        <p:spPr>
          <a:xfrm>
            <a:off x="548640" y="6291072"/>
            <a:ext cx="10607040" cy="274320"/>
          </a:xfrm>
          <a:prstGeom prst="rect">
            <a:avLst/>
          </a:prstGeom>
          <a:noFill/>
          <a:ln/>
        </p:spPr>
        <p:txBody>
          <a:bodyPr wrap="square" lIns="0" tIns="0" rIns="0" bIns="0" rtlCol="0" anchor="ctr"/>
          <a:lstStyle/>
          <a:p>
            <a:pPr marL="0" indent="0">
              <a:buNone/>
            </a:pPr>
            <a:r>
              <a:rPr lang="en-US" sz="950" dirty="0">
                <a:solidFill>
                  <a:srgbClr val="767676"/>
                </a:solidFill>
                <a:latin typeface="Arial" pitchFamily="34" charset="0"/>
                <a:ea typeface="Arial" pitchFamily="34" charset="-122"/>
                <a:cs typeface="Arial" pitchFamily="34" charset="-120"/>
              </a:rPr>
              <a:t>Verification is grounded: a SUPPORTED or CONTRADICTED verdict without a verbatim quote from the evidence is downgraded to UNDECIDED.</a:t>
            </a:r>
            <a:endParaRPr lang="en-US" sz="950" dirty="0"/>
          </a:p>
        </p:txBody>
      </p:sp>
      <p:sp>
        <p:nvSpPr>
          <p:cNvPr id="25" name="Slide Number Placeholder 0"/>
          <p:cNvSpPr>
            <a:spLocks noGrp="1"/>
          </p:cNvSpPr>
          <p:nvPr>
            <p:ph type="sldNum" sz="quarter" idx="4294967295"/>
          </p:nvPr>
        </p:nvSpPr>
        <p:spPr>
          <a:xfrm>
            <a:off x="11338560" y="6327648"/>
            <a:ext cx="365760" cy="256032"/>
          </a:xfrm>
          <a:prstGeom prst="rect">
            <a:avLst/>
          </a:prstGeom>
          <a:extLst>
            <a:ext uri="{C572A759-6A51-4108-AA02-DFA0A04FC94B}">
              <ma14:wrappingTextBoxFlag xmlns:ma14="http://schemas.microsoft.com/office/mac/drawingml/2011/main" xmlns="" val="0"/>
            </a:ext>
          </a:extLst>
        </p:spPr>
        <p:txBody>
          <a:bodyPr/>
          <a:lstStyle>
            <a:lvl1pPr>
              <a:defRPr sz="900">
                <a:solidFill>
                  <a:srgbClr val="767676"/>
                </a:solidFill>
              </a:defRPr>
            </a:lvl1pPr>
          </a:lstStyle>
          <a:p>
            <a:pPr algn="r"/>
            <a:fld id="{F7021451-1387-4CA6-816F-3879F97B5CBC}" type="slidenum">
              <a:rPr lang="en-US" b="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eyebrow"/>
          <p:cNvSpPr txBox="1"/>
          <p:nvPr/>
        </p:nvSpPr>
        <p:spPr>
          <a:xfrm>
            <a:off x="548640" y="347472"/>
            <a:ext cx="11064240" cy="237744"/>
          </a:xfrm>
          <a:prstGeom prst="rect">
            <a:avLst/>
          </a:prstGeom>
          <a:noFill/>
          <a:ln/>
        </p:spPr>
        <p:txBody>
          <a:bodyPr wrap="square" lIns="0" tIns="0" rIns="0" bIns="0" rtlCol="0" anchor="ctr"/>
          <a:lstStyle/>
          <a:p>
            <a:pPr marL="0" indent="0">
              <a:buNone/>
            </a:pPr>
            <a:r>
              <a:rPr lang="en-US" sz="1000" b="1" kern="0" spc="200" dirty="0">
                <a:solidFill>
                  <a:srgbClr val="E90802"/>
                </a:solidFill>
                <a:latin typeface="Arial" pitchFamily="34" charset="0"/>
                <a:ea typeface="Arial" pitchFamily="34" charset="-122"/>
                <a:cs typeface="Arial" pitchFamily="34" charset="-120"/>
              </a:rPr>
              <a:t>RECREATING THE RESULTS  ·  3 OF 5</a:t>
            </a:r>
            <a:endParaRPr lang="en-US" sz="1000" dirty="0"/>
          </a:p>
        </p:txBody>
      </p:sp>
      <p:sp>
        <p:nvSpPr>
          <p:cNvPr id="3" name="title"/>
          <p:cNvSpPr txBox="1"/>
          <p:nvPr/>
        </p:nvSpPr>
        <p:spPr>
          <a:xfrm>
            <a:off x="548640" y="621792"/>
            <a:ext cx="11064240" cy="548640"/>
          </a:xfrm>
          <a:prstGeom prst="rect">
            <a:avLst/>
          </a:prstGeom>
          <a:noFill/>
          <a:ln/>
        </p:spPr>
        <p:txBody>
          <a:bodyPr wrap="square" lIns="0" tIns="0" rIns="0" bIns="0" rtlCol="0" anchor="ctr"/>
          <a:lstStyle/>
          <a:p>
            <a:pPr marL="0" indent="0">
              <a:buNone/>
            </a:pPr>
            <a:r>
              <a:rPr lang="en-US" sz="2700" b="1" dirty="0">
                <a:solidFill>
                  <a:srgbClr val="1A1A1A"/>
                </a:solidFill>
              </a:rPr>
              <a:t>Extraction improves. Precision falls.</a:t>
            </a:r>
            <a:endParaRPr lang="en-US" sz="2700" dirty="0"/>
          </a:p>
        </p:txBody>
      </p:sp>
      <p:sp>
        <p:nvSpPr>
          <p:cNvPr id="4" name="subtitle"/>
          <p:cNvSpPr txBox="1"/>
          <p:nvPr/>
        </p:nvSpPr>
        <p:spPr>
          <a:xfrm>
            <a:off x="548640" y="1188720"/>
            <a:ext cx="11064240" cy="256032"/>
          </a:xfrm>
          <a:prstGeom prst="rect">
            <a:avLst/>
          </a:prstGeom>
          <a:noFill/>
          <a:ln/>
        </p:spPr>
        <p:txBody>
          <a:bodyPr wrap="square" lIns="0" tIns="0" rIns="0" bIns="0" rtlCol="0" anchor="ctr"/>
          <a:lstStyle/>
          <a:p>
            <a:pPr marL="0" indent="0">
              <a:buNone/>
            </a:pPr>
            <a:r>
              <a:rPr lang="en-US" sz="1350" dirty="0">
                <a:solidFill>
                  <a:srgbClr val="767676"/>
                </a:solidFill>
                <a:latin typeface="Arial" pitchFamily="34" charset="0"/>
                <a:ea typeface="Arial" pitchFamily="34" charset="-122"/>
                <a:cs typeface="Arial" pitchFamily="34" charset="-120"/>
              </a:rPr>
              <a:t>Baseline against </a:t>
            </a:r>
            <a:r>
              <a:rPr lang="en-US" sz="1350" dirty="0" err="1">
                <a:solidFill>
                  <a:srgbClr val="767676"/>
                </a:solidFill>
                <a:latin typeface="Arial" pitchFamily="34" charset="0"/>
                <a:ea typeface="Arial" pitchFamily="34" charset="-122"/>
                <a:cs typeface="Arial" pitchFamily="34" charset="-120"/>
              </a:rPr>
              <a:t>Reimplemetation</a:t>
            </a:r>
            <a:r>
              <a:rPr lang="en-US" sz="1350" dirty="0">
                <a:solidFill>
                  <a:srgbClr val="767676"/>
                </a:solidFill>
                <a:latin typeface="Arial" pitchFamily="34" charset="0"/>
                <a:ea typeface="Arial" pitchFamily="34" charset="-122"/>
                <a:cs typeface="Arial" pitchFamily="34" charset="-120"/>
              </a:rPr>
              <a:t>, laptop run, Qwen2.5-3B judges</a:t>
            </a:r>
            <a:endParaRPr lang="en-US" sz="1350" dirty="0"/>
          </a:p>
        </p:txBody>
      </p:sp>
      <p:sp>
        <p:nvSpPr>
          <p:cNvPr id="5" name="head-rule"/>
          <p:cNvSpPr/>
          <p:nvPr/>
        </p:nvSpPr>
        <p:spPr>
          <a:xfrm>
            <a:off x="548640" y="1499616"/>
            <a:ext cx="11064240" cy="10973"/>
          </a:xfrm>
          <a:prstGeom prst="rect">
            <a:avLst/>
          </a:prstGeom>
          <a:solidFill>
            <a:srgbClr val="DCDCDC"/>
          </a:solidFill>
          <a:ln w="3175">
            <a:solidFill>
              <a:srgbClr val="DCDCDC"/>
            </a:solidFill>
            <a:prstDash val="solid"/>
          </a:ln>
        </p:spPr>
        <p:txBody>
          <a:bodyPr/>
          <a:lstStyle/>
          <a:p>
            <a:endParaRPr lang="en-IN"/>
          </a:p>
        </p:txBody>
      </p:sp>
      <p:sp>
        <p:nvSpPr>
          <p:cNvPr id="6" name="h0-rule"/>
          <p:cNvSpPr/>
          <p:nvPr/>
        </p:nvSpPr>
        <p:spPr>
          <a:xfrm>
            <a:off x="548640" y="1600200"/>
            <a:ext cx="2560320" cy="25603"/>
          </a:xfrm>
          <a:prstGeom prst="rect">
            <a:avLst/>
          </a:prstGeom>
          <a:solidFill>
            <a:schemeClr val="tx1"/>
          </a:solidFill>
          <a:ln w="3175">
            <a:solidFill>
              <a:schemeClr val="tx1"/>
            </a:solidFill>
            <a:prstDash val="solid"/>
          </a:ln>
        </p:spPr>
        <p:txBody>
          <a:bodyPr/>
          <a:lstStyle/>
          <a:p>
            <a:endParaRPr lang="en-IN"/>
          </a:p>
        </p:txBody>
      </p:sp>
      <p:sp>
        <p:nvSpPr>
          <p:cNvPr id="7" name="h0-l"/>
          <p:cNvSpPr txBox="1"/>
          <p:nvPr/>
        </p:nvSpPr>
        <p:spPr>
          <a:xfrm>
            <a:off x="548640" y="1746504"/>
            <a:ext cx="2560320" cy="219456"/>
          </a:xfrm>
          <a:prstGeom prst="rect">
            <a:avLst/>
          </a:prstGeom>
          <a:noFill/>
          <a:ln/>
        </p:spPr>
        <p:txBody>
          <a:bodyPr wrap="square" lIns="0" tIns="0" rIns="0" bIns="0" rtlCol="0" anchor="ctr"/>
          <a:lstStyle/>
          <a:p>
            <a:pPr marL="0" indent="0">
              <a:buNone/>
            </a:pPr>
            <a:r>
              <a:rPr lang="en-US" sz="950" b="1" kern="0" spc="100" dirty="0">
                <a:solidFill>
                  <a:srgbClr val="767676"/>
                </a:solidFill>
                <a:latin typeface="Arial" pitchFamily="34" charset="0"/>
                <a:ea typeface="Arial" pitchFamily="34" charset="-122"/>
                <a:cs typeface="Arial" pitchFamily="34" charset="-120"/>
              </a:rPr>
              <a:t>INCOMPLETE FACT RATE</a:t>
            </a:r>
            <a:endParaRPr lang="en-US" sz="950" dirty="0"/>
          </a:p>
        </p:txBody>
      </p:sp>
      <p:sp>
        <p:nvSpPr>
          <p:cNvPr id="8" name="h0-v"/>
          <p:cNvSpPr txBox="1"/>
          <p:nvPr/>
        </p:nvSpPr>
        <p:spPr>
          <a:xfrm>
            <a:off x="548640" y="1984248"/>
            <a:ext cx="2560320" cy="457200"/>
          </a:xfrm>
          <a:prstGeom prst="rect">
            <a:avLst/>
          </a:prstGeom>
          <a:noFill/>
          <a:ln/>
        </p:spPr>
        <p:txBody>
          <a:bodyPr wrap="square" lIns="0" tIns="0" rIns="0" bIns="0" rtlCol="0" anchor="ctr"/>
          <a:lstStyle/>
          <a:p>
            <a:pPr marL="0" indent="0">
              <a:buNone/>
            </a:pPr>
            <a:r>
              <a:rPr lang="en-US" sz="1900" b="1" dirty="0">
                <a:solidFill>
                  <a:srgbClr val="1A1A1A"/>
                </a:solidFill>
              </a:rPr>
              <a:t>0.105 → 0.091</a:t>
            </a:r>
            <a:endParaRPr lang="en-US" sz="1900" dirty="0"/>
          </a:p>
        </p:txBody>
      </p:sp>
      <p:sp>
        <p:nvSpPr>
          <p:cNvPr id="9" name="h0-f"/>
          <p:cNvSpPr txBox="1"/>
          <p:nvPr/>
        </p:nvSpPr>
        <p:spPr>
          <a:xfrm>
            <a:off x="548640" y="2468880"/>
            <a:ext cx="2560320" cy="420624"/>
          </a:xfrm>
          <a:prstGeom prst="rect">
            <a:avLst/>
          </a:prstGeom>
          <a:noFill/>
          <a:ln/>
        </p:spPr>
        <p:txBody>
          <a:bodyPr wrap="square" lIns="0" tIns="0" rIns="0" bIns="0" rtlCol="0" anchor="ctr"/>
          <a:lstStyle/>
          <a:p>
            <a:pPr marL="0" indent="0">
              <a:lnSpc>
                <a:spcPct val="110000"/>
              </a:lnSpc>
              <a:buNone/>
            </a:pPr>
            <a:r>
              <a:rPr lang="en-US" sz="1050" dirty="0">
                <a:solidFill>
                  <a:srgbClr val="767676"/>
                </a:solidFill>
                <a:latin typeface="Arial" pitchFamily="34" charset="0"/>
                <a:ea typeface="Arial" pitchFamily="34" charset="-122"/>
                <a:cs typeface="Arial" pitchFamily="34" charset="-120"/>
              </a:rPr>
              <a:t>−12.8%</a:t>
            </a:r>
            <a:endParaRPr lang="en-US" sz="1050" dirty="0"/>
          </a:p>
        </p:txBody>
      </p:sp>
      <p:sp>
        <p:nvSpPr>
          <p:cNvPr id="10" name="h1-rule"/>
          <p:cNvSpPr/>
          <p:nvPr/>
        </p:nvSpPr>
        <p:spPr>
          <a:xfrm>
            <a:off x="3383280" y="1600200"/>
            <a:ext cx="2560320" cy="25603"/>
          </a:xfrm>
          <a:prstGeom prst="rect">
            <a:avLst/>
          </a:prstGeom>
          <a:solidFill>
            <a:schemeClr val="tx1"/>
          </a:solidFill>
          <a:ln w="3175">
            <a:solidFill>
              <a:schemeClr val="tx1"/>
            </a:solidFill>
            <a:prstDash val="solid"/>
          </a:ln>
        </p:spPr>
        <p:txBody>
          <a:bodyPr/>
          <a:lstStyle/>
          <a:p>
            <a:endParaRPr lang="en-IN"/>
          </a:p>
        </p:txBody>
      </p:sp>
      <p:sp>
        <p:nvSpPr>
          <p:cNvPr id="11" name="h1-l"/>
          <p:cNvSpPr txBox="1"/>
          <p:nvPr/>
        </p:nvSpPr>
        <p:spPr>
          <a:xfrm>
            <a:off x="3383280" y="1746504"/>
            <a:ext cx="2560320" cy="219456"/>
          </a:xfrm>
          <a:prstGeom prst="rect">
            <a:avLst/>
          </a:prstGeom>
          <a:noFill/>
          <a:ln/>
        </p:spPr>
        <p:txBody>
          <a:bodyPr wrap="square" lIns="0" tIns="0" rIns="0" bIns="0" rtlCol="0" anchor="ctr"/>
          <a:lstStyle/>
          <a:p>
            <a:pPr marL="0" indent="0">
              <a:buNone/>
            </a:pPr>
            <a:r>
              <a:rPr lang="en-US" sz="950" b="1" kern="0" spc="100" dirty="0">
                <a:solidFill>
                  <a:srgbClr val="767676"/>
                </a:solidFill>
                <a:latin typeface="Arial" pitchFamily="34" charset="0"/>
                <a:ea typeface="Arial" pitchFamily="34" charset="-122"/>
                <a:cs typeface="Arial" pitchFamily="34" charset="-120"/>
              </a:rPr>
              <a:t>MISSING RELATIONAL FACTS</a:t>
            </a:r>
            <a:endParaRPr lang="en-US" sz="950" dirty="0"/>
          </a:p>
        </p:txBody>
      </p:sp>
      <p:sp>
        <p:nvSpPr>
          <p:cNvPr id="12" name="h1-v"/>
          <p:cNvSpPr txBox="1"/>
          <p:nvPr/>
        </p:nvSpPr>
        <p:spPr>
          <a:xfrm>
            <a:off x="3383280" y="1984248"/>
            <a:ext cx="2560320" cy="457200"/>
          </a:xfrm>
          <a:prstGeom prst="rect">
            <a:avLst/>
          </a:prstGeom>
          <a:noFill/>
          <a:ln/>
        </p:spPr>
        <p:txBody>
          <a:bodyPr wrap="square" lIns="0" tIns="0" rIns="0" bIns="0" rtlCol="0" anchor="ctr"/>
          <a:lstStyle/>
          <a:p>
            <a:pPr marL="0" indent="0">
              <a:buNone/>
            </a:pPr>
            <a:r>
              <a:rPr lang="en-US" sz="1900" b="1" dirty="0">
                <a:solidFill>
                  <a:srgbClr val="1A1A1A"/>
                </a:solidFill>
              </a:rPr>
              <a:t>51 → 0</a:t>
            </a:r>
            <a:endParaRPr lang="en-US" sz="1900" dirty="0"/>
          </a:p>
        </p:txBody>
      </p:sp>
      <p:sp>
        <p:nvSpPr>
          <p:cNvPr id="13" name="h1-f"/>
          <p:cNvSpPr txBox="1"/>
          <p:nvPr/>
        </p:nvSpPr>
        <p:spPr>
          <a:xfrm>
            <a:off x="3383280" y="2468880"/>
            <a:ext cx="2560320" cy="420624"/>
          </a:xfrm>
          <a:prstGeom prst="rect">
            <a:avLst/>
          </a:prstGeom>
          <a:noFill/>
          <a:ln/>
        </p:spPr>
        <p:txBody>
          <a:bodyPr wrap="square" lIns="0" tIns="0" rIns="0" bIns="0" rtlCol="0" anchor="ctr"/>
          <a:lstStyle/>
          <a:p>
            <a:pPr marL="0" indent="0">
              <a:lnSpc>
                <a:spcPct val="110000"/>
              </a:lnSpc>
              <a:buNone/>
            </a:pPr>
            <a:r>
              <a:rPr lang="en-US" sz="1050" dirty="0">
                <a:solidFill>
                  <a:srgbClr val="767676"/>
                </a:solidFill>
                <a:latin typeface="Arial" pitchFamily="34" charset="0"/>
                <a:ea typeface="Arial" pitchFamily="34" charset="-122"/>
                <a:cs typeface="Arial" pitchFamily="34" charset="-120"/>
              </a:rPr>
              <a:t>all recovered</a:t>
            </a:r>
            <a:endParaRPr lang="en-US" sz="1050" dirty="0"/>
          </a:p>
        </p:txBody>
      </p:sp>
      <p:sp>
        <p:nvSpPr>
          <p:cNvPr id="14" name="h2-rule"/>
          <p:cNvSpPr/>
          <p:nvPr/>
        </p:nvSpPr>
        <p:spPr>
          <a:xfrm>
            <a:off x="6217920" y="1600200"/>
            <a:ext cx="2560320" cy="25603"/>
          </a:xfrm>
          <a:prstGeom prst="rect">
            <a:avLst/>
          </a:prstGeom>
          <a:solidFill>
            <a:srgbClr val="E90802"/>
          </a:solidFill>
          <a:ln w="3175">
            <a:solidFill>
              <a:srgbClr val="E90802"/>
            </a:solidFill>
            <a:prstDash val="solid"/>
          </a:ln>
        </p:spPr>
        <p:txBody>
          <a:bodyPr/>
          <a:lstStyle/>
          <a:p>
            <a:endParaRPr lang="en-IN"/>
          </a:p>
        </p:txBody>
      </p:sp>
      <p:sp>
        <p:nvSpPr>
          <p:cNvPr id="15" name="h2-l"/>
          <p:cNvSpPr txBox="1"/>
          <p:nvPr/>
        </p:nvSpPr>
        <p:spPr>
          <a:xfrm>
            <a:off x="6217920" y="1746504"/>
            <a:ext cx="2560320" cy="219456"/>
          </a:xfrm>
          <a:prstGeom prst="rect">
            <a:avLst/>
          </a:prstGeom>
          <a:noFill/>
          <a:ln/>
        </p:spPr>
        <p:txBody>
          <a:bodyPr wrap="square" lIns="0" tIns="0" rIns="0" bIns="0" rtlCol="0" anchor="ctr"/>
          <a:lstStyle/>
          <a:p>
            <a:pPr marL="0" indent="0">
              <a:buNone/>
            </a:pPr>
            <a:r>
              <a:rPr lang="en-US" sz="950" b="1" kern="0" spc="100" dirty="0">
                <a:solidFill>
                  <a:srgbClr val="767676"/>
                </a:solidFill>
                <a:latin typeface="Arial" pitchFamily="34" charset="0"/>
                <a:ea typeface="Arial" pitchFamily="34" charset="-122"/>
                <a:cs typeface="Arial" pitchFamily="34" charset="-120"/>
              </a:rPr>
              <a:t>PRECISION</a:t>
            </a:r>
            <a:endParaRPr lang="en-US" sz="950" dirty="0"/>
          </a:p>
        </p:txBody>
      </p:sp>
      <p:sp>
        <p:nvSpPr>
          <p:cNvPr id="16" name="h2-v"/>
          <p:cNvSpPr txBox="1"/>
          <p:nvPr/>
        </p:nvSpPr>
        <p:spPr>
          <a:xfrm>
            <a:off x="6217920" y="1984248"/>
            <a:ext cx="2560320" cy="457200"/>
          </a:xfrm>
          <a:prstGeom prst="rect">
            <a:avLst/>
          </a:prstGeom>
          <a:noFill/>
          <a:ln/>
        </p:spPr>
        <p:txBody>
          <a:bodyPr wrap="square" lIns="0" tIns="0" rIns="0" bIns="0" rtlCol="0" anchor="ctr"/>
          <a:lstStyle/>
          <a:p>
            <a:pPr marL="0" indent="0">
              <a:buNone/>
            </a:pPr>
            <a:r>
              <a:rPr lang="en-US" sz="1900" b="1" dirty="0">
                <a:solidFill>
                  <a:srgbClr val="E90802"/>
                </a:solidFill>
              </a:rPr>
              <a:t>0.420 → 0.343</a:t>
            </a:r>
            <a:endParaRPr lang="en-US" sz="1900" dirty="0"/>
          </a:p>
        </p:txBody>
      </p:sp>
      <p:sp>
        <p:nvSpPr>
          <p:cNvPr id="17" name="h2-f"/>
          <p:cNvSpPr txBox="1"/>
          <p:nvPr/>
        </p:nvSpPr>
        <p:spPr>
          <a:xfrm>
            <a:off x="6217920" y="2468880"/>
            <a:ext cx="2560320" cy="420624"/>
          </a:xfrm>
          <a:prstGeom prst="rect">
            <a:avLst/>
          </a:prstGeom>
          <a:noFill/>
          <a:ln/>
        </p:spPr>
        <p:txBody>
          <a:bodyPr wrap="square" lIns="0" tIns="0" rIns="0" bIns="0" rtlCol="0" anchor="ctr"/>
          <a:lstStyle/>
          <a:p>
            <a:pPr marL="0" indent="0">
              <a:lnSpc>
                <a:spcPct val="110000"/>
              </a:lnSpc>
              <a:buNone/>
            </a:pPr>
            <a:r>
              <a:rPr lang="en-US" sz="1050" dirty="0">
                <a:solidFill>
                  <a:srgbClr val="767676"/>
                </a:solidFill>
                <a:latin typeface="Arial" pitchFamily="34" charset="0"/>
                <a:ea typeface="Arial" pitchFamily="34" charset="-122"/>
                <a:cs typeface="Arial" pitchFamily="34" charset="-120"/>
              </a:rPr>
              <a:t>−0.077</a:t>
            </a:r>
            <a:endParaRPr lang="en-US" sz="1050" dirty="0"/>
          </a:p>
        </p:txBody>
      </p:sp>
      <p:sp>
        <p:nvSpPr>
          <p:cNvPr id="18" name="h3-rule"/>
          <p:cNvSpPr/>
          <p:nvPr/>
        </p:nvSpPr>
        <p:spPr>
          <a:xfrm>
            <a:off x="9052560" y="1600200"/>
            <a:ext cx="2560320" cy="25603"/>
          </a:xfrm>
          <a:prstGeom prst="rect">
            <a:avLst/>
          </a:prstGeom>
          <a:solidFill>
            <a:schemeClr val="tx1"/>
          </a:solidFill>
          <a:ln w="3175">
            <a:solidFill>
              <a:schemeClr val="tx1"/>
            </a:solidFill>
            <a:prstDash val="solid"/>
          </a:ln>
        </p:spPr>
        <p:txBody>
          <a:bodyPr/>
          <a:lstStyle/>
          <a:p>
            <a:endParaRPr lang="en-IN"/>
          </a:p>
        </p:txBody>
      </p:sp>
      <p:sp>
        <p:nvSpPr>
          <p:cNvPr id="19" name="h3-l"/>
          <p:cNvSpPr txBox="1"/>
          <p:nvPr/>
        </p:nvSpPr>
        <p:spPr>
          <a:xfrm>
            <a:off x="9052560" y="1746504"/>
            <a:ext cx="2560320" cy="219456"/>
          </a:xfrm>
          <a:prstGeom prst="rect">
            <a:avLst/>
          </a:prstGeom>
          <a:noFill/>
          <a:ln/>
        </p:spPr>
        <p:txBody>
          <a:bodyPr wrap="square" lIns="0" tIns="0" rIns="0" bIns="0" rtlCol="0" anchor="ctr"/>
          <a:lstStyle/>
          <a:p>
            <a:pPr marL="0" indent="0">
              <a:buNone/>
            </a:pPr>
            <a:r>
              <a:rPr lang="en-US" sz="950" b="1" kern="0" spc="100" dirty="0">
                <a:solidFill>
                  <a:srgbClr val="767676"/>
                </a:solidFill>
                <a:latin typeface="Arial" pitchFamily="34" charset="0"/>
                <a:ea typeface="Arial" pitchFamily="34" charset="-122"/>
                <a:cs typeface="Arial" pitchFamily="34" charset="-120"/>
              </a:rPr>
              <a:t>RECALL · F1</a:t>
            </a:r>
            <a:endParaRPr lang="en-US" sz="950" dirty="0"/>
          </a:p>
        </p:txBody>
      </p:sp>
      <p:sp>
        <p:nvSpPr>
          <p:cNvPr id="20" name="h3-v"/>
          <p:cNvSpPr txBox="1"/>
          <p:nvPr/>
        </p:nvSpPr>
        <p:spPr>
          <a:xfrm>
            <a:off x="9052560" y="1984248"/>
            <a:ext cx="2560320" cy="457200"/>
          </a:xfrm>
          <a:prstGeom prst="rect">
            <a:avLst/>
          </a:prstGeom>
          <a:noFill/>
          <a:ln/>
        </p:spPr>
        <p:txBody>
          <a:bodyPr wrap="square" lIns="0" tIns="0" rIns="0" bIns="0" rtlCol="0" anchor="ctr"/>
          <a:lstStyle/>
          <a:p>
            <a:pPr marL="0" indent="0">
              <a:buNone/>
            </a:pPr>
            <a:r>
              <a:rPr lang="en-US" sz="1900" b="1" dirty="0">
                <a:solidFill>
                  <a:srgbClr val="1A1A1A"/>
                </a:solidFill>
              </a:rPr>
              <a:t>0.408 · 0.372</a:t>
            </a:r>
            <a:endParaRPr lang="en-US" sz="1900" dirty="0"/>
          </a:p>
        </p:txBody>
      </p:sp>
      <p:sp>
        <p:nvSpPr>
          <p:cNvPr id="21" name="h3-f"/>
          <p:cNvSpPr txBox="1"/>
          <p:nvPr/>
        </p:nvSpPr>
        <p:spPr>
          <a:xfrm>
            <a:off x="9052560" y="2468880"/>
            <a:ext cx="2560320" cy="420624"/>
          </a:xfrm>
          <a:prstGeom prst="rect">
            <a:avLst/>
          </a:prstGeom>
          <a:noFill/>
          <a:ln/>
        </p:spPr>
        <p:txBody>
          <a:bodyPr wrap="square" lIns="0" tIns="0" rIns="0" bIns="0" rtlCol="0" anchor="ctr"/>
          <a:lstStyle/>
          <a:p>
            <a:pPr marL="0" indent="0">
              <a:lnSpc>
                <a:spcPct val="110000"/>
              </a:lnSpc>
              <a:buNone/>
            </a:pPr>
            <a:r>
              <a:rPr lang="en-US" sz="1050" dirty="0">
                <a:solidFill>
                  <a:srgbClr val="767676"/>
                </a:solidFill>
                <a:latin typeface="Arial" pitchFamily="34" charset="0"/>
                <a:ea typeface="Arial" pitchFamily="34" charset="-122"/>
                <a:cs typeface="Arial" pitchFamily="34" charset="-120"/>
              </a:rPr>
              <a:t>recall fixed by design</a:t>
            </a:r>
            <a:endParaRPr lang="en-US" sz="1050" dirty="0"/>
          </a:p>
        </p:txBody>
      </p:sp>
      <p:graphicFrame>
        <p:nvGraphicFramePr>
          <p:cNvPr id="22" name="chart-prf"/>
          <p:cNvGraphicFramePr/>
          <p:nvPr/>
        </p:nvGraphicFramePr>
        <p:xfrm>
          <a:off x="292608" y="3063240"/>
          <a:ext cx="5650992" cy="2834640"/>
        </p:xfrm>
        <a:graphic>
          <a:graphicData uri="http://schemas.openxmlformats.org/drawingml/2006/chart">
            <c:chart xmlns:c="http://schemas.openxmlformats.org/drawingml/2006/chart" xmlns:r="http://schemas.openxmlformats.org/officeDocument/2006/relationships" r:id="rId3"/>
          </a:graphicData>
        </a:graphic>
      </p:graphicFrame>
      <p:sp>
        <p:nvSpPr>
          <p:cNvPr id="23" name="where"/>
          <p:cNvSpPr/>
          <p:nvPr/>
        </p:nvSpPr>
        <p:spPr>
          <a:xfrm>
            <a:off x="6217920" y="3063240"/>
            <a:ext cx="5394960" cy="2834640"/>
          </a:xfrm>
          <a:prstGeom prst="rect">
            <a:avLst/>
          </a:prstGeom>
          <a:solidFill>
            <a:srgbClr val="F4F4F4"/>
          </a:solidFill>
          <a:ln w="9525">
            <a:solidFill>
              <a:srgbClr val="F4F4F4"/>
            </a:solidFill>
            <a:prstDash val="solid"/>
          </a:ln>
        </p:spPr>
        <p:txBody>
          <a:bodyPr/>
          <a:lstStyle/>
          <a:p>
            <a:endParaRPr lang="en-IN"/>
          </a:p>
        </p:txBody>
      </p:sp>
      <p:sp>
        <p:nvSpPr>
          <p:cNvPr id="24" name="where-edge"/>
          <p:cNvSpPr/>
          <p:nvPr/>
        </p:nvSpPr>
        <p:spPr>
          <a:xfrm>
            <a:off x="6217920" y="3063240"/>
            <a:ext cx="29261" cy="2834640"/>
          </a:xfrm>
          <a:prstGeom prst="rect">
            <a:avLst/>
          </a:prstGeom>
          <a:solidFill>
            <a:srgbClr val="E90802"/>
          </a:solidFill>
          <a:ln w="3175">
            <a:solidFill>
              <a:srgbClr val="E90802"/>
            </a:solidFill>
            <a:prstDash val="solid"/>
          </a:ln>
        </p:spPr>
        <p:txBody>
          <a:bodyPr/>
          <a:lstStyle/>
          <a:p>
            <a:endParaRPr lang="en-IN"/>
          </a:p>
        </p:txBody>
      </p:sp>
      <p:sp>
        <p:nvSpPr>
          <p:cNvPr id="25" name="where-h"/>
          <p:cNvSpPr txBox="1"/>
          <p:nvPr/>
        </p:nvSpPr>
        <p:spPr>
          <a:xfrm>
            <a:off x="6473952" y="3264408"/>
            <a:ext cx="4882896" cy="292608"/>
          </a:xfrm>
          <a:prstGeom prst="rect">
            <a:avLst/>
          </a:prstGeom>
          <a:noFill/>
          <a:ln/>
        </p:spPr>
        <p:txBody>
          <a:bodyPr wrap="square" lIns="0" tIns="0" rIns="0" bIns="0" rtlCol="0" anchor="ctr"/>
          <a:lstStyle/>
          <a:p>
            <a:pPr marL="0" indent="0">
              <a:buNone/>
            </a:pPr>
            <a:r>
              <a:rPr lang="en-US" sz="1450" b="1" dirty="0">
                <a:solidFill>
                  <a:srgbClr val="E90802"/>
                </a:solidFill>
              </a:rPr>
              <a:t>Where the precision went</a:t>
            </a:r>
            <a:endParaRPr lang="en-US" sz="1450" dirty="0"/>
          </a:p>
        </p:txBody>
      </p:sp>
      <p:sp>
        <p:nvSpPr>
          <p:cNvPr id="26" name="where-b"/>
          <p:cNvSpPr txBox="1"/>
          <p:nvPr/>
        </p:nvSpPr>
        <p:spPr>
          <a:xfrm>
            <a:off x="6473952" y="3666744"/>
            <a:ext cx="4882896" cy="2066544"/>
          </a:xfrm>
          <a:prstGeom prst="rect">
            <a:avLst/>
          </a:prstGeom>
          <a:noFill/>
          <a:ln/>
        </p:spPr>
        <p:txBody>
          <a:bodyPr wrap="square" lIns="0" tIns="0" rIns="0" bIns="0" rtlCol="0" anchor="t"/>
          <a:lstStyle/>
          <a:p>
            <a:pPr marL="0" indent="0">
              <a:lnSpc>
                <a:spcPct val="125000"/>
              </a:lnSpc>
              <a:buNone/>
            </a:pPr>
            <a:r>
              <a:rPr lang="en-US" sz="1250" dirty="0">
                <a:solidFill>
                  <a:srgbClr val="444444"/>
                </a:solidFill>
                <a:latin typeface="Arial" pitchFamily="34" charset="0"/>
                <a:ea typeface="Arial" pitchFamily="34" charset="-122"/>
                <a:cs typeface="Arial" pitchFamily="34" charset="-120"/>
              </a:rPr>
              <a:t>Supported 109 → 108.  Contradicted 3 → 3.  Undecided 146 → 185.</a:t>
            </a:r>
            <a:endParaRPr lang="en-US" sz="1250" dirty="0"/>
          </a:p>
          <a:p>
            <a:pPr marL="0" indent="0">
              <a:lnSpc>
                <a:spcPct val="125000"/>
              </a:lnSpc>
              <a:buNone/>
            </a:pPr>
            <a:endParaRPr lang="en-US" sz="1250" dirty="0"/>
          </a:p>
          <a:p>
            <a:pPr marL="0" indent="0">
              <a:lnSpc>
                <a:spcPct val="125000"/>
              </a:lnSpc>
              <a:buNone/>
            </a:pPr>
            <a:r>
              <a:rPr lang="en-US" sz="1250" dirty="0">
                <a:solidFill>
                  <a:srgbClr val="444444"/>
                </a:solidFill>
                <a:latin typeface="Arial" pitchFamily="34" charset="0"/>
                <a:ea typeface="Arial" pitchFamily="34" charset="-122"/>
                <a:cs typeface="Arial" pitchFamily="34" charset="-120"/>
              </a:rPr>
              <a:t>Refined claims carry their condition or comparison target, so one Wikipedia sentence has to support more — and often none does.</a:t>
            </a:r>
            <a:endParaRPr lang="en-US" sz="1250" dirty="0"/>
          </a:p>
          <a:p>
            <a:pPr marL="0" indent="0">
              <a:lnSpc>
                <a:spcPct val="125000"/>
              </a:lnSpc>
              <a:buNone/>
            </a:pPr>
            <a:endParaRPr lang="en-US" sz="1250" dirty="0"/>
          </a:p>
          <a:p>
            <a:pPr marL="0" indent="0">
              <a:lnSpc>
                <a:spcPct val="125000"/>
              </a:lnSpc>
              <a:buNone/>
            </a:pPr>
            <a:r>
              <a:rPr lang="en-US" sz="1250" dirty="0">
                <a:solidFill>
                  <a:srgbClr val="444444"/>
                </a:solidFill>
                <a:latin typeface="Arial" pitchFamily="34" charset="0"/>
                <a:ea typeface="Arial" pitchFamily="34" charset="-122"/>
                <a:cs typeface="Arial" pitchFamily="34" charset="-120"/>
              </a:rPr>
              <a:t>Of the claims the verifier could decide, 97.3% were supported both before and after.</a:t>
            </a:r>
            <a:endParaRPr lang="en-US" sz="1250" dirty="0"/>
          </a:p>
        </p:txBody>
      </p:sp>
      <p:sp>
        <p:nvSpPr>
          <p:cNvPr id="27" name="note"/>
          <p:cNvSpPr txBox="1"/>
          <p:nvPr/>
        </p:nvSpPr>
        <p:spPr>
          <a:xfrm>
            <a:off x="548640" y="6291072"/>
            <a:ext cx="10607040" cy="274320"/>
          </a:xfrm>
          <a:prstGeom prst="rect">
            <a:avLst/>
          </a:prstGeom>
          <a:noFill/>
          <a:ln/>
        </p:spPr>
        <p:txBody>
          <a:bodyPr wrap="square" lIns="0" tIns="0" rIns="0" bIns="0" rtlCol="0" anchor="ctr"/>
          <a:lstStyle/>
          <a:p>
            <a:pPr marL="0" indent="0">
              <a:buNone/>
            </a:pPr>
            <a:r>
              <a:rPr lang="en-US" sz="950" dirty="0">
                <a:solidFill>
                  <a:srgbClr val="767676"/>
                </a:solidFill>
                <a:latin typeface="Arial" pitchFamily="34" charset="0"/>
                <a:ea typeface="Arial" pitchFamily="34" charset="-122"/>
                <a:cs typeface="Arial" pitchFamily="34" charset="-120"/>
              </a:rPr>
              <a:t>Same answers, same retrieval, same verifier — only refinement differs. 163 facts refined, 51 added.</a:t>
            </a:r>
            <a:endParaRPr lang="en-US" sz="950" dirty="0"/>
          </a:p>
        </p:txBody>
      </p:sp>
      <p:sp>
        <p:nvSpPr>
          <p:cNvPr id="28" name="Slide Number Placeholder 0"/>
          <p:cNvSpPr>
            <a:spLocks noGrp="1"/>
          </p:cNvSpPr>
          <p:nvPr>
            <p:ph type="sldNum" sz="quarter" idx="4294967295"/>
          </p:nvPr>
        </p:nvSpPr>
        <p:spPr>
          <a:xfrm>
            <a:off x="11338560" y="6327648"/>
            <a:ext cx="365760" cy="256032"/>
          </a:xfrm>
          <a:prstGeom prst="rect">
            <a:avLst/>
          </a:prstGeom>
          <a:extLst>
            <a:ext uri="{C572A759-6A51-4108-AA02-DFA0A04FC94B}">
              <ma14:wrappingTextBoxFlag xmlns:ma14="http://schemas.microsoft.com/office/mac/drawingml/2011/main" xmlns="" val="0"/>
            </a:ext>
          </a:extLst>
        </p:spPr>
        <p:txBody>
          <a:bodyPr/>
          <a:lstStyle>
            <a:lvl1pPr>
              <a:defRPr sz="900">
                <a:solidFill>
                  <a:srgbClr val="767676"/>
                </a:solidFill>
              </a:defRPr>
            </a:lvl1pPr>
          </a:lstStyle>
          <a:p>
            <a:pPr algn="r"/>
            <a:fld id="{F7021451-1387-4CA6-816F-3879F97B5CBC}" type="slidenum">
              <a:rPr lang="en-US" b="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eyebrow"/>
          <p:cNvSpPr txBox="1"/>
          <p:nvPr/>
        </p:nvSpPr>
        <p:spPr>
          <a:xfrm>
            <a:off x="548640" y="347472"/>
            <a:ext cx="11064240" cy="237744"/>
          </a:xfrm>
          <a:prstGeom prst="rect">
            <a:avLst/>
          </a:prstGeom>
          <a:noFill/>
          <a:ln/>
        </p:spPr>
        <p:txBody>
          <a:bodyPr wrap="square" lIns="0" tIns="0" rIns="0" bIns="0" rtlCol="0" anchor="ctr"/>
          <a:lstStyle/>
          <a:p>
            <a:pPr marL="0" indent="0">
              <a:buNone/>
            </a:pPr>
            <a:r>
              <a:rPr lang="en-US" sz="1000" b="1" kern="0" spc="200" dirty="0">
                <a:solidFill>
                  <a:srgbClr val="E90802"/>
                </a:solidFill>
                <a:latin typeface="Arial" pitchFamily="34" charset="0"/>
                <a:ea typeface="Arial" pitchFamily="34" charset="-122"/>
                <a:cs typeface="Arial" pitchFamily="34" charset="-120"/>
              </a:rPr>
              <a:t>RECREATING THE RESULTS  ·  4 OF 5</a:t>
            </a:r>
            <a:endParaRPr lang="en-US" sz="1000" dirty="0"/>
          </a:p>
        </p:txBody>
      </p:sp>
      <p:sp>
        <p:nvSpPr>
          <p:cNvPr id="3" name="title"/>
          <p:cNvSpPr txBox="1"/>
          <p:nvPr/>
        </p:nvSpPr>
        <p:spPr>
          <a:xfrm>
            <a:off x="548640" y="621792"/>
            <a:ext cx="11064240" cy="548640"/>
          </a:xfrm>
          <a:prstGeom prst="rect">
            <a:avLst/>
          </a:prstGeom>
          <a:noFill/>
          <a:ln/>
        </p:spPr>
        <p:txBody>
          <a:bodyPr wrap="square" lIns="0" tIns="0" rIns="0" bIns="0" rtlCol="0" anchor="ctr"/>
          <a:lstStyle/>
          <a:p>
            <a:pPr marL="0" indent="0">
              <a:buNone/>
            </a:pPr>
            <a:r>
              <a:rPr lang="en-US" sz="2700" b="1" dirty="0">
                <a:solidFill>
                  <a:srgbClr val="1A1A1A"/>
                </a:solidFill>
              </a:rPr>
              <a:t>Each mechanism moves the metric it targets</a:t>
            </a:r>
            <a:endParaRPr lang="en-US" sz="2700" dirty="0"/>
          </a:p>
        </p:txBody>
      </p:sp>
      <p:sp>
        <p:nvSpPr>
          <p:cNvPr id="4" name="subtitle"/>
          <p:cNvSpPr txBox="1"/>
          <p:nvPr/>
        </p:nvSpPr>
        <p:spPr>
          <a:xfrm>
            <a:off x="548640" y="1188720"/>
            <a:ext cx="11064240" cy="256032"/>
          </a:xfrm>
          <a:prstGeom prst="rect">
            <a:avLst/>
          </a:prstGeom>
          <a:noFill/>
          <a:ln/>
        </p:spPr>
        <p:txBody>
          <a:bodyPr wrap="square" lIns="0" tIns="0" rIns="0" bIns="0" rtlCol="0" anchor="ctr"/>
          <a:lstStyle/>
          <a:p>
            <a:pPr marL="0" indent="0">
              <a:buNone/>
            </a:pPr>
            <a:r>
              <a:rPr lang="en-US" sz="1350" dirty="0">
                <a:solidFill>
                  <a:srgbClr val="767676"/>
                </a:solidFill>
                <a:latin typeface="Arial" pitchFamily="34" charset="0"/>
                <a:ea typeface="Arial" pitchFamily="34" charset="-122"/>
                <a:cs typeface="Arial" pitchFamily="34" charset="-120"/>
              </a:rPr>
              <a:t>Ablation over the two halves of the contribution, laptop run</a:t>
            </a:r>
            <a:endParaRPr lang="en-US" sz="1350" dirty="0"/>
          </a:p>
        </p:txBody>
      </p:sp>
      <p:sp>
        <p:nvSpPr>
          <p:cNvPr id="5" name="head-rule"/>
          <p:cNvSpPr/>
          <p:nvPr/>
        </p:nvSpPr>
        <p:spPr>
          <a:xfrm>
            <a:off x="548640" y="1499616"/>
            <a:ext cx="11064240" cy="10973"/>
          </a:xfrm>
          <a:prstGeom prst="rect">
            <a:avLst/>
          </a:prstGeom>
          <a:solidFill>
            <a:srgbClr val="DCDCDC"/>
          </a:solidFill>
          <a:ln w="3175">
            <a:solidFill>
              <a:srgbClr val="DCDCDC"/>
            </a:solidFill>
            <a:prstDash val="solid"/>
          </a:ln>
        </p:spPr>
        <p:txBody>
          <a:bodyPr/>
          <a:lstStyle/>
          <a:p>
            <a:endParaRPr lang="en-IN"/>
          </a:p>
        </p:txBody>
      </p:sp>
      <p:graphicFrame>
        <p:nvGraphicFramePr>
          <p:cNvPr id="9" name="abl"/>
          <p:cNvGraphicFramePr>
            <a:graphicFrameLocks noGrp="1"/>
          </p:cNvGraphicFramePr>
          <p:nvPr>
            <p:extLst>
              <p:ext uri="{D42A27DB-BD31-4B8C-83A1-F6EECF244321}">
                <p14:modId xmlns:p14="http://schemas.microsoft.com/office/powerpoint/2010/main" val="1579011935"/>
              </p:ext>
            </p:extLst>
          </p:nvPr>
        </p:nvGraphicFramePr>
        <p:xfrm>
          <a:off x="548640" y="1600200"/>
          <a:ext cx="11064240" cy="2103120"/>
        </p:xfrm>
        <a:graphic>
          <a:graphicData uri="http://schemas.openxmlformats.org/drawingml/2006/table">
            <a:tbl>
              <a:tblPr/>
              <a:tblGrid>
                <a:gridCol w="3383280">
                  <a:extLst>
                    <a:ext uri="{9D8B030D-6E8A-4147-A177-3AD203B41FA5}">
                      <a16:colId xmlns:a16="http://schemas.microsoft.com/office/drawing/2014/main" val="20000"/>
                    </a:ext>
                  </a:extLst>
                </a:gridCol>
                <a:gridCol w="1737360">
                  <a:extLst>
                    <a:ext uri="{9D8B030D-6E8A-4147-A177-3AD203B41FA5}">
                      <a16:colId xmlns:a16="http://schemas.microsoft.com/office/drawing/2014/main" val="20001"/>
                    </a:ext>
                  </a:extLst>
                </a:gridCol>
                <a:gridCol w="1463040">
                  <a:extLst>
                    <a:ext uri="{9D8B030D-6E8A-4147-A177-3AD203B41FA5}">
                      <a16:colId xmlns:a16="http://schemas.microsoft.com/office/drawing/2014/main" val="20002"/>
                    </a:ext>
                  </a:extLst>
                </a:gridCol>
                <a:gridCol w="1554480">
                  <a:extLst>
                    <a:ext uri="{9D8B030D-6E8A-4147-A177-3AD203B41FA5}">
                      <a16:colId xmlns:a16="http://schemas.microsoft.com/office/drawing/2014/main" val="20003"/>
                    </a:ext>
                  </a:extLst>
                </a:gridCol>
                <a:gridCol w="1463040">
                  <a:extLst>
                    <a:ext uri="{9D8B030D-6E8A-4147-A177-3AD203B41FA5}">
                      <a16:colId xmlns:a16="http://schemas.microsoft.com/office/drawing/2014/main" val="20004"/>
                    </a:ext>
                  </a:extLst>
                </a:gridCol>
                <a:gridCol w="1463040">
                  <a:extLst>
                    <a:ext uri="{9D8B030D-6E8A-4147-A177-3AD203B41FA5}">
                      <a16:colId xmlns:a16="http://schemas.microsoft.com/office/drawing/2014/main" val="20005"/>
                    </a:ext>
                  </a:extLst>
                </a:gridCol>
              </a:tblGrid>
              <a:tr h="420624">
                <a:tc>
                  <a:txBody>
                    <a:bodyPr/>
                    <a:lstStyle/>
                    <a:p>
                      <a:pPr marL="0" indent="0" algn="l">
                        <a:buNone/>
                      </a:pPr>
                      <a:r>
                        <a:rPr lang="en-US" sz="1250" b="1" dirty="0">
                          <a:solidFill>
                            <a:srgbClr val="1A1A1A"/>
                          </a:solidFill>
                          <a:latin typeface="Arial" pitchFamily="34" charset="0"/>
                          <a:ea typeface="Arial" pitchFamily="34" charset="-122"/>
                          <a:cs typeface="Arial" pitchFamily="34" charset="-120"/>
                        </a:rPr>
                        <a:t>System</a:t>
                      </a:r>
                      <a:endParaRPr lang="en-US" sz="1250" dirty="0">
                        <a:latin typeface="Arial" charset="0"/>
                        <a:ea typeface="Arial" charset="0"/>
                        <a:cs typeface="Arial" charset="0"/>
                      </a:endParaRPr>
                    </a:p>
                  </a:txBody>
                  <a:tcPr marL="109728" marR="109728" marT="36576" marB="36576" anchor="ctr">
                    <a:lnL w="6350" cap="flat" cmpd="sng" algn="ctr">
                      <a:solidFill>
                        <a:srgbClr val="DCDCDC"/>
                      </a:solidFill>
                      <a:prstDash val="solid"/>
                      <a:round/>
                      <a:headEnd type="none" w="med" len="med"/>
                      <a:tailEnd type="none" w="med" len="med"/>
                    </a:lnL>
                    <a:lnR w="6350" cap="flat" cmpd="sng" algn="ctr">
                      <a:solidFill>
                        <a:srgbClr val="DCDCDC"/>
                      </a:solidFill>
                      <a:prstDash val="solid"/>
                      <a:round/>
                      <a:headEnd type="none" w="med" len="med"/>
                      <a:tailEnd type="none" w="med" len="med"/>
                    </a:lnR>
                    <a:lnT w="6350" cap="flat" cmpd="sng" algn="ctr">
                      <a:solidFill>
                        <a:srgbClr val="DCDCDC"/>
                      </a:solidFill>
                      <a:prstDash val="solid"/>
                      <a:round/>
                      <a:headEnd type="none" w="med" len="med"/>
                      <a:tailEnd type="none" w="med" len="med"/>
                    </a:lnT>
                    <a:lnB w="6350" cap="flat" cmpd="sng" algn="ctr">
                      <a:solidFill>
                        <a:srgbClr val="DCDCDC"/>
                      </a:solidFill>
                      <a:prstDash val="solid"/>
                      <a:round/>
                      <a:headEnd type="none" w="med" len="med"/>
                      <a:tailEnd type="none" w="med" len="med"/>
                    </a:lnB>
                    <a:solidFill>
                      <a:srgbClr val="F4F4F4"/>
                    </a:solidFill>
                  </a:tcPr>
                </a:tc>
                <a:tc>
                  <a:txBody>
                    <a:bodyPr/>
                    <a:lstStyle/>
                    <a:p>
                      <a:pPr marL="0" indent="0" algn="r">
                        <a:buNone/>
                      </a:pPr>
                      <a:r>
                        <a:rPr lang="en-US" sz="1250" b="1" dirty="0">
                          <a:solidFill>
                            <a:srgbClr val="1A1A1A"/>
                          </a:solidFill>
                          <a:latin typeface="Arial" pitchFamily="34" charset="0"/>
                          <a:ea typeface="Arial" pitchFamily="34" charset="-122"/>
                          <a:cs typeface="Arial" pitchFamily="34" charset="-120"/>
                        </a:rPr>
                        <a:t>Incomplete</a:t>
                      </a:r>
                      <a:endParaRPr lang="en-US" sz="1250" dirty="0">
                        <a:latin typeface="Arial" charset="0"/>
                        <a:ea typeface="Arial" charset="0"/>
                        <a:cs typeface="Arial" charset="0"/>
                      </a:endParaRPr>
                    </a:p>
                  </a:txBody>
                  <a:tcPr marL="109728" marR="109728" marT="36576" marB="36576" anchor="ctr">
                    <a:lnL w="6350" cap="flat" cmpd="sng" algn="ctr">
                      <a:solidFill>
                        <a:srgbClr val="DCDCDC"/>
                      </a:solidFill>
                      <a:prstDash val="solid"/>
                      <a:round/>
                      <a:headEnd type="none" w="med" len="med"/>
                      <a:tailEnd type="none" w="med" len="med"/>
                    </a:lnL>
                    <a:lnR w="6350" cap="flat" cmpd="sng" algn="ctr">
                      <a:solidFill>
                        <a:srgbClr val="DCDCDC"/>
                      </a:solidFill>
                      <a:prstDash val="solid"/>
                      <a:round/>
                      <a:headEnd type="none" w="med" len="med"/>
                      <a:tailEnd type="none" w="med" len="med"/>
                    </a:lnR>
                    <a:lnT w="6350" cap="flat" cmpd="sng" algn="ctr">
                      <a:solidFill>
                        <a:srgbClr val="DCDCDC"/>
                      </a:solidFill>
                      <a:prstDash val="solid"/>
                      <a:round/>
                      <a:headEnd type="none" w="med" len="med"/>
                      <a:tailEnd type="none" w="med" len="med"/>
                    </a:lnT>
                    <a:lnB w="6350" cap="flat" cmpd="sng" algn="ctr">
                      <a:solidFill>
                        <a:srgbClr val="DCDCDC"/>
                      </a:solidFill>
                      <a:prstDash val="solid"/>
                      <a:round/>
                      <a:headEnd type="none" w="med" len="med"/>
                      <a:tailEnd type="none" w="med" len="med"/>
                    </a:lnB>
                    <a:solidFill>
                      <a:srgbClr val="F4F4F4"/>
                    </a:solidFill>
                  </a:tcPr>
                </a:tc>
                <a:tc>
                  <a:txBody>
                    <a:bodyPr/>
                    <a:lstStyle/>
                    <a:p>
                      <a:pPr marL="0" indent="0" algn="r">
                        <a:buNone/>
                      </a:pPr>
                      <a:r>
                        <a:rPr lang="en-US" sz="1250" b="1" dirty="0">
                          <a:solidFill>
                            <a:srgbClr val="1A1A1A"/>
                          </a:solidFill>
                          <a:latin typeface="Arial" pitchFamily="34" charset="0"/>
                          <a:ea typeface="Arial" pitchFamily="34" charset="-122"/>
                          <a:cs typeface="Arial" pitchFamily="34" charset="-120"/>
                        </a:rPr>
                        <a:t>Missing</a:t>
                      </a:r>
                      <a:endParaRPr lang="en-US" sz="1250" dirty="0">
                        <a:latin typeface="Arial" charset="0"/>
                        <a:ea typeface="Arial" charset="0"/>
                        <a:cs typeface="Arial" charset="0"/>
                      </a:endParaRPr>
                    </a:p>
                  </a:txBody>
                  <a:tcPr marL="109728" marR="109728" marT="36576" marB="36576" anchor="ctr">
                    <a:lnL w="6350" cap="flat" cmpd="sng" algn="ctr">
                      <a:solidFill>
                        <a:srgbClr val="DCDCDC"/>
                      </a:solidFill>
                      <a:prstDash val="solid"/>
                      <a:round/>
                      <a:headEnd type="none" w="med" len="med"/>
                      <a:tailEnd type="none" w="med" len="med"/>
                    </a:lnL>
                    <a:lnR w="6350" cap="flat" cmpd="sng" algn="ctr">
                      <a:solidFill>
                        <a:srgbClr val="DCDCDC"/>
                      </a:solidFill>
                      <a:prstDash val="solid"/>
                      <a:round/>
                      <a:headEnd type="none" w="med" len="med"/>
                      <a:tailEnd type="none" w="med" len="med"/>
                    </a:lnR>
                    <a:lnT w="6350" cap="flat" cmpd="sng" algn="ctr">
                      <a:solidFill>
                        <a:srgbClr val="DCDCDC"/>
                      </a:solidFill>
                      <a:prstDash val="solid"/>
                      <a:round/>
                      <a:headEnd type="none" w="med" len="med"/>
                      <a:tailEnd type="none" w="med" len="med"/>
                    </a:lnT>
                    <a:lnB w="6350" cap="flat" cmpd="sng" algn="ctr">
                      <a:solidFill>
                        <a:srgbClr val="DCDCDC"/>
                      </a:solidFill>
                      <a:prstDash val="solid"/>
                      <a:round/>
                      <a:headEnd type="none" w="med" len="med"/>
                      <a:tailEnd type="none" w="med" len="med"/>
                    </a:lnB>
                    <a:solidFill>
                      <a:srgbClr val="F4F4F4"/>
                    </a:solidFill>
                  </a:tcPr>
                </a:tc>
                <a:tc>
                  <a:txBody>
                    <a:bodyPr/>
                    <a:lstStyle/>
                    <a:p>
                      <a:pPr marL="0" indent="0" algn="r">
                        <a:buNone/>
                      </a:pPr>
                      <a:r>
                        <a:rPr lang="en-US" sz="1250" b="1" dirty="0">
                          <a:solidFill>
                            <a:srgbClr val="1A1A1A"/>
                          </a:solidFill>
                          <a:latin typeface="Arial" pitchFamily="34" charset="0"/>
                          <a:ea typeface="Arial" pitchFamily="34" charset="-122"/>
                          <a:cs typeface="Arial" pitchFamily="34" charset="-120"/>
                        </a:rPr>
                        <a:t>Precision</a:t>
                      </a:r>
                      <a:endParaRPr lang="en-US" sz="1250" dirty="0">
                        <a:latin typeface="Arial" charset="0"/>
                        <a:ea typeface="Arial" charset="0"/>
                        <a:cs typeface="Arial" charset="0"/>
                      </a:endParaRPr>
                    </a:p>
                  </a:txBody>
                  <a:tcPr marL="109728" marR="109728" marT="36576" marB="36576" anchor="ctr">
                    <a:lnL w="6350" cap="flat" cmpd="sng" algn="ctr">
                      <a:solidFill>
                        <a:srgbClr val="DCDCDC"/>
                      </a:solidFill>
                      <a:prstDash val="solid"/>
                      <a:round/>
                      <a:headEnd type="none" w="med" len="med"/>
                      <a:tailEnd type="none" w="med" len="med"/>
                    </a:lnL>
                    <a:lnR w="6350" cap="flat" cmpd="sng" algn="ctr">
                      <a:solidFill>
                        <a:srgbClr val="DCDCDC"/>
                      </a:solidFill>
                      <a:prstDash val="solid"/>
                      <a:round/>
                      <a:headEnd type="none" w="med" len="med"/>
                      <a:tailEnd type="none" w="med" len="med"/>
                    </a:lnR>
                    <a:lnT w="6350" cap="flat" cmpd="sng" algn="ctr">
                      <a:solidFill>
                        <a:srgbClr val="DCDCDC"/>
                      </a:solidFill>
                      <a:prstDash val="solid"/>
                      <a:round/>
                      <a:headEnd type="none" w="med" len="med"/>
                      <a:tailEnd type="none" w="med" len="med"/>
                    </a:lnT>
                    <a:lnB w="6350" cap="flat" cmpd="sng" algn="ctr">
                      <a:solidFill>
                        <a:srgbClr val="DCDCDC"/>
                      </a:solidFill>
                      <a:prstDash val="solid"/>
                      <a:round/>
                      <a:headEnd type="none" w="med" len="med"/>
                      <a:tailEnd type="none" w="med" len="med"/>
                    </a:lnB>
                    <a:solidFill>
                      <a:srgbClr val="F4F4F4"/>
                    </a:solidFill>
                  </a:tcPr>
                </a:tc>
                <a:tc>
                  <a:txBody>
                    <a:bodyPr/>
                    <a:lstStyle/>
                    <a:p>
                      <a:pPr marL="0" indent="0" algn="r">
                        <a:buNone/>
                      </a:pPr>
                      <a:r>
                        <a:rPr lang="en-US" sz="1250" b="1" dirty="0">
                          <a:solidFill>
                            <a:srgbClr val="1A1A1A"/>
                          </a:solidFill>
                          <a:latin typeface="Arial" pitchFamily="34" charset="0"/>
                          <a:ea typeface="Arial" pitchFamily="34" charset="-122"/>
                          <a:cs typeface="Arial" pitchFamily="34" charset="-120"/>
                        </a:rPr>
                        <a:t>Recall</a:t>
                      </a:r>
                      <a:endParaRPr lang="en-US" sz="1250" dirty="0">
                        <a:latin typeface="Arial" charset="0"/>
                        <a:ea typeface="Arial" charset="0"/>
                        <a:cs typeface="Arial" charset="0"/>
                      </a:endParaRPr>
                    </a:p>
                  </a:txBody>
                  <a:tcPr marL="109728" marR="109728" marT="36576" marB="36576" anchor="ctr">
                    <a:lnL w="6350" cap="flat" cmpd="sng" algn="ctr">
                      <a:solidFill>
                        <a:srgbClr val="DCDCDC"/>
                      </a:solidFill>
                      <a:prstDash val="solid"/>
                      <a:round/>
                      <a:headEnd type="none" w="med" len="med"/>
                      <a:tailEnd type="none" w="med" len="med"/>
                    </a:lnL>
                    <a:lnR w="6350" cap="flat" cmpd="sng" algn="ctr">
                      <a:solidFill>
                        <a:srgbClr val="DCDCDC"/>
                      </a:solidFill>
                      <a:prstDash val="solid"/>
                      <a:round/>
                      <a:headEnd type="none" w="med" len="med"/>
                      <a:tailEnd type="none" w="med" len="med"/>
                    </a:lnR>
                    <a:lnT w="6350" cap="flat" cmpd="sng" algn="ctr">
                      <a:solidFill>
                        <a:srgbClr val="DCDCDC"/>
                      </a:solidFill>
                      <a:prstDash val="solid"/>
                      <a:round/>
                      <a:headEnd type="none" w="med" len="med"/>
                      <a:tailEnd type="none" w="med" len="med"/>
                    </a:lnT>
                    <a:lnB w="6350" cap="flat" cmpd="sng" algn="ctr">
                      <a:solidFill>
                        <a:srgbClr val="DCDCDC"/>
                      </a:solidFill>
                      <a:prstDash val="solid"/>
                      <a:round/>
                      <a:headEnd type="none" w="med" len="med"/>
                      <a:tailEnd type="none" w="med" len="med"/>
                    </a:lnB>
                    <a:solidFill>
                      <a:srgbClr val="F4F4F4"/>
                    </a:solidFill>
                  </a:tcPr>
                </a:tc>
                <a:tc>
                  <a:txBody>
                    <a:bodyPr/>
                    <a:lstStyle/>
                    <a:p>
                      <a:pPr marL="0" indent="0" algn="r">
                        <a:buNone/>
                      </a:pPr>
                      <a:r>
                        <a:rPr lang="en-US" sz="1250" b="1" dirty="0">
                          <a:solidFill>
                            <a:srgbClr val="1A1A1A"/>
                          </a:solidFill>
                          <a:latin typeface="Arial" pitchFamily="34" charset="0"/>
                          <a:ea typeface="Arial" pitchFamily="34" charset="-122"/>
                          <a:cs typeface="Arial" pitchFamily="34" charset="-120"/>
                        </a:rPr>
                        <a:t>F1</a:t>
                      </a:r>
                      <a:endParaRPr lang="en-US" sz="1250" dirty="0">
                        <a:latin typeface="Arial" charset="0"/>
                        <a:ea typeface="Arial" charset="0"/>
                        <a:cs typeface="Arial" charset="0"/>
                      </a:endParaRPr>
                    </a:p>
                  </a:txBody>
                  <a:tcPr marL="109728" marR="109728" marT="36576" marB="36576" anchor="ctr">
                    <a:lnL w="6350" cap="flat" cmpd="sng" algn="ctr">
                      <a:solidFill>
                        <a:srgbClr val="DCDCDC"/>
                      </a:solidFill>
                      <a:prstDash val="solid"/>
                      <a:round/>
                      <a:headEnd type="none" w="med" len="med"/>
                      <a:tailEnd type="none" w="med" len="med"/>
                    </a:lnL>
                    <a:lnR w="6350" cap="flat" cmpd="sng" algn="ctr">
                      <a:solidFill>
                        <a:srgbClr val="DCDCDC"/>
                      </a:solidFill>
                      <a:prstDash val="solid"/>
                      <a:round/>
                      <a:headEnd type="none" w="med" len="med"/>
                      <a:tailEnd type="none" w="med" len="med"/>
                    </a:lnR>
                    <a:lnT w="6350" cap="flat" cmpd="sng" algn="ctr">
                      <a:solidFill>
                        <a:srgbClr val="DCDCDC"/>
                      </a:solidFill>
                      <a:prstDash val="solid"/>
                      <a:round/>
                      <a:headEnd type="none" w="med" len="med"/>
                      <a:tailEnd type="none" w="med" len="med"/>
                    </a:lnT>
                    <a:lnB w="6350" cap="flat" cmpd="sng" algn="ctr">
                      <a:solidFill>
                        <a:srgbClr val="DCDCDC"/>
                      </a:solidFill>
                      <a:prstDash val="solid"/>
                      <a:round/>
                      <a:headEnd type="none" w="med" len="med"/>
                      <a:tailEnd type="none" w="med" len="med"/>
                    </a:lnB>
                    <a:solidFill>
                      <a:srgbClr val="F4F4F4"/>
                    </a:solidFill>
                  </a:tcPr>
                </a:tc>
                <a:extLst>
                  <a:ext uri="{0D108BD9-81ED-4DB2-BD59-A6C34878D82A}">
                    <a16:rowId xmlns:a16="http://schemas.microsoft.com/office/drawing/2014/main" val="10000"/>
                  </a:ext>
                </a:extLst>
              </a:tr>
              <a:tr h="420624">
                <a:tc>
                  <a:txBody>
                    <a:bodyPr/>
                    <a:lstStyle/>
                    <a:p>
                      <a:pPr marL="0" indent="0" algn="l">
                        <a:buNone/>
                      </a:pPr>
                      <a:r>
                        <a:rPr lang="en-US" sz="1250" dirty="0">
                          <a:solidFill>
                            <a:srgbClr val="444444"/>
                          </a:solidFill>
                          <a:latin typeface="Arial" pitchFamily="34" charset="0"/>
                          <a:ea typeface="Arial" pitchFamily="34" charset="-122"/>
                          <a:cs typeface="Arial" pitchFamily="34" charset="-120"/>
                        </a:rPr>
                        <a:t>Baseline</a:t>
                      </a:r>
                      <a:endParaRPr lang="en-US" sz="1250" dirty="0">
                        <a:latin typeface="Arial" charset="0"/>
                        <a:ea typeface="Arial" charset="0"/>
                        <a:cs typeface="Arial" charset="0"/>
                      </a:endParaRPr>
                    </a:p>
                  </a:txBody>
                  <a:tcPr marL="109728" marR="109728" marT="36576" marB="36576" anchor="ctr">
                    <a:lnL w="6350" cap="flat" cmpd="sng" algn="ctr">
                      <a:solidFill>
                        <a:srgbClr val="DCDCDC"/>
                      </a:solidFill>
                      <a:prstDash val="solid"/>
                      <a:round/>
                      <a:headEnd type="none" w="med" len="med"/>
                      <a:tailEnd type="none" w="med" len="med"/>
                    </a:lnL>
                    <a:lnR w="6350" cap="flat" cmpd="sng" algn="ctr">
                      <a:solidFill>
                        <a:srgbClr val="DCDCDC"/>
                      </a:solidFill>
                      <a:prstDash val="solid"/>
                      <a:round/>
                      <a:headEnd type="none" w="med" len="med"/>
                      <a:tailEnd type="none" w="med" len="med"/>
                    </a:lnR>
                    <a:lnT w="6350" cap="flat" cmpd="sng" algn="ctr">
                      <a:solidFill>
                        <a:srgbClr val="DCDCDC"/>
                      </a:solidFill>
                      <a:prstDash val="solid"/>
                      <a:round/>
                      <a:headEnd type="none" w="med" len="med"/>
                      <a:tailEnd type="none" w="med" len="med"/>
                    </a:lnT>
                    <a:lnB w="6350" cap="flat" cmpd="sng" algn="ctr">
                      <a:solidFill>
                        <a:srgbClr val="DCDCDC"/>
                      </a:solidFill>
                      <a:prstDash val="solid"/>
                      <a:round/>
                      <a:headEnd type="none" w="med" len="med"/>
                      <a:tailEnd type="none" w="med" len="med"/>
                    </a:lnB>
                    <a:solidFill>
                      <a:srgbClr val="FFFFFF"/>
                    </a:solidFill>
                  </a:tcPr>
                </a:tc>
                <a:tc>
                  <a:txBody>
                    <a:bodyPr/>
                    <a:lstStyle/>
                    <a:p>
                      <a:pPr marL="0" indent="0" algn="r">
                        <a:buNone/>
                      </a:pPr>
                      <a:r>
                        <a:rPr lang="en-US" sz="1250" dirty="0">
                          <a:solidFill>
                            <a:srgbClr val="444444"/>
                          </a:solidFill>
                          <a:latin typeface="Arial" pitchFamily="34" charset="0"/>
                          <a:ea typeface="Arial" pitchFamily="34" charset="-122"/>
                          <a:cs typeface="Arial" pitchFamily="34" charset="-120"/>
                        </a:rPr>
                        <a:t>0.105</a:t>
                      </a:r>
                      <a:endParaRPr lang="en-US" sz="1250" dirty="0">
                        <a:latin typeface="Arial" charset="0"/>
                        <a:ea typeface="Arial" charset="0"/>
                        <a:cs typeface="Arial" charset="0"/>
                      </a:endParaRPr>
                    </a:p>
                  </a:txBody>
                  <a:tcPr marL="109728" marR="109728" marT="36576" marB="36576" anchor="ctr">
                    <a:lnL w="6350" cap="flat" cmpd="sng" algn="ctr">
                      <a:solidFill>
                        <a:srgbClr val="DCDCDC"/>
                      </a:solidFill>
                      <a:prstDash val="solid"/>
                      <a:round/>
                      <a:headEnd type="none" w="med" len="med"/>
                      <a:tailEnd type="none" w="med" len="med"/>
                    </a:lnL>
                    <a:lnR w="6350" cap="flat" cmpd="sng" algn="ctr">
                      <a:solidFill>
                        <a:srgbClr val="DCDCDC"/>
                      </a:solidFill>
                      <a:prstDash val="solid"/>
                      <a:round/>
                      <a:headEnd type="none" w="med" len="med"/>
                      <a:tailEnd type="none" w="med" len="med"/>
                    </a:lnR>
                    <a:lnT w="6350" cap="flat" cmpd="sng" algn="ctr">
                      <a:solidFill>
                        <a:srgbClr val="DCDCDC"/>
                      </a:solidFill>
                      <a:prstDash val="solid"/>
                      <a:round/>
                      <a:headEnd type="none" w="med" len="med"/>
                      <a:tailEnd type="none" w="med" len="med"/>
                    </a:lnT>
                    <a:lnB w="6350" cap="flat" cmpd="sng" algn="ctr">
                      <a:solidFill>
                        <a:srgbClr val="DCDCDC"/>
                      </a:solidFill>
                      <a:prstDash val="solid"/>
                      <a:round/>
                      <a:headEnd type="none" w="med" len="med"/>
                      <a:tailEnd type="none" w="med" len="med"/>
                    </a:lnB>
                    <a:solidFill>
                      <a:srgbClr val="FFFFFF"/>
                    </a:solidFill>
                  </a:tcPr>
                </a:tc>
                <a:tc>
                  <a:txBody>
                    <a:bodyPr/>
                    <a:lstStyle/>
                    <a:p>
                      <a:pPr marL="0" indent="0" algn="r">
                        <a:buNone/>
                      </a:pPr>
                      <a:r>
                        <a:rPr lang="en-US" sz="1250" dirty="0">
                          <a:solidFill>
                            <a:srgbClr val="444444"/>
                          </a:solidFill>
                          <a:latin typeface="Arial" pitchFamily="34" charset="0"/>
                          <a:ea typeface="Arial" pitchFamily="34" charset="-122"/>
                          <a:cs typeface="Arial" pitchFamily="34" charset="-120"/>
                        </a:rPr>
                        <a:t>51</a:t>
                      </a:r>
                      <a:endParaRPr lang="en-US" sz="1250" dirty="0">
                        <a:latin typeface="Arial" charset="0"/>
                        <a:ea typeface="Arial" charset="0"/>
                        <a:cs typeface="Arial" charset="0"/>
                      </a:endParaRPr>
                    </a:p>
                  </a:txBody>
                  <a:tcPr marL="109728" marR="109728" marT="36576" marB="36576" anchor="ctr">
                    <a:lnL w="6350" cap="flat" cmpd="sng" algn="ctr">
                      <a:solidFill>
                        <a:srgbClr val="DCDCDC"/>
                      </a:solidFill>
                      <a:prstDash val="solid"/>
                      <a:round/>
                      <a:headEnd type="none" w="med" len="med"/>
                      <a:tailEnd type="none" w="med" len="med"/>
                    </a:lnL>
                    <a:lnR w="6350" cap="flat" cmpd="sng" algn="ctr">
                      <a:solidFill>
                        <a:srgbClr val="DCDCDC"/>
                      </a:solidFill>
                      <a:prstDash val="solid"/>
                      <a:round/>
                      <a:headEnd type="none" w="med" len="med"/>
                      <a:tailEnd type="none" w="med" len="med"/>
                    </a:lnR>
                    <a:lnT w="6350" cap="flat" cmpd="sng" algn="ctr">
                      <a:solidFill>
                        <a:srgbClr val="DCDCDC"/>
                      </a:solidFill>
                      <a:prstDash val="solid"/>
                      <a:round/>
                      <a:headEnd type="none" w="med" len="med"/>
                      <a:tailEnd type="none" w="med" len="med"/>
                    </a:lnT>
                    <a:lnB w="6350" cap="flat" cmpd="sng" algn="ctr">
                      <a:solidFill>
                        <a:srgbClr val="DCDCDC"/>
                      </a:solidFill>
                      <a:prstDash val="solid"/>
                      <a:round/>
                      <a:headEnd type="none" w="med" len="med"/>
                      <a:tailEnd type="none" w="med" len="med"/>
                    </a:lnB>
                    <a:solidFill>
                      <a:srgbClr val="FFFFFF"/>
                    </a:solidFill>
                  </a:tcPr>
                </a:tc>
                <a:tc>
                  <a:txBody>
                    <a:bodyPr/>
                    <a:lstStyle/>
                    <a:p>
                      <a:pPr marL="0" indent="0" algn="r">
                        <a:buNone/>
                      </a:pPr>
                      <a:r>
                        <a:rPr lang="en-US" sz="1250" dirty="0">
                          <a:solidFill>
                            <a:srgbClr val="444444"/>
                          </a:solidFill>
                          <a:latin typeface="Arial" pitchFamily="34" charset="0"/>
                          <a:ea typeface="Arial" pitchFamily="34" charset="-122"/>
                          <a:cs typeface="Arial" pitchFamily="34" charset="-120"/>
                        </a:rPr>
                        <a:t>0.4200</a:t>
                      </a:r>
                      <a:endParaRPr lang="en-US" sz="1250" dirty="0">
                        <a:latin typeface="Arial" charset="0"/>
                        <a:ea typeface="Arial" charset="0"/>
                        <a:cs typeface="Arial" charset="0"/>
                      </a:endParaRPr>
                    </a:p>
                  </a:txBody>
                  <a:tcPr marL="109728" marR="109728" marT="36576" marB="36576" anchor="ctr">
                    <a:lnL w="6350" cap="flat" cmpd="sng" algn="ctr">
                      <a:solidFill>
                        <a:srgbClr val="DCDCDC"/>
                      </a:solidFill>
                      <a:prstDash val="solid"/>
                      <a:round/>
                      <a:headEnd type="none" w="med" len="med"/>
                      <a:tailEnd type="none" w="med" len="med"/>
                    </a:lnL>
                    <a:lnR w="6350" cap="flat" cmpd="sng" algn="ctr">
                      <a:solidFill>
                        <a:srgbClr val="DCDCDC"/>
                      </a:solidFill>
                      <a:prstDash val="solid"/>
                      <a:round/>
                      <a:headEnd type="none" w="med" len="med"/>
                      <a:tailEnd type="none" w="med" len="med"/>
                    </a:lnR>
                    <a:lnT w="6350" cap="flat" cmpd="sng" algn="ctr">
                      <a:solidFill>
                        <a:srgbClr val="DCDCDC"/>
                      </a:solidFill>
                      <a:prstDash val="solid"/>
                      <a:round/>
                      <a:headEnd type="none" w="med" len="med"/>
                      <a:tailEnd type="none" w="med" len="med"/>
                    </a:lnT>
                    <a:lnB w="6350" cap="flat" cmpd="sng" algn="ctr">
                      <a:solidFill>
                        <a:srgbClr val="DCDCDC"/>
                      </a:solidFill>
                      <a:prstDash val="solid"/>
                      <a:round/>
                      <a:headEnd type="none" w="med" len="med"/>
                      <a:tailEnd type="none" w="med" len="med"/>
                    </a:lnB>
                    <a:solidFill>
                      <a:srgbClr val="FFFFFF"/>
                    </a:solidFill>
                  </a:tcPr>
                </a:tc>
                <a:tc>
                  <a:txBody>
                    <a:bodyPr/>
                    <a:lstStyle/>
                    <a:p>
                      <a:pPr marL="0" indent="0" algn="r">
                        <a:buNone/>
                      </a:pPr>
                      <a:r>
                        <a:rPr lang="en-US" sz="1250" dirty="0">
                          <a:solidFill>
                            <a:srgbClr val="444444"/>
                          </a:solidFill>
                          <a:latin typeface="Arial" pitchFamily="34" charset="0"/>
                          <a:ea typeface="Arial" pitchFamily="34" charset="-122"/>
                          <a:cs typeface="Arial" pitchFamily="34" charset="-120"/>
                        </a:rPr>
                        <a:t>0.4077</a:t>
                      </a:r>
                      <a:endParaRPr lang="en-US" sz="1250" dirty="0">
                        <a:latin typeface="Arial" charset="0"/>
                        <a:ea typeface="Arial" charset="0"/>
                        <a:cs typeface="Arial" charset="0"/>
                      </a:endParaRPr>
                    </a:p>
                  </a:txBody>
                  <a:tcPr marL="109728" marR="109728" marT="36576" marB="36576" anchor="ctr">
                    <a:lnL w="6350" cap="flat" cmpd="sng" algn="ctr">
                      <a:solidFill>
                        <a:srgbClr val="DCDCDC"/>
                      </a:solidFill>
                      <a:prstDash val="solid"/>
                      <a:round/>
                      <a:headEnd type="none" w="med" len="med"/>
                      <a:tailEnd type="none" w="med" len="med"/>
                    </a:lnL>
                    <a:lnR w="6350" cap="flat" cmpd="sng" algn="ctr">
                      <a:solidFill>
                        <a:srgbClr val="DCDCDC"/>
                      </a:solidFill>
                      <a:prstDash val="solid"/>
                      <a:round/>
                      <a:headEnd type="none" w="med" len="med"/>
                      <a:tailEnd type="none" w="med" len="med"/>
                    </a:lnR>
                    <a:lnT w="6350" cap="flat" cmpd="sng" algn="ctr">
                      <a:solidFill>
                        <a:srgbClr val="DCDCDC"/>
                      </a:solidFill>
                      <a:prstDash val="solid"/>
                      <a:round/>
                      <a:headEnd type="none" w="med" len="med"/>
                      <a:tailEnd type="none" w="med" len="med"/>
                    </a:lnT>
                    <a:lnB w="6350" cap="flat" cmpd="sng" algn="ctr">
                      <a:solidFill>
                        <a:srgbClr val="DCDCDC"/>
                      </a:solidFill>
                      <a:prstDash val="solid"/>
                      <a:round/>
                      <a:headEnd type="none" w="med" len="med"/>
                      <a:tailEnd type="none" w="med" len="med"/>
                    </a:lnB>
                    <a:solidFill>
                      <a:srgbClr val="FFFFFF"/>
                    </a:solidFill>
                  </a:tcPr>
                </a:tc>
                <a:tc>
                  <a:txBody>
                    <a:bodyPr/>
                    <a:lstStyle/>
                    <a:p>
                      <a:pPr marL="0" indent="0" algn="r">
                        <a:buNone/>
                      </a:pPr>
                      <a:r>
                        <a:rPr lang="en-US" sz="1250" dirty="0">
                          <a:solidFill>
                            <a:srgbClr val="444444"/>
                          </a:solidFill>
                          <a:latin typeface="Arial" pitchFamily="34" charset="0"/>
                          <a:ea typeface="Arial" pitchFamily="34" charset="-122"/>
                          <a:cs typeface="Arial" pitchFamily="34" charset="-120"/>
                        </a:rPr>
                        <a:t>0.4138</a:t>
                      </a:r>
                      <a:endParaRPr lang="en-US" sz="1250" dirty="0">
                        <a:latin typeface="Arial" charset="0"/>
                        <a:ea typeface="Arial" charset="0"/>
                        <a:cs typeface="Arial" charset="0"/>
                      </a:endParaRPr>
                    </a:p>
                  </a:txBody>
                  <a:tcPr marL="109728" marR="109728" marT="36576" marB="36576" anchor="ctr">
                    <a:lnL w="6350" cap="flat" cmpd="sng" algn="ctr">
                      <a:solidFill>
                        <a:srgbClr val="DCDCDC"/>
                      </a:solidFill>
                      <a:prstDash val="solid"/>
                      <a:round/>
                      <a:headEnd type="none" w="med" len="med"/>
                      <a:tailEnd type="none" w="med" len="med"/>
                    </a:lnL>
                    <a:lnR w="6350" cap="flat" cmpd="sng" algn="ctr">
                      <a:solidFill>
                        <a:srgbClr val="DCDCDC"/>
                      </a:solidFill>
                      <a:prstDash val="solid"/>
                      <a:round/>
                      <a:headEnd type="none" w="med" len="med"/>
                      <a:tailEnd type="none" w="med" len="med"/>
                    </a:lnR>
                    <a:lnT w="6350" cap="flat" cmpd="sng" algn="ctr">
                      <a:solidFill>
                        <a:srgbClr val="DCDCDC"/>
                      </a:solidFill>
                      <a:prstDash val="solid"/>
                      <a:round/>
                      <a:headEnd type="none" w="med" len="med"/>
                      <a:tailEnd type="none" w="med" len="med"/>
                    </a:lnT>
                    <a:lnB w="6350" cap="flat" cmpd="sng" algn="ctr">
                      <a:solidFill>
                        <a:srgbClr val="DCDCD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20624">
                <a:tc>
                  <a:txBody>
                    <a:bodyPr/>
                    <a:lstStyle/>
                    <a:p>
                      <a:pPr marL="0" indent="0" algn="l">
                        <a:buNone/>
                      </a:pPr>
                      <a:r>
                        <a:rPr lang="en-US" sz="1250" dirty="0">
                          <a:solidFill>
                            <a:srgbClr val="444444"/>
                          </a:solidFill>
                          <a:latin typeface="Arial" pitchFamily="34" charset="0"/>
                          <a:ea typeface="Arial" pitchFamily="34" charset="-122"/>
                          <a:cs typeface="Arial" pitchFamily="34" charset="-120"/>
                        </a:rPr>
                        <a:t>+ incomplete-fact refinement</a:t>
                      </a:r>
                      <a:endParaRPr lang="en-US" sz="1250" dirty="0">
                        <a:latin typeface="Arial" charset="0"/>
                        <a:ea typeface="Arial" charset="0"/>
                        <a:cs typeface="Arial" charset="0"/>
                      </a:endParaRPr>
                    </a:p>
                  </a:txBody>
                  <a:tcPr marL="109728" marR="109728" marT="36576" marB="36576" anchor="ctr">
                    <a:lnL w="6350" cap="flat" cmpd="sng" algn="ctr">
                      <a:solidFill>
                        <a:srgbClr val="DCDCDC"/>
                      </a:solidFill>
                      <a:prstDash val="solid"/>
                      <a:round/>
                      <a:headEnd type="none" w="med" len="med"/>
                      <a:tailEnd type="none" w="med" len="med"/>
                    </a:lnL>
                    <a:lnR w="6350" cap="flat" cmpd="sng" algn="ctr">
                      <a:solidFill>
                        <a:srgbClr val="DCDCDC"/>
                      </a:solidFill>
                      <a:prstDash val="solid"/>
                      <a:round/>
                      <a:headEnd type="none" w="med" len="med"/>
                      <a:tailEnd type="none" w="med" len="med"/>
                    </a:lnR>
                    <a:lnT w="6350" cap="flat" cmpd="sng" algn="ctr">
                      <a:solidFill>
                        <a:srgbClr val="DCDCDC"/>
                      </a:solidFill>
                      <a:prstDash val="solid"/>
                      <a:round/>
                      <a:headEnd type="none" w="med" len="med"/>
                      <a:tailEnd type="none" w="med" len="med"/>
                    </a:lnT>
                    <a:lnB w="6350" cap="flat" cmpd="sng" algn="ctr">
                      <a:solidFill>
                        <a:srgbClr val="DCDCDC"/>
                      </a:solidFill>
                      <a:prstDash val="solid"/>
                      <a:round/>
                      <a:headEnd type="none" w="med" len="med"/>
                      <a:tailEnd type="none" w="med" len="med"/>
                    </a:lnB>
                    <a:solidFill>
                      <a:srgbClr val="FFFFFF"/>
                    </a:solidFill>
                  </a:tcPr>
                </a:tc>
                <a:tc>
                  <a:txBody>
                    <a:bodyPr/>
                    <a:lstStyle/>
                    <a:p>
                      <a:pPr marL="0" indent="0" algn="r">
                        <a:buNone/>
                      </a:pPr>
                      <a:r>
                        <a:rPr lang="en-US" sz="1250" dirty="0">
                          <a:solidFill>
                            <a:srgbClr val="444444"/>
                          </a:solidFill>
                          <a:latin typeface="Arial" pitchFamily="34" charset="0"/>
                          <a:ea typeface="Arial" pitchFamily="34" charset="-122"/>
                          <a:cs typeface="Arial" pitchFamily="34" charset="-120"/>
                        </a:rPr>
                        <a:t>0.078</a:t>
                      </a:r>
                      <a:endParaRPr lang="en-US" sz="1250" dirty="0">
                        <a:latin typeface="Arial" charset="0"/>
                        <a:ea typeface="Arial" charset="0"/>
                        <a:cs typeface="Arial" charset="0"/>
                      </a:endParaRPr>
                    </a:p>
                  </a:txBody>
                  <a:tcPr marL="109728" marR="109728" marT="36576" marB="36576" anchor="ctr">
                    <a:lnL w="6350" cap="flat" cmpd="sng" algn="ctr">
                      <a:solidFill>
                        <a:srgbClr val="DCDCDC"/>
                      </a:solidFill>
                      <a:prstDash val="solid"/>
                      <a:round/>
                      <a:headEnd type="none" w="med" len="med"/>
                      <a:tailEnd type="none" w="med" len="med"/>
                    </a:lnL>
                    <a:lnR w="6350" cap="flat" cmpd="sng" algn="ctr">
                      <a:solidFill>
                        <a:srgbClr val="DCDCDC"/>
                      </a:solidFill>
                      <a:prstDash val="solid"/>
                      <a:round/>
                      <a:headEnd type="none" w="med" len="med"/>
                      <a:tailEnd type="none" w="med" len="med"/>
                    </a:lnR>
                    <a:lnT w="6350" cap="flat" cmpd="sng" algn="ctr">
                      <a:solidFill>
                        <a:srgbClr val="DCDCDC"/>
                      </a:solidFill>
                      <a:prstDash val="solid"/>
                      <a:round/>
                      <a:headEnd type="none" w="med" len="med"/>
                      <a:tailEnd type="none" w="med" len="med"/>
                    </a:lnT>
                    <a:lnB w="6350" cap="flat" cmpd="sng" algn="ctr">
                      <a:solidFill>
                        <a:srgbClr val="DCDCDC"/>
                      </a:solidFill>
                      <a:prstDash val="solid"/>
                      <a:round/>
                      <a:headEnd type="none" w="med" len="med"/>
                      <a:tailEnd type="none" w="med" len="med"/>
                    </a:lnB>
                    <a:solidFill>
                      <a:srgbClr val="FFFFFF"/>
                    </a:solidFill>
                  </a:tcPr>
                </a:tc>
                <a:tc>
                  <a:txBody>
                    <a:bodyPr/>
                    <a:lstStyle/>
                    <a:p>
                      <a:pPr marL="0" indent="0" algn="r">
                        <a:buNone/>
                      </a:pPr>
                      <a:r>
                        <a:rPr lang="en-US" sz="1250" dirty="0">
                          <a:solidFill>
                            <a:srgbClr val="444444"/>
                          </a:solidFill>
                          <a:latin typeface="Arial" pitchFamily="34" charset="0"/>
                          <a:ea typeface="Arial" pitchFamily="34" charset="-122"/>
                          <a:cs typeface="Arial" pitchFamily="34" charset="-120"/>
                        </a:rPr>
                        <a:t>51</a:t>
                      </a:r>
                      <a:endParaRPr lang="en-US" sz="1250" dirty="0">
                        <a:latin typeface="Arial" charset="0"/>
                        <a:ea typeface="Arial" charset="0"/>
                        <a:cs typeface="Arial" charset="0"/>
                      </a:endParaRPr>
                    </a:p>
                  </a:txBody>
                  <a:tcPr marL="109728" marR="109728" marT="36576" marB="36576" anchor="ctr">
                    <a:lnL w="6350" cap="flat" cmpd="sng" algn="ctr">
                      <a:solidFill>
                        <a:srgbClr val="DCDCDC"/>
                      </a:solidFill>
                      <a:prstDash val="solid"/>
                      <a:round/>
                      <a:headEnd type="none" w="med" len="med"/>
                      <a:tailEnd type="none" w="med" len="med"/>
                    </a:lnL>
                    <a:lnR w="6350" cap="flat" cmpd="sng" algn="ctr">
                      <a:solidFill>
                        <a:srgbClr val="DCDCDC"/>
                      </a:solidFill>
                      <a:prstDash val="solid"/>
                      <a:round/>
                      <a:headEnd type="none" w="med" len="med"/>
                      <a:tailEnd type="none" w="med" len="med"/>
                    </a:lnR>
                    <a:lnT w="6350" cap="flat" cmpd="sng" algn="ctr">
                      <a:solidFill>
                        <a:srgbClr val="DCDCDC"/>
                      </a:solidFill>
                      <a:prstDash val="solid"/>
                      <a:round/>
                      <a:headEnd type="none" w="med" len="med"/>
                      <a:tailEnd type="none" w="med" len="med"/>
                    </a:lnT>
                    <a:lnB w="6350" cap="flat" cmpd="sng" algn="ctr">
                      <a:solidFill>
                        <a:srgbClr val="DCDCDC"/>
                      </a:solidFill>
                      <a:prstDash val="solid"/>
                      <a:round/>
                      <a:headEnd type="none" w="med" len="med"/>
                      <a:tailEnd type="none" w="med" len="med"/>
                    </a:lnB>
                    <a:solidFill>
                      <a:srgbClr val="FFFFFF"/>
                    </a:solidFill>
                  </a:tcPr>
                </a:tc>
                <a:tc>
                  <a:txBody>
                    <a:bodyPr/>
                    <a:lstStyle/>
                    <a:p>
                      <a:pPr marL="0" indent="0" algn="r">
                        <a:buNone/>
                      </a:pPr>
                      <a:r>
                        <a:rPr lang="en-US" sz="1250" dirty="0">
                          <a:solidFill>
                            <a:srgbClr val="444444"/>
                          </a:solidFill>
                          <a:latin typeface="Arial" pitchFamily="34" charset="0"/>
                          <a:ea typeface="Arial" pitchFamily="34" charset="-122"/>
                          <a:cs typeface="Arial" pitchFamily="34" charset="-120"/>
                        </a:rPr>
                        <a:t>0.3680</a:t>
                      </a:r>
                      <a:endParaRPr lang="en-US" sz="1250" dirty="0">
                        <a:latin typeface="Arial" charset="0"/>
                        <a:ea typeface="Arial" charset="0"/>
                        <a:cs typeface="Arial" charset="0"/>
                      </a:endParaRPr>
                    </a:p>
                  </a:txBody>
                  <a:tcPr marL="109728" marR="109728" marT="36576" marB="36576" anchor="ctr">
                    <a:lnL w="6350" cap="flat" cmpd="sng" algn="ctr">
                      <a:solidFill>
                        <a:srgbClr val="DCDCDC"/>
                      </a:solidFill>
                      <a:prstDash val="solid"/>
                      <a:round/>
                      <a:headEnd type="none" w="med" len="med"/>
                      <a:tailEnd type="none" w="med" len="med"/>
                    </a:lnL>
                    <a:lnR w="6350" cap="flat" cmpd="sng" algn="ctr">
                      <a:solidFill>
                        <a:srgbClr val="DCDCDC"/>
                      </a:solidFill>
                      <a:prstDash val="solid"/>
                      <a:round/>
                      <a:headEnd type="none" w="med" len="med"/>
                      <a:tailEnd type="none" w="med" len="med"/>
                    </a:lnR>
                    <a:lnT w="6350" cap="flat" cmpd="sng" algn="ctr">
                      <a:solidFill>
                        <a:srgbClr val="DCDCDC"/>
                      </a:solidFill>
                      <a:prstDash val="solid"/>
                      <a:round/>
                      <a:headEnd type="none" w="med" len="med"/>
                      <a:tailEnd type="none" w="med" len="med"/>
                    </a:lnT>
                    <a:lnB w="6350" cap="flat" cmpd="sng" algn="ctr">
                      <a:solidFill>
                        <a:srgbClr val="DCDCDC"/>
                      </a:solidFill>
                      <a:prstDash val="solid"/>
                      <a:round/>
                      <a:headEnd type="none" w="med" len="med"/>
                      <a:tailEnd type="none" w="med" len="med"/>
                    </a:lnB>
                    <a:solidFill>
                      <a:srgbClr val="FFFFFF"/>
                    </a:solidFill>
                  </a:tcPr>
                </a:tc>
                <a:tc>
                  <a:txBody>
                    <a:bodyPr/>
                    <a:lstStyle/>
                    <a:p>
                      <a:pPr marL="0" indent="0" algn="r">
                        <a:buNone/>
                      </a:pPr>
                      <a:r>
                        <a:rPr lang="en-US" sz="1250" dirty="0">
                          <a:solidFill>
                            <a:srgbClr val="444444"/>
                          </a:solidFill>
                          <a:latin typeface="Arial" pitchFamily="34" charset="0"/>
                          <a:ea typeface="Arial" pitchFamily="34" charset="-122"/>
                          <a:cs typeface="Arial" pitchFamily="34" charset="-120"/>
                        </a:rPr>
                        <a:t>0.4077</a:t>
                      </a:r>
                      <a:endParaRPr lang="en-US" sz="1250" dirty="0">
                        <a:latin typeface="Arial" charset="0"/>
                        <a:ea typeface="Arial" charset="0"/>
                        <a:cs typeface="Arial" charset="0"/>
                      </a:endParaRPr>
                    </a:p>
                  </a:txBody>
                  <a:tcPr marL="109728" marR="109728" marT="36576" marB="36576" anchor="ctr">
                    <a:lnL w="6350" cap="flat" cmpd="sng" algn="ctr">
                      <a:solidFill>
                        <a:srgbClr val="DCDCDC"/>
                      </a:solidFill>
                      <a:prstDash val="solid"/>
                      <a:round/>
                      <a:headEnd type="none" w="med" len="med"/>
                      <a:tailEnd type="none" w="med" len="med"/>
                    </a:lnL>
                    <a:lnR w="6350" cap="flat" cmpd="sng" algn="ctr">
                      <a:solidFill>
                        <a:srgbClr val="DCDCDC"/>
                      </a:solidFill>
                      <a:prstDash val="solid"/>
                      <a:round/>
                      <a:headEnd type="none" w="med" len="med"/>
                      <a:tailEnd type="none" w="med" len="med"/>
                    </a:lnR>
                    <a:lnT w="6350" cap="flat" cmpd="sng" algn="ctr">
                      <a:solidFill>
                        <a:srgbClr val="DCDCDC"/>
                      </a:solidFill>
                      <a:prstDash val="solid"/>
                      <a:round/>
                      <a:headEnd type="none" w="med" len="med"/>
                      <a:tailEnd type="none" w="med" len="med"/>
                    </a:lnT>
                    <a:lnB w="6350" cap="flat" cmpd="sng" algn="ctr">
                      <a:solidFill>
                        <a:srgbClr val="DCDCDC"/>
                      </a:solidFill>
                      <a:prstDash val="solid"/>
                      <a:round/>
                      <a:headEnd type="none" w="med" len="med"/>
                      <a:tailEnd type="none" w="med" len="med"/>
                    </a:lnB>
                    <a:solidFill>
                      <a:srgbClr val="FFFFFF"/>
                    </a:solidFill>
                  </a:tcPr>
                </a:tc>
                <a:tc>
                  <a:txBody>
                    <a:bodyPr/>
                    <a:lstStyle/>
                    <a:p>
                      <a:pPr marL="0" indent="0" algn="r">
                        <a:buNone/>
                      </a:pPr>
                      <a:r>
                        <a:rPr lang="en-US" sz="1250" dirty="0">
                          <a:solidFill>
                            <a:srgbClr val="444444"/>
                          </a:solidFill>
                          <a:latin typeface="Arial" pitchFamily="34" charset="0"/>
                          <a:ea typeface="Arial" pitchFamily="34" charset="-122"/>
                          <a:cs typeface="Arial" pitchFamily="34" charset="-120"/>
                        </a:rPr>
                        <a:t>0.3868</a:t>
                      </a:r>
                      <a:endParaRPr lang="en-US" sz="1250" dirty="0">
                        <a:latin typeface="Arial" charset="0"/>
                        <a:ea typeface="Arial" charset="0"/>
                        <a:cs typeface="Arial" charset="0"/>
                      </a:endParaRPr>
                    </a:p>
                  </a:txBody>
                  <a:tcPr marL="109728" marR="109728" marT="36576" marB="36576" anchor="ctr">
                    <a:lnL w="6350" cap="flat" cmpd="sng" algn="ctr">
                      <a:solidFill>
                        <a:srgbClr val="DCDCDC"/>
                      </a:solidFill>
                      <a:prstDash val="solid"/>
                      <a:round/>
                      <a:headEnd type="none" w="med" len="med"/>
                      <a:tailEnd type="none" w="med" len="med"/>
                    </a:lnL>
                    <a:lnR w="6350" cap="flat" cmpd="sng" algn="ctr">
                      <a:solidFill>
                        <a:srgbClr val="DCDCDC"/>
                      </a:solidFill>
                      <a:prstDash val="solid"/>
                      <a:round/>
                      <a:headEnd type="none" w="med" len="med"/>
                      <a:tailEnd type="none" w="med" len="med"/>
                    </a:lnR>
                    <a:lnT w="6350" cap="flat" cmpd="sng" algn="ctr">
                      <a:solidFill>
                        <a:srgbClr val="DCDCDC"/>
                      </a:solidFill>
                      <a:prstDash val="solid"/>
                      <a:round/>
                      <a:headEnd type="none" w="med" len="med"/>
                      <a:tailEnd type="none" w="med" len="med"/>
                    </a:lnT>
                    <a:lnB w="6350" cap="flat" cmpd="sng" algn="ctr">
                      <a:solidFill>
                        <a:srgbClr val="DCDCDC"/>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20624">
                <a:tc>
                  <a:txBody>
                    <a:bodyPr/>
                    <a:lstStyle/>
                    <a:p>
                      <a:pPr marL="0" indent="0" algn="l">
                        <a:buNone/>
                      </a:pPr>
                      <a:r>
                        <a:rPr lang="en-US" sz="1250" dirty="0">
                          <a:solidFill>
                            <a:srgbClr val="444444"/>
                          </a:solidFill>
                          <a:latin typeface="Arial" pitchFamily="34" charset="0"/>
                          <a:ea typeface="Arial" pitchFamily="34" charset="-122"/>
                          <a:cs typeface="Arial" pitchFamily="34" charset="-120"/>
                        </a:rPr>
                        <a:t>+ missing-relation recovery</a:t>
                      </a:r>
                      <a:endParaRPr lang="en-US" sz="1250" dirty="0">
                        <a:latin typeface="Arial" charset="0"/>
                        <a:ea typeface="Arial" charset="0"/>
                        <a:cs typeface="Arial" charset="0"/>
                      </a:endParaRPr>
                    </a:p>
                  </a:txBody>
                  <a:tcPr marL="109728" marR="109728" marT="36576" marB="36576" anchor="ctr">
                    <a:lnL w="6350" cap="flat" cmpd="sng" algn="ctr">
                      <a:solidFill>
                        <a:srgbClr val="DCDCDC"/>
                      </a:solidFill>
                      <a:prstDash val="solid"/>
                      <a:round/>
                      <a:headEnd type="none" w="med" len="med"/>
                      <a:tailEnd type="none" w="med" len="med"/>
                    </a:lnL>
                    <a:lnR w="6350" cap="flat" cmpd="sng" algn="ctr">
                      <a:solidFill>
                        <a:srgbClr val="DCDCDC"/>
                      </a:solidFill>
                      <a:prstDash val="solid"/>
                      <a:round/>
                      <a:headEnd type="none" w="med" len="med"/>
                      <a:tailEnd type="none" w="med" len="med"/>
                    </a:lnR>
                    <a:lnT w="6350" cap="flat" cmpd="sng" algn="ctr">
                      <a:solidFill>
                        <a:srgbClr val="DCDCDC"/>
                      </a:solidFill>
                      <a:prstDash val="solid"/>
                      <a:round/>
                      <a:headEnd type="none" w="med" len="med"/>
                      <a:tailEnd type="none" w="med" len="med"/>
                    </a:lnT>
                    <a:lnB w="6350" cap="flat" cmpd="sng" algn="ctr">
                      <a:solidFill>
                        <a:srgbClr val="DCDCDC"/>
                      </a:solidFill>
                      <a:prstDash val="solid"/>
                      <a:round/>
                      <a:headEnd type="none" w="med" len="med"/>
                      <a:tailEnd type="none" w="med" len="med"/>
                    </a:lnB>
                    <a:solidFill>
                      <a:srgbClr val="FFFFFF"/>
                    </a:solidFill>
                  </a:tcPr>
                </a:tc>
                <a:tc>
                  <a:txBody>
                    <a:bodyPr/>
                    <a:lstStyle/>
                    <a:p>
                      <a:pPr marL="0" indent="0" algn="r">
                        <a:buNone/>
                      </a:pPr>
                      <a:r>
                        <a:rPr lang="en-US" sz="1250" dirty="0">
                          <a:solidFill>
                            <a:srgbClr val="444444"/>
                          </a:solidFill>
                          <a:latin typeface="Arial" pitchFamily="34" charset="0"/>
                          <a:ea typeface="Arial" pitchFamily="34" charset="-122"/>
                          <a:cs typeface="Arial" pitchFamily="34" charset="-120"/>
                        </a:rPr>
                        <a:t>0.113</a:t>
                      </a:r>
                      <a:endParaRPr lang="en-US" sz="1250" dirty="0">
                        <a:latin typeface="Arial" charset="0"/>
                        <a:ea typeface="Arial" charset="0"/>
                        <a:cs typeface="Arial" charset="0"/>
                      </a:endParaRPr>
                    </a:p>
                  </a:txBody>
                  <a:tcPr marL="109728" marR="109728" marT="36576" marB="36576" anchor="ctr">
                    <a:lnL w="6350" cap="flat" cmpd="sng" algn="ctr">
                      <a:solidFill>
                        <a:srgbClr val="DCDCDC"/>
                      </a:solidFill>
                      <a:prstDash val="solid"/>
                      <a:round/>
                      <a:headEnd type="none" w="med" len="med"/>
                      <a:tailEnd type="none" w="med" len="med"/>
                    </a:lnL>
                    <a:lnR w="6350" cap="flat" cmpd="sng" algn="ctr">
                      <a:solidFill>
                        <a:srgbClr val="DCDCDC"/>
                      </a:solidFill>
                      <a:prstDash val="solid"/>
                      <a:round/>
                      <a:headEnd type="none" w="med" len="med"/>
                      <a:tailEnd type="none" w="med" len="med"/>
                    </a:lnR>
                    <a:lnT w="6350" cap="flat" cmpd="sng" algn="ctr">
                      <a:solidFill>
                        <a:srgbClr val="DCDCDC"/>
                      </a:solidFill>
                      <a:prstDash val="solid"/>
                      <a:round/>
                      <a:headEnd type="none" w="med" len="med"/>
                      <a:tailEnd type="none" w="med" len="med"/>
                    </a:lnT>
                    <a:lnB w="6350" cap="flat" cmpd="sng" algn="ctr">
                      <a:solidFill>
                        <a:srgbClr val="DCDCDC"/>
                      </a:solidFill>
                      <a:prstDash val="solid"/>
                      <a:round/>
                      <a:headEnd type="none" w="med" len="med"/>
                      <a:tailEnd type="none" w="med" len="med"/>
                    </a:lnB>
                    <a:solidFill>
                      <a:srgbClr val="FFFFFF"/>
                    </a:solidFill>
                  </a:tcPr>
                </a:tc>
                <a:tc>
                  <a:txBody>
                    <a:bodyPr/>
                    <a:lstStyle/>
                    <a:p>
                      <a:pPr marL="0" indent="0" algn="r">
                        <a:buNone/>
                      </a:pPr>
                      <a:r>
                        <a:rPr lang="en-US" sz="1250" dirty="0">
                          <a:solidFill>
                            <a:srgbClr val="444444"/>
                          </a:solidFill>
                          <a:latin typeface="Arial" pitchFamily="34" charset="0"/>
                          <a:ea typeface="Arial" pitchFamily="34" charset="-122"/>
                          <a:cs typeface="Arial" pitchFamily="34" charset="-120"/>
                        </a:rPr>
                        <a:t>0</a:t>
                      </a:r>
                      <a:endParaRPr lang="en-US" sz="1250" dirty="0">
                        <a:latin typeface="Arial" charset="0"/>
                        <a:ea typeface="Arial" charset="0"/>
                        <a:cs typeface="Arial" charset="0"/>
                      </a:endParaRPr>
                    </a:p>
                  </a:txBody>
                  <a:tcPr marL="109728" marR="109728" marT="36576" marB="36576" anchor="ctr">
                    <a:lnL w="6350" cap="flat" cmpd="sng" algn="ctr">
                      <a:solidFill>
                        <a:srgbClr val="DCDCDC"/>
                      </a:solidFill>
                      <a:prstDash val="solid"/>
                      <a:round/>
                      <a:headEnd type="none" w="med" len="med"/>
                      <a:tailEnd type="none" w="med" len="med"/>
                    </a:lnL>
                    <a:lnR w="6350" cap="flat" cmpd="sng" algn="ctr">
                      <a:solidFill>
                        <a:srgbClr val="DCDCDC"/>
                      </a:solidFill>
                      <a:prstDash val="solid"/>
                      <a:round/>
                      <a:headEnd type="none" w="med" len="med"/>
                      <a:tailEnd type="none" w="med" len="med"/>
                    </a:lnR>
                    <a:lnT w="6350" cap="flat" cmpd="sng" algn="ctr">
                      <a:solidFill>
                        <a:srgbClr val="DCDCDC"/>
                      </a:solidFill>
                      <a:prstDash val="solid"/>
                      <a:round/>
                      <a:headEnd type="none" w="med" len="med"/>
                      <a:tailEnd type="none" w="med" len="med"/>
                    </a:lnT>
                    <a:lnB w="6350" cap="flat" cmpd="sng" algn="ctr">
                      <a:solidFill>
                        <a:srgbClr val="DCDCDC"/>
                      </a:solidFill>
                      <a:prstDash val="solid"/>
                      <a:round/>
                      <a:headEnd type="none" w="med" len="med"/>
                      <a:tailEnd type="none" w="med" len="med"/>
                    </a:lnB>
                    <a:solidFill>
                      <a:srgbClr val="FFFFFF"/>
                    </a:solidFill>
                  </a:tcPr>
                </a:tc>
                <a:tc>
                  <a:txBody>
                    <a:bodyPr/>
                    <a:lstStyle/>
                    <a:p>
                      <a:pPr marL="0" indent="0" algn="r">
                        <a:buNone/>
                      </a:pPr>
                      <a:r>
                        <a:rPr lang="en-US" sz="1250" dirty="0">
                          <a:solidFill>
                            <a:srgbClr val="444444"/>
                          </a:solidFill>
                          <a:latin typeface="Arial" pitchFamily="34" charset="0"/>
                          <a:ea typeface="Arial" pitchFamily="34" charset="-122"/>
                          <a:cs typeface="Arial" pitchFamily="34" charset="-120"/>
                        </a:rPr>
                        <a:t>0.3839</a:t>
                      </a:r>
                      <a:endParaRPr lang="en-US" sz="1250" dirty="0">
                        <a:latin typeface="Arial" charset="0"/>
                        <a:ea typeface="Arial" charset="0"/>
                        <a:cs typeface="Arial" charset="0"/>
                      </a:endParaRPr>
                    </a:p>
                  </a:txBody>
                  <a:tcPr marL="109728" marR="109728" marT="36576" marB="36576" anchor="ctr">
                    <a:lnL w="6350" cap="flat" cmpd="sng" algn="ctr">
                      <a:solidFill>
                        <a:srgbClr val="DCDCDC"/>
                      </a:solidFill>
                      <a:prstDash val="solid"/>
                      <a:round/>
                      <a:headEnd type="none" w="med" len="med"/>
                      <a:tailEnd type="none" w="med" len="med"/>
                    </a:lnL>
                    <a:lnR w="6350" cap="flat" cmpd="sng" algn="ctr">
                      <a:solidFill>
                        <a:srgbClr val="DCDCDC"/>
                      </a:solidFill>
                      <a:prstDash val="solid"/>
                      <a:round/>
                      <a:headEnd type="none" w="med" len="med"/>
                      <a:tailEnd type="none" w="med" len="med"/>
                    </a:lnR>
                    <a:lnT w="6350" cap="flat" cmpd="sng" algn="ctr">
                      <a:solidFill>
                        <a:srgbClr val="DCDCDC"/>
                      </a:solidFill>
                      <a:prstDash val="solid"/>
                      <a:round/>
                      <a:headEnd type="none" w="med" len="med"/>
                      <a:tailEnd type="none" w="med" len="med"/>
                    </a:lnT>
                    <a:lnB w="6350" cap="flat" cmpd="sng" algn="ctr">
                      <a:solidFill>
                        <a:srgbClr val="DCDCDC"/>
                      </a:solidFill>
                      <a:prstDash val="solid"/>
                      <a:round/>
                      <a:headEnd type="none" w="med" len="med"/>
                      <a:tailEnd type="none" w="med" len="med"/>
                    </a:lnB>
                    <a:solidFill>
                      <a:srgbClr val="FFFFFF"/>
                    </a:solidFill>
                  </a:tcPr>
                </a:tc>
                <a:tc>
                  <a:txBody>
                    <a:bodyPr/>
                    <a:lstStyle/>
                    <a:p>
                      <a:pPr marL="0" indent="0" algn="r">
                        <a:buNone/>
                      </a:pPr>
                      <a:r>
                        <a:rPr lang="en-US" sz="1250" dirty="0">
                          <a:solidFill>
                            <a:srgbClr val="444444"/>
                          </a:solidFill>
                          <a:latin typeface="Arial" pitchFamily="34" charset="0"/>
                          <a:ea typeface="Arial" pitchFamily="34" charset="-122"/>
                          <a:cs typeface="Arial" pitchFamily="34" charset="-120"/>
                        </a:rPr>
                        <a:t>0.4077</a:t>
                      </a:r>
                      <a:endParaRPr lang="en-US" sz="1250" dirty="0">
                        <a:latin typeface="Arial" charset="0"/>
                        <a:ea typeface="Arial" charset="0"/>
                        <a:cs typeface="Arial" charset="0"/>
                      </a:endParaRPr>
                    </a:p>
                  </a:txBody>
                  <a:tcPr marL="109728" marR="109728" marT="36576" marB="36576" anchor="ctr">
                    <a:lnL w="6350" cap="flat" cmpd="sng" algn="ctr">
                      <a:solidFill>
                        <a:srgbClr val="DCDCDC"/>
                      </a:solidFill>
                      <a:prstDash val="solid"/>
                      <a:round/>
                      <a:headEnd type="none" w="med" len="med"/>
                      <a:tailEnd type="none" w="med" len="med"/>
                    </a:lnL>
                    <a:lnR w="6350" cap="flat" cmpd="sng" algn="ctr">
                      <a:solidFill>
                        <a:srgbClr val="DCDCDC"/>
                      </a:solidFill>
                      <a:prstDash val="solid"/>
                      <a:round/>
                      <a:headEnd type="none" w="med" len="med"/>
                      <a:tailEnd type="none" w="med" len="med"/>
                    </a:lnR>
                    <a:lnT w="6350" cap="flat" cmpd="sng" algn="ctr">
                      <a:solidFill>
                        <a:srgbClr val="DCDCDC"/>
                      </a:solidFill>
                      <a:prstDash val="solid"/>
                      <a:round/>
                      <a:headEnd type="none" w="med" len="med"/>
                      <a:tailEnd type="none" w="med" len="med"/>
                    </a:lnT>
                    <a:lnB w="6350" cap="flat" cmpd="sng" algn="ctr">
                      <a:solidFill>
                        <a:srgbClr val="DCDCDC"/>
                      </a:solidFill>
                      <a:prstDash val="solid"/>
                      <a:round/>
                      <a:headEnd type="none" w="med" len="med"/>
                      <a:tailEnd type="none" w="med" len="med"/>
                    </a:lnB>
                    <a:solidFill>
                      <a:srgbClr val="FFFFFF"/>
                    </a:solidFill>
                  </a:tcPr>
                </a:tc>
                <a:tc>
                  <a:txBody>
                    <a:bodyPr/>
                    <a:lstStyle/>
                    <a:p>
                      <a:pPr marL="0" indent="0" algn="r">
                        <a:buNone/>
                      </a:pPr>
                      <a:r>
                        <a:rPr lang="en-US" sz="1250" dirty="0">
                          <a:solidFill>
                            <a:srgbClr val="444444"/>
                          </a:solidFill>
                          <a:latin typeface="Arial" pitchFamily="34" charset="0"/>
                          <a:ea typeface="Arial" pitchFamily="34" charset="-122"/>
                          <a:cs typeface="Arial" pitchFamily="34" charset="-120"/>
                        </a:rPr>
                        <a:t>0.3954</a:t>
                      </a:r>
                      <a:endParaRPr lang="en-US" sz="1250" dirty="0">
                        <a:latin typeface="Arial" charset="0"/>
                        <a:ea typeface="Arial" charset="0"/>
                        <a:cs typeface="Arial" charset="0"/>
                      </a:endParaRPr>
                    </a:p>
                  </a:txBody>
                  <a:tcPr marL="109728" marR="109728" marT="36576" marB="36576" anchor="ctr">
                    <a:lnL w="6350" cap="flat" cmpd="sng" algn="ctr">
                      <a:solidFill>
                        <a:srgbClr val="DCDCDC"/>
                      </a:solidFill>
                      <a:prstDash val="solid"/>
                      <a:round/>
                      <a:headEnd type="none" w="med" len="med"/>
                      <a:tailEnd type="none" w="med" len="med"/>
                    </a:lnL>
                    <a:lnR w="6350" cap="flat" cmpd="sng" algn="ctr">
                      <a:solidFill>
                        <a:srgbClr val="DCDCDC"/>
                      </a:solidFill>
                      <a:prstDash val="solid"/>
                      <a:round/>
                      <a:headEnd type="none" w="med" len="med"/>
                      <a:tailEnd type="none" w="med" len="med"/>
                    </a:lnR>
                    <a:lnT w="6350" cap="flat" cmpd="sng" algn="ctr">
                      <a:solidFill>
                        <a:srgbClr val="DCDCDC"/>
                      </a:solidFill>
                      <a:prstDash val="solid"/>
                      <a:round/>
                      <a:headEnd type="none" w="med" len="med"/>
                      <a:tailEnd type="none" w="med" len="med"/>
                    </a:lnT>
                    <a:lnB w="6350" cap="flat" cmpd="sng" algn="ctr">
                      <a:solidFill>
                        <a:srgbClr val="DCDCDC"/>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20624">
                <a:tc>
                  <a:txBody>
                    <a:bodyPr/>
                    <a:lstStyle/>
                    <a:p>
                      <a:pPr marL="0" indent="0" algn="l">
                        <a:buNone/>
                      </a:pPr>
                      <a:r>
                        <a:rPr lang="en-US" sz="1250" dirty="0">
                          <a:solidFill>
                            <a:srgbClr val="444444"/>
                          </a:solidFill>
                          <a:latin typeface="Arial" pitchFamily="34" charset="0"/>
                          <a:ea typeface="Arial" pitchFamily="34" charset="-122"/>
                          <a:cs typeface="Arial" pitchFamily="34" charset="-120"/>
                        </a:rPr>
                        <a:t>Full VERIFACT-Lite</a:t>
                      </a:r>
                      <a:endParaRPr lang="en-US" sz="1250" dirty="0">
                        <a:latin typeface="Arial" charset="0"/>
                        <a:ea typeface="Arial" charset="0"/>
                        <a:cs typeface="Arial" charset="0"/>
                      </a:endParaRPr>
                    </a:p>
                  </a:txBody>
                  <a:tcPr marL="109728" marR="109728" marT="36576" marB="36576" anchor="ctr">
                    <a:lnL w="6350" cap="flat" cmpd="sng" algn="ctr">
                      <a:solidFill>
                        <a:srgbClr val="DCDCDC"/>
                      </a:solidFill>
                      <a:prstDash val="solid"/>
                      <a:round/>
                      <a:headEnd type="none" w="med" len="med"/>
                      <a:tailEnd type="none" w="med" len="med"/>
                    </a:lnL>
                    <a:lnR w="6350" cap="flat" cmpd="sng" algn="ctr">
                      <a:solidFill>
                        <a:srgbClr val="DCDCDC"/>
                      </a:solidFill>
                      <a:prstDash val="solid"/>
                      <a:round/>
                      <a:headEnd type="none" w="med" len="med"/>
                      <a:tailEnd type="none" w="med" len="med"/>
                    </a:lnR>
                    <a:lnT w="6350" cap="flat" cmpd="sng" algn="ctr">
                      <a:solidFill>
                        <a:srgbClr val="DCDCDC"/>
                      </a:solidFill>
                      <a:prstDash val="solid"/>
                      <a:round/>
                      <a:headEnd type="none" w="med" len="med"/>
                      <a:tailEnd type="none" w="med" len="med"/>
                    </a:lnT>
                    <a:lnB w="6350" cap="flat" cmpd="sng" algn="ctr">
                      <a:solidFill>
                        <a:srgbClr val="DCDCDC"/>
                      </a:solidFill>
                      <a:prstDash val="solid"/>
                      <a:round/>
                      <a:headEnd type="none" w="med" len="med"/>
                      <a:tailEnd type="none" w="med" len="med"/>
                    </a:lnB>
                    <a:solidFill>
                      <a:srgbClr val="FFFFFF"/>
                    </a:solidFill>
                  </a:tcPr>
                </a:tc>
                <a:tc>
                  <a:txBody>
                    <a:bodyPr/>
                    <a:lstStyle/>
                    <a:p>
                      <a:pPr marL="0" indent="0" algn="r">
                        <a:buNone/>
                      </a:pPr>
                      <a:r>
                        <a:rPr lang="en-US" sz="1250" b="1" dirty="0">
                          <a:solidFill>
                            <a:srgbClr val="E90802"/>
                          </a:solidFill>
                          <a:latin typeface="Arial" pitchFamily="34" charset="0"/>
                          <a:ea typeface="Arial" pitchFamily="34" charset="-122"/>
                          <a:cs typeface="Arial" pitchFamily="34" charset="-120"/>
                        </a:rPr>
                        <a:t>0.091</a:t>
                      </a:r>
                      <a:endParaRPr lang="en-US" sz="1250" dirty="0">
                        <a:latin typeface="Arial" charset="0"/>
                        <a:ea typeface="Arial" charset="0"/>
                        <a:cs typeface="Arial" charset="0"/>
                      </a:endParaRPr>
                    </a:p>
                  </a:txBody>
                  <a:tcPr marL="109728" marR="109728" marT="36576" marB="36576" anchor="ctr">
                    <a:lnL w="6350" cap="flat" cmpd="sng" algn="ctr">
                      <a:solidFill>
                        <a:srgbClr val="DCDCDC"/>
                      </a:solidFill>
                      <a:prstDash val="solid"/>
                      <a:round/>
                      <a:headEnd type="none" w="med" len="med"/>
                      <a:tailEnd type="none" w="med" len="med"/>
                    </a:lnL>
                    <a:lnR w="6350" cap="flat" cmpd="sng" algn="ctr">
                      <a:solidFill>
                        <a:srgbClr val="DCDCDC"/>
                      </a:solidFill>
                      <a:prstDash val="solid"/>
                      <a:round/>
                      <a:headEnd type="none" w="med" len="med"/>
                      <a:tailEnd type="none" w="med" len="med"/>
                    </a:lnR>
                    <a:lnT w="6350" cap="flat" cmpd="sng" algn="ctr">
                      <a:solidFill>
                        <a:srgbClr val="DCDCDC"/>
                      </a:solidFill>
                      <a:prstDash val="solid"/>
                      <a:round/>
                      <a:headEnd type="none" w="med" len="med"/>
                      <a:tailEnd type="none" w="med" len="med"/>
                    </a:lnT>
                    <a:lnB w="6350" cap="flat" cmpd="sng" algn="ctr">
                      <a:solidFill>
                        <a:srgbClr val="DCDCDC"/>
                      </a:solidFill>
                      <a:prstDash val="solid"/>
                      <a:round/>
                      <a:headEnd type="none" w="med" len="med"/>
                      <a:tailEnd type="none" w="med" len="med"/>
                    </a:lnB>
                    <a:solidFill>
                      <a:srgbClr val="FFFFFF"/>
                    </a:solidFill>
                  </a:tcPr>
                </a:tc>
                <a:tc>
                  <a:txBody>
                    <a:bodyPr/>
                    <a:lstStyle/>
                    <a:p>
                      <a:pPr marL="0" indent="0" algn="r">
                        <a:buNone/>
                      </a:pPr>
                      <a:r>
                        <a:rPr lang="en-US" sz="1250" b="1" dirty="0">
                          <a:solidFill>
                            <a:srgbClr val="E90802"/>
                          </a:solidFill>
                          <a:latin typeface="Arial" pitchFamily="34" charset="0"/>
                          <a:ea typeface="Arial" pitchFamily="34" charset="-122"/>
                          <a:cs typeface="Arial" pitchFamily="34" charset="-120"/>
                        </a:rPr>
                        <a:t>0</a:t>
                      </a:r>
                      <a:endParaRPr lang="en-US" sz="1250" dirty="0">
                        <a:latin typeface="Arial" charset="0"/>
                        <a:ea typeface="Arial" charset="0"/>
                        <a:cs typeface="Arial" charset="0"/>
                      </a:endParaRPr>
                    </a:p>
                  </a:txBody>
                  <a:tcPr marL="109728" marR="109728" marT="36576" marB="36576" anchor="ctr">
                    <a:lnL w="6350" cap="flat" cmpd="sng" algn="ctr">
                      <a:solidFill>
                        <a:srgbClr val="DCDCDC"/>
                      </a:solidFill>
                      <a:prstDash val="solid"/>
                      <a:round/>
                      <a:headEnd type="none" w="med" len="med"/>
                      <a:tailEnd type="none" w="med" len="med"/>
                    </a:lnL>
                    <a:lnR w="6350" cap="flat" cmpd="sng" algn="ctr">
                      <a:solidFill>
                        <a:srgbClr val="DCDCDC"/>
                      </a:solidFill>
                      <a:prstDash val="solid"/>
                      <a:round/>
                      <a:headEnd type="none" w="med" len="med"/>
                      <a:tailEnd type="none" w="med" len="med"/>
                    </a:lnR>
                    <a:lnT w="6350" cap="flat" cmpd="sng" algn="ctr">
                      <a:solidFill>
                        <a:srgbClr val="DCDCDC"/>
                      </a:solidFill>
                      <a:prstDash val="solid"/>
                      <a:round/>
                      <a:headEnd type="none" w="med" len="med"/>
                      <a:tailEnd type="none" w="med" len="med"/>
                    </a:lnT>
                    <a:lnB w="6350" cap="flat" cmpd="sng" algn="ctr">
                      <a:solidFill>
                        <a:srgbClr val="DCDCDC"/>
                      </a:solidFill>
                      <a:prstDash val="solid"/>
                      <a:round/>
                      <a:headEnd type="none" w="med" len="med"/>
                      <a:tailEnd type="none" w="med" len="med"/>
                    </a:lnB>
                    <a:solidFill>
                      <a:srgbClr val="FFFFFF"/>
                    </a:solidFill>
                  </a:tcPr>
                </a:tc>
                <a:tc>
                  <a:txBody>
                    <a:bodyPr/>
                    <a:lstStyle/>
                    <a:p>
                      <a:pPr marL="0" indent="0" algn="r">
                        <a:buNone/>
                      </a:pPr>
                      <a:r>
                        <a:rPr lang="en-US" sz="1250" dirty="0">
                          <a:solidFill>
                            <a:srgbClr val="444444"/>
                          </a:solidFill>
                          <a:latin typeface="Arial" pitchFamily="34" charset="0"/>
                          <a:ea typeface="Arial" pitchFamily="34" charset="-122"/>
                          <a:cs typeface="Arial" pitchFamily="34" charset="-120"/>
                        </a:rPr>
                        <a:t>0.3426</a:t>
                      </a:r>
                      <a:endParaRPr lang="en-US" sz="1250" dirty="0">
                        <a:latin typeface="Arial" charset="0"/>
                        <a:ea typeface="Arial" charset="0"/>
                        <a:cs typeface="Arial" charset="0"/>
                      </a:endParaRPr>
                    </a:p>
                  </a:txBody>
                  <a:tcPr marL="109728" marR="109728" marT="36576" marB="36576" anchor="ctr">
                    <a:lnL w="6350" cap="flat" cmpd="sng" algn="ctr">
                      <a:solidFill>
                        <a:srgbClr val="DCDCDC"/>
                      </a:solidFill>
                      <a:prstDash val="solid"/>
                      <a:round/>
                      <a:headEnd type="none" w="med" len="med"/>
                      <a:tailEnd type="none" w="med" len="med"/>
                    </a:lnL>
                    <a:lnR w="6350" cap="flat" cmpd="sng" algn="ctr">
                      <a:solidFill>
                        <a:srgbClr val="DCDCDC"/>
                      </a:solidFill>
                      <a:prstDash val="solid"/>
                      <a:round/>
                      <a:headEnd type="none" w="med" len="med"/>
                      <a:tailEnd type="none" w="med" len="med"/>
                    </a:lnR>
                    <a:lnT w="6350" cap="flat" cmpd="sng" algn="ctr">
                      <a:solidFill>
                        <a:srgbClr val="DCDCDC"/>
                      </a:solidFill>
                      <a:prstDash val="solid"/>
                      <a:round/>
                      <a:headEnd type="none" w="med" len="med"/>
                      <a:tailEnd type="none" w="med" len="med"/>
                    </a:lnT>
                    <a:lnB w="6350" cap="flat" cmpd="sng" algn="ctr">
                      <a:solidFill>
                        <a:srgbClr val="DCDCDC"/>
                      </a:solidFill>
                      <a:prstDash val="solid"/>
                      <a:round/>
                      <a:headEnd type="none" w="med" len="med"/>
                      <a:tailEnd type="none" w="med" len="med"/>
                    </a:lnB>
                    <a:solidFill>
                      <a:srgbClr val="FFFFFF"/>
                    </a:solidFill>
                  </a:tcPr>
                </a:tc>
                <a:tc>
                  <a:txBody>
                    <a:bodyPr/>
                    <a:lstStyle/>
                    <a:p>
                      <a:pPr marL="0" indent="0" algn="r">
                        <a:buNone/>
                      </a:pPr>
                      <a:r>
                        <a:rPr lang="en-US" sz="1250" dirty="0">
                          <a:solidFill>
                            <a:srgbClr val="444444"/>
                          </a:solidFill>
                          <a:latin typeface="Arial" pitchFamily="34" charset="0"/>
                          <a:ea typeface="Arial" pitchFamily="34" charset="-122"/>
                          <a:cs typeface="Arial" pitchFamily="34" charset="-120"/>
                        </a:rPr>
                        <a:t>0.4077</a:t>
                      </a:r>
                      <a:endParaRPr lang="en-US" sz="1250" dirty="0">
                        <a:latin typeface="Arial" charset="0"/>
                        <a:ea typeface="Arial" charset="0"/>
                        <a:cs typeface="Arial" charset="0"/>
                      </a:endParaRPr>
                    </a:p>
                  </a:txBody>
                  <a:tcPr marL="109728" marR="109728" marT="36576" marB="36576" anchor="ctr">
                    <a:lnL w="6350" cap="flat" cmpd="sng" algn="ctr">
                      <a:solidFill>
                        <a:srgbClr val="DCDCDC"/>
                      </a:solidFill>
                      <a:prstDash val="solid"/>
                      <a:round/>
                      <a:headEnd type="none" w="med" len="med"/>
                      <a:tailEnd type="none" w="med" len="med"/>
                    </a:lnL>
                    <a:lnR w="6350" cap="flat" cmpd="sng" algn="ctr">
                      <a:solidFill>
                        <a:srgbClr val="DCDCDC"/>
                      </a:solidFill>
                      <a:prstDash val="solid"/>
                      <a:round/>
                      <a:headEnd type="none" w="med" len="med"/>
                      <a:tailEnd type="none" w="med" len="med"/>
                    </a:lnR>
                    <a:lnT w="6350" cap="flat" cmpd="sng" algn="ctr">
                      <a:solidFill>
                        <a:srgbClr val="DCDCDC"/>
                      </a:solidFill>
                      <a:prstDash val="solid"/>
                      <a:round/>
                      <a:headEnd type="none" w="med" len="med"/>
                      <a:tailEnd type="none" w="med" len="med"/>
                    </a:lnT>
                    <a:lnB w="6350" cap="flat" cmpd="sng" algn="ctr">
                      <a:solidFill>
                        <a:srgbClr val="DCDCDC"/>
                      </a:solidFill>
                      <a:prstDash val="solid"/>
                      <a:round/>
                      <a:headEnd type="none" w="med" len="med"/>
                      <a:tailEnd type="none" w="med" len="med"/>
                    </a:lnB>
                    <a:solidFill>
                      <a:srgbClr val="FFFFFF"/>
                    </a:solidFill>
                  </a:tcPr>
                </a:tc>
                <a:tc>
                  <a:txBody>
                    <a:bodyPr/>
                    <a:lstStyle/>
                    <a:p>
                      <a:pPr marL="0" indent="0" algn="r">
                        <a:buNone/>
                      </a:pPr>
                      <a:r>
                        <a:rPr lang="en-US" sz="1250" dirty="0">
                          <a:solidFill>
                            <a:srgbClr val="444444"/>
                          </a:solidFill>
                          <a:latin typeface="Arial" pitchFamily="34" charset="0"/>
                          <a:ea typeface="Arial" pitchFamily="34" charset="-122"/>
                          <a:cs typeface="Arial" pitchFamily="34" charset="-120"/>
                        </a:rPr>
                        <a:t>0.3723</a:t>
                      </a:r>
                      <a:endParaRPr lang="en-US" sz="1250" dirty="0">
                        <a:latin typeface="Arial" charset="0"/>
                        <a:ea typeface="Arial" charset="0"/>
                        <a:cs typeface="Arial" charset="0"/>
                      </a:endParaRPr>
                    </a:p>
                  </a:txBody>
                  <a:tcPr marL="109728" marR="109728" marT="36576" marB="36576" anchor="ctr">
                    <a:lnL w="6350" cap="flat" cmpd="sng" algn="ctr">
                      <a:solidFill>
                        <a:srgbClr val="DCDCDC"/>
                      </a:solidFill>
                      <a:prstDash val="solid"/>
                      <a:round/>
                      <a:headEnd type="none" w="med" len="med"/>
                      <a:tailEnd type="none" w="med" len="med"/>
                    </a:lnL>
                    <a:lnR w="6350" cap="flat" cmpd="sng" algn="ctr">
                      <a:solidFill>
                        <a:srgbClr val="DCDCDC"/>
                      </a:solidFill>
                      <a:prstDash val="solid"/>
                      <a:round/>
                      <a:headEnd type="none" w="med" len="med"/>
                      <a:tailEnd type="none" w="med" len="med"/>
                    </a:lnR>
                    <a:lnT w="6350" cap="flat" cmpd="sng" algn="ctr">
                      <a:solidFill>
                        <a:srgbClr val="DCDCDC"/>
                      </a:solidFill>
                      <a:prstDash val="solid"/>
                      <a:round/>
                      <a:headEnd type="none" w="med" len="med"/>
                      <a:tailEnd type="none" w="med" len="med"/>
                    </a:lnT>
                    <a:lnB w="6350" cap="flat" cmpd="sng" algn="ctr">
                      <a:solidFill>
                        <a:srgbClr val="DCDCDC"/>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7" name="abl0"/>
          <p:cNvSpPr/>
          <p:nvPr/>
        </p:nvSpPr>
        <p:spPr>
          <a:xfrm>
            <a:off x="548640" y="3931920"/>
            <a:ext cx="3505200" cy="1783080"/>
          </a:xfrm>
          <a:prstGeom prst="rect">
            <a:avLst/>
          </a:prstGeom>
          <a:solidFill>
            <a:srgbClr val="F4F4F4"/>
          </a:solidFill>
          <a:ln w="9525">
            <a:solidFill>
              <a:srgbClr val="F4F4F4"/>
            </a:solidFill>
            <a:prstDash val="solid"/>
          </a:ln>
        </p:spPr>
        <p:txBody>
          <a:bodyPr/>
          <a:lstStyle/>
          <a:p>
            <a:endParaRPr lang="en-IN"/>
          </a:p>
        </p:txBody>
      </p:sp>
      <p:sp>
        <p:nvSpPr>
          <p:cNvPr id="8" name="abl0-h"/>
          <p:cNvSpPr txBox="1"/>
          <p:nvPr/>
        </p:nvSpPr>
        <p:spPr>
          <a:xfrm>
            <a:off x="804672" y="4133088"/>
            <a:ext cx="2993136" cy="292608"/>
          </a:xfrm>
          <a:prstGeom prst="rect">
            <a:avLst/>
          </a:prstGeom>
          <a:noFill/>
          <a:ln/>
        </p:spPr>
        <p:txBody>
          <a:bodyPr wrap="square" lIns="0" tIns="0" rIns="0" bIns="0" rtlCol="0" anchor="ctr"/>
          <a:lstStyle/>
          <a:p>
            <a:pPr marL="0" indent="0">
              <a:buNone/>
            </a:pPr>
            <a:r>
              <a:rPr lang="en-US" sz="1350" b="1" dirty="0">
                <a:solidFill>
                  <a:srgbClr val="1A1A1A"/>
                </a:solidFill>
              </a:rPr>
              <a:t>Incomplete refinement alone</a:t>
            </a:r>
            <a:endParaRPr lang="en-US" sz="1350" dirty="0"/>
          </a:p>
        </p:txBody>
      </p:sp>
      <p:sp>
        <p:nvSpPr>
          <p:cNvPr id="6" name="abl0-b"/>
          <p:cNvSpPr txBox="1"/>
          <p:nvPr/>
        </p:nvSpPr>
        <p:spPr>
          <a:xfrm>
            <a:off x="804672" y="4535424"/>
            <a:ext cx="2993136" cy="1014984"/>
          </a:xfrm>
          <a:prstGeom prst="rect">
            <a:avLst/>
          </a:prstGeom>
          <a:noFill/>
          <a:ln/>
        </p:spPr>
        <p:txBody>
          <a:bodyPr wrap="square" lIns="0" tIns="0" rIns="0" bIns="0" rtlCol="0" anchor="t"/>
          <a:lstStyle/>
          <a:p>
            <a:pPr marL="0" indent="0">
              <a:lnSpc>
                <a:spcPct val="125000"/>
              </a:lnSpc>
              <a:buNone/>
            </a:pPr>
            <a:r>
              <a:rPr lang="en-US" sz="1200" dirty="0">
                <a:solidFill>
                  <a:srgbClr val="444444"/>
                </a:solidFill>
                <a:latin typeface="Arial" pitchFamily="34" charset="0"/>
                <a:ea typeface="Arial" pitchFamily="34" charset="-122"/>
                <a:cs typeface="Arial" pitchFamily="34" charset="-120"/>
              </a:rPr>
              <a:t>Incomplete rate drops 0.105 → 0.078, the largest single gain, and precision falls with it.</a:t>
            </a:r>
            <a:endParaRPr lang="en-US" sz="1200" dirty="0"/>
          </a:p>
        </p:txBody>
      </p:sp>
      <p:sp>
        <p:nvSpPr>
          <p:cNvPr id="10" name="abl1"/>
          <p:cNvSpPr/>
          <p:nvPr/>
        </p:nvSpPr>
        <p:spPr>
          <a:xfrm>
            <a:off x="4328160" y="3931920"/>
            <a:ext cx="3505200" cy="1783080"/>
          </a:xfrm>
          <a:prstGeom prst="rect">
            <a:avLst/>
          </a:prstGeom>
          <a:solidFill>
            <a:srgbClr val="F4F4F4"/>
          </a:solidFill>
          <a:ln w="9525">
            <a:solidFill>
              <a:srgbClr val="F4F4F4"/>
            </a:solidFill>
            <a:prstDash val="solid"/>
          </a:ln>
        </p:spPr>
        <p:txBody>
          <a:bodyPr/>
          <a:lstStyle/>
          <a:p>
            <a:endParaRPr lang="en-IN"/>
          </a:p>
        </p:txBody>
      </p:sp>
      <p:sp>
        <p:nvSpPr>
          <p:cNvPr id="11" name="abl1-h"/>
          <p:cNvSpPr txBox="1"/>
          <p:nvPr/>
        </p:nvSpPr>
        <p:spPr>
          <a:xfrm>
            <a:off x="4584192" y="4133088"/>
            <a:ext cx="2993136" cy="292608"/>
          </a:xfrm>
          <a:prstGeom prst="rect">
            <a:avLst/>
          </a:prstGeom>
          <a:noFill/>
          <a:ln/>
        </p:spPr>
        <p:txBody>
          <a:bodyPr wrap="square" lIns="0" tIns="0" rIns="0" bIns="0" rtlCol="0" anchor="ctr"/>
          <a:lstStyle/>
          <a:p>
            <a:pPr marL="0" indent="0">
              <a:buNone/>
            </a:pPr>
            <a:r>
              <a:rPr lang="en-US" sz="1350" b="1" dirty="0">
                <a:solidFill>
                  <a:srgbClr val="1A1A1A"/>
                </a:solidFill>
              </a:rPr>
              <a:t>Relation recovery alone</a:t>
            </a:r>
            <a:endParaRPr lang="en-US" sz="1350" dirty="0"/>
          </a:p>
        </p:txBody>
      </p:sp>
      <p:sp>
        <p:nvSpPr>
          <p:cNvPr id="12" name="abl1-b"/>
          <p:cNvSpPr txBox="1"/>
          <p:nvPr/>
        </p:nvSpPr>
        <p:spPr>
          <a:xfrm>
            <a:off x="4584192" y="4535424"/>
            <a:ext cx="2993136" cy="1014984"/>
          </a:xfrm>
          <a:prstGeom prst="rect">
            <a:avLst/>
          </a:prstGeom>
          <a:noFill/>
          <a:ln/>
        </p:spPr>
        <p:txBody>
          <a:bodyPr wrap="square" lIns="0" tIns="0" rIns="0" bIns="0" rtlCol="0" anchor="t"/>
          <a:lstStyle/>
          <a:p>
            <a:pPr marL="0" indent="0">
              <a:lnSpc>
                <a:spcPct val="125000"/>
              </a:lnSpc>
              <a:buNone/>
            </a:pPr>
            <a:r>
              <a:rPr lang="en-US" sz="1200" dirty="0">
                <a:solidFill>
                  <a:srgbClr val="444444"/>
                </a:solidFill>
                <a:latin typeface="Arial" pitchFamily="34" charset="0"/>
                <a:ea typeface="Arial" pitchFamily="34" charset="-122"/>
                <a:cs typeface="Arial" pitchFamily="34" charset="-120"/>
              </a:rPr>
              <a:t>All 51 missing relations become facts. The incomplete rate ticks up because the new facts are judged too.</a:t>
            </a:r>
            <a:endParaRPr lang="en-US" sz="1200" dirty="0"/>
          </a:p>
        </p:txBody>
      </p:sp>
      <p:sp>
        <p:nvSpPr>
          <p:cNvPr id="13" name="abl2"/>
          <p:cNvSpPr/>
          <p:nvPr/>
        </p:nvSpPr>
        <p:spPr>
          <a:xfrm>
            <a:off x="8107680" y="3931920"/>
            <a:ext cx="3505200" cy="1783080"/>
          </a:xfrm>
          <a:prstGeom prst="rect">
            <a:avLst/>
          </a:prstGeom>
          <a:solidFill>
            <a:srgbClr val="F4F4F4"/>
          </a:solidFill>
          <a:ln w="9525">
            <a:solidFill>
              <a:srgbClr val="F4F4F4"/>
            </a:solidFill>
            <a:prstDash val="solid"/>
          </a:ln>
        </p:spPr>
        <p:txBody>
          <a:bodyPr/>
          <a:lstStyle/>
          <a:p>
            <a:endParaRPr lang="en-IN"/>
          </a:p>
        </p:txBody>
      </p:sp>
      <p:sp>
        <p:nvSpPr>
          <p:cNvPr id="14" name="abl2-h"/>
          <p:cNvSpPr txBox="1"/>
          <p:nvPr/>
        </p:nvSpPr>
        <p:spPr>
          <a:xfrm>
            <a:off x="8363712" y="4133088"/>
            <a:ext cx="2993136" cy="292608"/>
          </a:xfrm>
          <a:prstGeom prst="rect">
            <a:avLst/>
          </a:prstGeom>
          <a:noFill/>
          <a:ln/>
        </p:spPr>
        <p:txBody>
          <a:bodyPr wrap="square" lIns="0" tIns="0" rIns="0" bIns="0" rtlCol="0" anchor="ctr"/>
          <a:lstStyle/>
          <a:p>
            <a:pPr marL="0" indent="0">
              <a:buNone/>
            </a:pPr>
            <a:r>
              <a:rPr lang="en-US" sz="1350" b="1" dirty="0">
                <a:solidFill>
                  <a:srgbClr val="1A1A1A"/>
                </a:solidFill>
              </a:rPr>
              <a:t>The effects are additive</a:t>
            </a:r>
            <a:endParaRPr lang="en-US" sz="1350" dirty="0"/>
          </a:p>
        </p:txBody>
      </p:sp>
      <p:sp>
        <p:nvSpPr>
          <p:cNvPr id="15" name="abl2-b"/>
          <p:cNvSpPr txBox="1"/>
          <p:nvPr/>
        </p:nvSpPr>
        <p:spPr>
          <a:xfrm>
            <a:off x="8363712" y="4535424"/>
            <a:ext cx="2993136" cy="1014984"/>
          </a:xfrm>
          <a:prstGeom prst="rect">
            <a:avLst/>
          </a:prstGeom>
          <a:noFill/>
          <a:ln/>
        </p:spPr>
        <p:txBody>
          <a:bodyPr wrap="square" lIns="0" tIns="0" rIns="0" bIns="0" rtlCol="0" anchor="t"/>
          <a:lstStyle/>
          <a:p>
            <a:pPr marL="0" indent="0">
              <a:lnSpc>
                <a:spcPct val="125000"/>
              </a:lnSpc>
              <a:buNone/>
            </a:pPr>
            <a:r>
              <a:rPr lang="en-US" sz="1200" dirty="0">
                <a:solidFill>
                  <a:srgbClr val="444444"/>
                </a:solidFill>
                <a:latin typeface="Arial" pitchFamily="34" charset="0"/>
                <a:ea typeface="Arial" pitchFamily="34" charset="-122"/>
                <a:cs typeface="Arial" pitchFamily="34" charset="-120"/>
              </a:rPr>
              <a:t>The full system inherits the lower incomplete rate and the zero missing relations — and both precision costs.</a:t>
            </a:r>
            <a:endParaRPr lang="en-US" sz="1200" dirty="0"/>
          </a:p>
        </p:txBody>
      </p:sp>
      <p:sp>
        <p:nvSpPr>
          <p:cNvPr id="16" name="note"/>
          <p:cNvSpPr txBox="1"/>
          <p:nvPr/>
        </p:nvSpPr>
        <p:spPr>
          <a:xfrm>
            <a:off x="548640" y="6291072"/>
            <a:ext cx="10607040" cy="274320"/>
          </a:xfrm>
          <a:prstGeom prst="rect">
            <a:avLst/>
          </a:prstGeom>
          <a:noFill/>
          <a:ln/>
        </p:spPr>
        <p:txBody>
          <a:bodyPr wrap="square" lIns="0" tIns="0" rIns="0" bIns="0" rtlCol="0" anchor="ctr"/>
          <a:lstStyle/>
          <a:p>
            <a:pPr marL="0" indent="0">
              <a:buNone/>
            </a:pPr>
            <a:r>
              <a:rPr lang="en-US" sz="950" dirty="0">
                <a:solidFill>
                  <a:srgbClr val="767676"/>
                </a:solidFill>
                <a:latin typeface="Arial" pitchFamily="34" charset="0"/>
                <a:ea typeface="Arial" pitchFamily="34" charset="-122"/>
                <a:cs typeface="Arial" pitchFamily="34" charset="-120"/>
              </a:rPr>
              <a:t>All four systems scored on one identical answer set, union ensemble, as in the paper.</a:t>
            </a:r>
            <a:endParaRPr lang="en-US" sz="950" dirty="0"/>
          </a:p>
        </p:txBody>
      </p:sp>
      <p:sp>
        <p:nvSpPr>
          <p:cNvPr id="25" name="Slide Number Placeholder 0"/>
          <p:cNvSpPr>
            <a:spLocks noGrp="1"/>
          </p:cNvSpPr>
          <p:nvPr>
            <p:ph type="sldNum" sz="quarter" idx="4294967295"/>
          </p:nvPr>
        </p:nvSpPr>
        <p:spPr>
          <a:xfrm>
            <a:off x="11338560" y="6327648"/>
            <a:ext cx="365760" cy="256032"/>
          </a:xfrm>
          <a:prstGeom prst="rect">
            <a:avLst/>
          </a:prstGeom>
          <a:extLst>
            <a:ext uri="{C572A759-6A51-4108-AA02-DFA0A04FC94B}">
              <ma14:wrappingTextBoxFlag xmlns:ma14="http://schemas.microsoft.com/office/mac/drawingml/2011/main" xmlns="" val="0"/>
            </a:ext>
          </a:extLst>
        </p:spPr>
        <p:txBody>
          <a:bodyPr/>
          <a:lstStyle>
            <a:lvl1pPr>
              <a:defRPr sz="900">
                <a:solidFill>
                  <a:srgbClr val="767676"/>
                </a:solidFill>
              </a:defRPr>
            </a:lvl1pPr>
          </a:lstStyle>
          <a:p>
            <a:pPr algn="r"/>
            <a:fld id="{F7021451-1387-4CA6-816F-3879F97B5CBC}" type="slidenum">
              <a:rPr lang="en-US" b="0"/>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eyebrow"/>
          <p:cNvSpPr txBox="1"/>
          <p:nvPr/>
        </p:nvSpPr>
        <p:spPr>
          <a:xfrm>
            <a:off x="548640" y="347472"/>
            <a:ext cx="11064240" cy="237744"/>
          </a:xfrm>
          <a:prstGeom prst="rect">
            <a:avLst/>
          </a:prstGeom>
          <a:noFill/>
          <a:ln/>
        </p:spPr>
        <p:txBody>
          <a:bodyPr wrap="square" lIns="0" tIns="0" rIns="0" bIns="0" rtlCol="0" anchor="ctr"/>
          <a:lstStyle/>
          <a:p>
            <a:pPr marL="0" indent="0">
              <a:buNone/>
            </a:pPr>
            <a:r>
              <a:rPr lang="en-US" sz="1000" b="1" kern="0" spc="200" dirty="0">
                <a:solidFill>
                  <a:srgbClr val="E90802"/>
                </a:solidFill>
                <a:latin typeface="Arial" pitchFamily="34" charset="0"/>
                <a:ea typeface="Arial" pitchFamily="34" charset="-122"/>
                <a:cs typeface="Arial" pitchFamily="34" charset="-120"/>
              </a:rPr>
              <a:t>RECREATING THE RESULTS  ·  5 OF 5</a:t>
            </a:r>
            <a:endParaRPr lang="en-US" sz="1000" dirty="0"/>
          </a:p>
        </p:txBody>
      </p:sp>
      <p:sp>
        <p:nvSpPr>
          <p:cNvPr id="3" name="title"/>
          <p:cNvSpPr txBox="1"/>
          <p:nvPr/>
        </p:nvSpPr>
        <p:spPr>
          <a:xfrm>
            <a:off x="548640" y="621792"/>
            <a:ext cx="11064240" cy="548640"/>
          </a:xfrm>
          <a:prstGeom prst="rect">
            <a:avLst/>
          </a:prstGeom>
          <a:noFill/>
          <a:ln/>
        </p:spPr>
        <p:txBody>
          <a:bodyPr wrap="square" lIns="0" tIns="0" rIns="0" bIns="0" rtlCol="0" anchor="ctr"/>
          <a:lstStyle/>
          <a:p>
            <a:pPr marL="0" indent="0">
              <a:buNone/>
            </a:pPr>
            <a:r>
              <a:rPr lang="en-US" sz="2700" b="1" dirty="0">
                <a:solidFill>
                  <a:srgbClr val="1A1A1A"/>
                </a:solidFill>
              </a:rPr>
              <a:t>Does fixing a claim change its verdict?</a:t>
            </a:r>
            <a:endParaRPr lang="en-US" sz="2700" dirty="0"/>
          </a:p>
        </p:txBody>
      </p:sp>
      <p:sp>
        <p:nvSpPr>
          <p:cNvPr id="4" name="subtitle"/>
          <p:cNvSpPr txBox="1"/>
          <p:nvPr/>
        </p:nvSpPr>
        <p:spPr>
          <a:xfrm>
            <a:off x="548640" y="1188720"/>
            <a:ext cx="11064240" cy="256032"/>
          </a:xfrm>
          <a:prstGeom prst="rect">
            <a:avLst/>
          </a:prstGeom>
          <a:noFill/>
          <a:ln/>
        </p:spPr>
        <p:txBody>
          <a:bodyPr wrap="square" lIns="0" tIns="0" rIns="0" bIns="0" rtlCol="0" anchor="ctr"/>
          <a:lstStyle/>
          <a:p>
            <a:pPr marL="0" indent="0">
              <a:buNone/>
            </a:pPr>
            <a:r>
              <a:rPr lang="en-US" sz="1350" dirty="0">
                <a:solidFill>
                  <a:srgbClr val="767676"/>
                </a:solidFill>
                <a:latin typeface="Arial" pitchFamily="34" charset="0"/>
                <a:ea typeface="Arial" pitchFamily="34" charset="-122"/>
                <a:cs typeface="Arial" pitchFamily="34" charset="-120"/>
              </a:rPr>
              <a:t>The paper's research question, asked of our own pipeline</a:t>
            </a:r>
            <a:endParaRPr lang="en-US" sz="1350" dirty="0"/>
          </a:p>
        </p:txBody>
      </p:sp>
      <p:sp>
        <p:nvSpPr>
          <p:cNvPr id="5" name="head-rule"/>
          <p:cNvSpPr/>
          <p:nvPr/>
        </p:nvSpPr>
        <p:spPr>
          <a:xfrm>
            <a:off x="548640" y="1499616"/>
            <a:ext cx="11064240" cy="10973"/>
          </a:xfrm>
          <a:prstGeom prst="rect">
            <a:avLst/>
          </a:prstGeom>
          <a:solidFill>
            <a:srgbClr val="DCDCDC"/>
          </a:solidFill>
          <a:ln w="3175">
            <a:solidFill>
              <a:srgbClr val="DCDCDC"/>
            </a:solidFill>
            <a:prstDash val="solid"/>
          </a:ln>
        </p:spPr>
        <p:txBody>
          <a:bodyPr/>
          <a:lstStyle/>
          <a:p>
            <a:endParaRPr lang="en-IN"/>
          </a:p>
        </p:txBody>
      </p:sp>
      <p:sp>
        <p:nvSpPr>
          <p:cNvPr id="6" name="big"/>
          <p:cNvSpPr/>
          <p:nvPr/>
        </p:nvSpPr>
        <p:spPr>
          <a:xfrm>
            <a:off x="548640" y="1600200"/>
            <a:ext cx="2926080" cy="1920240"/>
          </a:xfrm>
          <a:prstGeom prst="rect">
            <a:avLst/>
          </a:prstGeom>
          <a:solidFill>
            <a:srgbClr val="F4F4F4"/>
          </a:solidFill>
          <a:ln w="9525">
            <a:solidFill>
              <a:srgbClr val="F4F4F4"/>
            </a:solidFill>
            <a:prstDash val="solid"/>
          </a:ln>
        </p:spPr>
        <p:txBody>
          <a:bodyPr/>
          <a:lstStyle/>
          <a:p>
            <a:endParaRPr lang="en-IN"/>
          </a:p>
        </p:txBody>
      </p:sp>
      <p:sp>
        <p:nvSpPr>
          <p:cNvPr id="7" name="big-v"/>
          <p:cNvSpPr txBox="1"/>
          <p:nvPr/>
        </p:nvSpPr>
        <p:spPr>
          <a:xfrm>
            <a:off x="804672" y="1984248"/>
            <a:ext cx="2468880" cy="731520"/>
          </a:xfrm>
          <a:prstGeom prst="rect">
            <a:avLst/>
          </a:prstGeom>
          <a:noFill/>
          <a:ln/>
        </p:spPr>
        <p:txBody>
          <a:bodyPr wrap="square" lIns="0" tIns="0" rIns="0" bIns="0" rtlCol="0" anchor="ctr"/>
          <a:lstStyle/>
          <a:p>
            <a:pPr marL="0" indent="0">
              <a:buNone/>
            </a:pPr>
            <a:r>
              <a:rPr lang="en-US" sz="3800" b="1" dirty="0">
                <a:solidFill>
                  <a:srgbClr val="E90802"/>
                </a:solidFill>
              </a:rPr>
              <a:t>39–46%</a:t>
            </a:r>
            <a:endParaRPr lang="en-US" sz="3800" dirty="0"/>
          </a:p>
        </p:txBody>
      </p:sp>
      <p:sp>
        <p:nvSpPr>
          <p:cNvPr id="8" name="big-l"/>
          <p:cNvSpPr txBox="1"/>
          <p:nvPr/>
        </p:nvSpPr>
        <p:spPr>
          <a:xfrm>
            <a:off x="804672" y="2788920"/>
            <a:ext cx="2468880" cy="548640"/>
          </a:xfrm>
          <a:prstGeom prst="rect">
            <a:avLst/>
          </a:prstGeom>
          <a:noFill/>
          <a:ln/>
        </p:spPr>
        <p:txBody>
          <a:bodyPr wrap="square" lIns="0" tIns="0" rIns="0" bIns="0" rtlCol="0" anchor="ctr"/>
          <a:lstStyle/>
          <a:p>
            <a:pPr marL="0" indent="0">
              <a:lnSpc>
                <a:spcPct val="120000"/>
              </a:lnSpc>
              <a:buNone/>
            </a:pPr>
            <a:r>
              <a:rPr lang="en-US" sz="1250" dirty="0">
                <a:solidFill>
                  <a:srgbClr val="444444"/>
                </a:solidFill>
                <a:latin typeface="Arial" pitchFamily="34" charset="0"/>
                <a:ea typeface="Arial" pitchFamily="34" charset="-122"/>
                <a:cs typeface="Arial" pitchFamily="34" charset="-120"/>
              </a:rPr>
              <a:t>of refined facts changed label across all three runs</a:t>
            </a:r>
            <a:endParaRPr lang="en-US" sz="1250" dirty="0"/>
          </a:p>
        </p:txBody>
      </p:sp>
      <p:graphicFrame>
        <p:nvGraphicFramePr>
          <p:cNvPr id="10" name="trans"/>
          <p:cNvGraphicFramePr>
            <a:graphicFrameLocks noGrp="1"/>
          </p:cNvGraphicFramePr>
          <p:nvPr>
            <p:extLst>
              <p:ext uri="{D42A27DB-BD31-4B8C-83A1-F6EECF244321}">
                <p14:modId xmlns:p14="http://schemas.microsoft.com/office/powerpoint/2010/main" val="1579011935"/>
              </p:ext>
            </p:extLst>
          </p:nvPr>
        </p:nvGraphicFramePr>
        <p:xfrm>
          <a:off x="3749040" y="1600200"/>
          <a:ext cx="7863840" cy="1920240"/>
        </p:xfrm>
        <a:graphic>
          <a:graphicData uri="http://schemas.openxmlformats.org/drawingml/2006/table">
            <a:tbl>
              <a:tblPr/>
              <a:tblGrid>
                <a:gridCol w="3200400">
                  <a:extLst>
                    <a:ext uri="{9D8B030D-6E8A-4147-A177-3AD203B41FA5}">
                      <a16:colId xmlns:a16="http://schemas.microsoft.com/office/drawing/2014/main" val="20000"/>
                    </a:ext>
                  </a:extLst>
                </a:gridCol>
                <a:gridCol w="1097280">
                  <a:extLst>
                    <a:ext uri="{9D8B030D-6E8A-4147-A177-3AD203B41FA5}">
                      <a16:colId xmlns:a16="http://schemas.microsoft.com/office/drawing/2014/main" val="20001"/>
                    </a:ext>
                  </a:extLst>
                </a:gridCol>
                <a:gridCol w="1097280">
                  <a:extLst>
                    <a:ext uri="{9D8B030D-6E8A-4147-A177-3AD203B41FA5}">
                      <a16:colId xmlns:a16="http://schemas.microsoft.com/office/drawing/2014/main" val="20002"/>
                    </a:ext>
                  </a:extLst>
                </a:gridCol>
                <a:gridCol w="2468880">
                  <a:extLst>
                    <a:ext uri="{9D8B030D-6E8A-4147-A177-3AD203B41FA5}">
                      <a16:colId xmlns:a16="http://schemas.microsoft.com/office/drawing/2014/main" val="20003"/>
                    </a:ext>
                  </a:extLst>
                </a:gridCol>
              </a:tblGrid>
              <a:tr h="384048">
                <a:tc>
                  <a:txBody>
                    <a:bodyPr/>
                    <a:lstStyle/>
                    <a:p>
                      <a:pPr marL="0" indent="0" algn="l">
                        <a:buNone/>
                      </a:pPr>
                      <a:r>
                        <a:rPr lang="en-US" sz="1200" b="1" dirty="0">
                          <a:solidFill>
                            <a:srgbClr val="1A1A1A"/>
                          </a:solidFill>
                          <a:latin typeface="Arial" pitchFamily="34" charset="0"/>
                          <a:ea typeface="Arial" pitchFamily="34" charset="-122"/>
                          <a:cs typeface="Arial" pitchFamily="34" charset="-120"/>
                        </a:rPr>
                        <a:t>Transition</a:t>
                      </a:r>
                      <a:endParaRPr lang="en-US" sz="1200" dirty="0">
                        <a:latin typeface="Arial" charset="0"/>
                        <a:ea typeface="Arial" charset="0"/>
                        <a:cs typeface="Arial" charset="0"/>
                      </a:endParaRPr>
                    </a:p>
                  </a:txBody>
                  <a:tcPr marL="109728" marR="109728" marT="36576" marB="36576" anchor="ctr">
                    <a:lnL w="6350" cap="flat" cmpd="sng" algn="ctr">
                      <a:solidFill>
                        <a:srgbClr val="DCDCDC"/>
                      </a:solidFill>
                      <a:prstDash val="solid"/>
                      <a:round/>
                      <a:headEnd type="none" w="med" len="med"/>
                      <a:tailEnd type="none" w="med" len="med"/>
                    </a:lnL>
                    <a:lnR w="6350" cap="flat" cmpd="sng" algn="ctr">
                      <a:solidFill>
                        <a:srgbClr val="DCDCDC"/>
                      </a:solidFill>
                      <a:prstDash val="solid"/>
                      <a:round/>
                      <a:headEnd type="none" w="med" len="med"/>
                      <a:tailEnd type="none" w="med" len="med"/>
                    </a:lnR>
                    <a:lnT w="6350" cap="flat" cmpd="sng" algn="ctr">
                      <a:solidFill>
                        <a:srgbClr val="DCDCDC"/>
                      </a:solidFill>
                      <a:prstDash val="solid"/>
                      <a:round/>
                      <a:headEnd type="none" w="med" len="med"/>
                      <a:tailEnd type="none" w="med" len="med"/>
                    </a:lnT>
                    <a:lnB w="6350" cap="flat" cmpd="sng" algn="ctr">
                      <a:solidFill>
                        <a:srgbClr val="DCDCDC"/>
                      </a:solidFill>
                      <a:prstDash val="solid"/>
                      <a:round/>
                      <a:headEnd type="none" w="med" len="med"/>
                      <a:tailEnd type="none" w="med" len="med"/>
                    </a:lnB>
                    <a:solidFill>
                      <a:srgbClr val="F4F4F4"/>
                    </a:solidFill>
                  </a:tcPr>
                </a:tc>
                <a:tc>
                  <a:txBody>
                    <a:bodyPr/>
                    <a:lstStyle/>
                    <a:p>
                      <a:pPr marL="0" indent="0" algn="l">
                        <a:buNone/>
                      </a:pPr>
                      <a:r>
                        <a:rPr lang="en-US" sz="1200" b="1" dirty="0">
                          <a:solidFill>
                            <a:srgbClr val="1A1A1A"/>
                          </a:solidFill>
                          <a:latin typeface="Arial" pitchFamily="34" charset="0"/>
                          <a:ea typeface="Arial" pitchFamily="34" charset="-122"/>
                          <a:cs typeface="Arial" pitchFamily="34" charset="-120"/>
                        </a:rPr>
                        <a:t>3B</a:t>
                      </a:r>
                      <a:endParaRPr lang="en-US" sz="1200" dirty="0">
                        <a:latin typeface="Arial" charset="0"/>
                        <a:ea typeface="Arial" charset="0"/>
                        <a:cs typeface="Arial" charset="0"/>
                      </a:endParaRPr>
                    </a:p>
                  </a:txBody>
                  <a:tcPr marL="109728" marR="109728" marT="36576" marB="36576" anchor="ctr">
                    <a:lnL w="6350" cap="flat" cmpd="sng" algn="ctr">
                      <a:solidFill>
                        <a:srgbClr val="DCDCDC"/>
                      </a:solidFill>
                      <a:prstDash val="solid"/>
                      <a:round/>
                      <a:headEnd type="none" w="med" len="med"/>
                      <a:tailEnd type="none" w="med" len="med"/>
                    </a:lnL>
                    <a:lnR w="6350" cap="flat" cmpd="sng" algn="ctr">
                      <a:solidFill>
                        <a:srgbClr val="DCDCDC"/>
                      </a:solidFill>
                      <a:prstDash val="solid"/>
                      <a:round/>
                      <a:headEnd type="none" w="med" len="med"/>
                      <a:tailEnd type="none" w="med" len="med"/>
                    </a:lnR>
                    <a:lnT w="6350" cap="flat" cmpd="sng" algn="ctr">
                      <a:solidFill>
                        <a:srgbClr val="DCDCDC"/>
                      </a:solidFill>
                      <a:prstDash val="solid"/>
                      <a:round/>
                      <a:headEnd type="none" w="med" len="med"/>
                      <a:tailEnd type="none" w="med" len="med"/>
                    </a:lnT>
                    <a:lnB w="6350" cap="flat" cmpd="sng" algn="ctr">
                      <a:solidFill>
                        <a:srgbClr val="DCDCDC"/>
                      </a:solidFill>
                      <a:prstDash val="solid"/>
                      <a:round/>
                      <a:headEnd type="none" w="med" len="med"/>
                      <a:tailEnd type="none" w="med" len="med"/>
                    </a:lnB>
                    <a:solidFill>
                      <a:srgbClr val="F4F4F4"/>
                    </a:solidFill>
                  </a:tcPr>
                </a:tc>
                <a:tc>
                  <a:txBody>
                    <a:bodyPr/>
                    <a:lstStyle/>
                    <a:p>
                      <a:pPr marL="0" indent="0" algn="l">
                        <a:buNone/>
                      </a:pPr>
                      <a:r>
                        <a:rPr lang="en-US" sz="1200" b="1" dirty="0">
                          <a:solidFill>
                            <a:srgbClr val="1A1A1A"/>
                          </a:solidFill>
                          <a:latin typeface="Arial" pitchFamily="34" charset="0"/>
                          <a:ea typeface="Arial" pitchFamily="34" charset="-122"/>
                          <a:cs typeface="Arial" pitchFamily="34" charset="-120"/>
                        </a:rPr>
                        <a:t>7–8B</a:t>
                      </a:r>
                      <a:endParaRPr lang="en-US" sz="1200" dirty="0">
                        <a:latin typeface="Arial" charset="0"/>
                        <a:ea typeface="Arial" charset="0"/>
                        <a:cs typeface="Arial" charset="0"/>
                      </a:endParaRPr>
                    </a:p>
                  </a:txBody>
                  <a:tcPr marL="109728" marR="109728" marT="36576" marB="36576" anchor="ctr">
                    <a:lnL w="6350" cap="flat" cmpd="sng" algn="ctr">
                      <a:solidFill>
                        <a:srgbClr val="DCDCDC"/>
                      </a:solidFill>
                      <a:prstDash val="solid"/>
                      <a:round/>
                      <a:headEnd type="none" w="med" len="med"/>
                      <a:tailEnd type="none" w="med" len="med"/>
                    </a:lnL>
                    <a:lnR w="6350" cap="flat" cmpd="sng" algn="ctr">
                      <a:solidFill>
                        <a:srgbClr val="DCDCDC"/>
                      </a:solidFill>
                      <a:prstDash val="solid"/>
                      <a:round/>
                      <a:headEnd type="none" w="med" len="med"/>
                      <a:tailEnd type="none" w="med" len="med"/>
                    </a:lnR>
                    <a:lnT w="6350" cap="flat" cmpd="sng" algn="ctr">
                      <a:solidFill>
                        <a:srgbClr val="DCDCDC"/>
                      </a:solidFill>
                      <a:prstDash val="solid"/>
                      <a:round/>
                      <a:headEnd type="none" w="med" len="med"/>
                      <a:tailEnd type="none" w="med" len="med"/>
                    </a:lnT>
                    <a:lnB w="6350" cap="flat" cmpd="sng" algn="ctr">
                      <a:solidFill>
                        <a:srgbClr val="DCDCDC"/>
                      </a:solidFill>
                      <a:prstDash val="solid"/>
                      <a:round/>
                      <a:headEnd type="none" w="med" len="med"/>
                      <a:tailEnd type="none" w="med" len="med"/>
                    </a:lnB>
                    <a:solidFill>
                      <a:srgbClr val="F4F4F4"/>
                    </a:solidFill>
                  </a:tcPr>
                </a:tc>
                <a:tc>
                  <a:txBody>
                    <a:bodyPr/>
                    <a:lstStyle/>
                    <a:p>
                      <a:pPr marL="0" indent="0" algn="l">
                        <a:buNone/>
                      </a:pPr>
                      <a:r>
                        <a:rPr lang="en-US" sz="1200" b="1" dirty="0">
                          <a:solidFill>
                            <a:srgbClr val="1A1A1A"/>
                          </a:solidFill>
                          <a:latin typeface="Arial" pitchFamily="34" charset="0"/>
                          <a:ea typeface="Arial" pitchFamily="34" charset="-122"/>
                          <a:cs typeface="Arial" pitchFamily="34" charset="-120"/>
                        </a:rPr>
                        <a:t>Meaning</a:t>
                      </a:r>
                      <a:endParaRPr lang="en-US" sz="1200" dirty="0">
                        <a:latin typeface="Arial" charset="0"/>
                        <a:ea typeface="Arial" charset="0"/>
                        <a:cs typeface="Arial" charset="0"/>
                      </a:endParaRPr>
                    </a:p>
                  </a:txBody>
                  <a:tcPr marL="109728" marR="109728" marT="36576" marB="36576" anchor="ctr">
                    <a:lnL w="6350" cap="flat" cmpd="sng" algn="ctr">
                      <a:solidFill>
                        <a:srgbClr val="DCDCDC"/>
                      </a:solidFill>
                      <a:prstDash val="solid"/>
                      <a:round/>
                      <a:headEnd type="none" w="med" len="med"/>
                      <a:tailEnd type="none" w="med" len="med"/>
                    </a:lnL>
                    <a:lnR w="6350" cap="flat" cmpd="sng" algn="ctr">
                      <a:solidFill>
                        <a:srgbClr val="DCDCDC"/>
                      </a:solidFill>
                      <a:prstDash val="solid"/>
                      <a:round/>
                      <a:headEnd type="none" w="med" len="med"/>
                      <a:tailEnd type="none" w="med" len="med"/>
                    </a:lnR>
                    <a:lnT w="6350" cap="flat" cmpd="sng" algn="ctr">
                      <a:solidFill>
                        <a:srgbClr val="DCDCDC"/>
                      </a:solidFill>
                      <a:prstDash val="solid"/>
                      <a:round/>
                      <a:headEnd type="none" w="med" len="med"/>
                      <a:tailEnd type="none" w="med" len="med"/>
                    </a:lnT>
                    <a:lnB w="6350" cap="flat" cmpd="sng" algn="ctr">
                      <a:solidFill>
                        <a:srgbClr val="DCDCDC"/>
                      </a:solidFill>
                      <a:prstDash val="solid"/>
                      <a:round/>
                      <a:headEnd type="none" w="med" len="med"/>
                      <a:tailEnd type="none" w="med" len="med"/>
                    </a:lnB>
                    <a:solidFill>
                      <a:srgbClr val="F4F4F4"/>
                    </a:solidFill>
                  </a:tcPr>
                </a:tc>
                <a:extLst>
                  <a:ext uri="{0D108BD9-81ED-4DB2-BD59-A6C34878D82A}">
                    <a16:rowId xmlns:a16="http://schemas.microsoft.com/office/drawing/2014/main" val="10000"/>
                  </a:ext>
                </a:extLst>
              </a:tr>
              <a:tr h="384048">
                <a:tc>
                  <a:txBody>
                    <a:bodyPr/>
                    <a:lstStyle/>
                    <a:p>
                      <a:pPr marL="0" indent="0" algn="l">
                        <a:buNone/>
                      </a:pPr>
                      <a:r>
                        <a:rPr lang="en-US" sz="1200" dirty="0">
                          <a:solidFill>
                            <a:srgbClr val="444444"/>
                          </a:solidFill>
                          <a:latin typeface="Arial" pitchFamily="34" charset="0"/>
                          <a:ea typeface="Arial" pitchFamily="34" charset="-122"/>
                          <a:cs typeface="Arial" pitchFamily="34" charset="-120"/>
                        </a:rPr>
                        <a:t>SUPPORTED → UNDECIDED</a:t>
                      </a:r>
                      <a:endParaRPr lang="en-US" sz="1200" dirty="0">
                        <a:latin typeface="Arial" charset="0"/>
                        <a:ea typeface="Arial" charset="0"/>
                        <a:cs typeface="Arial" charset="0"/>
                      </a:endParaRPr>
                    </a:p>
                  </a:txBody>
                  <a:tcPr marL="109728" marR="109728" marT="36576" marB="36576" anchor="ctr">
                    <a:lnL w="6350" cap="flat" cmpd="sng" algn="ctr">
                      <a:solidFill>
                        <a:srgbClr val="DCDCDC"/>
                      </a:solidFill>
                      <a:prstDash val="solid"/>
                      <a:round/>
                      <a:headEnd type="none" w="med" len="med"/>
                      <a:tailEnd type="none" w="med" len="med"/>
                    </a:lnL>
                    <a:lnR w="6350" cap="flat" cmpd="sng" algn="ctr">
                      <a:solidFill>
                        <a:srgbClr val="DCDCDC"/>
                      </a:solidFill>
                      <a:prstDash val="solid"/>
                      <a:round/>
                      <a:headEnd type="none" w="med" len="med"/>
                      <a:tailEnd type="none" w="med" len="med"/>
                    </a:lnR>
                    <a:lnT w="6350" cap="flat" cmpd="sng" algn="ctr">
                      <a:solidFill>
                        <a:srgbClr val="DCDCDC"/>
                      </a:solidFill>
                      <a:prstDash val="solid"/>
                      <a:round/>
                      <a:headEnd type="none" w="med" len="med"/>
                      <a:tailEnd type="none" w="med" len="med"/>
                    </a:lnT>
                    <a:lnB w="6350" cap="flat" cmpd="sng" algn="ctr">
                      <a:solidFill>
                        <a:srgbClr val="DCDCDC"/>
                      </a:solidFill>
                      <a:prstDash val="solid"/>
                      <a:round/>
                      <a:headEnd type="none" w="med" len="med"/>
                      <a:tailEnd type="none" w="med" len="med"/>
                    </a:lnB>
                    <a:solidFill>
                      <a:srgbClr val="FFFFFF"/>
                    </a:solidFill>
                  </a:tcPr>
                </a:tc>
                <a:tc>
                  <a:txBody>
                    <a:bodyPr/>
                    <a:lstStyle/>
                    <a:p>
                      <a:pPr marL="0" indent="0" algn="l">
                        <a:buNone/>
                      </a:pPr>
                      <a:r>
                        <a:rPr lang="en-US" sz="1200" dirty="0">
                          <a:solidFill>
                            <a:srgbClr val="444444"/>
                          </a:solidFill>
                          <a:latin typeface="Arial" pitchFamily="34" charset="0"/>
                          <a:ea typeface="Arial" pitchFamily="34" charset="-122"/>
                          <a:cs typeface="Arial" pitchFamily="34" charset="-120"/>
                        </a:rPr>
                        <a:t>37</a:t>
                      </a:r>
                      <a:endParaRPr lang="en-US" sz="1200" dirty="0">
                        <a:latin typeface="Arial" charset="0"/>
                        <a:ea typeface="Arial" charset="0"/>
                        <a:cs typeface="Arial" charset="0"/>
                      </a:endParaRPr>
                    </a:p>
                  </a:txBody>
                  <a:tcPr marL="109728" marR="109728" marT="36576" marB="36576" anchor="ctr">
                    <a:lnL w="6350" cap="flat" cmpd="sng" algn="ctr">
                      <a:solidFill>
                        <a:srgbClr val="DCDCDC"/>
                      </a:solidFill>
                      <a:prstDash val="solid"/>
                      <a:round/>
                      <a:headEnd type="none" w="med" len="med"/>
                      <a:tailEnd type="none" w="med" len="med"/>
                    </a:lnL>
                    <a:lnR w="6350" cap="flat" cmpd="sng" algn="ctr">
                      <a:solidFill>
                        <a:srgbClr val="DCDCDC"/>
                      </a:solidFill>
                      <a:prstDash val="solid"/>
                      <a:round/>
                      <a:headEnd type="none" w="med" len="med"/>
                      <a:tailEnd type="none" w="med" len="med"/>
                    </a:lnR>
                    <a:lnT w="6350" cap="flat" cmpd="sng" algn="ctr">
                      <a:solidFill>
                        <a:srgbClr val="DCDCDC"/>
                      </a:solidFill>
                      <a:prstDash val="solid"/>
                      <a:round/>
                      <a:headEnd type="none" w="med" len="med"/>
                      <a:tailEnd type="none" w="med" len="med"/>
                    </a:lnT>
                    <a:lnB w="6350" cap="flat" cmpd="sng" algn="ctr">
                      <a:solidFill>
                        <a:srgbClr val="DCDCDC"/>
                      </a:solidFill>
                      <a:prstDash val="solid"/>
                      <a:round/>
                      <a:headEnd type="none" w="med" len="med"/>
                      <a:tailEnd type="none" w="med" len="med"/>
                    </a:lnB>
                    <a:solidFill>
                      <a:srgbClr val="FFFFFF"/>
                    </a:solidFill>
                  </a:tcPr>
                </a:tc>
                <a:tc>
                  <a:txBody>
                    <a:bodyPr/>
                    <a:lstStyle/>
                    <a:p>
                      <a:pPr marL="0" indent="0" algn="l">
                        <a:buNone/>
                      </a:pPr>
                      <a:r>
                        <a:rPr lang="en-US" sz="1200" dirty="0">
                          <a:solidFill>
                            <a:srgbClr val="444444"/>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109728" marR="109728" marT="36576" marB="36576" anchor="ctr">
                    <a:lnL w="6350" cap="flat" cmpd="sng" algn="ctr">
                      <a:solidFill>
                        <a:srgbClr val="DCDCDC"/>
                      </a:solidFill>
                      <a:prstDash val="solid"/>
                      <a:round/>
                      <a:headEnd type="none" w="med" len="med"/>
                      <a:tailEnd type="none" w="med" len="med"/>
                    </a:lnL>
                    <a:lnR w="6350" cap="flat" cmpd="sng" algn="ctr">
                      <a:solidFill>
                        <a:srgbClr val="DCDCDC"/>
                      </a:solidFill>
                      <a:prstDash val="solid"/>
                      <a:round/>
                      <a:headEnd type="none" w="med" len="med"/>
                      <a:tailEnd type="none" w="med" len="med"/>
                    </a:lnR>
                    <a:lnT w="6350" cap="flat" cmpd="sng" algn="ctr">
                      <a:solidFill>
                        <a:srgbClr val="DCDCDC"/>
                      </a:solidFill>
                      <a:prstDash val="solid"/>
                      <a:round/>
                      <a:headEnd type="none" w="med" len="med"/>
                      <a:tailEnd type="none" w="med" len="med"/>
                    </a:lnT>
                    <a:lnB w="6350" cap="flat" cmpd="sng" algn="ctr">
                      <a:solidFill>
                        <a:srgbClr val="DCDCDC"/>
                      </a:solidFill>
                      <a:prstDash val="solid"/>
                      <a:round/>
                      <a:headEnd type="none" w="med" len="med"/>
                      <a:tailEnd type="none" w="med" len="med"/>
                    </a:lnB>
                    <a:solidFill>
                      <a:srgbClr val="FFFFFF"/>
                    </a:solidFill>
                  </a:tcPr>
                </a:tc>
                <a:tc>
                  <a:txBody>
                    <a:bodyPr/>
                    <a:lstStyle/>
                    <a:p>
                      <a:pPr marL="0" indent="0" algn="l">
                        <a:buNone/>
                      </a:pPr>
                      <a:r>
                        <a:rPr lang="en-US" sz="1200" dirty="0">
                          <a:solidFill>
                            <a:srgbClr val="444444"/>
                          </a:solidFill>
                          <a:latin typeface="Arial" pitchFamily="34" charset="0"/>
                          <a:ea typeface="Arial" pitchFamily="34" charset="-122"/>
                          <a:cs typeface="Arial" pitchFamily="34" charset="-120"/>
                        </a:rPr>
                        <a:t>was over-credited</a:t>
                      </a:r>
                      <a:endParaRPr lang="en-US" sz="1200" dirty="0">
                        <a:latin typeface="Arial" charset="0"/>
                        <a:ea typeface="Arial" charset="0"/>
                        <a:cs typeface="Arial" charset="0"/>
                      </a:endParaRPr>
                    </a:p>
                  </a:txBody>
                  <a:tcPr marL="109728" marR="109728" marT="36576" marB="36576" anchor="ctr">
                    <a:lnL w="6350" cap="flat" cmpd="sng" algn="ctr">
                      <a:solidFill>
                        <a:srgbClr val="DCDCDC"/>
                      </a:solidFill>
                      <a:prstDash val="solid"/>
                      <a:round/>
                      <a:headEnd type="none" w="med" len="med"/>
                      <a:tailEnd type="none" w="med" len="med"/>
                    </a:lnL>
                    <a:lnR w="6350" cap="flat" cmpd="sng" algn="ctr">
                      <a:solidFill>
                        <a:srgbClr val="DCDCDC"/>
                      </a:solidFill>
                      <a:prstDash val="solid"/>
                      <a:round/>
                      <a:headEnd type="none" w="med" len="med"/>
                      <a:tailEnd type="none" w="med" len="med"/>
                    </a:lnR>
                    <a:lnT w="6350" cap="flat" cmpd="sng" algn="ctr">
                      <a:solidFill>
                        <a:srgbClr val="DCDCDC"/>
                      </a:solidFill>
                      <a:prstDash val="solid"/>
                      <a:round/>
                      <a:headEnd type="none" w="med" len="med"/>
                      <a:tailEnd type="none" w="med" len="med"/>
                    </a:lnT>
                    <a:lnB w="6350" cap="flat" cmpd="sng" algn="ctr">
                      <a:solidFill>
                        <a:srgbClr val="DCDCD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84048">
                <a:tc>
                  <a:txBody>
                    <a:bodyPr/>
                    <a:lstStyle/>
                    <a:p>
                      <a:pPr marL="0" indent="0" algn="l">
                        <a:buNone/>
                      </a:pPr>
                      <a:r>
                        <a:rPr lang="en-US" sz="1200" dirty="0">
                          <a:solidFill>
                            <a:srgbClr val="444444"/>
                          </a:solidFill>
                          <a:latin typeface="Arial" pitchFamily="34" charset="0"/>
                          <a:ea typeface="Arial" pitchFamily="34" charset="-122"/>
                          <a:cs typeface="Arial" pitchFamily="34" charset="-120"/>
                        </a:rPr>
                        <a:t>UNDECIDED → SUPPORTED</a:t>
                      </a:r>
                      <a:endParaRPr lang="en-US" sz="1200" dirty="0">
                        <a:latin typeface="Arial" charset="0"/>
                        <a:ea typeface="Arial" charset="0"/>
                        <a:cs typeface="Arial" charset="0"/>
                      </a:endParaRPr>
                    </a:p>
                  </a:txBody>
                  <a:tcPr marL="109728" marR="109728" marT="36576" marB="36576" anchor="ctr">
                    <a:lnL w="6350" cap="flat" cmpd="sng" algn="ctr">
                      <a:solidFill>
                        <a:srgbClr val="DCDCDC"/>
                      </a:solidFill>
                      <a:prstDash val="solid"/>
                      <a:round/>
                      <a:headEnd type="none" w="med" len="med"/>
                      <a:tailEnd type="none" w="med" len="med"/>
                    </a:lnL>
                    <a:lnR w="6350" cap="flat" cmpd="sng" algn="ctr">
                      <a:solidFill>
                        <a:srgbClr val="DCDCDC"/>
                      </a:solidFill>
                      <a:prstDash val="solid"/>
                      <a:round/>
                      <a:headEnd type="none" w="med" len="med"/>
                      <a:tailEnd type="none" w="med" len="med"/>
                    </a:lnR>
                    <a:lnT w="6350" cap="flat" cmpd="sng" algn="ctr">
                      <a:solidFill>
                        <a:srgbClr val="DCDCDC"/>
                      </a:solidFill>
                      <a:prstDash val="solid"/>
                      <a:round/>
                      <a:headEnd type="none" w="med" len="med"/>
                      <a:tailEnd type="none" w="med" len="med"/>
                    </a:lnT>
                    <a:lnB w="6350" cap="flat" cmpd="sng" algn="ctr">
                      <a:solidFill>
                        <a:srgbClr val="DCDCDC"/>
                      </a:solidFill>
                      <a:prstDash val="solid"/>
                      <a:round/>
                      <a:headEnd type="none" w="med" len="med"/>
                      <a:tailEnd type="none" w="med" len="med"/>
                    </a:lnB>
                    <a:solidFill>
                      <a:srgbClr val="FFFFFF"/>
                    </a:solidFill>
                  </a:tcPr>
                </a:tc>
                <a:tc>
                  <a:txBody>
                    <a:bodyPr/>
                    <a:lstStyle/>
                    <a:p>
                      <a:pPr marL="0" indent="0" algn="l">
                        <a:buNone/>
                      </a:pPr>
                      <a:r>
                        <a:rPr lang="en-US" sz="1200" dirty="0">
                          <a:solidFill>
                            <a:srgbClr val="444444"/>
                          </a:solidFill>
                          <a:latin typeface="Arial" pitchFamily="34" charset="0"/>
                          <a:ea typeface="Arial" pitchFamily="34" charset="-122"/>
                          <a:cs typeface="Arial" pitchFamily="34" charset="-120"/>
                        </a:rPr>
                        <a:t>29</a:t>
                      </a:r>
                      <a:endParaRPr lang="en-US" sz="1200" dirty="0">
                        <a:latin typeface="Arial" charset="0"/>
                        <a:ea typeface="Arial" charset="0"/>
                        <a:cs typeface="Arial" charset="0"/>
                      </a:endParaRPr>
                    </a:p>
                  </a:txBody>
                  <a:tcPr marL="109728" marR="109728" marT="36576" marB="36576" anchor="ctr">
                    <a:lnL w="6350" cap="flat" cmpd="sng" algn="ctr">
                      <a:solidFill>
                        <a:srgbClr val="DCDCDC"/>
                      </a:solidFill>
                      <a:prstDash val="solid"/>
                      <a:round/>
                      <a:headEnd type="none" w="med" len="med"/>
                      <a:tailEnd type="none" w="med" len="med"/>
                    </a:lnL>
                    <a:lnR w="6350" cap="flat" cmpd="sng" algn="ctr">
                      <a:solidFill>
                        <a:srgbClr val="DCDCDC"/>
                      </a:solidFill>
                      <a:prstDash val="solid"/>
                      <a:round/>
                      <a:headEnd type="none" w="med" len="med"/>
                      <a:tailEnd type="none" w="med" len="med"/>
                    </a:lnR>
                    <a:lnT w="6350" cap="flat" cmpd="sng" algn="ctr">
                      <a:solidFill>
                        <a:srgbClr val="DCDCDC"/>
                      </a:solidFill>
                      <a:prstDash val="solid"/>
                      <a:round/>
                      <a:headEnd type="none" w="med" len="med"/>
                      <a:tailEnd type="none" w="med" len="med"/>
                    </a:lnT>
                    <a:lnB w="6350" cap="flat" cmpd="sng" algn="ctr">
                      <a:solidFill>
                        <a:srgbClr val="DCDCDC"/>
                      </a:solidFill>
                      <a:prstDash val="solid"/>
                      <a:round/>
                      <a:headEnd type="none" w="med" len="med"/>
                      <a:tailEnd type="none" w="med" len="med"/>
                    </a:lnB>
                    <a:solidFill>
                      <a:srgbClr val="FFFFFF"/>
                    </a:solidFill>
                  </a:tcPr>
                </a:tc>
                <a:tc>
                  <a:txBody>
                    <a:bodyPr/>
                    <a:lstStyle/>
                    <a:p>
                      <a:pPr marL="0" indent="0" algn="l">
                        <a:buNone/>
                      </a:pPr>
                      <a:r>
                        <a:rPr lang="en-US" sz="1200" dirty="0">
                          <a:solidFill>
                            <a:srgbClr val="444444"/>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109728" marR="109728" marT="36576" marB="36576" anchor="ctr">
                    <a:lnL w="6350" cap="flat" cmpd="sng" algn="ctr">
                      <a:solidFill>
                        <a:srgbClr val="DCDCDC"/>
                      </a:solidFill>
                      <a:prstDash val="solid"/>
                      <a:round/>
                      <a:headEnd type="none" w="med" len="med"/>
                      <a:tailEnd type="none" w="med" len="med"/>
                    </a:lnL>
                    <a:lnR w="6350" cap="flat" cmpd="sng" algn="ctr">
                      <a:solidFill>
                        <a:srgbClr val="DCDCDC"/>
                      </a:solidFill>
                      <a:prstDash val="solid"/>
                      <a:round/>
                      <a:headEnd type="none" w="med" len="med"/>
                      <a:tailEnd type="none" w="med" len="med"/>
                    </a:lnR>
                    <a:lnT w="6350" cap="flat" cmpd="sng" algn="ctr">
                      <a:solidFill>
                        <a:srgbClr val="DCDCDC"/>
                      </a:solidFill>
                      <a:prstDash val="solid"/>
                      <a:round/>
                      <a:headEnd type="none" w="med" len="med"/>
                      <a:tailEnd type="none" w="med" len="med"/>
                    </a:lnT>
                    <a:lnB w="6350" cap="flat" cmpd="sng" algn="ctr">
                      <a:solidFill>
                        <a:srgbClr val="DCDCDC"/>
                      </a:solidFill>
                      <a:prstDash val="solid"/>
                      <a:round/>
                      <a:headEnd type="none" w="med" len="med"/>
                      <a:tailEnd type="none" w="med" len="med"/>
                    </a:lnB>
                    <a:solidFill>
                      <a:srgbClr val="FFFFFF"/>
                    </a:solidFill>
                  </a:tcPr>
                </a:tc>
                <a:tc>
                  <a:txBody>
                    <a:bodyPr/>
                    <a:lstStyle/>
                    <a:p>
                      <a:pPr marL="0" indent="0" algn="l">
                        <a:buNone/>
                      </a:pPr>
                      <a:r>
                        <a:rPr lang="en-US" sz="1200" dirty="0">
                          <a:solidFill>
                            <a:srgbClr val="444444"/>
                          </a:solidFill>
                          <a:latin typeface="Arial" pitchFamily="34" charset="0"/>
                          <a:ea typeface="Arial" pitchFamily="34" charset="-122"/>
                          <a:cs typeface="Arial" pitchFamily="34" charset="-120"/>
                        </a:rPr>
                        <a:t>context made it checkable</a:t>
                      </a:r>
                      <a:endParaRPr lang="en-US" sz="1200" dirty="0">
                        <a:latin typeface="Arial" charset="0"/>
                        <a:ea typeface="Arial" charset="0"/>
                        <a:cs typeface="Arial" charset="0"/>
                      </a:endParaRPr>
                    </a:p>
                  </a:txBody>
                  <a:tcPr marL="109728" marR="109728" marT="36576" marB="36576" anchor="ctr">
                    <a:lnL w="6350" cap="flat" cmpd="sng" algn="ctr">
                      <a:solidFill>
                        <a:srgbClr val="DCDCDC"/>
                      </a:solidFill>
                      <a:prstDash val="solid"/>
                      <a:round/>
                      <a:headEnd type="none" w="med" len="med"/>
                      <a:tailEnd type="none" w="med" len="med"/>
                    </a:lnL>
                    <a:lnR w="6350" cap="flat" cmpd="sng" algn="ctr">
                      <a:solidFill>
                        <a:srgbClr val="DCDCDC"/>
                      </a:solidFill>
                      <a:prstDash val="solid"/>
                      <a:round/>
                      <a:headEnd type="none" w="med" len="med"/>
                      <a:tailEnd type="none" w="med" len="med"/>
                    </a:lnR>
                    <a:lnT w="6350" cap="flat" cmpd="sng" algn="ctr">
                      <a:solidFill>
                        <a:srgbClr val="DCDCDC"/>
                      </a:solidFill>
                      <a:prstDash val="solid"/>
                      <a:round/>
                      <a:headEnd type="none" w="med" len="med"/>
                      <a:tailEnd type="none" w="med" len="med"/>
                    </a:lnT>
                    <a:lnB w="6350" cap="flat" cmpd="sng" algn="ctr">
                      <a:solidFill>
                        <a:srgbClr val="DCDCDC"/>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84048">
                <a:tc>
                  <a:txBody>
                    <a:bodyPr/>
                    <a:lstStyle/>
                    <a:p>
                      <a:pPr marL="0" indent="0" algn="l">
                        <a:buNone/>
                      </a:pPr>
                      <a:r>
                        <a:rPr lang="en-US" sz="1200" dirty="0">
                          <a:solidFill>
                            <a:srgbClr val="444444"/>
                          </a:solidFill>
                          <a:latin typeface="Arial" pitchFamily="34" charset="0"/>
                          <a:ea typeface="Arial" pitchFamily="34" charset="-122"/>
                          <a:cs typeface="Arial" pitchFamily="34" charset="-120"/>
                        </a:rPr>
                        <a:t>Contradicted, before → after</a:t>
                      </a:r>
                      <a:endParaRPr lang="en-US" sz="1200" dirty="0">
                        <a:latin typeface="Arial" charset="0"/>
                        <a:ea typeface="Arial" charset="0"/>
                        <a:cs typeface="Arial" charset="0"/>
                      </a:endParaRPr>
                    </a:p>
                  </a:txBody>
                  <a:tcPr marL="109728" marR="109728" marT="36576" marB="36576" anchor="ctr">
                    <a:lnL w="6350" cap="flat" cmpd="sng" algn="ctr">
                      <a:solidFill>
                        <a:srgbClr val="DCDCDC"/>
                      </a:solidFill>
                      <a:prstDash val="solid"/>
                      <a:round/>
                      <a:headEnd type="none" w="med" len="med"/>
                      <a:tailEnd type="none" w="med" len="med"/>
                    </a:lnL>
                    <a:lnR w="6350" cap="flat" cmpd="sng" algn="ctr">
                      <a:solidFill>
                        <a:srgbClr val="DCDCDC"/>
                      </a:solidFill>
                      <a:prstDash val="solid"/>
                      <a:round/>
                      <a:headEnd type="none" w="med" len="med"/>
                      <a:tailEnd type="none" w="med" len="med"/>
                    </a:lnR>
                    <a:lnT w="6350" cap="flat" cmpd="sng" algn="ctr">
                      <a:solidFill>
                        <a:srgbClr val="DCDCDC"/>
                      </a:solidFill>
                      <a:prstDash val="solid"/>
                      <a:round/>
                      <a:headEnd type="none" w="med" len="med"/>
                      <a:tailEnd type="none" w="med" len="med"/>
                    </a:lnT>
                    <a:lnB w="6350" cap="flat" cmpd="sng" algn="ctr">
                      <a:solidFill>
                        <a:srgbClr val="DCDCDC"/>
                      </a:solidFill>
                      <a:prstDash val="solid"/>
                      <a:round/>
                      <a:headEnd type="none" w="med" len="med"/>
                      <a:tailEnd type="none" w="med" len="med"/>
                    </a:lnB>
                    <a:solidFill>
                      <a:srgbClr val="FFFFFF"/>
                    </a:solidFill>
                  </a:tcPr>
                </a:tc>
                <a:tc>
                  <a:txBody>
                    <a:bodyPr/>
                    <a:lstStyle/>
                    <a:p>
                      <a:pPr marL="0" indent="0" algn="l">
                        <a:buNone/>
                      </a:pPr>
                      <a:r>
                        <a:rPr lang="en-US" sz="1200" dirty="0">
                          <a:solidFill>
                            <a:srgbClr val="444444"/>
                          </a:solidFill>
                          <a:latin typeface="Arial" pitchFamily="34" charset="0"/>
                          <a:ea typeface="Arial" pitchFamily="34" charset="-122"/>
                          <a:cs typeface="Arial" pitchFamily="34" charset="-120"/>
                        </a:rPr>
                        <a:t>3 → 3</a:t>
                      </a:r>
                      <a:endParaRPr lang="en-US" sz="1200" dirty="0">
                        <a:latin typeface="Arial" charset="0"/>
                        <a:ea typeface="Arial" charset="0"/>
                        <a:cs typeface="Arial" charset="0"/>
                      </a:endParaRPr>
                    </a:p>
                  </a:txBody>
                  <a:tcPr marL="109728" marR="109728" marT="36576" marB="36576" anchor="ctr">
                    <a:lnL w="6350" cap="flat" cmpd="sng" algn="ctr">
                      <a:solidFill>
                        <a:srgbClr val="DCDCDC"/>
                      </a:solidFill>
                      <a:prstDash val="solid"/>
                      <a:round/>
                      <a:headEnd type="none" w="med" len="med"/>
                      <a:tailEnd type="none" w="med" len="med"/>
                    </a:lnL>
                    <a:lnR w="6350" cap="flat" cmpd="sng" algn="ctr">
                      <a:solidFill>
                        <a:srgbClr val="DCDCDC"/>
                      </a:solidFill>
                      <a:prstDash val="solid"/>
                      <a:round/>
                      <a:headEnd type="none" w="med" len="med"/>
                      <a:tailEnd type="none" w="med" len="med"/>
                    </a:lnR>
                    <a:lnT w="6350" cap="flat" cmpd="sng" algn="ctr">
                      <a:solidFill>
                        <a:srgbClr val="DCDCDC"/>
                      </a:solidFill>
                      <a:prstDash val="solid"/>
                      <a:round/>
                      <a:headEnd type="none" w="med" len="med"/>
                      <a:tailEnd type="none" w="med" len="med"/>
                    </a:lnT>
                    <a:lnB w="6350" cap="flat" cmpd="sng" algn="ctr">
                      <a:solidFill>
                        <a:srgbClr val="DCDCDC"/>
                      </a:solidFill>
                      <a:prstDash val="solid"/>
                      <a:round/>
                      <a:headEnd type="none" w="med" len="med"/>
                      <a:tailEnd type="none" w="med" len="med"/>
                    </a:lnB>
                    <a:solidFill>
                      <a:srgbClr val="FFFFFF"/>
                    </a:solidFill>
                  </a:tcPr>
                </a:tc>
                <a:tc>
                  <a:txBody>
                    <a:bodyPr/>
                    <a:lstStyle/>
                    <a:p>
                      <a:pPr marL="0" indent="0" algn="l">
                        <a:buNone/>
                      </a:pPr>
                      <a:r>
                        <a:rPr lang="en-US" sz="1200" b="1" dirty="0">
                          <a:solidFill>
                            <a:srgbClr val="E90802"/>
                          </a:solidFill>
                          <a:latin typeface="Arial" pitchFamily="34" charset="0"/>
                          <a:ea typeface="Arial" pitchFamily="34" charset="-122"/>
                          <a:cs typeface="Arial" pitchFamily="34" charset="-120"/>
                        </a:rPr>
                        <a:t>3 → 8</a:t>
                      </a:r>
                      <a:endParaRPr lang="en-US" sz="1200" dirty="0">
                        <a:latin typeface="Arial" charset="0"/>
                        <a:ea typeface="Arial" charset="0"/>
                        <a:cs typeface="Arial" charset="0"/>
                      </a:endParaRPr>
                    </a:p>
                  </a:txBody>
                  <a:tcPr marL="109728" marR="109728" marT="36576" marB="36576" anchor="ctr">
                    <a:lnL w="6350" cap="flat" cmpd="sng" algn="ctr">
                      <a:solidFill>
                        <a:srgbClr val="DCDCDC"/>
                      </a:solidFill>
                      <a:prstDash val="solid"/>
                      <a:round/>
                      <a:headEnd type="none" w="med" len="med"/>
                      <a:tailEnd type="none" w="med" len="med"/>
                    </a:lnL>
                    <a:lnR w="6350" cap="flat" cmpd="sng" algn="ctr">
                      <a:solidFill>
                        <a:srgbClr val="DCDCDC"/>
                      </a:solidFill>
                      <a:prstDash val="solid"/>
                      <a:round/>
                      <a:headEnd type="none" w="med" len="med"/>
                      <a:tailEnd type="none" w="med" len="med"/>
                    </a:lnR>
                    <a:lnT w="6350" cap="flat" cmpd="sng" algn="ctr">
                      <a:solidFill>
                        <a:srgbClr val="DCDCDC"/>
                      </a:solidFill>
                      <a:prstDash val="solid"/>
                      <a:round/>
                      <a:headEnd type="none" w="med" len="med"/>
                      <a:tailEnd type="none" w="med" len="med"/>
                    </a:lnT>
                    <a:lnB w="6350" cap="flat" cmpd="sng" algn="ctr">
                      <a:solidFill>
                        <a:srgbClr val="DCDCDC"/>
                      </a:solidFill>
                      <a:prstDash val="solid"/>
                      <a:round/>
                      <a:headEnd type="none" w="med" len="med"/>
                      <a:tailEnd type="none" w="med" len="med"/>
                    </a:lnB>
                    <a:solidFill>
                      <a:srgbClr val="FFFFFF"/>
                    </a:solidFill>
                  </a:tcPr>
                </a:tc>
                <a:tc>
                  <a:txBody>
                    <a:bodyPr/>
                    <a:lstStyle/>
                    <a:p>
                      <a:pPr marL="0" indent="0" algn="l">
                        <a:buNone/>
                      </a:pPr>
                      <a:r>
                        <a:rPr lang="en-US" sz="1200" dirty="0">
                          <a:solidFill>
                            <a:srgbClr val="444444"/>
                          </a:solidFill>
                          <a:latin typeface="Arial" pitchFamily="34" charset="0"/>
                          <a:ea typeface="Arial" pitchFamily="34" charset="-122"/>
                          <a:cs typeface="Arial" pitchFamily="34" charset="-120"/>
                        </a:rPr>
                        <a:t>errors finally surfaced</a:t>
                      </a:r>
                      <a:endParaRPr lang="en-US" sz="1200" dirty="0">
                        <a:latin typeface="Arial" charset="0"/>
                        <a:ea typeface="Arial" charset="0"/>
                        <a:cs typeface="Arial" charset="0"/>
                      </a:endParaRPr>
                    </a:p>
                  </a:txBody>
                  <a:tcPr marL="109728" marR="109728" marT="36576" marB="36576" anchor="ctr">
                    <a:lnL w="6350" cap="flat" cmpd="sng" algn="ctr">
                      <a:solidFill>
                        <a:srgbClr val="DCDCDC"/>
                      </a:solidFill>
                      <a:prstDash val="solid"/>
                      <a:round/>
                      <a:headEnd type="none" w="med" len="med"/>
                      <a:tailEnd type="none" w="med" len="med"/>
                    </a:lnL>
                    <a:lnR w="6350" cap="flat" cmpd="sng" algn="ctr">
                      <a:solidFill>
                        <a:srgbClr val="DCDCDC"/>
                      </a:solidFill>
                      <a:prstDash val="solid"/>
                      <a:round/>
                      <a:headEnd type="none" w="med" len="med"/>
                      <a:tailEnd type="none" w="med" len="med"/>
                    </a:lnR>
                    <a:lnT w="6350" cap="flat" cmpd="sng" algn="ctr">
                      <a:solidFill>
                        <a:srgbClr val="DCDCDC"/>
                      </a:solidFill>
                      <a:prstDash val="solid"/>
                      <a:round/>
                      <a:headEnd type="none" w="med" len="med"/>
                      <a:tailEnd type="none" w="med" len="med"/>
                    </a:lnT>
                    <a:lnB w="6350" cap="flat" cmpd="sng" algn="ctr">
                      <a:solidFill>
                        <a:srgbClr val="DCDCDC"/>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84048">
                <a:tc>
                  <a:txBody>
                    <a:bodyPr/>
                    <a:lstStyle/>
                    <a:p>
                      <a:pPr marL="0" indent="0" algn="l">
                        <a:buNone/>
                      </a:pPr>
                      <a:r>
                        <a:rPr lang="en-US" sz="1200" dirty="0">
                          <a:solidFill>
                            <a:srgbClr val="444444"/>
                          </a:solidFill>
                          <a:latin typeface="Arial" pitchFamily="34" charset="0"/>
                          <a:ea typeface="Arial" pitchFamily="34" charset="-122"/>
                          <a:cs typeface="Arial" pitchFamily="34" charset="-120"/>
                        </a:rPr>
                        <a:t>Verdict-change rate</a:t>
                      </a:r>
                      <a:endParaRPr lang="en-US" sz="1200" dirty="0">
                        <a:latin typeface="Arial" charset="0"/>
                        <a:ea typeface="Arial" charset="0"/>
                        <a:cs typeface="Arial" charset="0"/>
                      </a:endParaRPr>
                    </a:p>
                  </a:txBody>
                  <a:tcPr marL="109728" marR="109728" marT="36576" marB="36576" anchor="ctr">
                    <a:lnL w="6350" cap="flat" cmpd="sng" algn="ctr">
                      <a:solidFill>
                        <a:srgbClr val="DCDCDC"/>
                      </a:solidFill>
                      <a:prstDash val="solid"/>
                      <a:round/>
                      <a:headEnd type="none" w="med" len="med"/>
                      <a:tailEnd type="none" w="med" len="med"/>
                    </a:lnL>
                    <a:lnR w="6350" cap="flat" cmpd="sng" algn="ctr">
                      <a:solidFill>
                        <a:srgbClr val="DCDCDC"/>
                      </a:solidFill>
                      <a:prstDash val="solid"/>
                      <a:round/>
                      <a:headEnd type="none" w="med" len="med"/>
                      <a:tailEnd type="none" w="med" len="med"/>
                    </a:lnR>
                    <a:lnT w="6350" cap="flat" cmpd="sng" algn="ctr">
                      <a:solidFill>
                        <a:srgbClr val="DCDCDC"/>
                      </a:solidFill>
                      <a:prstDash val="solid"/>
                      <a:round/>
                      <a:headEnd type="none" w="med" len="med"/>
                      <a:tailEnd type="none" w="med" len="med"/>
                    </a:lnT>
                    <a:lnB w="6350" cap="flat" cmpd="sng" algn="ctr">
                      <a:solidFill>
                        <a:srgbClr val="DCDCDC"/>
                      </a:solidFill>
                      <a:prstDash val="solid"/>
                      <a:round/>
                      <a:headEnd type="none" w="med" len="med"/>
                      <a:tailEnd type="none" w="med" len="med"/>
                    </a:lnB>
                    <a:solidFill>
                      <a:srgbClr val="FFFFFF"/>
                    </a:solidFill>
                  </a:tcPr>
                </a:tc>
                <a:tc>
                  <a:txBody>
                    <a:bodyPr/>
                    <a:lstStyle/>
                    <a:p>
                      <a:pPr marL="0" indent="0" algn="l">
                        <a:buNone/>
                      </a:pPr>
                      <a:r>
                        <a:rPr lang="en-US" sz="1200" dirty="0">
                          <a:solidFill>
                            <a:srgbClr val="444444"/>
                          </a:solidFill>
                          <a:latin typeface="Arial" pitchFamily="34" charset="0"/>
                          <a:ea typeface="Arial" pitchFamily="34" charset="-122"/>
                          <a:cs typeface="Arial" pitchFamily="34" charset="-120"/>
                        </a:rPr>
                        <a:t>39.3%</a:t>
                      </a:r>
                      <a:endParaRPr lang="en-US" sz="1200" dirty="0">
                        <a:latin typeface="Arial" charset="0"/>
                        <a:ea typeface="Arial" charset="0"/>
                        <a:cs typeface="Arial" charset="0"/>
                      </a:endParaRPr>
                    </a:p>
                  </a:txBody>
                  <a:tcPr marL="109728" marR="109728" marT="36576" marB="36576" anchor="ctr">
                    <a:lnL w="6350" cap="flat" cmpd="sng" algn="ctr">
                      <a:solidFill>
                        <a:srgbClr val="DCDCDC"/>
                      </a:solidFill>
                      <a:prstDash val="solid"/>
                      <a:round/>
                      <a:headEnd type="none" w="med" len="med"/>
                      <a:tailEnd type="none" w="med" len="med"/>
                    </a:lnL>
                    <a:lnR w="6350" cap="flat" cmpd="sng" algn="ctr">
                      <a:solidFill>
                        <a:srgbClr val="DCDCDC"/>
                      </a:solidFill>
                      <a:prstDash val="solid"/>
                      <a:round/>
                      <a:headEnd type="none" w="med" len="med"/>
                      <a:tailEnd type="none" w="med" len="med"/>
                    </a:lnR>
                    <a:lnT w="6350" cap="flat" cmpd="sng" algn="ctr">
                      <a:solidFill>
                        <a:srgbClr val="DCDCDC"/>
                      </a:solidFill>
                      <a:prstDash val="solid"/>
                      <a:round/>
                      <a:headEnd type="none" w="med" len="med"/>
                      <a:tailEnd type="none" w="med" len="med"/>
                    </a:lnT>
                    <a:lnB w="6350" cap="flat" cmpd="sng" algn="ctr">
                      <a:solidFill>
                        <a:srgbClr val="DCDCDC"/>
                      </a:solidFill>
                      <a:prstDash val="solid"/>
                      <a:round/>
                      <a:headEnd type="none" w="med" len="med"/>
                      <a:tailEnd type="none" w="med" len="med"/>
                    </a:lnB>
                    <a:solidFill>
                      <a:srgbClr val="FFFFFF"/>
                    </a:solidFill>
                  </a:tcPr>
                </a:tc>
                <a:tc>
                  <a:txBody>
                    <a:bodyPr/>
                    <a:lstStyle/>
                    <a:p>
                      <a:pPr marL="0" indent="0" algn="l">
                        <a:buNone/>
                      </a:pPr>
                      <a:r>
                        <a:rPr lang="en-US" sz="1200" b="1" dirty="0">
                          <a:solidFill>
                            <a:srgbClr val="E90802"/>
                          </a:solidFill>
                          <a:latin typeface="Arial" pitchFamily="34" charset="0"/>
                          <a:ea typeface="Arial" pitchFamily="34" charset="-122"/>
                          <a:cs typeface="Arial" pitchFamily="34" charset="-120"/>
                        </a:rPr>
                        <a:t>45.6%</a:t>
                      </a:r>
                      <a:endParaRPr lang="en-US" sz="1200" dirty="0">
                        <a:latin typeface="Arial" charset="0"/>
                        <a:ea typeface="Arial" charset="0"/>
                        <a:cs typeface="Arial" charset="0"/>
                      </a:endParaRPr>
                    </a:p>
                  </a:txBody>
                  <a:tcPr marL="109728" marR="109728" marT="36576" marB="36576" anchor="ctr">
                    <a:lnL w="6350" cap="flat" cmpd="sng" algn="ctr">
                      <a:solidFill>
                        <a:srgbClr val="DCDCDC"/>
                      </a:solidFill>
                      <a:prstDash val="solid"/>
                      <a:round/>
                      <a:headEnd type="none" w="med" len="med"/>
                      <a:tailEnd type="none" w="med" len="med"/>
                    </a:lnL>
                    <a:lnR w="6350" cap="flat" cmpd="sng" algn="ctr">
                      <a:solidFill>
                        <a:srgbClr val="DCDCDC"/>
                      </a:solidFill>
                      <a:prstDash val="solid"/>
                      <a:round/>
                      <a:headEnd type="none" w="med" len="med"/>
                      <a:tailEnd type="none" w="med" len="med"/>
                    </a:lnR>
                    <a:lnT w="6350" cap="flat" cmpd="sng" algn="ctr">
                      <a:solidFill>
                        <a:srgbClr val="DCDCDC"/>
                      </a:solidFill>
                      <a:prstDash val="solid"/>
                      <a:round/>
                      <a:headEnd type="none" w="med" len="med"/>
                      <a:tailEnd type="none" w="med" len="med"/>
                    </a:lnT>
                    <a:lnB w="6350" cap="flat" cmpd="sng" algn="ctr">
                      <a:solidFill>
                        <a:srgbClr val="DCDCDC"/>
                      </a:solidFill>
                      <a:prstDash val="solid"/>
                      <a:round/>
                      <a:headEnd type="none" w="med" len="med"/>
                      <a:tailEnd type="none" w="med" len="med"/>
                    </a:lnB>
                    <a:solidFill>
                      <a:srgbClr val="FFFFFF"/>
                    </a:solidFill>
                  </a:tcPr>
                </a:tc>
                <a:tc>
                  <a:txBody>
                    <a:bodyPr/>
                    <a:lstStyle/>
                    <a:p>
                      <a:pPr marL="0" indent="0" algn="l">
                        <a:buNone/>
                      </a:pPr>
                      <a:r>
                        <a:rPr lang="en-US" sz="1200" dirty="0">
                          <a:solidFill>
                            <a:srgbClr val="444444"/>
                          </a:solidFill>
                          <a:latin typeface="Arial" pitchFamily="34" charset="0"/>
                          <a:ea typeface="Arial" pitchFamily="34" charset="-122"/>
                          <a:cs typeface="Arial" pitchFamily="34" charset="-120"/>
                        </a:rPr>
                        <a:t>paper reports 24.9%</a:t>
                      </a:r>
                      <a:endParaRPr lang="en-US" sz="1200" dirty="0">
                        <a:latin typeface="Arial" charset="0"/>
                        <a:ea typeface="Arial" charset="0"/>
                        <a:cs typeface="Arial" charset="0"/>
                      </a:endParaRPr>
                    </a:p>
                  </a:txBody>
                  <a:tcPr marL="109728" marR="109728" marT="36576" marB="36576" anchor="ctr">
                    <a:lnL w="6350" cap="flat" cmpd="sng" algn="ctr">
                      <a:solidFill>
                        <a:srgbClr val="DCDCDC"/>
                      </a:solidFill>
                      <a:prstDash val="solid"/>
                      <a:round/>
                      <a:headEnd type="none" w="med" len="med"/>
                      <a:tailEnd type="none" w="med" len="med"/>
                    </a:lnL>
                    <a:lnR w="6350" cap="flat" cmpd="sng" algn="ctr">
                      <a:solidFill>
                        <a:srgbClr val="DCDCDC"/>
                      </a:solidFill>
                      <a:prstDash val="solid"/>
                      <a:round/>
                      <a:headEnd type="none" w="med" len="med"/>
                      <a:tailEnd type="none" w="med" len="med"/>
                    </a:lnR>
                    <a:lnT w="6350" cap="flat" cmpd="sng" algn="ctr">
                      <a:solidFill>
                        <a:srgbClr val="DCDCDC"/>
                      </a:solidFill>
                      <a:prstDash val="solid"/>
                      <a:round/>
                      <a:headEnd type="none" w="med" len="med"/>
                      <a:tailEnd type="none" w="med" len="med"/>
                    </a:lnT>
                    <a:lnB w="6350" cap="flat" cmpd="sng" algn="ctr">
                      <a:solidFill>
                        <a:srgbClr val="DCDCDC"/>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9" name="cmp-paper"/>
          <p:cNvSpPr/>
          <p:nvPr/>
        </p:nvSpPr>
        <p:spPr>
          <a:xfrm>
            <a:off x="548640" y="3794760"/>
            <a:ext cx="11064240" cy="1965960"/>
          </a:xfrm>
          <a:prstGeom prst="rect">
            <a:avLst/>
          </a:prstGeom>
          <a:solidFill>
            <a:srgbClr val="F4F4F4"/>
          </a:solidFill>
          <a:ln w="9525">
            <a:solidFill>
              <a:srgbClr val="F4F4F4"/>
            </a:solidFill>
            <a:prstDash val="solid"/>
          </a:ln>
        </p:spPr>
        <p:txBody>
          <a:bodyPr/>
          <a:lstStyle/>
          <a:p>
            <a:endParaRPr lang="en-IN"/>
          </a:p>
        </p:txBody>
      </p:sp>
      <p:sp>
        <p:nvSpPr>
          <p:cNvPr id="11" name="cmp-paper-edge"/>
          <p:cNvSpPr/>
          <p:nvPr/>
        </p:nvSpPr>
        <p:spPr>
          <a:xfrm>
            <a:off x="548640" y="3794760"/>
            <a:ext cx="29261" cy="1965960"/>
          </a:xfrm>
          <a:prstGeom prst="rect">
            <a:avLst/>
          </a:prstGeom>
          <a:solidFill>
            <a:srgbClr val="E90802"/>
          </a:solidFill>
          <a:ln w="3175">
            <a:solidFill>
              <a:srgbClr val="E90802"/>
            </a:solidFill>
            <a:prstDash val="solid"/>
          </a:ln>
        </p:spPr>
        <p:txBody>
          <a:bodyPr/>
          <a:lstStyle/>
          <a:p>
            <a:endParaRPr lang="en-IN"/>
          </a:p>
        </p:txBody>
      </p:sp>
      <p:sp>
        <p:nvSpPr>
          <p:cNvPr id="12" name="cmp-paper-h"/>
          <p:cNvSpPr txBox="1"/>
          <p:nvPr/>
        </p:nvSpPr>
        <p:spPr>
          <a:xfrm>
            <a:off x="804672" y="3995928"/>
            <a:ext cx="10552176" cy="292608"/>
          </a:xfrm>
          <a:prstGeom prst="rect">
            <a:avLst/>
          </a:prstGeom>
          <a:noFill/>
          <a:ln/>
        </p:spPr>
        <p:txBody>
          <a:bodyPr wrap="square" lIns="0" tIns="0" rIns="0" bIns="0" rtlCol="0" anchor="ctr"/>
          <a:lstStyle/>
          <a:p>
            <a:pPr marL="0" indent="0">
              <a:buNone/>
            </a:pPr>
            <a:r>
              <a:rPr lang="en-US" sz="1450" b="1" dirty="0">
                <a:solidFill>
                  <a:srgbClr val="E90802"/>
                </a:solidFill>
              </a:rPr>
              <a:t>The paper's full signature only appears with stronger judges</a:t>
            </a:r>
            <a:endParaRPr lang="en-US" sz="1450" dirty="0"/>
          </a:p>
        </p:txBody>
      </p:sp>
      <p:sp>
        <p:nvSpPr>
          <p:cNvPr id="13" name="cmp-paper-b"/>
          <p:cNvSpPr txBox="1"/>
          <p:nvPr/>
        </p:nvSpPr>
        <p:spPr>
          <a:xfrm>
            <a:off x="804672" y="4398264"/>
            <a:ext cx="10552176" cy="1197864"/>
          </a:xfrm>
          <a:prstGeom prst="rect">
            <a:avLst/>
          </a:prstGeom>
          <a:noFill/>
          <a:ln/>
        </p:spPr>
        <p:txBody>
          <a:bodyPr wrap="square" lIns="0" tIns="0" rIns="0" bIns="0" rtlCol="0" anchor="t"/>
          <a:lstStyle/>
          <a:p>
            <a:pPr marL="0" indent="0">
              <a:lnSpc>
                <a:spcPct val="125000"/>
              </a:lnSpc>
              <a:buNone/>
            </a:pPr>
            <a:r>
              <a:rPr lang="en-US" sz="1250" dirty="0">
                <a:solidFill>
                  <a:srgbClr val="444444"/>
                </a:solidFill>
                <a:latin typeface="Arial" pitchFamily="34" charset="0"/>
                <a:ea typeface="Arial" pitchFamily="34" charset="-122"/>
                <a:cs typeface="Arial" pitchFamily="34" charset="-120"/>
              </a:rPr>
              <a:t>The paper reports supported falling AND contradicted rising after refinement, concluding that ignoring incomplete facts overestimates factuality.</a:t>
            </a:r>
            <a:endParaRPr lang="en-US" sz="1250" dirty="0"/>
          </a:p>
          <a:p>
            <a:pPr marL="0" indent="0">
              <a:lnSpc>
                <a:spcPct val="125000"/>
              </a:lnSpc>
              <a:buNone/>
            </a:pPr>
            <a:endParaRPr lang="en-US" sz="1250" dirty="0"/>
          </a:p>
          <a:p>
            <a:pPr marL="0" indent="0">
              <a:lnSpc>
                <a:spcPct val="125000"/>
              </a:lnSpc>
              <a:buNone/>
            </a:pPr>
            <a:r>
              <a:rPr lang="en-US" sz="1250" dirty="0">
                <a:solidFill>
                  <a:srgbClr val="444444"/>
                </a:solidFill>
                <a:latin typeface="Arial" pitchFamily="34" charset="0"/>
                <a:ea typeface="Arial" pitchFamily="34" charset="-122"/>
                <a:cs typeface="Arial" pitchFamily="34" charset="-120"/>
              </a:rPr>
              <a:t>With 3B judges we reproduced only the first half: contradicted never moved off 3. With 7–8B judges it rises to 8 — refinement exposes errors that the stripped claims had hidden. Same conclusion as the paper, now with both halves of the evidence.</a:t>
            </a:r>
            <a:endParaRPr lang="en-US" sz="1250" dirty="0"/>
          </a:p>
        </p:txBody>
      </p:sp>
      <p:sp>
        <p:nvSpPr>
          <p:cNvPr id="14" name="note"/>
          <p:cNvSpPr txBox="1"/>
          <p:nvPr/>
        </p:nvSpPr>
        <p:spPr>
          <a:xfrm>
            <a:off x="548640" y="6291072"/>
            <a:ext cx="10607040" cy="274320"/>
          </a:xfrm>
          <a:prstGeom prst="rect">
            <a:avLst/>
          </a:prstGeom>
          <a:noFill/>
          <a:ln/>
        </p:spPr>
        <p:txBody>
          <a:bodyPr wrap="square" lIns="0" tIns="0" rIns="0" bIns="0" rtlCol="0" anchor="ctr"/>
          <a:lstStyle/>
          <a:p>
            <a:pPr marL="0" indent="0">
              <a:buNone/>
            </a:pPr>
            <a:r>
              <a:rPr lang="en-US" sz="950" dirty="0">
                <a:solidFill>
                  <a:srgbClr val="767676"/>
                </a:solidFill>
                <a:latin typeface="Arial" pitchFamily="34" charset="0"/>
                <a:ea typeface="Arial" pitchFamily="34" charset="-122"/>
                <a:cs typeface="Arial" pitchFamily="34" charset="-120"/>
              </a:rPr>
              <a:t>Every refined fact is verified twice, as its original claim and as its refined claim, through the same evidence pipeline.</a:t>
            </a:r>
            <a:endParaRPr lang="en-US" sz="950" dirty="0"/>
          </a:p>
        </p:txBody>
      </p:sp>
      <p:sp>
        <p:nvSpPr>
          <p:cNvPr id="25" name="Slide Number Placeholder 0"/>
          <p:cNvSpPr>
            <a:spLocks noGrp="1"/>
          </p:cNvSpPr>
          <p:nvPr>
            <p:ph type="sldNum" sz="quarter" idx="4294967295"/>
          </p:nvPr>
        </p:nvSpPr>
        <p:spPr>
          <a:xfrm>
            <a:off x="11338560" y="6327648"/>
            <a:ext cx="365760" cy="256032"/>
          </a:xfrm>
          <a:prstGeom prst="rect">
            <a:avLst/>
          </a:prstGeom>
          <a:extLst>
            <a:ext uri="{C572A759-6A51-4108-AA02-DFA0A04FC94B}">
              <ma14:wrappingTextBoxFlag xmlns:ma14="http://schemas.microsoft.com/office/mac/drawingml/2011/main" xmlns="" val="0"/>
            </a:ext>
          </a:extLst>
        </p:spPr>
        <p:txBody>
          <a:bodyPr/>
          <a:lstStyle>
            <a:lvl1pPr>
              <a:defRPr sz="900">
                <a:solidFill>
                  <a:srgbClr val="767676"/>
                </a:solidFill>
              </a:defRPr>
            </a:lvl1pPr>
          </a:lstStyle>
          <a:p>
            <a:pPr algn="r"/>
            <a:fld id="{F7021451-1387-4CA6-816F-3879F97B5CBC}" type="slidenum">
              <a:rPr lang="en-US" b="0"/>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eyebrow"/>
          <p:cNvSpPr txBox="1"/>
          <p:nvPr/>
        </p:nvSpPr>
        <p:spPr>
          <a:xfrm>
            <a:off x="548640" y="347472"/>
            <a:ext cx="11064240" cy="237744"/>
          </a:xfrm>
          <a:prstGeom prst="rect">
            <a:avLst/>
          </a:prstGeom>
          <a:noFill/>
          <a:ln/>
        </p:spPr>
        <p:txBody>
          <a:bodyPr wrap="square" lIns="0" tIns="0" rIns="0" bIns="0" rtlCol="0" anchor="ctr"/>
          <a:lstStyle/>
          <a:p>
            <a:pPr marL="0" indent="0">
              <a:buNone/>
            </a:pPr>
            <a:r>
              <a:rPr lang="en-US" sz="1000" b="1" kern="0" spc="200" dirty="0">
                <a:solidFill>
                  <a:srgbClr val="E90802"/>
                </a:solidFill>
                <a:latin typeface="Arial" pitchFamily="34" charset="0"/>
                <a:ea typeface="Arial" pitchFamily="34" charset="-122"/>
                <a:cs typeface="Arial" pitchFamily="34" charset="-120"/>
              </a:rPr>
              <a:t>OUR CONTRIBUTION  ·  1 OF 3</a:t>
            </a:r>
            <a:endParaRPr lang="en-US" sz="1000" dirty="0"/>
          </a:p>
        </p:txBody>
      </p:sp>
      <p:sp>
        <p:nvSpPr>
          <p:cNvPr id="3" name="title"/>
          <p:cNvSpPr txBox="1"/>
          <p:nvPr/>
        </p:nvSpPr>
        <p:spPr>
          <a:xfrm>
            <a:off x="548640" y="621792"/>
            <a:ext cx="11064240" cy="548640"/>
          </a:xfrm>
          <a:prstGeom prst="rect">
            <a:avLst/>
          </a:prstGeom>
          <a:noFill/>
          <a:ln/>
        </p:spPr>
        <p:txBody>
          <a:bodyPr wrap="square" lIns="0" tIns="0" rIns="0" bIns="0" rtlCol="0" anchor="ctr"/>
          <a:lstStyle/>
          <a:p>
            <a:pPr marL="0" indent="0">
              <a:buNone/>
            </a:pPr>
            <a:r>
              <a:rPr lang="en-US" sz="2700" b="1" dirty="0">
                <a:solidFill>
                  <a:srgbClr val="1A1A1A"/>
                </a:solidFill>
              </a:rPr>
              <a:t>Re-running the whole study with stronger judges</a:t>
            </a:r>
            <a:endParaRPr lang="en-US" sz="2700" dirty="0"/>
          </a:p>
        </p:txBody>
      </p:sp>
      <p:sp>
        <p:nvSpPr>
          <p:cNvPr id="4" name="subtitle"/>
          <p:cNvSpPr txBox="1"/>
          <p:nvPr/>
        </p:nvSpPr>
        <p:spPr>
          <a:xfrm>
            <a:off x="548640" y="1188720"/>
            <a:ext cx="11064240" cy="256032"/>
          </a:xfrm>
          <a:prstGeom prst="rect">
            <a:avLst/>
          </a:prstGeom>
          <a:noFill/>
          <a:ln/>
        </p:spPr>
        <p:txBody>
          <a:bodyPr wrap="square" lIns="0" tIns="0" rIns="0" bIns="0" rtlCol="0" anchor="ctr"/>
          <a:lstStyle/>
          <a:p>
            <a:pPr marL="0" indent="0">
              <a:buNone/>
            </a:pPr>
            <a:r>
              <a:rPr lang="en-US" sz="1350" dirty="0">
                <a:solidFill>
                  <a:srgbClr val="767676"/>
                </a:solidFill>
                <a:latin typeface="Arial" pitchFamily="34" charset="0"/>
                <a:ea typeface="Arial" pitchFamily="34" charset="-122"/>
                <a:cs typeface="Arial" pitchFamily="34" charset="-120"/>
              </a:rPr>
              <a:t>Testing which conclusions were findings and which were small-model artifacts</a:t>
            </a:r>
            <a:endParaRPr lang="en-US" sz="1350" dirty="0"/>
          </a:p>
        </p:txBody>
      </p:sp>
      <p:sp>
        <p:nvSpPr>
          <p:cNvPr id="5" name="head-rule"/>
          <p:cNvSpPr/>
          <p:nvPr/>
        </p:nvSpPr>
        <p:spPr>
          <a:xfrm>
            <a:off x="548640" y="1499616"/>
            <a:ext cx="11064240" cy="10973"/>
          </a:xfrm>
          <a:prstGeom prst="rect">
            <a:avLst/>
          </a:prstGeom>
          <a:solidFill>
            <a:srgbClr val="DCDCDC"/>
          </a:solidFill>
          <a:ln w="3175">
            <a:solidFill>
              <a:srgbClr val="DCDCDC"/>
            </a:solidFill>
            <a:prstDash val="solid"/>
          </a:ln>
        </p:spPr>
        <p:txBody>
          <a:bodyPr/>
          <a:lstStyle/>
          <a:p>
            <a:endParaRPr lang="en-IN"/>
          </a:p>
        </p:txBody>
      </p:sp>
      <p:sp>
        <p:nvSpPr>
          <p:cNvPr id="6" name="sc0"/>
          <p:cNvSpPr/>
          <p:nvPr/>
        </p:nvSpPr>
        <p:spPr>
          <a:xfrm>
            <a:off x="548640" y="1600200"/>
            <a:ext cx="3505200" cy="1828800"/>
          </a:xfrm>
          <a:prstGeom prst="rect">
            <a:avLst/>
          </a:prstGeom>
          <a:solidFill>
            <a:srgbClr val="FFFFFF"/>
          </a:solidFill>
          <a:ln w="9525">
            <a:solidFill>
              <a:srgbClr val="DCDCDC"/>
            </a:solidFill>
            <a:prstDash val="solid"/>
          </a:ln>
        </p:spPr>
        <p:txBody>
          <a:bodyPr/>
          <a:lstStyle/>
          <a:p>
            <a:endParaRPr lang="en-IN"/>
          </a:p>
        </p:txBody>
      </p:sp>
      <p:sp>
        <p:nvSpPr>
          <p:cNvPr id="7" name="sc0-h"/>
          <p:cNvSpPr txBox="1"/>
          <p:nvPr/>
        </p:nvSpPr>
        <p:spPr>
          <a:xfrm>
            <a:off x="804672" y="1801368"/>
            <a:ext cx="2993136" cy="292608"/>
          </a:xfrm>
          <a:prstGeom prst="rect">
            <a:avLst/>
          </a:prstGeom>
          <a:noFill/>
          <a:ln/>
        </p:spPr>
        <p:txBody>
          <a:bodyPr wrap="square" lIns="0" tIns="0" rIns="0" bIns="0" rtlCol="0" anchor="ctr"/>
          <a:lstStyle/>
          <a:p>
            <a:pPr marL="0" indent="0">
              <a:buNone/>
            </a:pPr>
            <a:r>
              <a:rPr lang="en-US" sz="1450" b="1" dirty="0">
                <a:solidFill>
                  <a:srgbClr val="1A1A1A"/>
                </a:solidFill>
              </a:rPr>
              <a:t>One configuration proves little</a:t>
            </a:r>
            <a:endParaRPr lang="en-US" sz="1450" dirty="0"/>
          </a:p>
        </p:txBody>
      </p:sp>
      <p:sp>
        <p:nvSpPr>
          <p:cNvPr id="8" name="sc0-b"/>
          <p:cNvSpPr txBox="1"/>
          <p:nvPr/>
        </p:nvSpPr>
        <p:spPr>
          <a:xfrm>
            <a:off x="804672" y="2203704"/>
            <a:ext cx="2993136" cy="1060704"/>
          </a:xfrm>
          <a:prstGeom prst="rect">
            <a:avLst/>
          </a:prstGeom>
          <a:noFill/>
          <a:ln/>
        </p:spPr>
        <p:txBody>
          <a:bodyPr wrap="square" lIns="0" tIns="0" rIns="0" bIns="0" rtlCol="0" anchor="t"/>
          <a:lstStyle/>
          <a:p>
            <a:pPr marL="0" indent="0">
              <a:lnSpc>
                <a:spcPct val="125000"/>
              </a:lnSpc>
              <a:buNone/>
            </a:pPr>
            <a:r>
              <a:rPr lang="en-US" sz="1200" dirty="0">
                <a:solidFill>
                  <a:srgbClr val="444444"/>
                </a:solidFill>
                <a:latin typeface="Arial" pitchFamily="34" charset="0"/>
                <a:ea typeface="Arial" pitchFamily="34" charset="-122"/>
                <a:cs typeface="Arial" pitchFamily="34" charset="-120"/>
              </a:rPr>
              <a:t>Everything above was measured by 3B judges. A single run cannot tell a property of the method from a property of the measuring model.</a:t>
            </a:r>
            <a:endParaRPr lang="en-US" sz="1200" dirty="0"/>
          </a:p>
        </p:txBody>
      </p:sp>
      <p:sp>
        <p:nvSpPr>
          <p:cNvPr id="9" name="sc1"/>
          <p:cNvSpPr/>
          <p:nvPr/>
        </p:nvSpPr>
        <p:spPr>
          <a:xfrm>
            <a:off x="4328160" y="1600200"/>
            <a:ext cx="3505200" cy="1828800"/>
          </a:xfrm>
          <a:prstGeom prst="rect">
            <a:avLst/>
          </a:prstGeom>
          <a:solidFill>
            <a:srgbClr val="FFFFFF"/>
          </a:solidFill>
          <a:ln w="9525">
            <a:solidFill>
              <a:srgbClr val="DCDCDC"/>
            </a:solidFill>
            <a:prstDash val="solid"/>
          </a:ln>
        </p:spPr>
        <p:txBody>
          <a:bodyPr/>
          <a:lstStyle/>
          <a:p>
            <a:endParaRPr lang="en-IN"/>
          </a:p>
        </p:txBody>
      </p:sp>
      <p:sp>
        <p:nvSpPr>
          <p:cNvPr id="10" name="sc1-h"/>
          <p:cNvSpPr txBox="1"/>
          <p:nvPr/>
        </p:nvSpPr>
        <p:spPr>
          <a:xfrm>
            <a:off x="4584192" y="1801368"/>
            <a:ext cx="2993136" cy="292608"/>
          </a:xfrm>
          <a:prstGeom prst="rect">
            <a:avLst/>
          </a:prstGeom>
          <a:noFill/>
          <a:ln/>
        </p:spPr>
        <p:txBody>
          <a:bodyPr wrap="square" lIns="0" tIns="0" rIns="0" bIns="0" rtlCol="0" anchor="ctr"/>
          <a:lstStyle/>
          <a:p>
            <a:pPr marL="0" indent="0">
              <a:buNone/>
            </a:pPr>
            <a:r>
              <a:rPr lang="en-US" sz="1450" b="1" dirty="0">
                <a:solidFill>
                  <a:srgbClr val="1A1A1A"/>
                </a:solidFill>
              </a:rPr>
              <a:t>What a T4 makes possible</a:t>
            </a:r>
            <a:endParaRPr lang="en-US" sz="1450" dirty="0"/>
          </a:p>
        </p:txBody>
      </p:sp>
      <p:sp>
        <p:nvSpPr>
          <p:cNvPr id="11" name="sc1-b"/>
          <p:cNvSpPr txBox="1"/>
          <p:nvPr/>
        </p:nvSpPr>
        <p:spPr>
          <a:xfrm>
            <a:off x="4584192" y="2203704"/>
            <a:ext cx="2993136" cy="1060704"/>
          </a:xfrm>
          <a:prstGeom prst="rect">
            <a:avLst/>
          </a:prstGeom>
          <a:noFill/>
          <a:ln/>
        </p:spPr>
        <p:txBody>
          <a:bodyPr wrap="square" lIns="0" tIns="0" rIns="0" bIns="0" rtlCol="0" anchor="t"/>
          <a:lstStyle/>
          <a:p>
            <a:pPr marL="0" indent="0">
              <a:lnSpc>
                <a:spcPct val="125000"/>
              </a:lnSpc>
              <a:buNone/>
            </a:pPr>
            <a:r>
              <a:rPr lang="en-US" sz="1200" dirty="0">
                <a:solidFill>
                  <a:srgbClr val="444444"/>
                </a:solidFill>
                <a:latin typeface="Arial" pitchFamily="34" charset="0"/>
                <a:ea typeface="Arial" pitchFamily="34" charset="-122"/>
                <a:cs typeface="Arial" pitchFamily="34" charset="-120"/>
              </a:rPr>
              <a:t>A Colab T4 holds 7–8B judges at Q4_K_M. The repository is config-driven, so re-running the entire study needed nothing but two model identifiers.</a:t>
            </a:r>
            <a:endParaRPr lang="en-US" sz="1200" dirty="0"/>
          </a:p>
        </p:txBody>
      </p:sp>
      <p:sp>
        <p:nvSpPr>
          <p:cNvPr id="12" name="sc2"/>
          <p:cNvSpPr/>
          <p:nvPr/>
        </p:nvSpPr>
        <p:spPr>
          <a:xfrm>
            <a:off x="8107680" y="1600200"/>
            <a:ext cx="3505200" cy="1828800"/>
          </a:xfrm>
          <a:prstGeom prst="rect">
            <a:avLst/>
          </a:prstGeom>
          <a:solidFill>
            <a:srgbClr val="FFFFFF"/>
          </a:solidFill>
          <a:ln w="9525">
            <a:solidFill>
              <a:srgbClr val="DCDCDC"/>
            </a:solidFill>
            <a:prstDash val="solid"/>
          </a:ln>
        </p:spPr>
        <p:txBody>
          <a:bodyPr/>
          <a:lstStyle/>
          <a:p>
            <a:endParaRPr lang="en-IN"/>
          </a:p>
        </p:txBody>
      </p:sp>
      <p:sp>
        <p:nvSpPr>
          <p:cNvPr id="13" name="sc2-h"/>
          <p:cNvSpPr txBox="1"/>
          <p:nvPr/>
        </p:nvSpPr>
        <p:spPr>
          <a:xfrm>
            <a:off x="8363712" y="1801368"/>
            <a:ext cx="2993136" cy="292608"/>
          </a:xfrm>
          <a:prstGeom prst="rect">
            <a:avLst/>
          </a:prstGeom>
          <a:noFill/>
          <a:ln/>
        </p:spPr>
        <p:txBody>
          <a:bodyPr wrap="square" lIns="0" tIns="0" rIns="0" bIns="0" rtlCol="0" anchor="ctr"/>
          <a:lstStyle/>
          <a:p>
            <a:pPr marL="0" indent="0">
              <a:buNone/>
            </a:pPr>
            <a:r>
              <a:rPr lang="en-US" sz="1450" b="1" dirty="0">
                <a:solidFill>
                  <a:srgbClr val="1A1A1A"/>
                </a:solidFill>
              </a:rPr>
              <a:t>What makes run A controlled</a:t>
            </a:r>
            <a:endParaRPr lang="en-US" sz="1450" dirty="0"/>
          </a:p>
        </p:txBody>
      </p:sp>
      <p:sp>
        <p:nvSpPr>
          <p:cNvPr id="14" name="sc2-b"/>
          <p:cNvSpPr txBox="1"/>
          <p:nvPr/>
        </p:nvSpPr>
        <p:spPr>
          <a:xfrm>
            <a:off x="8363712" y="2203704"/>
            <a:ext cx="2993136" cy="1060704"/>
          </a:xfrm>
          <a:prstGeom prst="rect">
            <a:avLst/>
          </a:prstGeom>
          <a:noFill/>
          <a:ln/>
        </p:spPr>
        <p:txBody>
          <a:bodyPr wrap="square" lIns="0" tIns="0" rIns="0" bIns="0" rtlCol="0" anchor="t"/>
          <a:lstStyle/>
          <a:p>
            <a:pPr marL="0" indent="0">
              <a:lnSpc>
                <a:spcPct val="125000"/>
              </a:lnSpc>
              <a:buNone/>
            </a:pPr>
            <a:r>
              <a:rPr lang="en-US" sz="1200" dirty="0">
                <a:solidFill>
                  <a:srgbClr val="444444"/>
                </a:solidFill>
                <a:latin typeface="Arial" pitchFamily="34" charset="0"/>
                <a:ea typeface="Arial" pitchFamily="34" charset="-122"/>
                <a:cs typeface="Arial" pitchFamily="34" charset="-120"/>
              </a:rPr>
              <a:t>Extraction replays from cache, so A's baseline fact set is byte-identical to the laptop's: 21.50 facts per answer, precision 0.4200. Only the judges changed.</a:t>
            </a:r>
            <a:endParaRPr lang="en-US" sz="1200" dirty="0"/>
          </a:p>
        </p:txBody>
      </p:sp>
      <p:graphicFrame>
        <p:nvGraphicFramePr>
          <p:cNvPr id="15" name="configs"/>
          <p:cNvGraphicFramePr>
            <a:graphicFrameLocks noGrp="1"/>
          </p:cNvGraphicFramePr>
          <p:nvPr>
            <p:extLst>
              <p:ext uri="{D42A27DB-BD31-4B8C-83A1-F6EECF244321}">
                <p14:modId xmlns:p14="http://schemas.microsoft.com/office/powerpoint/2010/main" val="1777744775"/>
              </p:ext>
            </p:extLst>
          </p:nvPr>
        </p:nvGraphicFramePr>
        <p:xfrm>
          <a:off x="548640" y="3611880"/>
          <a:ext cx="11064240" cy="1609344"/>
        </p:xfrm>
        <a:graphic>
          <a:graphicData uri="http://schemas.openxmlformats.org/drawingml/2006/table">
            <a:tbl>
              <a:tblPr/>
              <a:tblGrid>
                <a:gridCol w="2194560">
                  <a:extLst>
                    <a:ext uri="{9D8B030D-6E8A-4147-A177-3AD203B41FA5}">
                      <a16:colId xmlns:a16="http://schemas.microsoft.com/office/drawing/2014/main" val="20000"/>
                    </a:ext>
                  </a:extLst>
                </a:gridCol>
                <a:gridCol w="2834640">
                  <a:extLst>
                    <a:ext uri="{9D8B030D-6E8A-4147-A177-3AD203B41FA5}">
                      <a16:colId xmlns:a16="http://schemas.microsoft.com/office/drawing/2014/main" val="20001"/>
                    </a:ext>
                  </a:extLst>
                </a:gridCol>
                <a:gridCol w="3108960">
                  <a:extLst>
                    <a:ext uri="{9D8B030D-6E8A-4147-A177-3AD203B41FA5}">
                      <a16:colId xmlns:a16="http://schemas.microsoft.com/office/drawing/2014/main" val="20002"/>
                    </a:ext>
                  </a:extLst>
                </a:gridCol>
                <a:gridCol w="1737360">
                  <a:extLst>
                    <a:ext uri="{9D8B030D-6E8A-4147-A177-3AD203B41FA5}">
                      <a16:colId xmlns:a16="http://schemas.microsoft.com/office/drawing/2014/main" val="20003"/>
                    </a:ext>
                  </a:extLst>
                </a:gridCol>
                <a:gridCol w="1188720">
                  <a:extLst>
                    <a:ext uri="{9D8B030D-6E8A-4147-A177-3AD203B41FA5}">
                      <a16:colId xmlns:a16="http://schemas.microsoft.com/office/drawing/2014/main" val="20004"/>
                    </a:ext>
                  </a:extLst>
                </a:gridCol>
              </a:tblGrid>
              <a:tr h="402336">
                <a:tc>
                  <a:txBody>
                    <a:bodyPr/>
                    <a:lstStyle/>
                    <a:p>
                      <a:pPr marL="0" indent="0" algn="l">
                        <a:buNone/>
                      </a:pPr>
                      <a:r>
                        <a:rPr lang="en-US" sz="1200" b="1" dirty="0">
                          <a:solidFill>
                            <a:srgbClr val="1A1A1A"/>
                          </a:solidFill>
                          <a:latin typeface="Arial" pitchFamily="34" charset="0"/>
                          <a:ea typeface="Arial" pitchFamily="34" charset="-122"/>
                          <a:cs typeface="Arial" pitchFamily="34" charset="-120"/>
                        </a:rPr>
                        <a:t>Run</a:t>
                      </a:r>
                      <a:endParaRPr lang="en-US" sz="1200" dirty="0">
                        <a:latin typeface="Arial" charset="0"/>
                        <a:ea typeface="Arial" charset="0"/>
                        <a:cs typeface="Arial" charset="0"/>
                      </a:endParaRPr>
                    </a:p>
                  </a:txBody>
                  <a:tcPr marL="109728" marR="109728" marT="36576" marB="36576" anchor="ctr">
                    <a:lnL w="6350" cap="flat" cmpd="sng" algn="ctr">
                      <a:solidFill>
                        <a:srgbClr val="DCDCDC"/>
                      </a:solidFill>
                      <a:prstDash val="solid"/>
                      <a:round/>
                      <a:headEnd type="none" w="med" len="med"/>
                      <a:tailEnd type="none" w="med" len="med"/>
                    </a:lnL>
                    <a:lnR w="6350" cap="flat" cmpd="sng" algn="ctr">
                      <a:solidFill>
                        <a:srgbClr val="DCDCDC"/>
                      </a:solidFill>
                      <a:prstDash val="solid"/>
                      <a:round/>
                      <a:headEnd type="none" w="med" len="med"/>
                      <a:tailEnd type="none" w="med" len="med"/>
                    </a:lnR>
                    <a:lnT w="6350" cap="flat" cmpd="sng" algn="ctr">
                      <a:solidFill>
                        <a:srgbClr val="DCDCDC"/>
                      </a:solidFill>
                      <a:prstDash val="solid"/>
                      <a:round/>
                      <a:headEnd type="none" w="med" len="med"/>
                      <a:tailEnd type="none" w="med" len="med"/>
                    </a:lnT>
                    <a:lnB w="6350" cap="flat" cmpd="sng" algn="ctr">
                      <a:solidFill>
                        <a:srgbClr val="DCDCDC"/>
                      </a:solidFill>
                      <a:prstDash val="solid"/>
                      <a:round/>
                      <a:headEnd type="none" w="med" len="med"/>
                      <a:tailEnd type="none" w="med" len="med"/>
                    </a:lnB>
                    <a:solidFill>
                      <a:srgbClr val="F4F4F4"/>
                    </a:solidFill>
                  </a:tcPr>
                </a:tc>
                <a:tc>
                  <a:txBody>
                    <a:bodyPr/>
                    <a:lstStyle/>
                    <a:p>
                      <a:pPr marL="0" indent="0" algn="l">
                        <a:buNone/>
                      </a:pPr>
                      <a:r>
                        <a:rPr lang="en-US" sz="1200" b="1" dirty="0">
                          <a:solidFill>
                            <a:srgbClr val="1A1A1A"/>
                          </a:solidFill>
                          <a:latin typeface="Arial" pitchFamily="34" charset="0"/>
                          <a:ea typeface="Arial" pitchFamily="34" charset="-122"/>
                          <a:cs typeface="Arial" pitchFamily="34" charset="-120"/>
                        </a:rPr>
                        <a:t>Primary model</a:t>
                      </a:r>
                      <a:endParaRPr lang="en-US" sz="1200" dirty="0">
                        <a:latin typeface="Arial" charset="0"/>
                        <a:ea typeface="Arial" charset="0"/>
                        <a:cs typeface="Arial" charset="0"/>
                      </a:endParaRPr>
                    </a:p>
                  </a:txBody>
                  <a:tcPr marL="109728" marR="109728" marT="36576" marB="36576" anchor="ctr">
                    <a:lnL w="6350" cap="flat" cmpd="sng" algn="ctr">
                      <a:solidFill>
                        <a:srgbClr val="DCDCDC"/>
                      </a:solidFill>
                      <a:prstDash val="solid"/>
                      <a:round/>
                      <a:headEnd type="none" w="med" len="med"/>
                      <a:tailEnd type="none" w="med" len="med"/>
                    </a:lnL>
                    <a:lnR w="6350" cap="flat" cmpd="sng" algn="ctr">
                      <a:solidFill>
                        <a:srgbClr val="DCDCDC"/>
                      </a:solidFill>
                      <a:prstDash val="solid"/>
                      <a:round/>
                      <a:headEnd type="none" w="med" len="med"/>
                      <a:tailEnd type="none" w="med" len="med"/>
                    </a:lnR>
                    <a:lnT w="6350" cap="flat" cmpd="sng" algn="ctr">
                      <a:solidFill>
                        <a:srgbClr val="DCDCDC"/>
                      </a:solidFill>
                      <a:prstDash val="solid"/>
                      <a:round/>
                      <a:headEnd type="none" w="med" len="med"/>
                      <a:tailEnd type="none" w="med" len="med"/>
                    </a:lnT>
                    <a:lnB w="6350" cap="flat" cmpd="sng" algn="ctr">
                      <a:solidFill>
                        <a:srgbClr val="DCDCDC"/>
                      </a:solidFill>
                      <a:prstDash val="solid"/>
                      <a:round/>
                      <a:headEnd type="none" w="med" len="med"/>
                      <a:tailEnd type="none" w="med" len="med"/>
                    </a:lnB>
                    <a:solidFill>
                      <a:srgbClr val="F4F4F4"/>
                    </a:solidFill>
                  </a:tcPr>
                </a:tc>
                <a:tc>
                  <a:txBody>
                    <a:bodyPr/>
                    <a:lstStyle/>
                    <a:p>
                      <a:pPr marL="0" indent="0" algn="l">
                        <a:buNone/>
                      </a:pPr>
                      <a:r>
                        <a:rPr lang="en-US" sz="1200" b="1" dirty="0">
                          <a:solidFill>
                            <a:srgbClr val="1A1A1A"/>
                          </a:solidFill>
                          <a:latin typeface="Arial" pitchFamily="34" charset="0"/>
                          <a:ea typeface="Arial" pitchFamily="34" charset="-122"/>
                          <a:cs typeface="Arial" pitchFamily="34" charset="-120"/>
                        </a:rPr>
                        <a:t>Judges</a:t>
                      </a:r>
                      <a:endParaRPr lang="en-US" sz="1200" dirty="0">
                        <a:latin typeface="Arial" charset="0"/>
                        <a:ea typeface="Arial" charset="0"/>
                        <a:cs typeface="Arial" charset="0"/>
                      </a:endParaRPr>
                    </a:p>
                  </a:txBody>
                  <a:tcPr marL="109728" marR="109728" marT="36576" marB="36576" anchor="ctr">
                    <a:lnL w="6350" cap="flat" cmpd="sng" algn="ctr">
                      <a:solidFill>
                        <a:srgbClr val="DCDCDC"/>
                      </a:solidFill>
                      <a:prstDash val="solid"/>
                      <a:round/>
                      <a:headEnd type="none" w="med" len="med"/>
                      <a:tailEnd type="none" w="med" len="med"/>
                    </a:lnL>
                    <a:lnR w="6350" cap="flat" cmpd="sng" algn="ctr">
                      <a:solidFill>
                        <a:srgbClr val="DCDCDC"/>
                      </a:solidFill>
                      <a:prstDash val="solid"/>
                      <a:round/>
                      <a:headEnd type="none" w="med" len="med"/>
                      <a:tailEnd type="none" w="med" len="med"/>
                    </a:lnR>
                    <a:lnT w="6350" cap="flat" cmpd="sng" algn="ctr">
                      <a:solidFill>
                        <a:srgbClr val="DCDCDC"/>
                      </a:solidFill>
                      <a:prstDash val="solid"/>
                      <a:round/>
                      <a:headEnd type="none" w="med" len="med"/>
                      <a:tailEnd type="none" w="med" len="med"/>
                    </a:lnT>
                    <a:lnB w="6350" cap="flat" cmpd="sng" algn="ctr">
                      <a:solidFill>
                        <a:srgbClr val="DCDCDC"/>
                      </a:solidFill>
                      <a:prstDash val="solid"/>
                      <a:round/>
                      <a:headEnd type="none" w="med" len="med"/>
                      <a:tailEnd type="none" w="med" len="med"/>
                    </a:lnB>
                    <a:solidFill>
                      <a:srgbClr val="F4F4F4"/>
                    </a:solidFill>
                  </a:tcPr>
                </a:tc>
                <a:tc>
                  <a:txBody>
                    <a:bodyPr/>
                    <a:lstStyle/>
                    <a:p>
                      <a:pPr marL="0" indent="0" algn="l">
                        <a:buNone/>
                      </a:pPr>
                      <a:r>
                        <a:rPr lang="en-US" sz="1200" b="1" dirty="0">
                          <a:solidFill>
                            <a:srgbClr val="1A1A1A"/>
                          </a:solidFill>
                          <a:latin typeface="Arial" pitchFamily="34" charset="0"/>
                          <a:ea typeface="Arial" pitchFamily="34" charset="-122"/>
                          <a:cs typeface="Arial" pitchFamily="34" charset="-120"/>
                        </a:rPr>
                        <a:t>Hardware</a:t>
                      </a:r>
                      <a:endParaRPr lang="en-US" sz="1200" dirty="0">
                        <a:latin typeface="Arial" charset="0"/>
                        <a:ea typeface="Arial" charset="0"/>
                        <a:cs typeface="Arial" charset="0"/>
                      </a:endParaRPr>
                    </a:p>
                  </a:txBody>
                  <a:tcPr marL="109728" marR="109728" marT="36576" marB="36576" anchor="ctr">
                    <a:lnL w="6350" cap="flat" cmpd="sng" algn="ctr">
                      <a:solidFill>
                        <a:srgbClr val="DCDCDC"/>
                      </a:solidFill>
                      <a:prstDash val="solid"/>
                      <a:round/>
                      <a:headEnd type="none" w="med" len="med"/>
                      <a:tailEnd type="none" w="med" len="med"/>
                    </a:lnL>
                    <a:lnR w="6350" cap="flat" cmpd="sng" algn="ctr">
                      <a:solidFill>
                        <a:srgbClr val="DCDCDC"/>
                      </a:solidFill>
                      <a:prstDash val="solid"/>
                      <a:round/>
                      <a:headEnd type="none" w="med" len="med"/>
                      <a:tailEnd type="none" w="med" len="med"/>
                    </a:lnR>
                    <a:lnT w="6350" cap="flat" cmpd="sng" algn="ctr">
                      <a:solidFill>
                        <a:srgbClr val="DCDCDC"/>
                      </a:solidFill>
                      <a:prstDash val="solid"/>
                      <a:round/>
                      <a:headEnd type="none" w="med" len="med"/>
                      <a:tailEnd type="none" w="med" len="med"/>
                    </a:lnT>
                    <a:lnB w="6350" cap="flat" cmpd="sng" algn="ctr">
                      <a:solidFill>
                        <a:srgbClr val="DCDCDC"/>
                      </a:solidFill>
                      <a:prstDash val="solid"/>
                      <a:round/>
                      <a:headEnd type="none" w="med" len="med"/>
                      <a:tailEnd type="none" w="med" len="med"/>
                    </a:lnB>
                    <a:solidFill>
                      <a:srgbClr val="F4F4F4"/>
                    </a:solidFill>
                  </a:tcPr>
                </a:tc>
                <a:tc>
                  <a:txBody>
                    <a:bodyPr/>
                    <a:lstStyle/>
                    <a:p>
                      <a:pPr marL="0" indent="0" algn="l">
                        <a:buNone/>
                      </a:pPr>
                      <a:r>
                        <a:rPr lang="en-US" sz="1200" b="1" dirty="0">
                          <a:solidFill>
                            <a:srgbClr val="1A1A1A"/>
                          </a:solidFill>
                          <a:latin typeface="Arial" pitchFamily="34" charset="0"/>
                          <a:ea typeface="Arial" pitchFamily="34" charset="-122"/>
                          <a:cs typeface="Arial" pitchFamily="34" charset="-120"/>
                        </a:rPr>
                        <a:t>Controlled</a:t>
                      </a:r>
                      <a:endParaRPr lang="en-US" sz="1200" dirty="0">
                        <a:latin typeface="Arial" charset="0"/>
                        <a:ea typeface="Arial" charset="0"/>
                        <a:cs typeface="Arial" charset="0"/>
                      </a:endParaRPr>
                    </a:p>
                  </a:txBody>
                  <a:tcPr marL="109728" marR="109728" marT="36576" marB="36576" anchor="ctr">
                    <a:lnL w="6350" cap="flat" cmpd="sng" algn="ctr">
                      <a:solidFill>
                        <a:srgbClr val="DCDCDC"/>
                      </a:solidFill>
                      <a:prstDash val="solid"/>
                      <a:round/>
                      <a:headEnd type="none" w="med" len="med"/>
                      <a:tailEnd type="none" w="med" len="med"/>
                    </a:lnL>
                    <a:lnR w="6350" cap="flat" cmpd="sng" algn="ctr">
                      <a:solidFill>
                        <a:srgbClr val="DCDCDC"/>
                      </a:solidFill>
                      <a:prstDash val="solid"/>
                      <a:round/>
                      <a:headEnd type="none" w="med" len="med"/>
                      <a:tailEnd type="none" w="med" len="med"/>
                    </a:lnR>
                    <a:lnT w="6350" cap="flat" cmpd="sng" algn="ctr">
                      <a:solidFill>
                        <a:srgbClr val="DCDCDC"/>
                      </a:solidFill>
                      <a:prstDash val="solid"/>
                      <a:round/>
                      <a:headEnd type="none" w="med" len="med"/>
                      <a:tailEnd type="none" w="med" len="med"/>
                    </a:lnT>
                    <a:lnB w="6350" cap="flat" cmpd="sng" algn="ctr">
                      <a:solidFill>
                        <a:srgbClr val="DCDCDC"/>
                      </a:solidFill>
                      <a:prstDash val="solid"/>
                      <a:round/>
                      <a:headEnd type="none" w="med" len="med"/>
                      <a:tailEnd type="none" w="med" len="med"/>
                    </a:lnB>
                    <a:solidFill>
                      <a:srgbClr val="F4F4F4"/>
                    </a:solidFill>
                  </a:tcPr>
                </a:tc>
                <a:extLst>
                  <a:ext uri="{0D108BD9-81ED-4DB2-BD59-A6C34878D82A}">
                    <a16:rowId xmlns:a16="http://schemas.microsoft.com/office/drawing/2014/main" val="10000"/>
                  </a:ext>
                </a:extLst>
              </a:tr>
              <a:tr h="402336">
                <a:tc>
                  <a:txBody>
                    <a:bodyPr/>
                    <a:lstStyle/>
                    <a:p>
                      <a:pPr marL="0" indent="0" algn="l">
                        <a:buNone/>
                      </a:pPr>
                      <a:r>
                        <a:rPr lang="en-US" sz="1200" dirty="0">
                          <a:solidFill>
                            <a:srgbClr val="444444"/>
                          </a:solidFill>
                          <a:latin typeface="Arial" pitchFamily="34" charset="0"/>
                          <a:ea typeface="Arial" pitchFamily="34" charset="-122"/>
                          <a:cs typeface="Arial" pitchFamily="34" charset="-120"/>
                        </a:rPr>
                        <a:t>laptop-3B</a:t>
                      </a:r>
                      <a:endParaRPr lang="en-US" sz="1200" dirty="0">
                        <a:latin typeface="Arial" charset="0"/>
                        <a:ea typeface="Arial" charset="0"/>
                        <a:cs typeface="Arial" charset="0"/>
                      </a:endParaRPr>
                    </a:p>
                  </a:txBody>
                  <a:tcPr marL="109728" marR="109728" marT="36576" marB="36576" anchor="ctr">
                    <a:lnL w="6350" cap="flat" cmpd="sng" algn="ctr">
                      <a:solidFill>
                        <a:srgbClr val="DCDCDC"/>
                      </a:solidFill>
                      <a:prstDash val="solid"/>
                      <a:round/>
                      <a:headEnd type="none" w="med" len="med"/>
                      <a:tailEnd type="none" w="med" len="med"/>
                    </a:lnL>
                    <a:lnR w="6350" cap="flat" cmpd="sng" algn="ctr">
                      <a:solidFill>
                        <a:srgbClr val="DCDCDC"/>
                      </a:solidFill>
                      <a:prstDash val="solid"/>
                      <a:round/>
                      <a:headEnd type="none" w="med" len="med"/>
                      <a:tailEnd type="none" w="med" len="med"/>
                    </a:lnR>
                    <a:lnT w="6350" cap="flat" cmpd="sng" algn="ctr">
                      <a:solidFill>
                        <a:srgbClr val="DCDCDC"/>
                      </a:solidFill>
                      <a:prstDash val="solid"/>
                      <a:round/>
                      <a:headEnd type="none" w="med" len="med"/>
                      <a:tailEnd type="none" w="med" len="med"/>
                    </a:lnT>
                    <a:lnB w="6350" cap="flat" cmpd="sng" algn="ctr">
                      <a:solidFill>
                        <a:srgbClr val="DCDCDC"/>
                      </a:solidFill>
                      <a:prstDash val="solid"/>
                      <a:round/>
                      <a:headEnd type="none" w="med" len="med"/>
                      <a:tailEnd type="none" w="med" len="med"/>
                    </a:lnB>
                    <a:solidFill>
                      <a:srgbClr val="FFFFFF"/>
                    </a:solidFill>
                  </a:tcPr>
                </a:tc>
                <a:tc>
                  <a:txBody>
                    <a:bodyPr/>
                    <a:lstStyle/>
                    <a:p>
                      <a:pPr marL="0" indent="0" algn="l">
                        <a:buNone/>
                      </a:pPr>
                      <a:r>
                        <a:rPr lang="en-US" sz="1200" dirty="0">
                          <a:solidFill>
                            <a:srgbClr val="444444"/>
                          </a:solidFill>
                          <a:latin typeface="Arial" pitchFamily="34" charset="0"/>
                          <a:ea typeface="Arial" pitchFamily="34" charset="-122"/>
                          <a:cs typeface="Arial" pitchFamily="34" charset="-120"/>
                        </a:rPr>
                        <a:t>Qwen2.5-3B</a:t>
                      </a:r>
                      <a:endParaRPr lang="en-US" sz="1200" dirty="0">
                        <a:latin typeface="Arial" charset="0"/>
                        <a:ea typeface="Arial" charset="0"/>
                        <a:cs typeface="Arial" charset="0"/>
                      </a:endParaRPr>
                    </a:p>
                  </a:txBody>
                  <a:tcPr marL="109728" marR="109728" marT="36576" marB="36576" anchor="ctr">
                    <a:lnL w="6350" cap="flat" cmpd="sng" algn="ctr">
                      <a:solidFill>
                        <a:srgbClr val="DCDCDC"/>
                      </a:solidFill>
                      <a:prstDash val="solid"/>
                      <a:round/>
                      <a:headEnd type="none" w="med" len="med"/>
                      <a:tailEnd type="none" w="med" len="med"/>
                    </a:lnL>
                    <a:lnR w="6350" cap="flat" cmpd="sng" algn="ctr">
                      <a:solidFill>
                        <a:srgbClr val="DCDCDC"/>
                      </a:solidFill>
                      <a:prstDash val="solid"/>
                      <a:round/>
                      <a:headEnd type="none" w="med" len="med"/>
                      <a:tailEnd type="none" w="med" len="med"/>
                    </a:lnR>
                    <a:lnT w="6350" cap="flat" cmpd="sng" algn="ctr">
                      <a:solidFill>
                        <a:srgbClr val="DCDCDC"/>
                      </a:solidFill>
                      <a:prstDash val="solid"/>
                      <a:round/>
                      <a:headEnd type="none" w="med" len="med"/>
                      <a:tailEnd type="none" w="med" len="med"/>
                    </a:lnT>
                    <a:lnB w="6350" cap="flat" cmpd="sng" algn="ctr">
                      <a:solidFill>
                        <a:srgbClr val="DCDCDC"/>
                      </a:solidFill>
                      <a:prstDash val="solid"/>
                      <a:round/>
                      <a:headEnd type="none" w="med" len="med"/>
                      <a:tailEnd type="none" w="med" len="med"/>
                    </a:lnB>
                    <a:solidFill>
                      <a:srgbClr val="FFFFFF"/>
                    </a:solidFill>
                  </a:tcPr>
                </a:tc>
                <a:tc>
                  <a:txBody>
                    <a:bodyPr/>
                    <a:lstStyle/>
                    <a:p>
                      <a:pPr marL="0" indent="0" algn="l">
                        <a:buNone/>
                      </a:pPr>
                      <a:r>
                        <a:rPr lang="en-US" sz="1200" dirty="0">
                          <a:solidFill>
                            <a:srgbClr val="444444"/>
                          </a:solidFill>
                          <a:latin typeface="Arial" pitchFamily="34" charset="0"/>
                          <a:ea typeface="Arial" pitchFamily="34" charset="-122"/>
                          <a:cs typeface="Arial" pitchFamily="34" charset="-120"/>
                        </a:rPr>
                        <a:t>Qwen2.5-3B + Llama-3.2-3B</a:t>
                      </a:r>
                      <a:endParaRPr lang="en-US" sz="1200" dirty="0">
                        <a:latin typeface="Arial" charset="0"/>
                        <a:ea typeface="Arial" charset="0"/>
                        <a:cs typeface="Arial" charset="0"/>
                      </a:endParaRPr>
                    </a:p>
                  </a:txBody>
                  <a:tcPr marL="109728" marR="109728" marT="36576" marB="36576" anchor="ctr">
                    <a:lnL w="6350" cap="flat" cmpd="sng" algn="ctr">
                      <a:solidFill>
                        <a:srgbClr val="DCDCDC"/>
                      </a:solidFill>
                      <a:prstDash val="solid"/>
                      <a:round/>
                      <a:headEnd type="none" w="med" len="med"/>
                      <a:tailEnd type="none" w="med" len="med"/>
                    </a:lnL>
                    <a:lnR w="6350" cap="flat" cmpd="sng" algn="ctr">
                      <a:solidFill>
                        <a:srgbClr val="DCDCDC"/>
                      </a:solidFill>
                      <a:prstDash val="solid"/>
                      <a:round/>
                      <a:headEnd type="none" w="med" len="med"/>
                      <a:tailEnd type="none" w="med" len="med"/>
                    </a:lnR>
                    <a:lnT w="6350" cap="flat" cmpd="sng" algn="ctr">
                      <a:solidFill>
                        <a:srgbClr val="DCDCDC"/>
                      </a:solidFill>
                      <a:prstDash val="solid"/>
                      <a:round/>
                      <a:headEnd type="none" w="med" len="med"/>
                      <a:tailEnd type="none" w="med" len="med"/>
                    </a:lnT>
                    <a:lnB w="6350" cap="flat" cmpd="sng" algn="ctr">
                      <a:solidFill>
                        <a:srgbClr val="DCDCDC"/>
                      </a:solidFill>
                      <a:prstDash val="solid"/>
                      <a:round/>
                      <a:headEnd type="none" w="med" len="med"/>
                      <a:tailEnd type="none" w="med" len="med"/>
                    </a:lnB>
                    <a:solidFill>
                      <a:srgbClr val="FFFFFF"/>
                    </a:solidFill>
                  </a:tcPr>
                </a:tc>
                <a:tc>
                  <a:txBody>
                    <a:bodyPr/>
                    <a:lstStyle/>
                    <a:p>
                      <a:pPr marL="0" indent="0" algn="l">
                        <a:buNone/>
                      </a:pPr>
                      <a:r>
                        <a:rPr lang="en-US" sz="1200" dirty="0">
                          <a:solidFill>
                            <a:srgbClr val="444444"/>
                          </a:solidFill>
                          <a:latin typeface="Arial" pitchFamily="34" charset="0"/>
                          <a:ea typeface="Arial" pitchFamily="34" charset="-122"/>
                          <a:cs typeface="Arial" pitchFamily="34" charset="-120"/>
                        </a:rPr>
                        <a:t>GTX 1650, 4 GB</a:t>
                      </a:r>
                      <a:endParaRPr lang="en-US" sz="1200" dirty="0">
                        <a:latin typeface="Arial" charset="0"/>
                        <a:ea typeface="Arial" charset="0"/>
                        <a:cs typeface="Arial" charset="0"/>
                      </a:endParaRPr>
                    </a:p>
                  </a:txBody>
                  <a:tcPr marL="109728" marR="109728" marT="36576" marB="36576" anchor="ctr">
                    <a:lnL w="6350" cap="flat" cmpd="sng" algn="ctr">
                      <a:solidFill>
                        <a:srgbClr val="DCDCDC"/>
                      </a:solidFill>
                      <a:prstDash val="solid"/>
                      <a:round/>
                      <a:headEnd type="none" w="med" len="med"/>
                      <a:tailEnd type="none" w="med" len="med"/>
                    </a:lnL>
                    <a:lnR w="6350" cap="flat" cmpd="sng" algn="ctr">
                      <a:solidFill>
                        <a:srgbClr val="DCDCDC"/>
                      </a:solidFill>
                      <a:prstDash val="solid"/>
                      <a:round/>
                      <a:headEnd type="none" w="med" len="med"/>
                      <a:tailEnd type="none" w="med" len="med"/>
                    </a:lnR>
                    <a:lnT w="6350" cap="flat" cmpd="sng" algn="ctr">
                      <a:solidFill>
                        <a:srgbClr val="DCDCDC"/>
                      </a:solidFill>
                      <a:prstDash val="solid"/>
                      <a:round/>
                      <a:headEnd type="none" w="med" len="med"/>
                      <a:tailEnd type="none" w="med" len="med"/>
                    </a:lnT>
                    <a:lnB w="6350" cap="flat" cmpd="sng" algn="ctr">
                      <a:solidFill>
                        <a:srgbClr val="DCDCDC"/>
                      </a:solidFill>
                      <a:prstDash val="solid"/>
                      <a:round/>
                      <a:headEnd type="none" w="med" len="med"/>
                      <a:tailEnd type="none" w="med" len="med"/>
                    </a:lnB>
                    <a:solidFill>
                      <a:srgbClr val="FFFFFF"/>
                    </a:solidFill>
                  </a:tcPr>
                </a:tc>
                <a:tc>
                  <a:txBody>
                    <a:bodyPr/>
                    <a:lstStyle/>
                    <a:p>
                      <a:pPr marL="0" indent="0" algn="l">
                        <a:buNone/>
                      </a:pPr>
                      <a:r>
                        <a:rPr lang="en-US" sz="1200" dirty="0">
                          <a:solidFill>
                            <a:srgbClr val="444444"/>
                          </a:solidFill>
                          <a:latin typeface="Arial" pitchFamily="34" charset="0"/>
                          <a:ea typeface="Arial" pitchFamily="34" charset="-122"/>
                          <a:cs typeface="Arial" pitchFamily="34" charset="-120"/>
                        </a:rPr>
                        <a:t>reference</a:t>
                      </a:r>
                      <a:endParaRPr lang="en-US" sz="1200" dirty="0">
                        <a:latin typeface="Arial" charset="0"/>
                        <a:ea typeface="Arial" charset="0"/>
                        <a:cs typeface="Arial" charset="0"/>
                      </a:endParaRPr>
                    </a:p>
                  </a:txBody>
                  <a:tcPr marL="109728" marR="109728" marT="36576" marB="36576" anchor="ctr">
                    <a:lnL w="6350" cap="flat" cmpd="sng" algn="ctr">
                      <a:solidFill>
                        <a:srgbClr val="DCDCDC"/>
                      </a:solidFill>
                      <a:prstDash val="solid"/>
                      <a:round/>
                      <a:headEnd type="none" w="med" len="med"/>
                      <a:tailEnd type="none" w="med" len="med"/>
                    </a:lnL>
                    <a:lnR w="6350" cap="flat" cmpd="sng" algn="ctr">
                      <a:solidFill>
                        <a:srgbClr val="DCDCDC"/>
                      </a:solidFill>
                      <a:prstDash val="solid"/>
                      <a:round/>
                      <a:headEnd type="none" w="med" len="med"/>
                      <a:tailEnd type="none" w="med" len="med"/>
                    </a:lnR>
                    <a:lnT w="6350" cap="flat" cmpd="sng" algn="ctr">
                      <a:solidFill>
                        <a:srgbClr val="DCDCDC"/>
                      </a:solidFill>
                      <a:prstDash val="solid"/>
                      <a:round/>
                      <a:headEnd type="none" w="med" len="med"/>
                      <a:tailEnd type="none" w="med" len="med"/>
                    </a:lnT>
                    <a:lnB w="6350" cap="flat" cmpd="sng" algn="ctr">
                      <a:solidFill>
                        <a:srgbClr val="DCDCD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02336">
                <a:tc>
                  <a:txBody>
                    <a:bodyPr/>
                    <a:lstStyle/>
                    <a:p>
                      <a:pPr marL="0" indent="0" algn="l">
                        <a:buNone/>
                      </a:pPr>
                      <a:r>
                        <a:rPr lang="en-US" sz="1200" dirty="0">
                          <a:solidFill>
                            <a:srgbClr val="444444"/>
                          </a:solidFill>
                          <a:latin typeface="Arial" pitchFamily="34" charset="0"/>
                          <a:ea typeface="Arial" pitchFamily="34" charset="-122"/>
                          <a:cs typeface="Arial" pitchFamily="34" charset="-120"/>
                        </a:rPr>
                        <a:t>judges-7B  (A)</a:t>
                      </a:r>
                      <a:endParaRPr lang="en-US" sz="1200" dirty="0">
                        <a:latin typeface="Arial" charset="0"/>
                        <a:ea typeface="Arial" charset="0"/>
                        <a:cs typeface="Arial" charset="0"/>
                      </a:endParaRPr>
                    </a:p>
                  </a:txBody>
                  <a:tcPr marL="109728" marR="109728" marT="36576" marB="36576" anchor="ctr">
                    <a:lnL w="6350" cap="flat" cmpd="sng" algn="ctr">
                      <a:solidFill>
                        <a:srgbClr val="DCDCDC"/>
                      </a:solidFill>
                      <a:prstDash val="solid"/>
                      <a:round/>
                      <a:headEnd type="none" w="med" len="med"/>
                      <a:tailEnd type="none" w="med" len="med"/>
                    </a:lnL>
                    <a:lnR w="6350" cap="flat" cmpd="sng" algn="ctr">
                      <a:solidFill>
                        <a:srgbClr val="DCDCDC"/>
                      </a:solidFill>
                      <a:prstDash val="solid"/>
                      <a:round/>
                      <a:headEnd type="none" w="med" len="med"/>
                      <a:tailEnd type="none" w="med" len="med"/>
                    </a:lnR>
                    <a:lnT w="6350" cap="flat" cmpd="sng" algn="ctr">
                      <a:solidFill>
                        <a:srgbClr val="DCDCDC"/>
                      </a:solidFill>
                      <a:prstDash val="solid"/>
                      <a:round/>
                      <a:headEnd type="none" w="med" len="med"/>
                      <a:tailEnd type="none" w="med" len="med"/>
                    </a:lnT>
                    <a:lnB w="6350" cap="flat" cmpd="sng" algn="ctr">
                      <a:solidFill>
                        <a:srgbClr val="DCDCDC"/>
                      </a:solidFill>
                      <a:prstDash val="solid"/>
                      <a:round/>
                      <a:headEnd type="none" w="med" len="med"/>
                      <a:tailEnd type="none" w="med" len="med"/>
                    </a:lnB>
                    <a:solidFill>
                      <a:srgbClr val="FFFFFF"/>
                    </a:solidFill>
                  </a:tcPr>
                </a:tc>
                <a:tc>
                  <a:txBody>
                    <a:bodyPr/>
                    <a:lstStyle/>
                    <a:p>
                      <a:pPr marL="0" indent="0" algn="l">
                        <a:buNone/>
                      </a:pPr>
                      <a:r>
                        <a:rPr lang="en-US" sz="1200" dirty="0">
                          <a:solidFill>
                            <a:srgbClr val="444444"/>
                          </a:solidFill>
                          <a:latin typeface="Arial" pitchFamily="34" charset="0"/>
                          <a:ea typeface="Arial" pitchFamily="34" charset="-122"/>
                          <a:cs typeface="Arial" pitchFamily="34" charset="-120"/>
                        </a:rPr>
                        <a:t>Qwen2.5-3B (unchanged)</a:t>
                      </a:r>
                      <a:endParaRPr lang="en-US" sz="1200" dirty="0">
                        <a:latin typeface="Arial" charset="0"/>
                        <a:ea typeface="Arial" charset="0"/>
                        <a:cs typeface="Arial" charset="0"/>
                      </a:endParaRPr>
                    </a:p>
                  </a:txBody>
                  <a:tcPr marL="109728" marR="109728" marT="36576" marB="36576" anchor="ctr">
                    <a:lnL w="6350" cap="flat" cmpd="sng" algn="ctr">
                      <a:solidFill>
                        <a:srgbClr val="DCDCDC"/>
                      </a:solidFill>
                      <a:prstDash val="solid"/>
                      <a:round/>
                      <a:headEnd type="none" w="med" len="med"/>
                      <a:tailEnd type="none" w="med" len="med"/>
                    </a:lnL>
                    <a:lnR w="6350" cap="flat" cmpd="sng" algn="ctr">
                      <a:solidFill>
                        <a:srgbClr val="DCDCDC"/>
                      </a:solidFill>
                      <a:prstDash val="solid"/>
                      <a:round/>
                      <a:headEnd type="none" w="med" len="med"/>
                      <a:tailEnd type="none" w="med" len="med"/>
                    </a:lnR>
                    <a:lnT w="6350" cap="flat" cmpd="sng" algn="ctr">
                      <a:solidFill>
                        <a:srgbClr val="DCDCDC"/>
                      </a:solidFill>
                      <a:prstDash val="solid"/>
                      <a:round/>
                      <a:headEnd type="none" w="med" len="med"/>
                      <a:tailEnd type="none" w="med" len="med"/>
                    </a:lnT>
                    <a:lnB w="6350" cap="flat" cmpd="sng" algn="ctr">
                      <a:solidFill>
                        <a:srgbClr val="DCDCDC"/>
                      </a:solidFill>
                      <a:prstDash val="solid"/>
                      <a:round/>
                      <a:headEnd type="none" w="med" len="med"/>
                      <a:tailEnd type="none" w="med" len="med"/>
                    </a:lnB>
                    <a:solidFill>
                      <a:srgbClr val="FFFFFF"/>
                    </a:solidFill>
                  </a:tcPr>
                </a:tc>
                <a:tc>
                  <a:txBody>
                    <a:bodyPr/>
                    <a:lstStyle/>
                    <a:p>
                      <a:pPr marL="0" indent="0" algn="l">
                        <a:buNone/>
                      </a:pPr>
                      <a:r>
                        <a:rPr lang="en-US" sz="1200" dirty="0">
                          <a:solidFill>
                            <a:srgbClr val="444444"/>
                          </a:solidFill>
                          <a:latin typeface="Arial" pitchFamily="34" charset="0"/>
                          <a:ea typeface="Arial" pitchFamily="34" charset="-122"/>
                          <a:cs typeface="Arial" pitchFamily="34" charset="-120"/>
                        </a:rPr>
                        <a:t>Qwen2.5-7B + Llama-3.1-8B</a:t>
                      </a:r>
                      <a:endParaRPr lang="en-US" sz="1200" dirty="0">
                        <a:latin typeface="Arial" charset="0"/>
                        <a:ea typeface="Arial" charset="0"/>
                        <a:cs typeface="Arial" charset="0"/>
                      </a:endParaRPr>
                    </a:p>
                  </a:txBody>
                  <a:tcPr marL="109728" marR="109728" marT="36576" marB="36576" anchor="ctr">
                    <a:lnL w="6350" cap="flat" cmpd="sng" algn="ctr">
                      <a:solidFill>
                        <a:srgbClr val="DCDCDC"/>
                      </a:solidFill>
                      <a:prstDash val="solid"/>
                      <a:round/>
                      <a:headEnd type="none" w="med" len="med"/>
                      <a:tailEnd type="none" w="med" len="med"/>
                    </a:lnL>
                    <a:lnR w="6350" cap="flat" cmpd="sng" algn="ctr">
                      <a:solidFill>
                        <a:srgbClr val="DCDCDC"/>
                      </a:solidFill>
                      <a:prstDash val="solid"/>
                      <a:round/>
                      <a:headEnd type="none" w="med" len="med"/>
                      <a:tailEnd type="none" w="med" len="med"/>
                    </a:lnR>
                    <a:lnT w="6350" cap="flat" cmpd="sng" algn="ctr">
                      <a:solidFill>
                        <a:srgbClr val="DCDCDC"/>
                      </a:solidFill>
                      <a:prstDash val="solid"/>
                      <a:round/>
                      <a:headEnd type="none" w="med" len="med"/>
                      <a:tailEnd type="none" w="med" len="med"/>
                    </a:lnT>
                    <a:lnB w="6350" cap="flat" cmpd="sng" algn="ctr">
                      <a:solidFill>
                        <a:srgbClr val="DCDCDC"/>
                      </a:solidFill>
                      <a:prstDash val="solid"/>
                      <a:round/>
                      <a:headEnd type="none" w="med" len="med"/>
                      <a:tailEnd type="none" w="med" len="med"/>
                    </a:lnB>
                    <a:solidFill>
                      <a:srgbClr val="FFFFFF"/>
                    </a:solidFill>
                  </a:tcPr>
                </a:tc>
                <a:tc>
                  <a:txBody>
                    <a:bodyPr/>
                    <a:lstStyle/>
                    <a:p>
                      <a:pPr marL="0" indent="0" algn="l">
                        <a:buNone/>
                      </a:pPr>
                      <a:r>
                        <a:rPr lang="en-US" sz="1200" dirty="0">
                          <a:solidFill>
                            <a:srgbClr val="444444"/>
                          </a:solidFill>
                          <a:latin typeface="Arial" pitchFamily="34" charset="0"/>
                          <a:ea typeface="Arial" pitchFamily="34" charset="-122"/>
                          <a:cs typeface="Arial" pitchFamily="34" charset="-120"/>
                        </a:rPr>
                        <a:t>Colab T4, 16 GB</a:t>
                      </a:r>
                      <a:endParaRPr lang="en-US" sz="1200" dirty="0">
                        <a:latin typeface="Arial" charset="0"/>
                        <a:ea typeface="Arial" charset="0"/>
                        <a:cs typeface="Arial" charset="0"/>
                      </a:endParaRPr>
                    </a:p>
                  </a:txBody>
                  <a:tcPr marL="109728" marR="109728" marT="36576" marB="36576" anchor="ctr">
                    <a:lnL w="6350" cap="flat" cmpd="sng" algn="ctr">
                      <a:solidFill>
                        <a:srgbClr val="DCDCDC"/>
                      </a:solidFill>
                      <a:prstDash val="solid"/>
                      <a:round/>
                      <a:headEnd type="none" w="med" len="med"/>
                      <a:tailEnd type="none" w="med" len="med"/>
                    </a:lnL>
                    <a:lnR w="6350" cap="flat" cmpd="sng" algn="ctr">
                      <a:solidFill>
                        <a:srgbClr val="DCDCDC"/>
                      </a:solidFill>
                      <a:prstDash val="solid"/>
                      <a:round/>
                      <a:headEnd type="none" w="med" len="med"/>
                      <a:tailEnd type="none" w="med" len="med"/>
                    </a:lnR>
                    <a:lnT w="6350" cap="flat" cmpd="sng" algn="ctr">
                      <a:solidFill>
                        <a:srgbClr val="DCDCDC"/>
                      </a:solidFill>
                      <a:prstDash val="solid"/>
                      <a:round/>
                      <a:headEnd type="none" w="med" len="med"/>
                      <a:tailEnd type="none" w="med" len="med"/>
                    </a:lnT>
                    <a:lnB w="6350" cap="flat" cmpd="sng" algn="ctr">
                      <a:solidFill>
                        <a:srgbClr val="DCDCDC"/>
                      </a:solidFill>
                      <a:prstDash val="solid"/>
                      <a:round/>
                      <a:headEnd type="none" w="med" len="med"/>
                      <a:tailEnd type="none" w="med" len="med"/>
                    </a:lnB>
                    <a:solidFill>
                      <a:srgbClr val="FFFFFF"/>
                    </a:solidFill>
                  </a:tcPr>
                </a:tc>
                <a:tc>
                  <a:txBody>
                    <a:bodyPr/>
                    <a:lstStyle/>
                    <a:p>
                      <a:pPr marL="0" indent="0" algn="l">
                        <a:buNone/>
                      </a:pPr>
                      <a:r>
                        <a:rPr lang="en-US" sz="1200" b="1" dirty="0">
                          <a:solidFill>
                            <a:srgbClr val="E90802"/>
                          </a:solidFill>
                          <a:latin typeface="Arial" pitchFamily="34" charset="0"/>
                          <a:ea typeface="Arial" pitchFamily="34" charset="-122"/>
                          <a:cs typeface="Arial" pitchFamily="34" charset="-120"/>
                        </a:rPr>
                        <a:t>yes</a:t>
                      </a:r>
                      <a:endParaRPr lang="en-US" sz="1200" dirty="0">
                        <a:latin typeface="Arial" charset="0"/>
                        <a:ea typeface="Arial" charset="0"/>
                        <a:cs typeface="Arial" charset="0"/>
                      </a:endParaRPr>
                    </a:p>
                  </a:txBody>
                  <a:tcPr marL="109728" marR="109728" marT="36576" marB="36576" anchor="ctr">
                    <a:lnL w="6350" cap="flat" cmpd="sng" algn="ctr">
                      <a:solidFill>
                        <a:srgbClr val="DCDCDC"/>
                      </a:solidFill>
                      <a:prstDash val="solid"/>
                      <a:round/>
                      <a:headEnd type="none" w="med" len="med"/>
                      <a:tailEnd type="none" w="med" len="med"/>
                    </a:lnL>
                    <a:lnR w="6350" cap="flat" cmpd="sng" algn="ctr">
                      <a:solidFill>
                        <a:srgbClr val="DCDCDC"/>
                      </a:solidFill>
                      <a:prstDash val="solid"/>
                      <a:round/>
                      <a:headEnd type="none" w="med" len="med"/>
                      <a:tailEnd type="none" w="med" len="med"/>
                    </a:lnR>
                    <a:lnT w="6350" cap="flat" cmpd="sng" algn="ctr">
                      <a:solidFill>
                        <a:srgbClr val="DCDCDC"/>
                      </a:solidFill>
                      <a:prstDash val="solid"/>
                      <a:round/>
                      <a:headEnd type="none" w="med" len="med"/>
                      <a:tailEnd type="none" w="med" len="med"/>
                    </a:lnT>
                    <a:lnB w="6350" cap="flat" cmpd="sng" algn="ctr">
                      <a:solidFill>
                        <a:srgbClr val="DCDCDC"/>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02336">
                <a:tc>
                  <a:txBody>
                    <a:bodyPr/>
                    <a:lstStyle/>
                    <a:p>
                      <a:pPr marL="0" indent="0" algn="l">
                        <a:buNone/>
                      </a:pPr>
                      <a:r>
                        <a:rPr lang="en-US" sz="1200" dirty="0">
                          <a:solidFill>
                            <a:srgbClr val="444444"/>
                          </a:solidFill>
                          <a:latin typeface="Arial" pitchFamily="34" charset="0"/>
                          <a:ea typeface="Arial" pitchFamily="34" charset="-122"/>
                          <a:cs typeface="Arial" pitchFamily="34" charset="-120"/>
                        </a:rPr>
                        <a:t>full-7B  (B)</a:t>
                      </a:r>
                      <a:endParaRPr lang="en-US" sz="1200" dirty="0">
                        <a:latin typeface="Arial" charset="0"/>
                        <a:ea typeface="Arial" charset="0"/>
                        <a:cs typeface="Arial" charset="0"/>
                      </a:endParaRPr>
                    </a:p>
                  </a:txBody>
                  <a:tcPr marL="109728" marR="109728" marT="36576" marB="36576" anchor="ctr">
                    <a:lnL w="6350" cap="flat" cmpd="sng" algn="ctr">
                      <a:solidFill>
                        <a:srgbClr val="DCDCDC"/>
                      </a:solidFill>
                      <a:prstDash val="solid"/>
                      <a:round/>
                      <a:headEnd type="none" w="med" len="med"/>
                      <a:tailEnd type="none" w="med" len="med"/>
                    </a:lnL>
                    <a:lnR w="6350" cap="flat" cmpd="sng" algn="ctr">
                      <a:solidFill>
                        <a:srgbClr val="DCDCDC"/>
                      </a:solidFill>
                      <a:prstDash val="solid"/>
                      <a:round/>
                      <a:headEnd type="none" w="med" len="med"/>
                      <a:tailEnd type="none" w="med" len="med"/>
                    </a:lnR>
                    <a:lnT w="6350" cap="flat" cmpd="sng" algn="ctr">
                      <a:solidFill>
                        <a:srgbClr val="DCDCDC"/>
                      </a:solidFill>
                      <a:prstDash val="solid"/>
                      <a:round/>
                      <a:headEnd type="none" w="med" len="med"/>
                      <a:tailEnd type="none" w="med" len="med"/>
                    </a:lnT>
                    <a:lnB w="6350" cap="flat" cmpd="sng" algn="ctr">
                      <a:solidFill>
                        <a:srgbClr val="DCDCDC"/>
                      </a:solidFill>
                      <a:prstDash val="solid"/>
                      <a:round/>
                      <a:headEnd type="none" w="med" len="med"/>
                      <a:tailEnd type="none" w="med" len="med"/>
                    </a:lnB>
                    <a:solidFill>
                      <a:srgbClr val="FFFFFF"/>
                    </a:solidFill>
                  </a:tcPr>
                </a:tc>
                <a:tc>
                  <a:txBody>
                    <a:bodyPr/>
                    <a:lstStyle/>
                    <a:p>
                      <a:pPr marL="0" indent="0" algn="l">
                        <a:buNone/>
                      </a:pPr>
                      <a:r>
                        <a:rPr lang="en-US" sz="1200" dirty="0">
                          <a:solidFill>
                            <a:srgbClr val="444444"/>
                          </a:solidFill>
                          <a:latin typeface="Arial" pitchFamily="34" charset="0"/>
                          <a:ea typeface="Arial" pitchFamily="34" charset="-122"/>
                          <a:cs typeface="Arial" pitchFamily="34" charset="-120"/>
                        </a:rPr>
                        <a:t>Qwen2.5-7B</a:t>
                      </a:r>
                      <a:endParaRPr lang="en-US" sz="1200" dirty="0">
                        <a:latin typeface="Arial" charset="0"/>
                        <a:ea typeface="Arial" charset="0"/>
                        <a:cs typeface="Arial" charset="0"/>
                      </a:endParaRPr>
                    </a:p>
                  </a:txBody>
                  <a:tcPr marL="109728" marR="109728" marT="36576" marB="36576" anchor="ctr">
                    <a:lnL w="6350" cap="flat" cmpd="sng" algn="ctr">
                      <a:solidFill>
                        <a:srgbClr val="DCDCDC"/>
                      </a:solidFill>
                      <a:prstDash val="solid"/>
                      <a:round/>
                      <a:headEnd type="none" w="med" len="med"/>
                      <a:tailEnd type="none" w="med" len="med"/>
                    </a:lnL>
                    <a:lnR w="6350" cap="flat" cmpd="sng" algn="ctr">
                      <a:solidFill>
                        <a:srgbClr val="DCDCDC"/>
                      </a:solidFill>
                      <a:prstDash val="solid"/>
                      <a:round/>
                      <a:headEnd type="none" w="med" len="med"/>
                      <a:tailEnd type="none" w="med" len="med"/>
                    </a:lnR>
                    <a:lnT w="6350" cap="flat" cmpd="sng" algn="ctr">
                      <a:solidFill>
                        <a:srgbClr val="DCDCDC"/>
                      </a:solidFill>
                      <a:prstDash val="solid"/>
                      <a:round/>
                      <a:headEnd type="none" w="med" len="med"/>
                      <a:tailEnd type="none" w="med" len="med"/>
                    </a:lnT>
                    <a:lnB w="6350" cap="flat" cmpd="sng" algn="ctr">
                      <a:solidFill>
                        <a:srgbClr val="DCDCDC"/>
                      </a:solidFill>
                      <a:prstDash val="solid"/>
                      <a:round/>
                      <a:headEnd type="none" w="med" len="med"/>
                      <a:tailEnd type="none" w="med" len="med"/>
                    </a:lnB>
                    <a:solidFill>
                      <a:srgbClr val="FFFFFF"/>
                    </a:solidFill>
                  </a:tcPr>
                </a:tc>
                <a:tc>
                  <a:txBody>
                    <a:bodyPr/>
                    <a:lstStyle/>
                    <a:p>
                      <a:pPr marL="0" indent="0" algn="l">
                        <a:buNone/>
                      </a:pPr>
                      <a:r>
                        <a:rPr lang="en-US" sz="1200" dirty="0">
                          <a:solidFill>
                            <a:srgbClr val="444444"/>
                          </a:solidFill>
                          <a:latin typeface="Arial" pitchFamily="34" charset="0"/>
                          <a:ea typeface="Arial" pitchFamily="34" charset="-122"/>
                          <a:cs typeface="Arial" pitchFamily="34" charset="-120"/>
                        </a:rPr>
                        <a:t>Qwen2.5-7B + Llama-3.1-8B</a:t>
                      </a:r>
                      <a:endParaRPr lang="en-US" sz="1200" dirty="0">
                        <a:latin typeface="Arial" charset="0"/>
                        <a:ea typeface="Arial" charset="0"/>
                        <a:cs typeface="Arial" charset="0"/>
                      </a:endParaRPr>
                    </a:p>
                  </a:txBody>
                  <a:tcPr marL="109728" marR="109728" marT="36576" marB="36576" anchor="ctr">
                    <a:lnL w="6350" cap="flat" cmpd="sng" algn="ctr">
                      <a:solidFill>
                        <a:srgbClr val="DCDCDC"/>
                      </a:solidFill>
                      <a:prstDash val="solid"/>
                      <a:round/>
                      <a:headEnd type="none" w="med" len="med"/>
                      <a:tailEnd type="none" w="med" len="med"/>
                    </a:lnL>
                    <a:lnR w="6350" cap="flat" cmpd="sng" algn="ctr">
                      <a:solidFill>
                        <a:srgbClr val="DCDCDC"/>
                      </a:solidFill>
                      <a:prstDash val="solid"/>
                      <a:round/>
                      <a:headEnd type="none" w="med" len="med"/>
                      <a:tailEnd type="none" w="med" len="med"/>
                    </a:lnR>
                    <a:lnT w="6350" cap="flat" cmpd="sng" algn="ctr">
                      <a:solidFill>
                        <a:srgbClr val="DCDCDC"/>
                      </a:solidFill>
                      <a:prstDash val="solid"/>
                      <a:round/>
                      <a:headEnd type="none" w="med" len="med"/>
                      <a:tailEnd type="none" w="med" len="med"/>
                    </a:lnT>
                    <a:lnB w="6350" cap="flat" cmpd="sng" algn="ctr">
                      <a:solidFill>
                        <a:srgbClr val="DCDCDC"/>
                      </a:solidFill>
                      <a:prstDash val="solid"/>
                      <a:round/>
                      <a:headEnd type="none" w="med" len="med"/>
                      <a:tailEnd type="none" w="med" len="med"/>
                    </a:lnB>
                    <a:solidFill>
                      <a:srgbClr val="FFFFFF"/>
                    </a:solidFill>
                  </a:tcPr>
                </a:tc>
                <a:tc>
                  <a:txBody>
                    <a:bodyPr/>
                    <a:lstStyle/>
                    <a:p>
                      <a:pPr marL="0" indent="0" algn="l">
                        <a:buNone/>
                      </a:pPr>
                      <a:r>
                        <a:rPr lang="en-US" sz="1200" dirty="0">
                          <a:solidFill>
                            <a:srgbClr val="444444"/>
                          </a:solidFill>
                          <a:latin typeface="Arial" pitchFamily="34" charset="0"/>
                          <a:ea typeface="Arial" pitchFamily="34" charset="-122"/>
                          <a:cs typeface="Arial" pitchFamily="34" charset="-120"/>
                        </a:rPr>
                        <a:t>Colab T4, 16 GB</a:t>
                      </a:r>
                      <a:endParaRPr lang="en-US" sz="1200" dirty="0">
                        <a:latin typeface="Arial" charset="0"/>
                        <a:ea typeface="Arial" charset="0"/>
                        <a:cs typeface="Arial" charset="0"/>
                      </a:endParaRPr>
                    </a:p>
                  </a:txBody>
                  <a:tcPr marL="109728" marR="109728" marT="36576" marB="36576" anchor="ctr">
                    <a:lnL w="6350" cap="flat" cmpd="sng" algn="ctr">
                      <a:solidFill>
                        <a:srgbClr val="DCDCDC"/>
                      </a:solidFill>
                      <a:prstDash val="solid"/>
                      <a:round/>
                      <a:headEnd type="none" w="med" len="med"/>
                      <a:tailEnd type="none" w="med" len="med"/>
                    </a:lnL>
                    <a:lnR w="6350" cap="flat" cmpd="sng" algn="ctr">
                      <a:solidFill>
                        <a:srgbClr val="DCDCDC"/>
                      </a:solidFill>
                      <a:prstDash val="solid"/>
                      <a:round/>
                      <a:headEnd type="none" w="med" len="med"/>
                      <a:tailEnd type="none" w="med" len="med"/>
                    </a:lnR>
                    <a:lnT w="6350" cap="flat" cmpd="sng" algn="ctr">
                      <a:solidFill>
                        <a:srgbClr val="DCDCDC"/>
                      </a:solidFill>
                      <a:prstDash val="solid"/>
                      <a:round/>
                      <a:headEnd type="none" w="med" len="med"/>
                      <a:tailEnd type="none" w="med" len="med"/>
                    </a:lnT>
                    <a:lnB w="6350" cap="flat" cmpd="sng" algn="ctr">
                      <a:solidFill>
                        <a:srgbClr val="DCDCDC"/>
                      </a:solidFill>
                      <a:prstDash val="solid"/>
                      <a:round/>
                      <a:headEnd type="none" w="med" len="med"/>
                      <a:tailEnd type="none" w="med" len="med"/>
                    </a:lnB>
                    <a:solidFill>
                      <a:srgbClr val="FFFFFF"/>
                    </a:solidFill>
                  </a:tcPr>
                </a:tc>
                <a:tc>
                  <a:txBody>
                    <a:bodyPr/>
                    <a:lstStyle/>
                    <a:p>
                      <a:pPr marL="0" indent="0" algn="l">
                        <a:buNone/>
                      </a:pPr>
                      <a:r>
                        <a:rPr lang="en-US" sz="1200" dirty="0">
                          <a:solidFill>
                            <a:srgbClr val="444444"/>
                          </a:solidFill>
                          <a:latin typeface="Arial" pitchFamily="34" charset="0"/>
                          <a:ea typeface="Arial" pitchFamily="34" charset="-122"/>
                          <a:cs typeface="Arial" pitchFamily="34" charset="-120"/>
                        </a:rPr>
                        <a:t>no</a:t>
                      </a:r>
                      <a:endParaRPr lang="en-US" sz="1200" dirty="0">
                        <a:latin typeface="Arial" charset="0"/>
                        <a:ea typeface="Arial" charset="0"/>
                        <a:cs typeface="Arial" charset="0"/>
                      </a:endParaRPr>
                    </a:p>
                  </a:txBody>
                  <a:tcPr marL="109728" marR="109728" marT="36576" marB="36576" anchor="ctr">
                    <a:lnL w="6350" cap="flat" cmpd="sng" algn="ctr">
                      <a:solidFill>
                        <a:srgbClr val="DCDCDC"/>
                      </a:solidFill>
                      <a:prstDash val="solid"/>
                      <a:round/>
                      <a:headEnd type="none" w="med" len="med"/>
                      <a:tailEnd type="none" w="med" len="med"/>
                    </a:lnL>
                    <a:lnR w="6350" cap="flat" cmpd="sng" algn="ctr">
                      <a:solidFill>
                        <a:srgbClr val="DCDCDC"/>
                      </a:solidFill>
                      <a:prstDash val="solid"/>
                      <a:round/>
                      <a:headEnd type="none" w="med" len="med"/>
                      <a:tailEnd type="none" w="med" len="med"/>
                    </a:lnR>
                    <a:lnT w="6350" cap="flat" cmpd="sng" algn="ctr">
                      <a:solidFill>
                        <a:srgbClr val="DCDCDC"/>
                      </a:solidFill>
                      <a:prstDash val="solid"/>
                      <a:round/>
                      <a:headEnd type="none" w="med" len="med"/>
                      <a:tailEnd type="none" w="med" len="med"/>
                    </a:lnT>
                    <a:lnB w="6350" cap="flat" cmpd="sng" algn="ctr">
                      <a:solidFill>
                        <a:srgbClr val="DCDCDC"/>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
        <p:nvSpPr>
          <p:cNvPr id="16" name="bnote"/>
          <p:cNvSpPr/>
          <p:nvPr/>
        </p:nvSpPr>
        <p:spPr>
          <a:xfrm>
            <a:off x="548640" y="5349240"/>
            <a:ext cx="11064240" cy="640080"/>
          </a:xfrm>
          <a:prstGeom prst="rect">
            <a:avLst/>
          </a:prstGeom>
          <a:solidFill>
            <a:srgbClr val="F4F4F4"/>
          </a:solidFill>
          <a:ln w="9525">
            <a:solidFill>
              <a:srgbClr val="F4F4F4"/>
            </a:solidFill>
            <a:prstDash val="solid"/>
          </a:ln>
        </p:spPr>
        <p:txBody>
          <a:bodyPr/>
          <a:lstStyle/>
          <a:p>
            <a:endParaRPr lang="en-IN"/>
          </a:p>
        </p:txBody>
      </p:sp>
      <p:sp>
        <p:nvSpPr>
          <p:cNvPr id="17" name="bnote-b"/>
          <p:cNvSpPr txBox="1"/>
          <p:nvPr/>
        </p:nvSpPr>
        <p:spPr>
          <a:xfrm>
            <a:off x="804672" y="5550408"/>
            <a:ext cx="10552176" cy="274320"/>
          </a:xfrm>
          <a:prstGeom prst="rect">
            <a:avLst/>
          </a:prstGeom>
          <a:noFill/>
          <a:ln/>
        </p:spPr>
        <p:txBody>
          <a:bodyPr wrap="square" lIns="0" tIns="0" rIns="0" bIns="0" rtlCol="0" anchor="t"/>
          <a:lstStyle/>
          <a:p>
            <a:pPr marL="0" indent="0">
              <a:lnSpc>
                <a:spcPct val="125000"/>
              </a:lnSpc>
              <a:buNone/>
            </a:pPr>
            <a:r>
              <a:rPr lang="en-US" sz="1200" dirty="0">
                <a:solidFill>
                  <a:srgbClr val="444444"/>
                </a:solidFill>
                <a:latin typeface="Arial" pitchFamily="34" charset="0"/>
                <a:ea typeface="Arial" pitchFamily="34" charset="-122"/>
                <a:cs typeface="Arial" pitchFamily="34" charset="-120"/>
              </a:rPr>
              <a:t>Run B changed the extractor, the incompleteness judge, the verifier and the recall entailment model at once, so its columns are read only against its own baseline — never against A's.</a:t>
            </a:r>
            <a:endParaRPr lang="en-US" sz="1200" dirty="0"/>
          </a:p>
        </p:txBody>
      </p:sp>
      <p:sp>
        <p:nvSpPr>
          <p:cNvPr id="18" name="note"/>
          <p:cNvSpPr txBox="1"/>
          <p:nvPr/>
        </p:nvSpPr>
        <p:spPr>
          <a:xfrm>
            <a:off x="548640" y="6291072"/>
            <a:ext cx="10607040" cy="274320"/>
          </a:xfrm>
          <a:prstGeom prst="rect">
            <a:avLst/>
          </a:prstGeom>
          <a:noFill/>
          <a:ln/>
        </p:spPr>
        <p:txBody>
          <a:bodyPr wrap="square" lIns="0" tIns="0" rIns="0" bIns="0" rtlCol="0" anchor="ctr"/>
          <a:lstStyle/>
          <a:p>
            <a:pPr marL="0" indent="0">
              <a:buNone/>
            </a:pPr>
            <a:r>
              <a:rPr lang="en-US" sz="950" dirty="0">
                <a:solidFill>
                  <a:srgbClr val="767676"/>
                </a:solidFill>
                <a:latin typeface="Arial" pitchFamily="34" charset="0"/>
                <a:ea typeface="Arial" pitchFamily="34" charset="-122"/>
                <a:cs typeface="Arial" pitchFamily="34" charset="-120"/>
              </a:rPr>
              <a:t>Same 12 questions, same 12 generated answers, verified identical by hash across all three runs.</a:t>
            </a:r>
            <a:endParaRPr lang="en-US" sz="950" dirty="0"/>
          </a:p>
        </p:txBody>
      </p:sp>
      <p:sp>
        <p:nvSpPr>
          <p:cNvPr id="25" name="Slide Number Placeholder 0"/>
          <p:cNvSpPr>
            <a:spLocks noGrp="1"/>
          </p:cNvSpPr>
          <p:nvPr>
            <p:ph type="sldNum" sz="quarter" idx="4294967295"/>
          </p:nvPr>
        </p:nvSpPr>
        <p:spPr>
          <a:xfrm>
            <a:off x="11338560" y="6327648"/>
            <a:ext cx="365760" cy="256032"/>
          </a:xfrm>
          <a:prstGeom prst="rect">
            <a:avLst/>
          </a:prstGeom>
          <a:extLst>
            <a:ext uri="{C572A759-6A51-4108-AA02-DFA0A04FC94B}">
              <ma14:wrappingTextBoxFlag xmlns:ma14="http://schemas.microsoft.com/office/mac/drawingml/2011/main" xmlns="" val="0"/>
            </a:ext>
          </a:extLst>
        </p:spPr>
        <p:txBody>
          <a:bodyPr/>
          <a:lstStyle>
            <a:lvl1pPr>
              <a:defRPr sz="900">
                <a:solidFill>
                  <a:srgbClr val="767676"/>
                </a:solidFill>
              </a:defRPr>
            </a:lvl1pPr>
          </a:lstStyle>
          <a:p>
            <a:pPr algn="r"/>
            <a:fld id="{F7021451-1387-4CA6-816F-3879F97B5CBC}" type="slidenum">
              <a:rPr lang="en-US" b="0"/>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eyebrow"/>
          <p:cNvSpPr txBox="1"/>
          <p:nvPr/>
        </p:nvSpPr>
        <p:spPr>
          <a:xfrm>
            <a:off x="548640" y="347472"/>
            <a:ext cx="11064240" cy="237744"/>
          </a:xfrm>
          <a:prstGeom prst="rect">
            <a:avLst/>
          </a:prstGeom>
          <a:noFill/>
          <a:ln/>
        </p:spPr>
        <p:txBody>
          <a:bodyPr wrap="square" lIns="0" tIns="0" rIns="0" bIns="0" rtlCol="0" anchor="ctr"/>
          <a:lstStyle/>
          <a:p>
            <a:pPr marL="0" indent="0">
              <a:buNone/>
            </a:pPr>
            <a:r>
              <a:rPr lang="en-US" sz="1000" b="1" kern="0" spc="200" dirty="0">
                <a:solidFill>
                  <a:srgbClr val="E90802"/>
                </a:solidFill>
                <a:latin typeface="Arial" pitchFamily="34" charset="0"/>
                <a:ea typeface="Arial" pitchFamily="34" charset="-122"/>
                <a:cs typeface="Arial" pitchFamily="34" charset="-120"/>
              </a:rPr>
              <a:t>OUR CONTRIBUTION  ·  2 OF 3</a:t>
            </a:r>
            <a:endParaRPr lang="en-US" sz="1000" dirty="0"/>
          </a:p>
        </p:txBody>
      </p:sp>
      <p:sp>
        <p:nvSpPr>
          <p:cNvPr id="3" name="title"/>
          <p:cNvSpPr txBox="1"/>
          <p:nvPr/>
        </p:nvSpPr>
        <p:spPr>
          <a:xfrm>
            <a:off x="548640" y="621792"/>
            <a:ext cx="11064240" cy="548640"/>
          </a:xfrm>
          <a:prstGeom prst="rect">
            <a:avLst/>
          </a:prstGeom>
          <a:noFill/>
          <a:ln/>
        </p:spPr>
        <p:txBody>
          <a:bodyPr wrap="square" lIns="0" tIns="0" rIns="0" bIns="0" rtlCol="0" anchor="ctr"/>
          <a:lstStyle/>
          <a:p>
            <a:pPr marL="0" indent="0">
              <a:buNone/>
            </a:pPr>
            <a:r>
              <a:rPr lang="en-US" sz="2700" b="1" dirty="0">
                <a:solidFill>
                  <a:srgbClr val="1A1A1A"/>
                </a:solidFill>
              </a:rPr>
              <a:t>The metrics measure the judge as much as the system</a:t>
            </a:r>
            <a:endParaRPr lang="en-US" sz="2700" dirty="0"/>
          </a:p>
        </p:txBody>
      </p:sp>
      <p:sp>
        <p:nvSpPr>
          <p:cNvPr id="4" name="subtitle"/>
          <p:cNvSpPr txBox="1"/>
          <p:nvPr/>
        </p:nvSpPr>
        <p:spPr>
          <a:xfrm>
            <a:off x="548640" y="1188720"/>
            <a:ext cx="11064240" cy="256032"/>
          </a:xfrm>
          <a:prstGeom prst="rect">
            <a:avLst/>
          </a:prstGeom>
          <a:noFill/>
          <a:ln/>
        </p:spPr>
        <p:txBody>
          <a:bodyPr wrap="square" lIns="0" tIns="0" rIns="0" bIns="0" rtlCol="0" anchor="ctr"/>
          <a:lstStyle/>
          <a:p>
            <a:pPr marL="0" indent="0">
              <a:buNone/>
            </a:pPr>
            <a:r>
              <a:rPr lang="en-US" sz="1350" dirty="0">
                <a:solidFill>
                  <a:srgbClr val="767676"/>
                </a:solidFill>
                <a:latin typeface="Arial" pitchFamily="34" charset="0"/>
                <a:ea typeface="Arial" pitchFamily="34" charset="-122"/>
                <a:cs typeface="Arial" pitchFamily="34" charset="-120"/>
              </a:rPr>
              <a:t>Identical input, identical pipeline, one model swapped</a:t>
            </a:r>
            <a:endParaRPr lang="en-US" sz="1350" dirty="0"/>
          </a:p>
        </p:txBody>
      </p:sp>
      <p:sp>
        <p:nvSpPr>
          <p:cNvPr id="5" name="head-rule"/>
          <p:cNvSpPr/>
          <p:nvPr/>
        </p:nvSpPr>
        <p:spPr>
          <a:xfrm>
            <a:off x="548640" y="1499616"/>
            <a:ext cx="11064240" cy="10973"/>
          </a:xfrm>
          <a:prstGeom prst="rect">
            <a:avLst/>
          </a:prstGeom>
          <a:solidFill>
            <a:srgbClr val="DCDCDC"/>
          </a:solidFill>
          <a:ln w="3175">
            <a:solidFill>
              <a:srgbClr val="DCDCDC"/>
            </a:solidFill>
            <a:prstDash val="solid"/>
          </a:ln>
        </p:spPr>
        <p:txBody>
          <a:bodyPr/>
          <a:lstStyle/>
          <a:p>
            <a:endParaRPr lang="en-IN"/>
          </a:p>
        </p:txBody>
      </p:sp>
      <p:graphicFrame>
        <p:nvGraphicFramePr>
          <p:cNvPr id="12" name="instrument"/>
          <p:cNvGraphicFramePr>
            <a:graphicFrameLocks noGrp="1"/>
          </p:cNvGraphicFramePr>
          <p:nvPr>
            <p:extLst>
              <p:ext uri="{D42A27DB-BD31-4B8C-83A1-F6EECF244321}">
                <p14:modId xmlns:p14="http://schemas.microsoft.com/office/powerpoint/2010/main" val="1579011935"/>
              </p:ext>
            </p:extLst>
          </p:nvPr>
        </p:nvGraphicFramePr>
        <p:xfrm>
          <a:off x="548640" y="1600200"/>
          <a:ext cx="11064240" cy="1682496"/>
        </p:xfrm>
        <a:graphic>
          <a:graphicData uri="http://schemas.openxmlformats.org/drawingml/2006/table">
            <a:tbl>
              <a:tblPr/>
              <a:tblGrid>
                <a:gridCol w="4846320">
                  <a:extLst>
                    <a:ext uri="{9D8B030D-6E8A-4147-A177-3AD203B41FA5}">
                      <a16:colId xmlns:a16="http://schemas.microsoft.com/office/drawing/2014/main" val="20000"/>
                    </a:ext>
                  </a:extLst>
                </a:gridCol>
                <a:gridCol w="2103120">
                  <a:extLst>
                    <a:ext uri="{9D8B030D-6E8A-4147-A177-3AD203B41FA5}">
                      <a16:colId xmlns:a16="http://schemas.microsoft.com/office/drawing/2014/main" val="20001"/>
                    </a:ext>
                  </a:extLst>
                </a:gridCol>
                <a:gridCol w="2103120">
                  <a:extLst>
                    <a:ext uri="{9D8B030D-6E8A-4147-A177-3AD203B41FA5}">
                      <a16:colId xmlns:a16="http://schemas.microsoft.com/office/drawing/2014/main" val="20002"/>
                    </a:ext>
                  </a:extLst>
                </a:gridCol>
                <a:gridCol w="2011680">
                  <a:extLst>
                    <a:ext uri="{9D8B030D-6E8A-4147-A177-3AD203B41FA5}">
                      <a16:colId xmlns:a16="http://schemas.microsoft.com/office/drawing/2014/main" val="20003"/>
                    </a:ext>
                  </a:extLst>
                </a:gridCol>
              </a:tblGrid>
              <a:tr h="420624">
                <a:tc>
                  <a:txBody>
                    <a:bodyPr/>
                    <a:lstStyle/>
                    <a:p>
                      <a:pPr marL="0" indent="0" algn="l">
                        <a:buNone/>
                      </a:pPr>
                      <a:r>
                        <a:rPr lang="en-US" sz="1250" b="1" dirty="0">
                          <a:solidFill>
                            <a:srgbClr val="1A1A1A"/>
                          </a:solidFill>
                          <a:latin typeface="Arial" pitchFamily="34" charset="0"/>
                          <a:ea typeface="Arial" pitchFamily="34" charset="-122"/>
                          <a:cs typeface="Arial" pitchFamily="34" charset="-120"/>
                        </a:rPr>
                        <a:t>Measured on identical input</a:t>
                      </a:r>
                      <a:endParaRPr lang="en-US" sz="1250" dirty="0">
                        <a:latin typeface="Arial" charset="0"/>
                        <a:ea typeface="Arial" charset="0"/>
                        <a:cs typeface="Arial" charset="0"/>
                      </a:endParaRPr>
                    </a:p>
                  </a:txBody>
                  <a:tcPr marL="109728" marR="109728" marT="36576" marB="36576" anchor="ctr">
                    <a:lnL w="6350" cap="flat" cmpd="sng" algn="ctr">
                      <a:solidFill>
                        <a:srgbClr val="DCDCDC"/>
                      </a:solidFill>
                      <a:prstDash val="solid"/>
                      <a:round/>
                      <a:headEnd type="none" w="med" len="med"/>
                      <a:tailEnd type="none" w="med" len="med"/>
                    </a:lnL>
                    <a:lnR w="6350" cap="flat" cmpd="sng" algn="ctr">
                      <a:solidFill>
                        <a:srgbClr val="DCDCDC"/>
                      </a:solidFill>
                      <a:prstDash val="solid"/>
                      <a:round/>
                      <a:headEnd type="none" w="med" len="med"/>
                      <a:tailEnd type="none" w="med" len="med"/>
                    </a:lnR>
                    <a:lnT w="6350" cap="flat" cmpd="sng" algn="ctr">
                      <a:solidFill>
                        <a:srgbClr val="DCDCDC"/>
                      </a:solidFill>
                      <a:prstDash val="solid"/>
                      <a:round/>
                      <a:headEnd type="none" w="med" len="med"/>
                      <a:tailEnd type="none" w="med" len="med"/>
                    </a:lnT>
                    <a:lnB w="6350" cap="flat" cmpd="sng" algn="ctr">
                      <a:solidFill>
                        <a:srgbClr val="DCDCDC"/>
                      </a:solidFill>
                      <a:prstDash val="solid"/>
                      <a:round/>
                      <a:headEnd type="none" w="med" len="med"/>
                      <a:tailEnd type="none" w="med" len="med"/>
                    </a:lnB>
                    <a:solidFill>
                      <a:srgbClr val="F4F4F4"/>
                    </a:solidFill>
                  </a:tcPr>
                </a:tc>
                <a:tc>
                  <a:txBody>
                    <a:bodyPr/>
                    <a:lstStyle/>
                    <a:p>
                      <a:pPr marL="0" indent="0" algn="l">
                        <a:buNone/>
                      </a:pPr>
                      <a:r>
                        <a:rPr lang="en-US" sz="1250" b="1" dirty="0">
                          <a:solidFill>
                            <a:srgbClr val="1A1A1A"/>
                          </a:solidFill>
                          <a:latin typeface="Arial" pitchFamily="34" charset="0"/>
                          <a:ea typeface="Arial" pitchFamily="34" charset="-122"/>
                          <a:cs typeface="Arial" pitchFamily="34" charset="-120"/>
                        </a:rPr>
                        <a:t>3B judge</a:t>
                      </a:r>
                      <a:endParaRPr lang="en-US" sz="1250" dirty="0">
                        <a:latin typeface="Arial" charset="0"/>
                        <a:ea typeface="Arial" charset="0"/>
                        <a:cs typeface="Arial" charset="0"/>
                      </a:endParaRPr>
                    </a:p>
                  </a:txBody>
                  <a:tcPr marL="109728" marR="109728" marT="36576" marB="36576" anchor="ctr">
                    <a:lnL w="6350" cap="flat" cmpd="sng" algn="ctr">
                      <a:solidFill>
                        <a:srgbClr val="DCDCDC"/>
                      </a:solidFill>
                      <a:prstDash val="solid"/>
                      <a:round/>
                      <a:headEnd type="none" w="med" len="med"/>
                      <a:tailEnd type="none" w="med" len="med"/>
                    </a:lnL>
                    <a:lnR w="6350" cap="flat" cmpd="sng" algn="ctr">
                      <a:solidFill>
                        <a:srgbClr val="DCDCDC"/>
                      </a:solidFill>
                      <a:prstDash val="solid"/>
                      <a:round/>
                      <a:headEnd type="none" w="med" len="med"/>
                      <a:tailEnd type="none" w="med" len="med"/>
                    </a:lnR>
                    <a:lnT w="6350" cap="flat" cmpd="sng" algn="ctr">
                      <a:solidFill>
                        <a:srgbClr val="DCDCDC"/>
                      </a:solidFill>
                      <a:prstDash val="solid"/>
                      <a:round/>
                      <a:headEnd type="none" w="med" len="med"/>
                      <a:tailEnd type="none" w="med" len="med"/>
                    </a:lnT>
                    <a:lnB w="6350" cap="flat" cmpd="sng" algn="ctr">
                      <a:solidFill>
                        <a:srgbClr val="DCDCDC"/>
                      </a:solidFill>
                      <a:prstDash val="solid"/>
                      <a:round/>
                      <a:headEnd type="none" w="med" len="med"/>
                      <a:tailEnd type="none" w="med" len="med"/>
                    </a:lnB>
                    <a:solidFill>
                      <a:srgbClr val="F4F4F4"/>
                    </a:solidFill>
                  </a:tcPr>
                </a:tc>
                <a:tc>
                  <a:txBody>
                    <a:bodyPr/>
                    <a:lstStyle/>
                    <a:p>
                      <a:pPr marL="0" indent="0" algn="l">
                        <a:buNone/>
                      </a:pPr>
                      <a:r>
                        <a:rPr lang="en-US" sz="1250" b="1" dirty="0">
                          <a:solidFill>
                            <a:srgbClr val="1A1A1A"/>
                          </a:solidFill>
                          <a:latin typeface="Arial" pitchFamily="34" charset="0"/>
                          <a:ea typeface="Arial" pitchFamily="34" charset="-122"/>
                          <a:cs typeface="Arial" pitchFamily="34" charset="-120"/>
                        </a:rPr>
                        <a:t>7B judge</a:t>
                      </a:r>
                      <a:endParaRPr lang="en-US" sz="1250" dirty="0">
                        <a:latin typeface="Arial" charset="0"/>
                        <a:ea typeface="Arial" charset="0"/>
                        <a:cs typeface="Arial" charset="0"/>
                      </a:endParaRPr>
                    </a:p>
                  </a:txBody>
                  <a:tcPr marL="109728" marR="109728" marT="36576" marB="36576" anchor="ctr">
                    <a:lnL w="6350" cap="flat" cmpd="sng" algn="ctr">
                      <a:solidFill>
                        <a:srgbClr val="DCDCDC"/>
                      </a:solidFill>
                      <a:prstDash val="solid"/>
                      <a:round/>
                      <a:headEnd type="none" w="med" len="med"/>
                      <a:tailEnd type="none" w="med" len="med"/>
                    </a:lnL>
                    <a:lnR w="6350" cap="flat" cmpd="sng" algn="ctr">
                      <a:solidFill>
                        <a:srgbClr val="DCDCDC"/>
                      </a:solidFill>
                      <a:prstDash val="solid"/>
                      <a:round/>
                      <a:headEnd type="none" w="med" len="med"/>
                      <a:tailEnd type="none" w="med" len="med"/>
                    </a:lnR>
                    <a:lnT w="6350" cap="flat" cmpd="sng" algn="ctr">
                      <a:solidFill>
                        <a:srgbClr val="DCDCDC"/>
                      </a:solidFill>
                      <a:prstDash val="solid"/>
                      <a:round/>
                      <a:headEnd type="none" w="med" len="med"/>
                      <a:tailEnd type="none" w="med" len="med"/>
                    </a:lnT>
                    <a:lnB w="6350" cap="flat" cmpd="sng" algn="ctr">
                      <a:solidFill>
                        <a:srgbClr val="DCDCDC"/>
                      </a:solidFill>
                      <a:prstDash val="solid"/>
                      <a:round/>
                      <a:headEnd type="none" w="med" len="med"/>
                      <a:tailEnd type="none" w="med" len="med"/>
                    </a:lnB>
                    <a:solidFill>
                      <a:srgbClr val="F4F4F4"/>
                    </a:solidFill>
                  </a:tcPr>
                </a:tc>
                <a:tc>
                  <a:txBody>
                    <a:bodyPr/>
                    <a:lstStyle/>
                    <a:p>
                      <a:pPr marL="0" indent="0" algn="l">
                        <a:buNone/>
                      </a:pPr>
                      <a:r>
                        <a:rPr lang="en-US" sz="1250" b="1" dirty="0">
                          <a:solidFill>
                            <a:srgbClr val="1A1A1A"/>
                          </a:solidFill>
                          <a:latin typeface="Arial" pitchFamily="34" charset="0"/>
                          <a:ea typeface="Arial" pitchFamily="34" charset="-122"/>
                          <a:cs typeface="Arial" pitchFamily="34" charset="-120"/>
                        </a:rPr>
                        <a:t>Paper</a:t>
                      </a:r>
                      <a:endParaRPr lang="en-US" sz="1250" dirty="0">
                        <a:latin typeface="Arial" charset="0"/>
                        <a:ea typeface="Arial" charset="0"/>
                        <a:cs typeface="Arial" charset="0"/>
                      </a:endParaRPr>
                    </a:p>
                  </a:txBody>
                  <a:tcPr marL="109728" marR="109728" marT="36576" marB="36576" anchor="ctr">
                    <a:lnL w="6350" cap="flat" cmpd="sng" algn="ctr">
                      <a:solidFill>
                        <a:srgbClr val="DCDCDC"/>
                      </a:solidFill>
                      <a:prstDash val="solid"/>
                      <a:round/>
                      <a:headEnd type="none" w="med" len="med"/>
                      <a:tailEnd type="none" w="med" len="med"/>
                    </a:lnL>
                    <a:lnR w="6350" cap="flat" cmpd="sng" algn="ctr">
                      <a:solidFill>
                        <a:srgbClr val="DCDCDC"/>
                      </a:solidFill>
                      <a:prstDash val="solid"/>
                      <a:round/>
                      <a:headEnd type="none" w="med" len="med"/>
                      <a:tailEnd type="none" w="med" len="med"/>
                    </a:lnR>
                    <a:lnT w="6350" cap="flat" cmpd="sng" algn="ctr">
                      <a:solidFill>
                        <a:srgbClr val="DCDCDC"/>
                      </a:solidFill>
                      <a:prstDash val="solid"/>
                      <a:round/>
                      <a:headEnd type="none" w="med" len="med"/>
                      <a:tailEnd type="none" w="med" len="med"/>
                    </a:lnT>
                    <a:lnB w="6350" cap="flat" cmpd="sng" algn="ctr">
                      <a:solidFill>
                        <a:srgbClr val="DCDCDC"/>
                      </a:solidFill>
                      <a:prstDash val="solid"/>
                      <a:round/>
                      <a:headEnd type="none" w="med" len="med"/>
                      <a:tailEnd type="none" w="med" len="med"/>
                    </a:lnB>
                    <a:solidFill>
                      <a:srgbClr val="F4F4F4"/>
                    </a:solidFill>
                  </a:tcPr>
                </a:tc>
                <a:extLst>
                  <a:ext uri="{0D108BD9-81ED-4DB2-BD59-A6C34878D82A}">
                    <a16:rowId xmlns:a16="http://schemas.microsoft.com/office/drawing/2014/main" val="10000"/>
                  </a:ext>
                </a:extLst>
              </a:tr>
              <a:tr h="420624">
                <a:tc>
                  <a:txBody>
                    <a:bodyPr/>
                    <a:lstStyle/>
                    <a:p>
                      <a:pPr marL="0" indent="0" algn="l">
                        <a:buNone/>
                      </a:pPr>
                      <a:r>
                        <a:rPr lang="en-US" sz="1250" dirty="0">
                          <a:solidFill>
                            <a:srgbClr val="444444"/>
                          </a:solidFill>
                          <a:latin typeface="Arial" pitchFamily="34" charset="0"/>
                          <a:ea typeface="Arial" pitchFamily="34" charset="-122"/>
                          <a:cs typeface="Arial" pitchFamily="34" charset="-120"/>
                        </a:rPr>
                        <a:t>Incomplete rate — the same baseline facts</a:t>
                      </a:r>
                      <a:endParaRPr lang="en-US" sz="1250" dirty="0">
                        <a:latin typeface="Arial" charset="0"/>
                        <a:ea typeface="Arial" charset="0"/>
                        <a:cs typeface="Arial" charset="0"/>
                      </a:endParaRPr>
                    </a:p>
                  </a:txBody>
                  <a:tcPr marL="109728" marR="109728" marT="36576" marB="36576" anchor="ctr">
                    <a:lnL w="6350" cap="flat" cmpd="sng" algn="ctr">
                      <a:solidFill>
                        <a:srgbClr val="DCDCDC"/>
                      </a:solidFill>
                      <a:prstDash val="solid"/>
                      <a:round/>
                      <a:headEnd type="none" w="med" len="med"/>
                      <a:tailEnd type="none" w="med" len="med"/>
                    </a:lnL>
                    <a:lnR w="6350" cap="flat" cmpd="sng" algn="ctr">
                      <a:solidFill>
                        <a:srgbClr val="DCDCDC"/>
                      </a:solidFill>
                      <a:prstDash val="solid"/>
                      <a:round/>
                      <a:headEnd type="none" w="med" len="med"/>
                      <a:tailEnd type="none" w="med" len="med"/>
                    </a:lnR>
                    <a:lnT w="6350" cap="flat" cmpd="sng" algn="ctr">
                      <a:solidFill>
                        <a:srgbClr val="DCDCDC"/>
                      </a:solidFill>
                      <a:prstDash val="solid"/>
                      <a:round/>
                      <a:headEnd type="none" w="med" len="med"/>
                      <a:tailEnd type="none" w="med" len="med"/>
                    </a:lnT>
                    <a:lnB w="6350" cap="flat" cmpd="sng" algn="ctr">
                      <a:solidFill>
                        <a:srgbClr val="DCDCDC"/>
                      </a:solidFill>
                      <a:prstDash val="solid"/>
                      <a:round/>
                      <a:headEnd type="none" w="med" len="med"/>
                      <a:tailEnd type="none" w="med" len="med"/>
                    </a:lnB>
                    <a:solidFill>
                      <a:srgbClr val="FFFFFF"/>
                    </a:solidFill>
                  </a:tcPr>
                </a:tc>
                <a:tc>
                  <a:txBody>
                    <a:bodyPr/>
                    <a:lstStyle/>
                    <a:p>
                      <a:pPr marL="0" indent="0" algn="l">
                        <a:buNone/>
                      </a:pPr>
                      <a:r>
                        <a:rPr lang="en-US" sz="1250" dirty="0">
                          <a:solidFill>
                            <a:srgbClr val="444444"/>
                          </a:solidFill>
                          <a:latin typeface="Arial" pitchFamily="34" charset="0"/>
                          <a:ea typeface="Arial" pitchFamily="34" charset="-122"/>
                          <a:cs typeface="Arial" pitchFamily="34" charset="-120"/>
                        </a:rPr>
                        <a:t>0.105</a:t>
                      </a:r>
                      <a:endParaRPr lang="en-US" sz="1250" dirty="0">
                        <a:latin typeface="Arial" charset="0"/>
                        <a:ea typeface="Arial" charset="0"/>
                        <a:cs typeface="Arial" charset="0"/>
                      </a:endParaRPr>
                    </a:p>
                  </a:txBody>
                  <a:tcPr marL="109728" marR="109728" marT="36576" marB="36576" anchor="ctr">
                    <a:lnL w="6350" cap="flat" cmpd="sng" algn="ctr">
                      <a:solidFill>
                        <a:srgbClr val="DCDCDC"/>
                      </a:solidFill>
                      <a:prstDash val="solid"/>
                      <a:round/>
                      <a:headEnd type="none" w="med" len="med"/>
                      <a:tailEnd type="none" w="med" len="med"/>
                    </a:lnL>
                    <a:lnR w="6350" cap="flat" cmpd="sng" algn="ctr">
                      <a:solidFill>
                        <a:srgbClr val="DCDCDC"/>
                      </a:solidFill>
                      <a:prstDash val="solid"/>
                      <a:round/>
                      <a:headEnd type="none" w="med" len="med"/>
                      <a:tailEnd type="none" w="med" len="med"/>
                    </a:lnR>
                    <a:lnT w="6350" cap="flat" cmpd="sng" algn="ctr">
                      <a:solidFill>
                        <a:srgbClr val="DCDCDC"/>
                      </a:solidFill>
                      <a:prstDash val="solid"/>
                      <a:round/>
                      <a:headEnd type="none" w="med" len="med"/>
                      <a:tailEnd type="none" w="med" len="med"/>
                    </a:lnT>
                    <a:lnB w="6350" cap="flat" cmpd="sng" algn="ctr">
                      <a:solidFill>
                        <a:srgbClr val="DCDCDC"/>
                      </a:solidFill>
                      <a:prstDash val="solid"/>
                      <a:round/>
                      <a:headEnd type="none" w="med" len="med"/>
                      <a:tailEnd type="none" w="med" len="med"/>
                    </a:lnB>
                    <a:solidFill>
                      <a:srgbClr val="FFFFFF"/>
                    </a:solidFill>
                  </a:tcPr>
                </a:tc>
                <a:tc>
                  <a:txBody>
                    <a:bodyPr/>
                    <a:lstStyle/>
                    <a:p>
                      <a:pPr marL="0" indent="0" algn="l">
                        <a:buNone/>
                      </a:pPr>
                      <a:r>
                        <a:rPr lang="en-US" sz="1250" b="1" dirty="0">
                          <a:solidFill>
                            <a:srgbClr val="E90802"/>
                          </a:solidFill>
                          <a:latin typeface="Arial" pitchFamily="34" charset="0"/>
                          <a:ea typeface="Arial" pitchFamily="34" charset="-122"/>
                          <a:cs typeface="Arial" pitchFamily="34" charset="-120"/>
                        </a:rPr>
                        <a:t>0.438</a:t>
                      </a:r>
                      <a:endParaRPr lang="en-US" sz="1250" dirty="0">
                        <a:latin typeface="Arial" charset="0"/>
                        <a:ea typeface="Arial" charset="0"/>
                        <a:cs typeface="Arial" charset="0"/>
                      </a:endParaRPr>
                    </a:p>
                  </a:txBody>
                  <a:tcPr marL="109728" marR="109728" marT="36576" marB="36576" anchor="ctr">
                    <a:lnL w="6350" cap="flat" cmpd="sng" algn="ctr">
                      <a:solidFill>
                        <a:srgbClr val="DCDCDC"/>
                      </a:solidFill>
                      <a:prstDash val="solid"/>
                      <a:round/>
                      <a:headEnd type="none" w="med" len="med"/>
                      <a:tailEnd type="none" w="med" len="med"/>
                    </a:lnL>
                    <a:lnR w="6350" cap="flat" cmpd="sng" algn="ctr">
                      <a:solidFill>
                        <a:srgbClr val="DCDCDC"/>
                      </a:solidFill>
                      <a:prstDash val="solid"/>
                      <a:round/>
                      <a:headEnd type="none" w="med" len="med"/>
                      <a:tailEnd type="none" w="med" len="med"/>
                    </a:lnR>
                    <a:lnT w="6350" cap="flat" cmpd="sng" algn="ctr">
                      <a:solidFill>
                        <a:srgbClr val="DCDCDC"/>
                      </a:solidFill>
                      <a:prstDash val="solid"/>
                      <a:round/>
                      <a:headEnd type="none" w="med" len="med"/>
                      <a:tailEnd type="none" w="med" len="med"/>
                    </a:lnT>
                    <a:lnB w="6350" cap="flat" cmpd="sng" algn="ctr">
                      <a:solidFill>
                        <a:srgbClr val="DCDCDC"/>
                      </a:solidFill>
                      <a:prstDash val="solid"/>
                      <a:round/>
                      <a:headEnd type="none" w="med" len="med"/>
                      <a:tailEnd type="none" w="med" len="med"/>
                    </a:lnB>
                    <a:solidFill>
                      <a:srgbClr val="FFFFFF"/>
                    </a:solidFill>
                  </a:tcPr>
                </a:tc>
                <a:tc>
                  <a:txBody>
                    <a:bodyPr/>
                    <a:lstStyle/>
                    <a:p>
                      <a:pPr marL="0" indent="0" algn="l">
                        <a:buNone/>
                      </a:pPr>
                      <a:r>
                        <a:rPr lang="en-US" sz="1250" dirty="0">
                          <a:solidFill>
                            <a:srgbClr val="444444"/>
                          </a:solidFill>
                          <a:latin typeface="Arial" pitchFamily="34" charset="0"/>
                          <a:ea typeface="Arial" pitchFamily="34" charset="-122"/>
                          <a:cs typeface="Arial" pitchFamily="34" charset="-120"/>
                        </a:rPr>
                        <a:t>0.567</a:t>
                      </a:r>
                      <a:endParaRPr lang="en-US" sz="1250" dirty="0">
                        <a:latin typeface="Arial" charset="0"/>
                        <a:ea typeface="Arial" charset="0"/>
                        <a:cs typeface="Arial" charset="0"/>
                      </a:endParaRPr>
                    </a:p>
                  </a:txBody>
                  <a:tcPr marL="109728" marR="109728" marT="36576" marB="36576" anchor="ctr">
                    <a:lnL w="6350" cap="flat" cmpd="sng" algn="ctr">
                      <a:solidFill>
                        <a:srgbClr val="DCDCDC"/>
                      </a:solidFill>
                      <a:prstDash val="solid"/>
                      <a:round/>
                      <a:headEnd type="none" w="med" len="med"/>
                      <a:tailEnd type="none" w="med" len="med"/>
                    </a:lnL>
                    <a:lnR w="6350" cap="flat" cmpd="sng" algn="ctr">
                      <a:solidFill>
                        <a:srgbClr val="DCDCDC"/>
                      </a:solidFill>
                      <a:prstDash val="solid"/>
                      <a:round/>
                      <a:headEnd type="none" w="med" len="med"/>
                      <a:tailEnd type="none" w="med" len="med"/>
                    </a:lnR>
                    <a:lnT w="6350" cap="flat" cmpd="sng" algn="ctr">
                      <a:solidFill>
                        <a:srgbClr val="DCDCDC"/>
                      </a:solidFill>
                      <a:prstDash val="solid"/>
                      <a:round/>
                      <a:headEnd type="none" w="med" len="med"/>
                      <a:tailEnd type="none" w="med" len="med"/>
                    </a:lnT>
                    <a:lnB w="6350" cap="flat" cmpd="sng" algn="ctr">
                      <a:solidFill>
                        <a:srgbClr val="DCDCD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20624">
                <a:tc>
                  <a:txBody>
                    <a:bodyPr/>
                    <a:lstStyle/>
                    <a:p>
                      <a:pPr marL="0" indent="0" algn="l">
                        <a:buNone/>
                      </a:pPr>
                      <a:r>
                        <a:rPr lang="en-US" sz="1250" dirty="0">
                          <a:solidFill>
                            <a:srgbClr val="444444"/>
                          </a:solidFill>
                          <a:latin typeface="Arial" pitchFamily="34" charset="0"/>
                          <a:ea typeface="Arial" pitchFamily="34" charset="-122"/>
                          <a:cs typeface="Arial" pitchFamily="34" charset="-120"/>
                        </a:rPr>
                        <a:t>Recall — the same answers, same 86 reference facts</a:t>
                      </a:r>
                      <a:endParaRPr lang="en-US" sz="1250" dirty="0">
                        <a:latin typeface="Arial" charset="0"/>
                        <a:ea typeface="Arial" charset="0"/>
                        <a:cs typeface="Arial" charset="0"/>
                      </a:endParaRPr>
                    </a:p>
                  </a:txBody>
                  <a:tcPr marL="109728" marR="109728" marT="36576" marB="36576" anchor="ctr">
                    <a:lnL w="6350" cap="flat" cmpd="sng" algn="ctr">
                      <a:solidFill>
                        <a:srgbClr val="DCDCDC"/>
                      </a:solidFill>
                      <a:prstDash val="solid"/>
                      <a:round/>
                      <a:headEnd type="none" w="med" len="med"/>
                      <a:tailEnd type="none" w="med" len="med"/>
                    </a:lnL>
                    <a:lnR w="6350" cap="flat" cmpd="sng" algn="ctr">
                      <a:solidFill>
                        <a:srgbClr val="DCDCDC"/>
                      </a:solidFill>
                      <a:prstDash val="solid"/>
                      <a:round/>
                      <a:headEnd type="none" w="med" len="med"/>
                      <a:tailEnd type="none" w="med" len="med"/>
                    </a:lnR>
                    <a:lnT w="6350" cap="flat" cmpd="sng" algn="ctr">
                      <a:solidFill>
                        <a:srgbClr val="DCDCDC"/>
                      </a:solidFill>
                      <a:prstDash val="solid"/>
                      <a:round/>
                      <a:headEnd type="none" w="med" len="med"/>
                      <a:tailEnd type="none" w="med" len="med"/>
                    </a:lnT>
                    <a:lnB w="6350" cap="flat" cmpd="sng" algn="ctr">
                      <a:solidFill>
                        <a:srgbClr val="DCDCDC"/>
                      </a:solidFill>
                      <a:prstDash val="solid"/>
                      <a:round/>
                      <a:headEnd type="none" w="med" len="med"/>
                      <a:tailEnd type="none" w="med" len="med"/>
                    </a:lnB>
                    <a:solidFill>
                      <a:srgbClr val="FFFFFF"/>
                    </a:solidFill>
                  </a:tcPr>
                </a:tc>
                <a:tc>
                  <a:txBody>
                    <a:bodyPr/>
                    <a:lstStyle/>
                    <a:p>
                      <a:pPr marL="0" indent="0" algn="l">
                        <a:buNone/>
                      </a:pPr>
                      <a:r>
                        <a:rPr lang="en-US" sz="1250" dirty="0">
                          <a:solidFill>
                            <a:srgbClr val="444444"/>
                          </a:solidFill>
                          <a:latin typeface="Arial" pitchFamily="34" charset="0"/>
                          <a:ea typeface="Arial" pitchFamily="34" charset="-122"/>
                          <a:cs typeface="Arial" pitchFamily="34" charset="-120"/>
                        </a:rPr>
                        <a:t>0.4077</a:t>
                      </a:r>
                      <a:endParaRPr lang="en-US" sz="1250" dirty="0">
                        <a:latin typeface="Arial" charset="0"/>
                        <a:ea typeface="Arial" charset="0"/>
                        <a:cs typeface="Arial" charset="0"/>
                      </a:endParaRPr>
                    </a:p>
                  </a:txBody>
                  <a:tcPr marL="109728" marR="109728" marT="36576" marB="36576" anchor="ctr">
                    <a:lnL w="6350" cap="flat" cmpd="sng" algn="ctr">
                      <a:solidFill>
                        <a:srgbClr val="DCDCDC"/>
                      </a:solidFill>
                      <a:prstDash val="solid"/>
                      <a:round/>
                      <a:headEnd type="none" w="med" len="med"/>
                      <a:tailEnd type="none" w="med" len="med"/>
                    </a:lnL>
                    <a:lnR w="6350" cap="flat" cmpd="sng" algn="ctr">
                      <a:solidFill>
                        <a:srgbClr val="DCDCDC"/>
                      </a:solidFill>
                      <a:prstDash val="solid"/>
                      <a:round/>
                      <a:headEnd type="none" w="med" len="med"/>
                      <a:tailEnd type="none" w="med" len="med"/>
                    </a:lnR>
                    <a:lnT w="6350" cap="flat" cmpd="sng" algn="ctr">
                      <a:solidFill>
                        <a:srgbClr val="DCDCDC"/>
                      </a:solidFill>
                      <a:prstDash val="solid"/>
                      <a:round/>
                      <a:headEnd type="none" w="med" len="med"/>
                      <a:tailEnd type="none" w="med" len="med"/>
                    </a:lnT>
                    <a:lnB w="6350" cap="flat" cmpd="sng" algn="ctr">
                      <a:solidFill>
                        <a:srgbClr val="DCDCDC"/>
                      </a:solidFill>
                      <a:prstDash val="solid"/>
                      <a:round/>
                      <a:headEnd type="none" w="med" len="med"/>
                      <a:tailEnd type="none" w="med" len="med"/>
                    </a:lnB>
                    <a:solidFill>
                      <a:srgbClr val="FFFFFF"/>
                    </a:solidFill>
                  </a:tcPr>
                </a:tc>
                <a:tc>
                  <a:txBody>
                    <a:bodyPr/>
                    <a:lstStyle/>
                    <a:p>
                      <a:pPr marL="0" indent="0" algn="l">
                        <a:buNone/>
                      </a:pPr>
                      <a:r>
                        <a:rPr lang="en-US" sz="1250" b="1" dirty="0">
                          <a:solidFill>
                            <a:srgbClr val="E90802"/>
                          </a:solidFill>
                          <a:latin typeface="Arial" pitchFamily="34" charset="0"/>
                          <a:ea typeface="Arial" pitchFamily="34" charset="-122"/>
                          <a:cs typeface="Arial" pitchFamily="34" charset="-120"/>
                        </a:rPr>
                        <a:t>0.2812</a:t>
                      </a:r>
                      <a:endParaRPr lang="en-US" sz="1250" dirty="0">
                        <a:latin typeface="Arial" charset="0"/>
                        <a:ea typeface="Arial" charset="0"/>
                        <a:cs typeface="Arial" charset="0"/>
                      </a:endParaRPr>
                    </a:p>
                  </a:txBody>
                  <a:tcPr marL="109728" marR="109728" marT="36576" marB="36576" anchor="ctr">
                    <a:lnL w="6350" cap="flat" cmpd="sng" algn="ctr">
                      <a:solidFill>
                        <a:srgbClr val="DCDCDC"/>
                      </a:solidFill>
                      <a:prstDash val="solid"/>
                      <a:round/>
                      <a:headEnd type="none" w="med" len="med"/>
                      <a:tailEnd type="none" w="med" len="med"/>
                    </a:lnL>
                    <a:lnR w="6350" cap="flat" cmpd="sng" algn="ctr">
                      <a:solidFill>
                        <a:srgbClr val="DCDCDC"/>
                      </a:solidFill>
                      <a:prstDash val="solid"/>
                      <a:round/>
                      <a:headEnd type="none" w="med" len="med"/>
                      <a:tailEnd type="none" w="med" len="med"/>
                    </a:lnR>
                    <a:lnT w="6350" cap="flat" cmpd="sng" algn="ctr">
                      <a:solidFill>
                        <a:srgbClr val="DCDCDC"/>
                      </a:solidFill>
                      <a:prstDash val="solid"/>
                      <a:round/>
                      <a:headEnd type="none" w="med" len="med"/>
                      <a:tailEnd type="none" w="med" len="med"/>
                    </a:lnT>
                    <a:lnB w="6350" cap="flat" cmpd="sng" algn="ctr">
                      <a:solidFill>
                        <a:srgbClr val="DCDCDC"/>
                      </a:solidFill>
                      <a:prstDash val="solid"/>
                      <a:round/>
                      <a:headEnd type="none" w="med" len="med"/>
                      <a:tailEnd type="none" w="med" len="med"/>
                    </a:lnB>
                    <a:solidFill>
                      <a:srgbClr val="FFFFFF"/>
                    </a:solidFill>
                  </a:tcPr>
                </a:tc>
                <a:tc>
                  <a:txBody>
                    <a:bodyPr/>
                    <a:lstStyle/>
                    <a:p>
                      <a:pPr marL="0" indent="0" algn="l">
                        <a:buNone/>
                      </a:pPr>
                      <a:r>
                        <a:rPr lang="en-US" sz="1250" dirty="0">
                          <a:solidFill>
                            <a:srgbClr val="444444"/>
                          </a:solidFill>
                          <a:latin typeface="Arial" pitchFamily="34" charset="0"/>
                          <a:ea typeface="Arial" pitchFamily="34" charset="-122"/>
                          <a:cs typeface="Arial" pitchFamily="34" charset="-120"/>
                        </a:rPr>
                        <a:t>—</a:t>
                      </a:r>
                      <a:endParaRPr lang="en-US" sz="1250" dirty="0">
                        <a:latin typeface="Arial" charset="0"/>
                        <a:ea typeface="Arial" charset="0"/>
                        <a:cs typeface="Arial" charset="0"/>
                      </a:endParaRPr>
                    </a:p>
                  </a:txBody>
                  <a:tcPr marL="109728" marR="109728" marT="36576" marB="36576" anchor="ctr">
                    <a:lnL w="6350" cap="flat" cmpd="sng" algn="ctr">
                      <a:solidFill>
                        <a:srgbClr val="DCDCDC"/>
                      </a:solidFill>
                      <a:prstDash val="solid"/>
                      <a:round/>
                      <a:headEnd type="none" w="med" len="med"/>
                      <a:tailEnd type="none" w="med" len="med"/>
                    </a:lnL>
                    <a:lnR w="6350" cap="flat" cmpd="sng" algn="ctr">
                      <a:solidFill>
                        <a:srgbClr val="DCDCDC"/>
                      </a:solidFill>
                      <a:prstDash val="solid"/>
                      <a:round/>
                      <a:headEnd type="none" w="med" len="med"/>
                      <a:tailEnd type="none" w="med" len="med"/>
                    </a:lnR>
                    <a:lnT w="6350" cap="flat" cmpd="sng" algn="ctr">
                      <a:solidFill>
                        <a:srgbClr val="DCDCDC"/>
                      </a:solidFill>
                      <a:prstDash val="solid"/>
                      <a:round/>
                      <a:headEnd type="none" w="med" len="med"/>
                      <a:tailEnd type="none" w="med" len="med"/>
                    </a:lnT>
                    <a:lnB w="6350" cap="flat" cmpd="sng" algn="ctr">
                      <a:solidFill>
                        <a:srgbClr val="DCDCDC"/>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20624">
                <a:tc>
                  <a:txBody>
                    <a:bodyPr/>
                    <a:lstStyle/>
                    <a:p>
                      <a:pPr marL="0" indent="0" algn="l">
                        <a:buNone/>
                      </a:pPr>
                      <a:r>
                        <a:rPr lang="en-US" sz="1250" dirty="0">
                          <a:solidFill>
                            <a:srgbClr val="444444"/>
                          </a:solidFill>
                          <a:latin typeface="Arial" pitchFamily="34" charset="0"/>
                          <a:ea typeface="Arial" pitchFamily="34" charset="-122"/>
                          <a:cs typeface="Arial" pitchFamily="34" charset="-120"/>
                        </a:rPr>
                        <a:t>Coverage behind that recall</a:t>
                      </a:r>
                      <a:endParaRPr lang="en-US" sz="1250" dirty="0">
                        <a:latin typeface="Arial" charset="0"/>
                        <a:ea typeface="Arial" charset="0"/>
                        <a:cs typeface="Arial" charset="0"/>
                      </a:endParaRPr>
                    </a:p>
                  </a:txBody>
                  <a:tcPr marL="109728" marR="109728" marT="36576" marB="36576" anchor="ctr">
                    <a:lnL w="6350" cap="flat" cmpd="sng" algn="ctr">
                      <a:solidFill>
                        <a:srgbClr val="DCDCDC"/>
                      </a:solidFill>
                      <a:prstDash val="solid"/>
                      <a:round/>
                      <a:headEnd type="none" w="med" len="med"/>
                      <a:tailEnd type="none" w="med" len="med"/>
                    </a:lnL>
                    <a:lnR w="6350" cap="flat" cmpd="sng" algn="ctr">
                      <a:solidFill>
                        <a:srgbClr val="DCDCDC"/>
                      </a:solidFill>
                      <a:prstDash val="solid"/>
                      <a:round/>
                      <a:headEnd type="none" w="med" len="med"/>
                      <a:tailEnd type="none" w="med" len="med"/>
                    </a:lnR>
                    <a:lnT w="6350" cap="flat" cmpd="sng" algn="ctr">
                      <a:solidFill>
                        <a:srgbClr val="DCDCDC"/>
                      </a:solidFill>
                      <a:prstDash val="solid"/>
                      <a:round/>
                      <a:headEnd type="none" w="med" len="med"/>
                      <a:tailEnd type="none" w="med" len="med"/>
                    </a:lnT>
                    <a:lnB w="6350" cap="flat" cmpd="sng" algn="ctr">
                      <a:solidFill>
                        <a:srgbClr val="DCDCDC"/>
                      </a:solidFill>
                      <a:prstDash val="solid"/>
                      <a:round/>
                      <a:headEnd type="none" w="med" len="med"/>
                      <a:tailEnd type="none" w="med" len="med"/>
                    </a:lnB>
                    <a:solidFill>
                      <a:srgbClr val="FFFFFF"/>
                    </a:solidFill>
                  </a:tcPr>
                </a:tc>
                <a:tc>
                  <a:txBody>
                    <a:bodyPr/>
                    <a:lstStyle/>
                    <a:p>
                      <a:pPr marL="0" indent="0" algn="l">
                        <a:buNone/>
                      </a:pPr>
                      <a:r>
                        <a:rPr lang="en-US" sz="1250" dirty="0">
                          <a:solidFill>
                            <a:srgbClr val="444444"/>
                          </a:solidFill>
                          <a:latin typeface="Arial" pitchFamily="34" charset="0"/>
                          <a:ea typeface="Arial" pitchFamily="34" charset="-122"/>
                          <a:cs typeface="Arial" pitchFamily="34" charset="-120"/>
                        </a:rPr>
                        <a:t>35 / 86</a:t>
                      </a:r>
                      <a:endParaRPr lang="en-US" sz="1250" dirty="0">
                        <a:latin typeface="Arial" charset="0"/>
                        <a:ea typeface="Arial" charset="0"/>
                        <a:cs typeface="Arial" charset="0"/>
                      </a:endParaRPr>
                    </a:p>
                  </a:txBody>
                  <a:tcPr marL="109728" marR="109728" marT="36576" marB="36576" anchor="ctr">
                    <a:lnL w="6350" cap="flat" cmpd="sng" algn="ctr">
                      <a:solidFill>
                        <a:srgbClr val="DCDCDC"/>
                      </a:solidFill>
                      <a:prstDash val="solid"/>
                      <a:round/>
                      <a:headEnd type="none" w="med" len="med"/>
                      <a:tailEnd type="none" w="med" len="med"/>
                    </a:lnL>
                    <a:lnR w="6350" cap="flat" cmpd="sng" algn="ctr">
                      <a:solidFill>
                        <a:srgbClr val="DCDCDC"/>
                      </a:solidFill>
                      <a:prstDash val="solid"/>
                      <a:round/>
                      <a:headEnd type="none" w="med" len="med"/>
                      <a:tailEnd type="none" w="med" len="med"/>
                    </a:lnR>
                    <a:lnT w="6350" cap="flat" cmpd="sng" algn="ctr">
                      <a:solidFill>
                        <a:srgbClr val="DCDCDC"/>
                      </a:solidFill>
                      <a:prstDash val="solid"/>
                      <a:round/>
                      <a:headEnd type="none" w="med" len="med"/>
                      <a:tailEnd type="none" w="med" len="med"/>
                    </a:lnT>
                    <a:lnB w="6350" cap="flat" cmpd="sng" algn="ctr">
                      <a:solidFill>
                        <a:srgbClr val="DCDCDC"/>
                      </a:solidFill>
                      <a:prstDash val="solid"/>
                      <a:round/>
                      <a:headEnd type="none" w="med" len="med"/>
                      <a:tailEnd type="none" w="med" len="med"/>
                    </a:lnB>
                    <a:solidFill>
                      <a:srgbClr val="FFFFFF"/>
                    </a:solidFill>
                  </a:tcPr>
                </a:tc>
                <a:tc>
                  <a:txBody>
                    <a:bodyPr/>
                    <a:lstStyle/>
                    <a:p>
                      <a:pPr marL="0" indent="0" algn="l">
                        <a:buNone/>
                      </a:pPr>
                      <a:r>
                        <a:rPr lang="en-US" sz="1250" b="1" dirty="0">
                          <a:solidFill>
                            <a:srgbClr val="E90802"/>
                          </a:solidFill>
                          <a:latin typeface="Arial" pitchFamily="34" charset="0"/>
                          <a:ea typeface="Arial" pitchFamily="34" charset="-122"/>
                          <a:cs typeface="Arial" pitchFamily="34" charset="-120"/>
                        </a:rPr>
                        <a:t>24 / 86</a:t>
                      </a:r>
                      <a:endParaRPr lang="en-US" sz="1250" dirty="0">
                        <a:latin typeface="Arial" charset="0"/>
                        <a:ea typeface="Arial" charset="0"/>
                        <a:cs typeface="Arial" charset="0"/>
                      </a:endParaRPr>
                    </a:p>
                  </a:txBody>
                  <a:tcPr marL="109728" marR="109728" marT="36576" marB="36576" anchor="ctr">
                    <a:lnL w="6350" cap="flat" cmpd="sng" algn="ctr">
                      <a:solidFill>
                        <a:srgbClr val="DCDCDC"/>
                      </a:solidFill>
                      <a:prstDash val="solid"/>
                      <a:round/>
                      <a:headEnd type="none" w="med" len="med"/>
                      <a:tailEnd type="none" w="med" len="med"/>
                    </a:lnL>
                    <a:lnR w="6350" cap="flat" cmpd="sng" algn="ctr">
                      <a:solidFill>
                        <a:srgbClr val="DCDCDC"/>
                      </a:solidFill>
                      <a:prstDash val="solid"/>
                      <a:round/>
                      <a:headEnd type="none" w="med" len="med"/>
                      <a:tailEnd type="none" w="med" len="med"/>
                    </a:lnR>
                    <a:lnT w="6350" cap="flat" cmpd="sng" algn="ctr">
                      <a:solidFill>
                        <a:srgbClr val="DCDCDC"/>
                      </a:solidFill>
                      <a:prstDash val="solid"/>
                      <a:round/>
                      <a:headEnd type="none" w="med" len="med"/>
                      <a:tailEnd type="none" w="med" len="med"/>
                    </a:lnT>
                    <a:lnB w="6350" cap="flat" cmpd="sng" algn="ctr">
                      <a:solidFill>
                        <a:srgbClr val="DCDCDC"/>
                      </a:solidFill>
                      <a:prstDash val="solid"/>
                      <a:round/>
                      <a:headEnd type="none" w="med" len="med"/>
                      <a:tailEnd type="none" w="med" len="med"/>
                    </a:lnB>
                    <a:solidFill>
                      <a:srgbClr val="FFFFFF"/>
                    </a:solidFill>
                  </a:tcPr>
                </a:tc>
                <a:tc>
                  <a:txBody>
                    <a:bodyPr/>
                    <a:lstStyle/>
                    <a:p>
                      <a:pPr marL="0" indent="0" algn="l">
                        <a:buNone/>
                      </a:pPr>
                      <a:r>
                        <a:rPr lang="en-US" sz="1250" dirty="0">
                          <a:solidFill>
                            <a:srgbClr val="444444"/>
                          </a:solidFill>
                          <a:latin typeface="Arial" pitchFamily="34" charset="0"/>
                          <a:ea typeface="Arial" pitchFamily="34" charset="-122"/>
                          <a:cs typeface="Arial" pitchFamily="34" charset="-120"/>
                        </a:rPr>
                        <a:t>—</a:t>
                      </a:r>
                      <a:endParaRPr lang="en-US" sz="1250" dirty="0">
                        <a:latin typeface="Arial" charset="0"/>
                        <a:ea typeface="Arial" charset="0"/>
                        <a:cs typeface="Arial" charset="0"/>
                      </a:endParaRPr>
                    </a:p>
                  </a:txBody>
                  <a:tcPr marL="109728" marR="109728" marT="36576" marB="36576" anchor="ctr">
                    <a:lnL w="6350" cap="flat" cmpd="sng" algn="ctr">
                      <a:solidFill>
                        <a:srgbClr val="DCDCDC"/>
                      </a:solidFill>
                      <a:prstDash val="solid"/>
                      <a:round/>
                      <a:headEnd type="none" w="med" len="med"/>
                      <a:tailEnd type="none" w="med" len="med"/>
                    </a:lnL>
                    <a:lnR w="6350" cap="flat" cmpd="sng" algn="ctr">
                      <a:solidFill>
                        <a:srgbClr val="DCDCDC"/>
                      </a:solidFill>
                      <a:prstDash val="solid"/>
                      <a:round/>
                      <a:headEnd type="none" w="med" len="med"/>
                      <a:tailEnd type="none" w="med" len="med"/>
                    </a:lnR>
                    <a:lnT w="6350" cap="flat" cmpd="sng" algn="ctr">
                      <a:solidFill>
                        <a:srgbClr val="DCDCDC"/>
                      </a:solidFill>
                      <a:prstDash val="solid"/>
                      <a:round/>
                      <a:headEnd type="none" w="med" len="med"/>
                      <a:tailEnd type="none" w="med" len="med"/>
                    </a:lnT>
                    <a:lnB w="6350" cap="flat" cmpd="sng" algn="ctr">
                      <a:solidFill>
                        <a:srgbClr val="DCDCDC"/>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
        <p:nvSpPr>
          <p:cNvPr id="7" name="insight"/>
          <p:cNvSpPr/>
          <p:nvPr/>
        </p:nvSpPr>
        <p:spPr>
          <a:xfrm>
            <a:off x="548640" y="3566160"/>
            <a:ext cx="6528816" cy="1600200"/>
          </a:xfrm>
          <a:prstGeom prst="rect">
            <a:avLst/>
          </a:prstGeom>
          <a:solidFill>
            <a:srgbClr val="F4F4F4"/>
          </a:solidFill>
          <a:ln w="9525">
            <a:solidFill>
              <a:srgbClr val="F4F4F4"/>
            </a:solidFill>
            <a:prstDash val="solid"/>
          </a:ln>
        </p:spPr>
        <p:txBody>
          <a:bodyPr/>
          <a:lstStyle/>
          <a:p>
            <a:endParaRPr lang="en-IN"/>
          </a:p>
        </p:txBody>
      </p:sp>
      <p:sp>
        <p:nvSpPr>
          <p:cNvPr id="8" name="insight-edge"/>
          <p:cNvSpPr/>
          <p:nvPr/>
        </p:nvSpPr>
        <p:spPr>
          <a:xfrm>
            <a:off x="548640" y="3566160"/>
            <a:ext cx="29261" cy="1600200"/>
          </a:xfrm>
          <a:prstGeom prst="rect">
            <a:avLst/>
          </a:prstGeom>
          <a:solidFill>
            <a:srgbClr val="E90802"/>
          </a:solidFill>
          <a:ln w="3175">
            <a:solidFill>
              <a:srgbClr val="E90802"/>
            </a:solidFill>
            <a:prstDash val="solid"/>
          </a:ln>
        </p:spPr>
        <p:txBody>
          <a:bodyPr/>
          <a:lstStyle/>
          <a:p>
            <a:endParaRPr lang="en-IN"/>
          </a:p>
        </p:txBody>
      </p:sp>
      <p:sp>
        <p:nvSpPr>
          <p:cNvPr id="9" name="insight-h"/>
          <p:cNvSpPr txBox="1"/>
          <p:nvPr/>
        </p:nvSpPr>
        <p:spPr>
          <a:xfrm>
            <a:off x="804672" y="3767328"/>
            <a:ext cx="6016752" cy="292608"/>
          </a:xfrm>
          <a:prstGeom prst="rect">
            <a:avLst/>
          </a:prstGeom>
          <a:noFill/>
          <a:ln/>
        </p:spPr>
        <p:txBody>
          <a:bodyPr wrap="square" lIns="0" tIns="0" rIns="0" bIns="0" rtlCol="0" anchor="ctr"/>
          <a:lstStyle/>
          <a:p>
            <a:pPr marL="0" indent="0">
              <a:buNone/>
            </a:pPr>
            <a:r>
              <a:rPr lang="en-US" sz="1450" b="1" dirty="0">
                <a:solidFill>
                  <a:srgbClr val="E90802"/>
                </a:solidFill>
              </a:rPr>
              <a:t>Nothing about the system changed in these rows</a:t>
            </a:r>
            <a:endParaRPr lang="en-US" sz="1450" dirty="0"/>
          </a:p>
        </p:txBody>
      </p:sp>
      <p:sp>
        <p:nvSpPr>
          <p:cNvPr id="10" name="insight-b"/>
          <p:cNvSpPr txBox="1"/>
          <p:nvPr/>
        </p:nvSpPr>
        <p:spPr>
          <a:xfrm>
            <a:off x="804672" y="4169664"/>
            <a:ext cx="6016752" cy="832104"/>
          </a:xfrm>
          <a:prstGeom prst="rect">
            <a:avLst/>
          </a:prstGeom>
          <a:noFill/>
          <a:ln/>
        </p:spPr>
        <p:txBody>
          <a:bodyPr wrap="square" lIns="0" tIns="0" rIns="0" bIns="0" rtlCol="0" anchor="t"/>
          <a:lstStyle/>
          <a:p>
            <a:pPr marL="0" indent="0">
              <a:lnSpc>
                <a:spcPct val="125000"/>
              </a:lnSpc>
              <a:buNone/>
            </a:pPr>
            <a:r>
              <a:rPr lang="en-US" sz="1250" dirty="0">
                <a:solidFill>
                  <a:srgbClr val="444444"/>
                </a:solidFill>
                <a:latin typeface="Arial" pitchFamily="34" charset="0"/>
                <a:ea typeface="Arial" pitchFamily="34" charset="-122"/>
                <a:cs typeface="Arial" pitchFamily="34" charset="-120"/>
              </a:rPr>
              <a:t>Same 12 answers, same extracted facts, same reference facts, same lexical gate. Only the model doing the judging changed. A stronger judge finds four times as many incomplete facts and credits the answer with a third fewer reference facts.</a:t>
            </a:r>
            <a:endParaRPr lang="en-US" sz="1250" dirty="0"/>
          </a:p>
        </p:txBody>
      </p:sp>
      <p:sp>
        <p:nvSpPr>
          <p:cNvPr id="11" name="i1-rule"/>
          <p:cNvSpPr/>
          <p:nvPr/>
        </p:nvSpPr>
        <p:spPr>
          <a:xfrm>
            <a:off x="7351776" y="3566160"/>
            <a:ext cx="1993392" cy="25603"/>
          </a:xfrm>
          <a:prstGeom prst="rect">
            <a:avLst/>
          </a:prstGeom>
          <a:solidFill>
            <a:srgbClr val="E90802"/>
          </a:solidFill>
          <a:ln w="3175">
            <a:solidFill>
              <a:srgbClr val="E90802"/>
            </a:solidFill>
            <a:prstDash val="solid"/>
          </a:ln>
        </p:spPr>
        <p:txBody>
          <a:bodyPr/>
          <a:lstStyle/>
          <a:p>
            <a:endParaRPr lang="en-IN"/>
          </a:p>
        </p:txBody>
      </p:sp>
      <p:sp>
        <p:nvSpPr>
          <p:cNvPr id="6" name="i1-l"/>
          <p:cNvSpPr txBox="1"/>
          <p:nvPr/>
        </p:nvSpPr>
        <p:spPr>
          <a:xfrm>
            <a:off x="7351776" y="3712464"/>
            <a:ext cx="1993392" cy="219456"/>
          </a:xfrm>
          <a:prstGeom prst="rect">
            <a:avLst/>
          </a:prstGeom>
          <a:noFill/>
          <a:ln/>
        </p:spPr>
        <p:txBody>
          <a:bodyPr wrap="square" lIns="0" tIns="0" rIns="0" bIns="0" rtlCol="0" anchor="ctr"/>
          <a:lstStyle/>
          <a:p>
            <a:pPr marL="0" indent="0">
              <a:buNone/>
            </a:pPr>
            <a:r>
              <a:rPr lang="en-US" sz="950" b="1" kern="0" spc="100" dirty="0">
                <a:solidFill>
                  <a:srgbClr val="767676"/>
                </a:solidFill>
                <a:latin typeface="Arial" pitchFamily="34" charset="0"/>
                <a:ea typeface="Arial" pitchFamily="34" charset="-122"/>
                <a:cs typeface="Arial" pitchFamily="34" charset="-120"/>
              </a:rPr>
              <a:t>INCOMPLETE</a:t>
            </a:r>
            <a:endParaRPr lang="en-US" sz="950" dirty="0"/>
          </a:p>
        </p:txBody>
      </p:sp>
      <p:sp>
        <p:nvSpPr>
          <p:cNvPr id="13" name="i1-v"/>
          <p:cNvSpPr txBox="1"/>
          <p:nvPr/>
        </p:nvSpPr>
        <p:spPr>
          <a:xfrm>
            <a:off x="7351776" y="3950208"/>
            <a:ext cx="1993392" cy="457200"/>
          </a:xfrm>
          <a:prstGeom prst="rect">
            <a:avLst/>
          </a:prstGeom>
          <a:noFill/>
          <a:ln/>
        </p:spPr>
        <p:txBody>
          <a:bodyPr wrap="square" lIns="0" tIns="0" rIns="0" bIns="0" rtlCol="0" anchor="ctr"/>
          <a:lstStyle/>
          <a:p>
            <a:pPr marL="0" indent="0">
              <a:buNone/>
            </a:pPr>
            <a:r>
              <a:rPr lang="en-US" sz="2800" b="1" dirty="0">
                <a:solidFill>
                  <a:srgbClr val="E90802"/>
                </a:solidFill>
              </a:rPr>
              <a:t>4.2×</a:t>
            </a:r>
            <a:endParaRPr lang="en-US" sz="2800" dirty="0"/>
          </a:p>
        </p:txBody>
      </p:sp>
      <p:sp>
        <p:nvSpPr>
          <p:cNvPr id="14" name="i1-f"/>
          <p:cNvSpPr txBox="1"/>
          <p:nvPr/>
        </p:nvSpPr>
        <p:spPr>
          <a:xfrm>
            <a:off x="7351776" y="4434840"/>
            <a:ext cx="1993392" cy="420624"/>
          </a:xfrm>
          <a:prstGeom prst="rect">
            <a:avLst/>
          </a:prstGeom>
          <a:noFill/>
          <a:ln/>
        </p:spPr>
        <p:txBody>
          <a:bodyPr wrap="square" lIns="0" tIns="0" rIns="0" bIns="0" rtlCol="0" anchor="ctr"/>
          <a:lstStyle/>
          <a:p>
            <a:pPr marL="0" indent="0">
              <a:lnSpc>
                <a:spcPct val="110000"/>
              </a:lnSpc>
              <a:buNone/>
            </a:pPr>
            <a:r>
              <a:rPr lang="en-US" sz="1050" dirty="0">
                <a:solidFill>
                  <a:srgbClr val="767676"/>
                </a:solidFill>
                <a:latin typeface="Arial" pitchFamily="34" charset="0"/>
                <a:ea typeface="Arial" pitchFamily="34" charset="-122"/>
                <a:cs typeface="Arial" pitchFamily="34" charset="-120"/>
              </a:rPr>
              <a:t>more found</a:t>
            </a:r>
            <a:endParaRPr lang="en-US" sz="1050" dirty="0"/>
          </a:p>
        </p:txBody>
      </p:sp>
      <p:sp>
        <p:nvSpPr>
          <p:cNvPr id="15" name="i2-rule"/>
          <p:cNvSpPr/>
          <p:nvPr/>
        </p:nvSpPr>
        <p:spPr>
          <a:xfrm>
            <a:off x="9619488" y="3566160"/>
            <a:ext cx="1993392" cy="25603"/>
          </a:xfrm>
          <a:prstGeom prst="rect">
            <a:avLst/>
          </a:prstGeom>
          <a:solidFill>
            <a:srgbClr val="E90802"/>
          </a:solidFill>
          <a:ln w="3175">
            <a:solidFill>
              <a:srgbClr val="E90802"/>
            </a:solidFill>
            <a:prstDash val="solid"/>
          </a:ln>
        </p:spPr>
        <p:txBody>
          <a:bodyPr/>
          <a:lstStyle/>
          <a:p>
            <a:endParaRPr lang="en-IN"/>
          </a:p>
        </p:txBody>
      </p:sp>
      <p:sp>
        <p:nvSpPr>
          <p:cNvPr id="16" name="i2-l"/>
          <p:cNvSpPr txBox="1"/>
          <p:nvPr/>
        </p:nvSpPr>
        <p:spPr>
          <a:xfrm>
            <a:off x="9619488" y="3712464"/>
            <a:ext cx="1993392" cy="219456"/>
          </a:xfrm>
          <a:prstGeom prst="rect">
            <a:avLst/>
          </a:prstGeom>
          <a:noFill/>
          <a:ln/>
        </p:spPr>
        <p:txBody>
          <a:bodyPr wrap="square" lIns="0" tIns="0" rIns="0" bIns="0" rtlCol="0" anchor="ctr"/>
          <a:lstStyle/>
          <a:p>
            <a:pPr marL="0" indent="0">
              <a:buNone/>
            </a:pPr>
            <a:r>
              <a:rPr lang="en-US" sz="950" b="1" kern="0" spc="100" dirty="0">
                <a:solidFill>
                  <a:srgbClr val="767676"/>
                </a:solidFill>
                <a:latin typeface="Arial" pitchFamily="34" charset="0"/>
                <a:ea typeface="Arial" pitchFamily="34" charset="-122"/>
                <a:cs typeface="Arial" pitchFamily="34" charset="-120"/>
              </a:rPr>
              <a:t>RECALL</a:t>
            </a:r>
            <a:endParaRPr lang="en-US" sz="950" dirty="0"/>
          </a:p>
        </p:txBody>
      </p:sp>
      <p:sp>
        <p:nvSpPr>
          <p:cNvPr id="17" name="i2-v"/>
          <p:cNvSpPr txBox="1"/>
          <p:nvPr/>
        </p:nvSpPr>
        <p:spPr>
          <a:xfrm>
            <a:off x="9619488" y="3950208"/>
            <a:ext cx="1993392" cy="457200"/>
          </a:xfrm>
          <a:prstGeom prst="rect">
            <a:avLst/>
          </a:prstGeom>
          <a:noFill/>
          <a:ln/>
        </p:spPr>
        <p:txBody>
          <a:bodyPr wrap="square" lIns="0" tIns="0" rIns="0" bIns="0" rtlCol="0" anchor="ctr"/>
          <a:lstStyle/>
          <a:p>
            <a:pPr marL="0" indent="0">
              <a:buNone/>
            </a:pPr>
            <a:r>
              <a:rPr lang="en-US" sz="2800" b="1" dirty="0">
                <a:solidFill>
                  <a:srgbClr val="E90802"/>
                </a:solidFill>
              </a:rPr>
              <a:t>−31%</a:t>
            </a:r>
            <a:endParaRPr lang="en-US" sz="2800" dirty="0"/>
          </a:p>
        </p:txBody>
      </p:sp>
      <p:sp>
        <p:nvSpPr>
          <p:cNvPr id="18" name="i2-f"/>
          <p:cNvSpPr txBox="1"/>
          <p:nvPr/>
        </p:nvSpPr>
        <p:spPr>
          <a:xfrm>
            <a:off x="9619488" y="4434840"/>
            <a:ext cx="1993392" cy="420624"/>
          </a:xfrm>
          <a:prstGeom prst="rect">
            <a:avLst/>
          </a:prstGeom>
          <a:noFill/>
          <a:ln/>
        </p:spPr>
        <p:txBody>
          <a:bodyPr wrap="square" lIns="0" tIns="0" rIns="0" bIns="0" rtlCol="0" anchor="ctr"/>
          <a:lstStyle/>
          <a:p>
            <a:pPr marL="0" indent="0">
              <a:lnSpc>
                <a:spcPct val="110000"/>
              </a:lnSpc>
              <a:buNone/>
            </a:pPr>
            <a:r>
              <a:rPr lang="en-US" sz="1050" dirty="0">
                <a:solidFill>
                  <a:srgbClr val="767676"/>
                </a:solidFill>
                <a:latin typeface="Arial" pitchFamily="34" charset="0"/>
                <a:ea typeface="Arial" pitchFamily="34" charset="-122"/>
                <a:cs typeface="Arial" pitchFamily="34" charset="-120"/>
              </a:rPr>
              <a:t>same answers</a:t>
            </a:r>
            <a:endParaRPr lang="en-US" sz="1050" dirty="0"/>
          </a:p>
        </p:txBody>
      </p:sp>
      <p:sp>
        <p:nvSpPr>
          <p:cNvPr id="19" name="consequence"/>
          <p:cNvSpPr/>
          <p:nvPr/>
        </p:nvSpPr>
        <p:spPr>
          <a:xfrm>
            <a:off x="548640" y="5303520"/>
            <a:ext cx="11064240" cy="685800"/>
          </a:xfrm>
          <a:prstGeom prst="rect">
            <a:avLst/>
          </a:prstGeom>
          <a:solidFill>
            <a:srgbClr val="F4F4F4"/>
          </a:solidFill>
          <a:ln w="9525">
            <a:solidFill>
              <a:srgbClr val="F4F4F4"/>
            </a:solidFill>
            <a:prstDash val="solid"/>
          </a:ln>
        </p:spPr>
        <p:txBody>
          <a:bodyPr/>
          <a:lstStyle/>
          <a:p>
            <a:endParaRPr lang="en-IN"/>
          </a:p>
        </p:txBody>
      </p:sp>
      <p:sp>
        <p:nvSpPr>
          <p:cNvPr id="20" name="consequence-b"/>
          <p:cNvSpPr txBox="1"/>
          <p:nvPr/>
        </p:nvSpPr>
        <p:spPr>
          <a:xfrm>
            <a:off x="804672" y="5504688"/>
            <a:ext cx="10552176" cy="320040"/>
          </a:xfrm>
          <a:prstGeom prst="rect">
            <a:avLst/>
          </a:prstGeom>
          <a:noFill/>
          <a:ln/>
        </p:spPr>
        <p:txBody>
          <a:bodyPr wrap="square" lIns="0" tIns="0" rIns="0" bIns="0" rtlCol="0" anchor="t"/>
          <a:lstStyle/>
          <a:p>
            <a:pPr marL="0" indent="0">
              <a:lnSpc>
                <a:spcPct val="125000"/>
              </a:lnSpc>
              <a:buNone/>
            </a:pPr>
            <a:r>
              <a:rPr lang="en-US" sz="1250" dirty="0">
                <a:solidFill>
                  <a:srgbClr val="444444"/>
                </a:solidFill>
                <a:latin typeface="Arial" pitchFamily="34" charset="0"/>
                <a:ea typeface="Arial" pitchFamily="34" charset="-122"/>
                <a:cs typeface="Arial" pitchFamily="34" charset="-120"/>
              </a:rPr>
              <a:t>Our baseline looked cleaner than SAFE's 56.7% because our judge was weaker, not because our extractor was better. With a 7B judge the figure moves to 0.438 — two thirds of the way to the paper's.</a:t>
            </a:r>
            <a:endParaRPr lang="en-US" sz="1250" dirty="0"/>
          </a:p>
        </p:txBody>
      </p:sp>
      <p:sp>
        <p:nvSpPr>
          <p:cNvPr id="21" name="note"/>
          <p:cNvSpPr txBox="1"/>
          <p:nvPr/>
        </p:nvSpPr>
        <p:spPr>
          <a:xfrm>
            <a:off x="548640" y="6291072"/>
            <a:ext cx="10607040" cy="274320"/>
          </a:xfrm>
          <a:prstGeom prst="rect">
            <a:avLst/>
          </a:prstGeom>
          <a:noFill/>
          <a:ln/>
        </p:spPr>
        <p:txBody>
          <a:bodyPr wrap="square" lIns="0" tIns="0" rIns="0" bIns="0" rtlCol="0" anchor="ctr"/>
          <a:lstStyle/>
          <a:p>
            <a:pPr marL="0" indent="0">
              <a:buNone/>
            </a:pPr>
            <a:r>
              <a:rPr lang="en-US" sz="950" dirty="0">
                <a:solidFill>
                  <a:srgbClr val="767676"/>
                </a:solidFill>
                <a:latin typeface="Arial" pitchFamily="34" charset="0"/>
                <a:ea typeface="Arial" pitchFamily="34" charset="-122"/>
                <a:cs typeface="Arial" pitchFamily="34" charset="-120"/>
              </a:rPr>
              <a:t>Run A on a Colab T4: judges upgraded to Qwen2.5-7B + Llama-3.1-8B, everything else replayed from cache.</a:t>
            </a:r>
            <a:endParaRPr lang="en-US" sz="950" dirty="0"/>
          </a:p>
        </p:txBody>
      </p:sp>
      <p:sp>
        <p:nvSpPr>
          <p:cNvPr id="25" name="Slide Number Placeholder 0"/>
          <p:cNvSpPr>
            <a:spLocks noGrp="1"/>
          </p:cNvSpPr>
          <p:nvPr>
            <p:ph type="sldNum" sz="quarter" idx="4294967295"/>
          </p:nvPr>
        </p:nvSpPr>
        <p:spPr>
          <a:xfrm>
            <a:off x="11338560" y="6327648"/>
            <a:ext cx="365760" cy="256032"/>
          </a:xfrm>
          <a:prstGeom prst="rect">
            <a:avLst/>
          </a:prstGeom>
          <a:extLst>
            <a:ext uri="{C572A759-6A51-4108-AA02-DFA0A04FC94B}">
              <ma14:wrappingTextBoxFlag xmlns:ma14="http://schemas.microsoft.com/office/mac/drawingml/2011/main" xmlns="" val="0"/>
            </a:ext>
          </a:extLst>
        </p:spPr>
        <p:txBody>
          <a:bodyPr/>
          <a:lstStyle>
            <a:lvl1pPr>
              <a:defRPr sz="900">
                <a:solidFill>
                  <a:srgbClr val="767676"/>
                </a:solidFill>
              </a:defRPr>
            </a:lvl1pPr>
          </a:lstStyle>
          <a:p>
            <a:pPr algn="r"/>
            <a:fld id="{F7021451-1387-4CA6-816F-3879F97B5CBC}" type="slidenum">
              <a:rPr lang="en-US" b="0"/>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eyebrow"/>
          <p:cNvSpPr txBox="1"/>
          <p:nvPr/>
        </p:nvSpPr>
        <p:spPr>
          <a:xfrm>
            <a:off x="548640" y="347472"/>
            <a:ext cx="11064240" cy="237744"/>
          </a:xfrm>
          <a:prstGeom prst="rect">
            <a:avLst/>
          </a:prstGeom>
          <a:noFill/>
          <a:ln/>
        </p:spPr>
        <p:txBody>
          <a:bodyPr wrap="square" lIns="0" tIns="0" rIns="0" bIns="0" rtlCol="0" anchor="ctr"/>
          <a:lstStyle/>
          <a:p>
            <a:pPr marL="0" indent="0">
              <a:buNone/>
            </a:pPr>
            <a:r>
              <a:rPr lang="en-US" sz="1000" b="1" kern="0" spc="200" dirty="0">
                <a:solidFill>
                  <a:srgbClr val="E90802"/>
                </a:solidFill>
                <a:latin typeface="Arial" pitchFamily="34" charset="0"/>
                <a:ea typeface="Arial" pitchFamily="34" charset="-122"/>
                <a:cs typeface="Arial" pitchFamily="34" charset="-120"/>
              </a:rPr>
              <a:t>OUR CONTRIBUTION  ·  3 OF 3</a:t>
            </a:r>
            <a:endParaRPr lang="en-US" sz="1000" dirty="0"/>
          </a:p>
        </p:txBody>
      </p:sp>
      <p:sp>
        <p:nvSpPr>
          <p:cNvPr id="3" name="title"/>
          <p:cNvSpPr txBox="1"/>
          <p:nvPr/>
        </p:nvSpPr>
        <p:spPr>
          <a:xfrm>
            <a:off x="548640" y="621792"/>
            <a:ext cx="11064240" cy="548640"/>
          </a:xfrm>
          <a:prstGeom prst="rect">
            <a:avLst/>
          </a:prstGeom>
          <a:noFill/>
          <a:ln/>
        </p:spPr>
        <p:txBody>
          <a:bodyPr wrap="square" lIns="0" tIns="0" rIns="0" bIns="0" rtlCol="0" anchor="ctr"/>
          <a:lstStyle/>
          <a:p>
            <a:pPr marL="0" indent="0">
              <a:buNone/>
            </a:pPr>
            <a:r>
              <a:rPr lang="en-US" sz="2700" b="1" dirty="0">
                <a:solidFill>
                  <a:srgbClr val="1A1A1A"/>
                </a:solidFill>
              </a:rPr>
              <a:t>One finding held, one was a small-model artifact</a:t>
            </a:r>
            <a:endParaRPr lang="en-US" sz="2700" dirty="0"/>
          </a:p>
        </p:txBody>
      </p:sp>
      <p:sp>
        <p:nvSpPr>
          <p:cNvPr id="4" name="subtitle"/>
          <p:cNvSpPr txBox="1"/>
          <p:nvPr/>
        </p:nvSpPr>
        <p:spPr>
          <a:xfrm>
            <a:off x="548640" y="1188720"/>
            <a:ext cx="11064240" cy="256032"/>
          </a:xfrm>
          <a:prstGeom prst="rect">
            <a:avLst/>
          </a:prstGeom>
          <a:noFill/>
          <a:ln/>
        </p:spPr>
        <p:txBody>
          <a:bodyPr wrap="square" lIns="0" tIns="0" rIns="0" bIns="0" rtlCol="0" anchor="ctr"/>
          <a:lstStyle/>
          <a:p>
            <a:pPr marL="0" indent="0">
              <a:buNone/>
            </a:pPr>
            <a:r>
              <a:rPr lang="en-US" sz="1350" dirty="0">
                <a:solidFill>
                  <a:srgbClr val="767676"/>
                </a:solidFill>
                <a:latin typeface="Arial" pitchFamily="34" charset="0"/>
                <a:ea typeface="Arial" pitchFamily="34" charset="-122"/>
                <a:cs typeface="Arial" pitchFamily="34" charset="-120"/>
              </a:rPr>
              <a:t>Testing the paper's union rule against a majority vote, at every model size</a:t>
            </a:r>
            <a:endParaRPr lang="en-US" sz="1350" dirty="0"/>
          </a:p>
        </p:txBody>
      </p:sp>
      <p:sp>
        <p:nvSpPr>
          <p:cNvPr id="5" name="head-rule"/>
          <p:cNvSpPr/>
          <p:nvPr/>
        </p:nvSpPr>
        <p:spPr>
          <a:xfrm>
            <a:off x="548640" y="1499616"/>
            <a:ext cx="11064240" cy="10973"/>
          </a:xfrm>
          <a:prstGeom prst="rect">
            <a:avLst/>
          </a:prstGeom>
          <a:solidFill>
            <a:srgbClr val="DCDCDC"/>
          </a:solidFill>
          <a:ln w="3175">
            <a:solidFill>
              <a:srgbClr val="DCDCDC"/>
            </a:solidFill>
            <a:prstDash val="solid"/>
          </a:ln>
        </p:spPr>
        <p:txBody>
          <a:bodyPr/>
          <a:lstStyle/>
          <a:p>
            <a:endParaRPr lang="en-IN"/>
          </a:p>
        </p:txBody>
      </p:sp>
      <p:graphicFrame>
        <p:nvGraphicFramePr>
          <p:cNvPr id="13" name="rules"/>
          <p:cNvGraphicFramePr>
            <a:graphicFrameLocks noGrp="1"/>
          </p:cNvGraphicFramePr>
          <p:nvPr>
            <p:extLst>
              <p:ext uri="{D42A27DB-BD31-4B8C-83A1-F6EECF244321}">
                <p14:modId xmlns:p14="http://schemas.microsoft.com/office/powerpoint/2010/main" val="1579011935"/>
              </p:ext>
            </p:extLst>
          </p:nvPr>
        </p:nvGraphicFramePr>
        <p:xfrm>
          <a:off x="548640" y="1600200"/>
          <a:ext cx="5394960" cy="2560320"/>
        </p:xfrm>
        <a:graphic>
          <a:graphicData uri="http://schemas.openxmlformats.org/drawingml/2006/table">
            <a:tbl>
              <a:tblPr/>
              <a:tblGrid>
                <a:gridCol w="1280160">
                  <a:extLst>
                    <a:ext uri="{9D8B030D-6E8A-4147-A177-3AD203B41FA5}">
                      <a16:colId xmlns:a16="http://schemas.microsoft.com/office/drawing/2014/main" val="20000"/>
                    </a:ext>
                  </a:extLst>
                </a:gridCol>
                <a:gridCol w="1051560">
                  <a:extLst>
                    <a:ext uri="{9D8B030D-6E8A-4147-A177-3AD203B41FA5}">
                      <a16:colId xmlns:a16="http://schemas.microsoft.com/office/drawing/2014/main" val="20001"/>
                    </a:ext>
                  </a:extLst>
                </a:gridCol>
                <a:gridCol w="1188720">
                  <a:extLst>
                    <a:ext uri="{9D8B030D-6E8A-4147-A177-3AD203B41FA5}">
                      <a16:colId xmlns:a16="http://schemas.microsoft.com/office/drawing/2014/main" val="20002"/>
                    </a:ext>
                  </a:extLst>
                </a:gridCol>
                <a:gridCol w="1051560">
                  <a:extLst>
                    <a:ext uri="{9D8B030D-6E8A-4147-A177-3AD203B41FA5}">
                      <a16:colId xmlns:a16="http://schemas.microsoft.com/office/drawing/2014/main" val="20003"/>
                    </a:ext>
                  </a:extLst>
                </a:gridCol>
                <a:gridCol w="822960">
                  <a:extLst>
                    <a:ext uri="{9D8B030D-6E8A-4147-A177-3AD203B41FA5}">
                      <a16:colId xmlns:a16="http://schemas.microsoft.com/office/drawing/2014/main" val="20004"/>
                    </a:ext>
                  </a:extLst>
                </a:gridCol>
              </a:tblGrid>
              <a:tr h="365760">
                <a:tc>
                  <a:txBody>
                    <a:bodyPr/>
                    <a:lstStyle/>
                    <a:p>
                      <a:pPr marL="0" indent="0" algn="l">
                        <a:buNone/>
                      </a:pPr>
                      <a:r>
                        <a:rPr lang="en-US" sz="1150" b="1" dirty="0">
                          <a:solidFill>
                            <a:srgbClr val="1A1A1A"/>
                          </a:solidFill>
                          <a:latin typeface="Arial" pitchFamily="34" charset="0"/>
                          <a:ea typeface="Arial" pitchFamily="34" charset="-122"/>
                          <a:cs typeface="Arial" pitchFamily="34" charset="-120"/>
                        </a:rPr>
                        <a:t>Run</a:t>
                      </a:r>
                      <a:endParaRPr lang="en-US" sz="1150" dirty="0">
                        <a:latin typeface="Arial" charset="0"/>
                        <a:ea typeface="Arial" charset="0"/>
                        <a:cs typeface="Arial" charset="0"/>
                      </a:endParaRPr>
                    </a:p>
                  </a:txBody>
                  <a:tcPr marL="109728" marR="109728" marT="36576" marB="36576" anchor="ctr">
                    <a:lnL w="6350" cap="flat" cmpd="sng" algn="ctr">
                      <a:solidFill>
                        <a:srgbClr val="DCDCDC"/>
                      </a:solidFill>
                      <a:prstDash val="solid"/>
                      <a:round/>
                      <a:headEnd type="none" w="med" len="med"/>
                      <a:tailEnd type="none" w="med" len="med"/>
                    </a:lnL>
                    <a:lnR w="6350" cap="flat" cmpd="sng" algn="ctr">
                      <a:solidFill>
                        <a:srgbClr val="DCDCDC"/>
                      </a:solidFill>
                      <a:prstDash val="solid"/>
                      <a:round/>
                      <a:headEnd type="none" w="med" len="med"/>
                      <a:tailEnd type="none" w="med" len="med"/>
                    </a:lnR>
                    <a:lnT w="6350" cap="flat" cmpd="sng" algn="ctr">
                      <a:solidFill>
                        <a:srgbClr val="DCDCDC"/>
                      </a:solidFill>
                      <a:prstDash val="solid"/>
                      <a:round/>
                      <a:headEnd type="none" w="med" len="med"/>
                      <a:tailEnd type="none" w="med" len="med"/>
                    </a:lnT>
                    <a:lnB w="6350" cap="flat" cmpd="sng" algn="ctr">
                      <a:solidFill>
                        <a:srgbClr val="DCDCDC"/>
                      </a:solidFill>
                      <a:prstDash val="solid"/>
                      <a:round/>
                      <a:headEnd type="none" w="med" len="med"/>
                      <a:tailEnd type="none" w="med" len="med"/>
                    </a:lnB>
                    <a:solidFill>
                      <a:srgbClr val="F4F4F4"/>
                    </a:solidFill>
                  </a:tcPr>
                </a:tc>
                <a:tc>
                  <a:txBody>
                    <a:bodyPr/>
                    <a:lstStyle/>
                    <a:p>
                      <a:pPr marL="0" indent="0" algn="r">
                        <a:buNone/>
                      </a:pPr>
                      <a:r>
                        <a:rPr lang="en-US" sz="1150" b="1" dirty="0">
                          <a:solidFill>
                            <a:srgbClr val="1A1A1A"/>
                          </a:solidFill>
                          <a:latin typeface="Arial" pitchFamily="34" charset="0"/>
                          <a:ea typeface="Arial" pitchFamily="34" charset="-122"/>
                          <a:cs typeface="Arial" pitchFamily="34" charset="-120"/>
                        </a:rPr>
                        <a:t>Rule</a:t>
                      </a:r>
                      <a:endParaRPr lang="en-US" sz="1150" dirty="0">
                        <a:latin typeface="Arial" charset="0"/>
                        <a:ea typeface="Arial" charset="0"/>
                        <a:cs typeface="Arial" charset="0"/>
                      </a:endParaRPr>
                    </a:p>
                  </a:txBody>
                  <a:tcPr marL="109728" marR="109728" marT="36576" marB="36576" anchor="ctr">
                    <a:lnL w="6350" cap="flat" cmpd="sng" algn="ctr">
                      <a:solidFill>
                        <a:srgbClr val="DCDCDC"/>
                      </a:solidFill>
                      <a:prstDash val="solid"/>
                      <a:round/>
                      <a:headEnd type="none" w="med" len="med"/>
                      <a:tailEnd type="none" w="med" len="med"/>
                    </a:lnL>
                    <a:lnR w="6350" cap="flat" cmpd="sng" algn="ctr">
                      <a:solidFill>
                        <a:srgbClr val="DCDCDC"/>
                      </a:solidFill>
                      <a:prstDash val="solid"/>
                      <a:round/>
                      <a:headEnd type="none" w="med" len="med"/>
                      <a:tailEnd type="none" w="med" len="med"/>
                    </a:lnR>
                    <a:lnT w="6350" cap="flat" cmpd="sng" algn="ctr">
                      <a:solidFill>
                        <a:srgbClr val="DCDCDC"/>
                      </a:solidFill>
                      <a:prstDash val="solid"/>
                      <a:round/>
                      <a:headEnd type="none" w="med" len="med"/>
                      <a:tailEnd type="none" w="med" len="med"/>
                    </a:lnT>
                    <a:lnB w="6350" cap="flat" cmpd="sng" algn="ctr">
                      <a:solidFill>
                        <a:srgbClr val="DCDCDC"/>
                      </a:solidFill>
                      <a:prstDash val="solid"/>
                      <a:round/>
                      <a:headEnd type="none" w="med" len="med"/>
                      <a:tailEnd type="none" w="med" len="med"/>
                    </a:lnB>
                    <a:solidFill>
                      <a:srgbClr val="F4F4F4"/>
                    </a:solidFill>
                  </a:tcPr>
                </a:tc>
                <a:tc>
                  <a:txBody>
                    <a:bodyPr/>
                    <a:lstStyle/>
                    <a:p>
                      <a:pPr marL="0" indent="0" algn="r">
                        <a:buNone/>
                      </a:pPr>
                      <a:r>
                        <a:rPr lang="en-US" sz="1150" b="1" dirty="0">
                          <a:solidFill>
                            <a:srgbClr val="1A1A1A"/>
                          </a:solidFill>
                          <a:latin typeface="Arial" pitchFamily="34" charset="0"/>
                          <a:ea typeface="Arial" pitchFamily="34" charset="-122"/>
                          <a:cs typeface="Arial" pitchFamily="34" charset="-120"/>
                        </a:rPr>
                        <a:t>Incomplete</a:t>
                      </a:r>
                      <a:endParaRPr lang="en-US" sz="1150" dirty="0">
                        <a:latin typeface="Arial" charset="0"/>
                        <a:ea typeface="Arial" charset="0"/>
                        <a:cs typeface="Arial" charset="0"/>
                      </a:endParaRPr>
                    </a:p>
                  </a:txBody>
                  <a:tcPr marL="109728" marR="109728" marT="36576" marB="36576" anchor="ctr">
                    <a:lnL w="6350" cap="flat" cmpd="sng" algn="ctr">
                      <a:solidFill>
                        <a:srgbClr val="DCDCDC"/>
                      </a:solidFill>
                      <a:prstDash val="solid"/>
                      <a:round/>
                      <a:headEnd type="none" w="med" len="med"/>
                      <a:tailEnd type="none" w="med" len="med"/>
                    </a:lnL>
                    <a:lnR w="6350" cap="flat" cmpd="sng" algn="ctr">
                      <a:solidFill>
                        <a:srgbClr val="DCDCDC"/>
                      </a:solidFill>
                      <a:prstDash val="solid"/>
                      <a:round/>
                      <a:headEnd type="none" w="med" len="med"/>
                      <a:tailEnd type="none" w="med" len="med"/>
                    </a:lnR>
                    <a:lnT w="6350" cap="flat" cmpd="sng" algn="ctr">
                      <a:solidFill>
                        <a:srgbClr val="DCDCDC"/>
                      </a:solidFill>
                      <a:prstDash val="solid"/>
                      <a:round/>
                      <a:headEnd type="none" w="med" len="med"/>
                      <a:tailEnd type="none" w="med" len="med"/>
                    </a:lnT>
                    <a:lnB w="6350" cap="flat" cmpd="sng" algn="ctr">
                      <a:solidFill>
                        <a:srgbClr val="DCDCDC"/>
                      </a:solidFill>
                      <a:prstDash val="solid"/>
                      <a:round/>
                      <a:headEnd type="none" w="med" len="med"/>
                      <a:tailEnd type="none" w="med" len="med"/>
                    </a:lnB>
                    <a:solidFill>
                      <a:srgbClr val="F4F4F4"/>
                    </a:solidFill>
                  </a:tcPr>
                </a:tc>
                <a:tc>
                  <a:txBody>
                    <a:bodyPr/>
                    <a:lstStyle/>
                    <a:p>
                      <a:pPr marL="0" indent="0" algn="r">
                        <a:buNone/>
                      </a:pPr>
                      <a:r>
                        <a:rPr lang="en-US" sz="1150" b="1" dirty="0">
                          <a:solidFill>
                            <a:srgbClr val="1A1A1A"/>
                          </a:solidFill>
                          <a:latin typeface="Arial" pitchFamily="34" charset="0"/>
                          <a:ea typeface="Arial" pitchFamily="34" charset="-122"/>
                          <a:cs typeface="Arial" pitchFamily="34" charset="-120"/>
                        </a:rPr>
                        <a:t>Precision</a:t>
                      </a:r>
                      <a:endParaRPr lang="en-US" sz="1150" dirty="0">
                        <a:latin typeface="Arial" charset="0"/>
                        <a:ea typeface="Arial" charset="0"/>
                        <a:cs typeface="Arial" charset="0"/>
                      </a:endParaRPr>
                    </a:p>
                  </a:txBody>
                  <a:tcPr marL="109728" marR="109728" marT="36576" marB="36576" anchor="ctr">
                    <a:lnL w="6350" cap="flat" cmpd="sng" algn="ctr">
                      <a:solidFill>
                        <a:srgbClr val="DCDCDC"/>
                      </a:solidFill>
                      <a:prstDash val="solid"/>
                      <a:round/>
                      <a:headEnd type="none" w="med" len="med"/>
                      <a:tailEnd type="none" w="med" len="med"/>
                    </a:lnL>
                    <a:lnR w="6350" cap="flat" cmpd="sng" algn="ctr">
                      <a:solidFill>
                        <a:srgbClr val="DCDCDC"/>
                      </a:solidFill>
                      <a:prstDash val="solid"/>
                      <a:round/>
                      <a:headEnd type="none" w="med" len="med"/>
                      <a:tailEnd type="none" w="med" len="med"/>
                    </a:lnR>
                    <a:lnT w="6350" cap="flat" cmpd="sng" algn="ctr">
                      <a:solidFill>
                        <a:srgbClr val="DCDCDC"/>
                      </a:solidFill>
                      <a:prstDash val="solid"/>
                      <a:round/>
                      <a:headEnd type="none" w="med" len="med"/>
                      <a:tailEnd type="none" w="med" len="med"/>
                    </a:lnT>
                    <a:lnB w="6350" cap="flat" cmpd="sng" algn="ctr">
                      <a:solidFill>
                        <a:srgbClr val="DCDCDC"/>
                      </a:solidFill>
                      <a:prstDash val="solid"/>
                      <a:round/>
                      <a:headEnd type="none" w="med" len="med"/>
                      <a:tailEnd type="none" w="med" len="med"/>
                    </a:lnB>
                    <a:solidFill>
                      <a:srgbClr val="F4F4F4"/>
                    </a:solidFill>
                  </a:tcPr>
                </a:tc>
                <a:tc>
                  <a:txBody>
                    <a:bodyPr/>
                    <a:lstStyle/>
                    <a:p>
                      <a:pPr marL="0" indent="0" algn="r">
                        <a:buNone/>
                      </a:pPr>
                      <a:r>
                        <a:rPr lang="en-US" sz="1150" b="1" dirty="0">
                          <a:solidFill>
                            <a:srgbClr val="1A1A1A"/>
                          </a:solidFill>
                          <a:latin typeface="Arial" pitchFamily="34" charset="0"/>
                          <a:ea typeface="Arial" pitchFamily="34" charset="-122"/>
                          <a:cs typeface="Arial" pitchFamily="34" charset="-120"/>
                        </a:rPr>
                        <a:t>F1</a:t>
                      </a:r>
                      <a:endParaRPr lang="en-US" sz="1150" dirty="0">
                        <a:latin typeface="Arial" charset="0"/>
                        <a:ea typeface="Arial" charset="0"/>
                        <a:cs typeface="Arial" charset="0"/>
                      </a:endParaRPr>
                    </a:p>
                  </a:txBody>
                  <a:tcPr marL="109728" marR="109728" marT="36576" marB="36576" anchor="ctr">
                    <a:lnL w="6350" cap="flat" cmpd="sng" algn="ctr">
                      <a:solidFill>
                        <a:srgbClr val="DCDCDC"/>
                      </a:solidFill>
                      <a:prstDash val="solid"/>
                      <a:round/>
                      <a:headEnd type="none" w="med" len="med"/>
                      <a:tailEnd type="none" w="med" len="med"/>
                    </a:lnL>
                    <a:lnR w="6350" cap="flat" cmpd="sng" algn="ctr">
                      <a:solidFill>
                        <a:srgbClr val="DCDCDC"/>
                      </a:solidFill>
                      <a:prstDash val="solid"/>
                      <a:round/>
                      <a:headEnd type="none" w="med" len="med"/>
                      <a:tailEnd type="none" w="med" len="med"/>
                    </a:lnR>
                    <a:lnT w="6350" cap="flat" cmpd="sng" algn="ctr">
                      <a:solidFill>
                        <a:srgbClr val="DCDCDC"/>
                      </a:solidFill>
                      <a:prstDash val="solid"/>
                      <a:round/>
                      <a:headEnd type="none" w="med" len="med"/>
                      <a:tailEnd type="none" w="med" len="med"/>
                    </a:lnT>
                    <a:lnB w="6350" cap="flat" cmpd="sng" algn="ctr">
                      <a:solidFill>
                        <a:srgbClr val="DCDCDC"/>
                      </a:solidFill>
                      <a:prstDash val="solid"/>
                      <a:round/>
                      <a:headEnd type="none" w="med" len="med"/>
                      <a:tailEnd type="none" w="med" len="med"/>
                    </a:lnB>
                    <a:solidFill>
                      <a:srgbClr val="F4F4F4"/>
                    </a:solidFill>
                  </a:tcPr>
                </a:tc>
                <a:extLst>
                  <a:ext uri="{0D108BD9-81ED-4DB2-BD59-A6C34878D82A}">
                    <a16:rowId xmlns:a16="http://schemas.microsoft.com/office/drawing/2014/main" val="10000"/>
                  </a:ext>
                </a:extLst>
              </a:tr>
              <a:tr h="365760">
                <a:tc>
                  <a:txBody>
                    <a:bodyPr/>
                    <a:lstStyle/>
                    <a:p>
                      <a:pPr marL="0" indent="0" algn="l">
                        <a:buNone/>
                      </a:pPr>
                      <a:r>
                        <a:rPr lang="en-US" sz="1150" dirty="0">
                          <a:solidFill>
                            <a:srgbClr val="444444"/>
                          </a:solidFill>
                          <a:latin typeface="Arial" pitchFamily="34" charset="0"/>
                          <a:ea typeface="Arial" pitchFamily="34" charset="-122"/>
                          <a:cs typeface="Arial" pitchFamily="34" charset="-120"/>
                        </a:rPr>
                        <a:t>laptop-3B</a:t>
                      </a:r>
                      <a:endParaRPr lang="en-US" sz="1150" dirty="0">
                        <a:latin typeface="Arial" charset="0"/>
                        <a:ea typeface="Arial" charset="0"/>
                        <a:cs typeface="Arial" charset="0"/>
                      </a:endParaRPr>
                    </a:p>
                  </a:txBody>
                  <a:tcPr marL="109728" marR="109728" marT="36576" marB="36576" anchor="ctr">
                    <a:lnL w="6350" cap="flat" cmpd="sng" algn="ctr">
                      <a:solidFill>
                        <a:srgbClr val="DCDCDC"/>
                      </a:solidFill>
                      <a:prstDash val="solid"/>
                      <a:round/>
                      <a:headEnd type="none" w="med" len="med"/>
                      <a:tailEnd type="none" w="med" len="med"/>
                    </a:lnL>
                    <a:lnR w="6350" cap="flat" cmpd="sng" algn="ctr">
                      <a:solidFill>
                        <a:srgbClr val="DCDCDC"/>
                      </a:solidFill>
                      <a:prstDash val="solid"/>
                      <a:round/>
                      <a:headEnd type="none" w="med" len="med"/>
                      <a:tailEnd type="none" w="med" len="med"/>
                    </a:lnR>
                    <a:lnT w="6350" cap="flat" cmpd="sng" algn="ctr">
                      <a:solidFill>
                        <a:srgbClr val="DCDCDC"/>
                      </a:solidFill>
                      <a:prstDash val="solid"/>
                      <a:round/>
                      <a:headEnd type="none" w="med" len="med"/>
                      <a:tailEnd type="none" w="med" len="med"/>
                    </a:lnT>
                    <a:lnB w="6350" cap="flat" cmpd="sng" algn="ctr">
                      <a:solidFill>
                        <a:srgbClr val="DCDCDC"/>
                      </a:solidFill>
                      <a:prstDash val="solid"/>
                      <a:round/>
                      <a:headEnd type="none" w="med" len="med"/>
                      <a:tailEnd type="none" w="med" len="med"/>
                    </a:lnB>
                    <a:solidFill>
                      <a:srgbClr val="FFFFFF"/>
                    </a:solidFill>
                  </a:tcPr>
                </a:tc>
                <a:tc>
                  <a:txBody>
                    <a:bodyPr/>
                    <a:lstStyle/>
                    <a:p>
                      <a:pPr marL="0" indent="0" algn="r">
                        <a:buNone/>
                      </a:pPr>
                      <a:r>
                        <a:rPr lang="en-US" sz="1150" dirty="0">
                          <a:solidFill>
                            <a:srgbClr val="444444"/>
                          </a:solidFill>
                          <a:latin typeface="Arial" pitchFamily="34" charset="0"/>
                          <a:ea typeface="Arial" pitchFamily="34" charset="-122"/>
                          <a:cs typeface="Arial" pitchFamily="34" charset="-120"/>
                        </a:rPr>
                        <a:t>union</a:t>
                      </a:r>
                      <a:endParaRPr lang="en-US" sz="1150" dirty="0">
                        <a:latin typeface="Arial" charset="0"/>
                        <a:ea typeface="Arial" charset="0"/>
                        <a:cs typeface="Arial" charset="0"/>
                      </a:endParaRPr>
                    </a:p>
                  </a:txBody>
                  <a:tcPr marL="109728" marR="109728" marT="36576" marB="36576" anchor="ctr">
                    <a:lnL w="6350" cap="flat" cmpd="sng" algn="ctr">
                      <a:solidFill>
                        <a:srgbClr val="DCDCDC"/>
                      </a:solidFill>
                      <a:prstDash val="solid"/>
                      <a:round/>
                      <a:headEnd type="none" w="med" len="med"/>
                      <a:tailEnd type="none" w="med" len="med"/>
                    </a:lnL>
                    <a:lnR w="6350" cap="flat" cmpd="sng" algn="ctr">
                      <a:solidFill>
                        <a:srgbClr val="DCDCDC"/>
                      </a:solidFill>
                      <a:prstDash val="solid"/>
                      <a:round/>
                      <a:headEnd type="none" w="med" len="med"/>
                      <a:tailEnd type="none" w="med" len="med"/>
                    </a:lnR>
                    <a:lnT w="6350" cap="flat" cmpd="sng" algn="ctr">
                      <a:solidFill>
                        <a:srgbClr val="DCDCDC"/>
                      </a:solidFill>
                      <a:prstDash val="solid"/>
                      <a:round/>
                      <a:headEnd type="none" w="med" len="med"/>
                      <a:tailEnd type="none" w="med" len="med"/>
                    </a:lnT>
                    <a:lnB w="6350" cap="flat" cmpd="sng" algn="ctr">
                      <a:solidFill>
                        <a:srgbClr val="DCDCDC"/>
                      </a:solidFill>
                      <a:prstDash val="solid"/>
                      <a:round/>
                      <a:headEnd type="none" w="med" len="med"/>
                      <a:tailEnd type="none" w="med" len="med"/>
                    </a:lnB>
                    <a:solidFill>
                      <a:srgbClr val="FFFFFF"/>
                    </a:solidFill>
                  </a:tcPr>
                </a:tc>
                <a:tc>
                  <a:txBody>
                    <a:bodyPr/>
                    <a:lstStyle/>
                    <a:p>
                      <a:pPr marL="0" indent="0" algn="r">
                        <a:buNone/>
                      </a:pPr>
                      <a:r>
                        <a:rPr lang="en-US" sz="1150" dirty="0">
                          <a:solidFill>
                            <a:srgbClr val="444444"/>
                          </a:solidFill>
                          <a:latin typeface="Arial" pitchFamily="34" charset="0"/>
                          <a:ea typeface="Arial" pitchFamily="34" charset="-122"/>
                          <a:cs typeface="Arial" pitchFamily="34" charset="-120"/>
                        </a:rPr>
                        <a:t>0.091</a:t>
                      </a:r>
                      <a:endParaRPr lang="en-US" sz="1150" dirty="0">
                        <a:latin typeface="Arial" charset="0"/>
                        <a:ea typeface="Arial" charset="0"/>
                        <a:cs typeface="Arial" charset="0"/>
                      </a:endParaRPr>
                    </a:p>
                  </a:txBody>
                  <a:tcPr marL="109728" marR="109728" marT="36576" marB="36576" anchor="ctr">
                    <a:lnL w="6350" cap="flat" cmpd="sng" algn="ctr">
                      <a:solidFill>
                        <a:srgbClr val="DCDCDC"/>
                      </a:solidFill>
                      <a:prstDash val="solid"/>
                      <a:round/>
                      <a:headEnd type="none" w="med" len="med"/>
                      <a:tailEnd type="none" w="med" len="med"/>
                    </a:lnL>
                    <a:lnR w="6350" cap="flat" cmpd="sng" algn="ctr">
                      <a:solidFill>
                        <a:srgbClr val="DCDCDC"/>
                      </a:solidFill>
                      <a:prstDash val="solid"/>
                      <a:round/>
                      <a:headEnd type="none" w="med" len="med"/>
                      <a:tailEnd type="none" w="med" len="med"/>
                    </a:lnR>
                    <a:lnT w="6350" cap="flat" cmpd="sng" algn="ctr">
                      <a:solidFill>
                        <a:srgbClr val="DCDCDC"/>
                      </a:solidFill>
                      <a:prstDash val="solid"/>
                      <a:round/>
                      <a:headEnd type="none" w="med" len="med"/>
                      <a:tailEnd type="none" w="med" len="med"/>
                    </a:lnT>
                    <a:lnB w="6350" cap="flat" cmpd="sng" algn="ctr">
                      <a:solidFill>
                        <a:srgbClr val="DCDCDC"/>
                      </a:solidFill>
                      <a:prstDash val="solid"/>
                      <a:round/>
                      <a:headEnd type="none" w="med" len="med"/>
                      <a:tailEnd type="none" w="med" len="med"/>
                    </a:lnB>
                    <a:solidFill>
                      <a:srgbClr val="FFFFFF"/>
                    </a:solidFill>
                  </a:tcPr>
                </a:tc>
                <a:tc>
                  <a:txBody>
                    <a:bodyPr/>
                    <a:lstStyle/>
                    <a:p>
                      <a:pPr marL="0" indent="0" algn="r">
                        <a:buNone/>
                      </a:pPr>
                      <a:r>
                        <a:rPr lang="en-US" sz="1150" dirty="0">
                          <a:solidFill>
                            <a:srgbClr val="444444"/>
                          </a:solidFill>
                          <a:latin typeface="Arial" pitchFamily="34" charset="0"/>
                          <a:ea typeface="Arial" pitchFamily="34" charset="-122"/>
                          <a:cs typeface="Arial" pitchFamily="34" charset="-120"/>
                        </a:rPr>
                        <a:t>0.3426</a:t>
                      </a:r>
                      <a:endParaRPr lang="en-US" sz="1150" dirty="0">
                        <a:latin typeface="Arial" charset="0"/>
                        <a:ea typeface="Arial" charset="0"/>
                        <a:cs typeface="Arial" charset="0"/>
                      </a:endParaRPr>
                    </a:p>
                  </a:txBody>
                  <a:tcPr marL="109728" marR="109728" marT="36576" marB="36576" anchor="ctr">
                    <a:lnL w="6350" cap="flat" cmpd="sng" algn="ctr">
                      <a:solidFill>
                        <a:srgbClr val="DCDCDC"/>
                      </a:solidFill>
                      <a:prstDash val="solid"/>
                      <a:round/>
                      <a:headEnd type="none" w="med" len="med"/>
                      <a:tailEnd type="none" w="med" len="med"/>
                    </a:lnL>
                    <a:lnR w="6350" cap="flat" cmpd="sng" algn="ctr">
                      <a:solidFill>
                        <a:srgbClr val="DCDCDC"/>
                      </a:solidFill>
                      <a:prstDash val="solid"/>
                      <a:round/>
                      <a:headEnd type="none" w="med" len="med"/>
                      <a:tailEnd type="none" w="med" len="med"/>
                    </a:lnR>
                    <a:lnT w="6350" cap="flat" cmpd="sng" algn="ctr">
                      <a:solidFill>
                        <a:srgbClr val="DCDCDC"/>
                      </a:solidFill>
                      <a:prstDash val="solid"/>
                      <a:round/>
                      <a:headEnd type="none" w="med" len="med"/>
                      <a:tailEnd type="none" w="med" len="med"/>
                    </a:lnT>
                    <a:lnB w="6350" cap="flat" cmpd="sng" algn="ctr">
                      <a:solidFill>
                        <a:srgbClr val="DCDCDC"/>
                      </a:solidFill>
                      <a:prstDash val="solid"/>
                      <a:round/>
                      <a:headEnd type="none" w="med" len="med"/>
                      <a:tailEnd type="none" w="med" len="med"/>
                    </a:lnB>
                    <a:solidFill>
                      <a:srgbClr val="FFFFFF"/>
                    </a:solidFill>
                  </a:tcPr>
                </a:tc>
                <a:tc>
                  <a:txBody>
                    <a:bodyPr/>
                    <a:lstStyle/>
                    <a:p>
                      <a:pPr marL="0" indent="0" algn="r">
                        <a:buNone/>
                      </a:pPr>
                      <a:r>
                        <a:rPr lang="en-US" sz="1150" dirty="0">
                          <a:solidFill>
                            <a:srgbClr val="444444"/>
                          </a:solidFill>
                          <a:latin typeface="Arial" pitchFamily="34" charset="0"/>
                          <a:ea typeface="Arial" pitchFamily="34" charset="-122"/>
                          <a:cs typeface="Arial" pitchFamily="34" charset="-120"/>
                        </a:rPr>
                        <a:t>0.372</a:t>
                      </a:r>
                      <a:endParaRPr lang="en-US" sz="1150" dirty="0">
                        <a:latin typeface="Arial" charset="0"/>
                        <a:ea typeface="Arial" charset="0"/>
                        <a:cs typeface="Arial" charset="0"/>
                      </a:endParaRPr>
                    </a:p>
                  </a:txBody>
                  <a:tcPr marL="109728" marR="109728" marT="36576" marB="36576" anchor="ctr">
                    <a:lnL w="6350" cap="flat" cmpd="sng" algn="ctr">
                      <a:solidFill>
                        <a:srgbClr val="DCDCDC"/>
                      </a:solidFill>
                      <a:prstDash val="solid"/>
                      <a:round/>
                      <a:headEnd type="none" w="med" len="med"/>
                      <a:tailEnd type="none" w="med" len="med"/>
                    </a:lnL>
                    <a:lnR w="6350" cap="flat" cmpd="sng" algn="ctr">
                      <a:solidFill>
                        <a:srgbClr val="DCDCDC"/>
                      </a:solidFill>
                      <a:prstDash val="solid"/>
                      <a:round/>
                      <a:headEnd type="none" w="med" len="med"/>
                      <a:tailEnd type="none" w="med" len="med"/>
                    </a:lnR>
                    <a:lnT w="6350" cap="flat" cmpd="sng" algn="ctr">
                      <a:solidFill>
                        <a:srgbClr val="DCDCDC"/>
                      </a:solidFill>
                      <a:prstDash val="solid"/>
                      <a:round/>
                      <a:headEnd type="none" w="med" len="med"/>
                      <a:tailEnd type="none" w="med" len="med"/>
                    </a:lnT>
                    <a:lnB w="6350" cap="flat" cmpd="sng" algn="ctr">
                      <a:solidFill>
                        <a:srgbClr val="DCDCD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65760">
                <a:tc>
                  <a:txBody>
                    <a:bodyPr/>
                    <a:lstStyle/>
                    <a:p>
                      <a:pPr marL="0" indent="0" algn="l">
                        <a:buNone/>
                      </a:pPr>
                      <a:r>
                        <a:rPr lang="en-US" sz="1150" dirty="0">
                          <a:solidFill>
                            <a:srgbClr val="444444"/>
                          </a:solidFill>
                          <a:latin typeface="Arial" pitchFamily="34" charset="0"/>
                          <a:ea typeface="Arial" pitchFamily="34" charset="-122"/>
                          <a:cs typeface="Arial" pitchFamily="34" charset="-120"/>
                        </a:rPr>
                        <a:t>laptop-3B</a:t>
                      </a:r>
                      <a:endParaRPr lang="en-US" sz="1150" dirty="0">
                        <a:latin typeface="Arial" charset="0"/>
                        <a:ea typeface="Arial" charset="0"/>
                        <a:cs typeface="Arial" charset="0"/>
                      </a:endParaRPr>
                    </a:p>
                  </a:txBody>
                  <a:tcPr marL="109728" marR="109728" marT="36576" marB="36576" anchor="ctr">
                    <a:lnL w="6350" cap="flat" cmpd="sng" algn="ctr">
                      <a:solidFill>
                        <a:srgbClr val="DCDCDC"/>
                      </a:solidFill>
                      <a:prstDash val="solid"/>
                      <a:round/>
                      <a:headEnd type="none" w="med" len="med"/>
                      <a:tailEnd type="none" w="med" len="med"/>
                    </a:lnL>
                    <a:lnR w="6350" cap="flat" cmpd="sng" algn="ctr">
                      <a:solidFill>
                        <a:srgbClr val="DCDCDC"/>
                      </a:solidFill>
                      <a:prstDash val="solid"/>
                      <a:round/>
                      <a:headEnd type="none" w="med" len="med"/>
                      <a:tailEnd type="none" w="med" len="med"/>
                    </a:lnR>
                    <a:lnT w="6350" cap="flat" cmpd="sng" algn="ctr">
                      <a:solidFill>
                        <a:srgbClr val="DCDCDC"/>
                      </a:solidFill>
                      <a:prstDash val="solid"/>
                      <a:round/>
                      <a:headEnd type="none" w="med" len="med"/>
                      <a:tailEnd type="none" w="med" len="med"/>
                    </a:lnT>
                    <a:lnB w="6350" cap="flat" cmpd="sng" algn="ctr">
                      <a:solidFill>
                        <a:srgbClr val="DCDCDC"/>
                      </a:solidFill>
                      <a:prstDash val="solid"/>
                      <a:round/>
                      <a:headEnd type="none" w="med" len="med"/>
                      <a:tailEnd type="none" w="med" len="med"/>
                    </a:lnB>
                    <a:solidFill>
                      <a:srgbClr val="FFFFFF"/>
                    </a:solidFill>
                  </a:tcPr>
                </a:tc>
                <a:tc>
                  <a:txBody>
                    <a:bodyPr/>
                    <a:lstStyle/>
                    <a:p>
                      <a:pPr marL="0" indent="0" algn="r">
                        <a:buNone/>
                      </a:pPr>
                      <a:r>
                        <a:rPr lang="en-US" sz="1150" dirty="0">
                          <a:solidFill>
                            <a:srgbClr val="444444"/>
                          </a:solidFill>
                          <a:latin typeface="Arial" pitchFamily="34" charset="0"/>
                          <a:ea typeface="Arial" pitchFamily="34" charset="-122"/>
                          <a:cs typeface="Arial" pitchFamily="34" charset="-120"/>
                        </a:rPr>
                        <a:t>majority</a:t>
                      </a:r>
                      <a:endParaRPr lang="en-US" sz="1150" dirty="0">
                        <a:latin typeface="Arial" charset="0"/>
                        <a:ea typeface="Arial" charset="0"/>
                        <a:cs typeface="Arial" charset="0"/>
                      </a:endParaRPr>
                    </a:p>
                  </a:txBody>
                  <a:tcPr marL="109728" marR="109728" marT="36576" marB="36576" anchor="ctr">
                    <a:lnL w="6350" cap="flat" cmpd="sng" algn="ctr">
                      <a:solidFill>
                        <a:srgbClr val="DCDCDC"/>
                      </a:solidFill>
                      <a:prstDash val="solid"/>
                      <a:round/>
                      <a:headEnd type="none" w="med" len="med"/>
                      <a:tailEnd type="none" w="med" len="med"/>
                    </a:lnL>
                    <a:lnR w="6350" cap="flat" cmpd="sng" algn="ctr">
                      <a:solidFill>
                        <a:srgbClr val="DCDCDC"/>
                      </a:solidFill>
                      <a:prstDash val="solid"/>
                      <a:round/>
                      <a:headEnd type="none" w="med" len="med"/>
                      <a:tailEnd type="none" w="med" len="med"/>
                    </a:lnR>
                    <a:lnT w="6350" cap="flat" cmpd="sng" algn="ctr">
                      <a:solidFill>
                        <a:srgbClr val="DCDCDC"/>
                      </a:solidFill>
                      <a:prstDash val="solid"/>
                      <a:round/>
                      <a:headEnd type="none" w="med" len="med"/>
                      <a:tailEnd type="none" w="med" len="med"/>
                    </a:lnT>
                    <a:lnB w="6350" cap="flat" cmpd="sng" algn="ctr">
                      <a:solidFill>
                        <a:srgbClr val="DCDCDC"/>
                      </a:solidFill>
                      <a:prstDash val="solid"/>
                      <a:round/>
                      <a:headEnd type="none" w="med" len="med"/>
                      <a:tailEnd type="none" w="med" len="med"/>
                    </a:lnB>
                    <a:solidFill>
                      <a:srgbClr val="FFFFFF"/>
                    </a:solidFill>
                  </a:tcPr>
                </a:tc>
                <a:tc>
                  <a:txBody>
                    <a:bodyPr/>
                    <a:lstStyle/>
                    <a:p>
                      <a:pPr marL="0" indent="0" algn="r">
                        <a:buNone/>
                      </a:pPr>
                      <a:r>
                        <a:rPr lang="en-US" sz="1150" b="1" dirty="0">
                          <a:solidFill>
                            <a:srgbClr val="E90802"/>
                          </a:solidFill>
                          <a:latin typeface="Arial" pitchFamily="34" charset="0"/>
                          <a:ea typeface="Arial" pitchFamily="34" charset="-122"/>
                          <a:cs typeface="Arial" pitchFamily="34" charset="-120"/>
                        </a:rPr>
                        <a:t>0.042</a:t>
                      </a:r>
                      <a:endParaRPr lang="en-US" sz="1150" dirty="0">
                        <a:latin typeface="Arial" charset="0"/>
                        <a:ea typeface="Arial" charset="0"/>
                        <a:cs typeface="Arial" charset="0"/>
                      </a:endParaRPr>
                    </a:p>
                  </a:txBody>
                  <a:tcPr marL="109728" marR="109728" marT="36576" marB="36576" anchor="ctr">
                    <a:lnL w="6350" cap="flat" cmpd="sng" algn="ctr">
                      <a:solidFill>
                        <a:srgbClr val="DCDCDC"/>
                      </a:solidFill>
                      <a:prstDash val="solid"/>
                      <a:round/>
                      <a:headEnd type="none" w="med" len="med"/>
                      <a:tailEnd type="none" w="med" len="med"/>
                    </a:lnL>
                    <a:lnR w="6350" cap="flat" cmpd="sng" algn="ctr">
                      <a:solidFill>
                        <a:srgbClr val="DCDCDC"/>
                      </a:solidFill>
                      <a:prstDash val="solid"/>
                      <a:round/>
                      <a:headEnd type="none" w="med" len="med"/>
                      <a:tailEnd type="none" w="med" len="med"/>
                    </a:lnR>
                    <a:lnT w="6350" cap="flat" cmpd="sng" algn="ctr">
                      <a:solidFill>
                        <a:srgbClr val="DCDCDC"/>
                      </a:solidFill>
                      <a:prstDash val="solid"/>
                      <a:round/>
                      <a:headEnd type="none" w="med" len="med"/>
                      <a:tailEnd type="none" w="med" len="med"/>
                    </a:lnT>
                    <a:lnB w="6350" cap="flat" cmpd="sng" algn="ctr">
                      <a:solidFill>
                        <a:srgbClr val="DCDCDC"/>
                      </a:solidFill>
                      <a:prstDash val="solid"/>
                      <a:round/>
                      <a:headEnd type="none" w="med" len="med"/>
                      <a:tailEnd type="none" w="med" len="med"/>
                    </a:lnB>
                    <a:solidFill>
                      <a:srgbClr val="FFFFFF"/>
                    </a:solidFill>
                  </a:tcPr>
                </a:tc>
                <a:tc>
                  <a:txBody>
                    <a:bodyPr/>
                    <a:lstStyle/>
                    <a:p>
                      <a:pPr marL="0" indent="0" algn="r">
                        <a:buNone/>
                      </a:pPr>
                      <a:r>
                        <a:rPr lang="en-US" sz="1150" b="1" dirty="0">
                          <a:solidFill>
                            <a:srgbClr val="E90802"/>
                          </a:solidFill>
                          <a:latin typeface="Arial" pitchFamily="34" charset="0"/>
                          <a:ea typeface="Arial" pitchFamily="34" charset="-122"/>
                          <a:cs typeface="Arial" pitchFamily="34" charset="-120"/>
                        </a:rPr>
                        <a:t>0.4071</a:t>
                      </a:r>
                      <a:endParaRPr lang="en-US" sz="1150" dirty="0">
                        <a:latin typeface="Arial" charset="0"/>
                        <a:ea typeface="Arial" charset="0"/>
                        <a:cs typeface="Arial" charset="0"/>
                      </a:endParaRPr>
                    </a:p>
                  </a:txBody>
                  <a:tcPr marL="109728" marR="109728" marT="36576" marB="36576" anchor="ctr">
                    <a:lnL w="6350" cap="flat" cmpd="sng" algn="ctr">
                      <a:solidFill>
                        <a:srgbClr val="DCDCDC"/>
                      </a:solidFill>
                      <a:prstDash val="solid"/>
                      <a:round/>
                      <a:headEnd type="none" w="med" len="med"/>
                      <a:tailEnd type="none" w="med" len="med"/>
                    </a:lnL>
                    <a:lnR w="6350" cap="flat" cmpd="sng" algn="ctr">
                      <a:solidFill>
                        <a:srgbClr val="DCDCDC"/>
                      </a:solidFill>
                      <a:prstDash val="solid"/>
                      <a:round/>
                      <a:headEnd type="none" w="med" len="med"/>
                      <a:tailEnd type="none" w="med" len="med"/>
                    </a:lnR>
                    <a:lnT w="6350" cap="flat" cmpd="sng" algn="ctr">
                      <a:solidFill>
                        <a:srgbClr val="DCDCDC"/>
                      </a:solidFill>
                      <a:prstDash val="solid"/>
                      <a:round/>
                      <a:headEnd type="none" w="med" len="med"/>
                      <a:tailEnd type="none" w="med" len="med"/>
                    </a:lnT>
                    <a:lnB w="6350" cap="flat" cmpd="sng" algn="ctr">
                      <a:solidFill>
                        <a:srgbClr val="DCDCDC"/>
                      </a:solidFill>
                      <a:prstDash val="solid"/>
                      <a:round/>
                      <a:headEnd type="none" w="med" len="med"/>
                      <a:tailEnd type="none" w="med" len="med"/>
                    </a:lnB>
                    <a:solidFill>
                      <a:srgbClr val="FFFFFF"/>
                    </a:solidFill>
                  </a:tcPr>
                </a:tc>
                <a:tc>
                  <a:txBody>
                    <a:bodyPr/>
                    <a:lstStyle/>
                    <a:p>
                      <a:pPr marL="0" indent="0" algn="r">
                        <a:buNone/>
                      </a:pPr>
                      <a:r>
                        <a:rPr lang="en-US" sz="1150" dirty="0">
                          <a:solidFill>
                            <a:srgbClr val="444444"/>
                          </a:solidFill>
                          <a:latin typeface="Arial" pitchFamily="34" charset="0"/>
                          <a:ea typeface="Arial" pitchFamily="34" charset="-122"/>
                          <a:cs typeface="Arial" pitchFamily="34" charset="-120"/>
                        </a:rPr>
                        <a:t>0.407</a:t>
                      </a:r>
                      <a:endParaRPr lang="en-US" sz="1150" dirty="0">
                        <a:latin typeface="Arial" charset="0"/>
                        <a:ea typeface="Arial" charset="0"/>
                        <a:cs typeface="Arial" charset="0"/>
                      </a:endParaRPr>
                    </a:p>
                  </a:txBody>
                  <a:tcPr marL="109728" marR="109728" marT="36576" marB="36576" anchor="ctr">
                    <a:lnL w="6350" cap="flat" cmpd="sng" algn="ctr">
                      <a:solidFill>
                        <a:srgbClr val="DCDCDC"/>
                      </a:solidFill>
                      <a:prstDash val="solid"/>
                      <a:round/>
                      <a:headEnd type="none" w="med" len="med"/>
                      <a:tailEnd type="none" w="med" len="med"/>
                    </a:lnL>
                    <a:lnR w="6350" cap="flat" cmpd="sng" algn="ctr">
                      <a:solidFill>
                        <a:srgbClr val="DCDCDC"/>
                      </a:solidFill>
                      <a:prstDash val="solid"/>
                      <a:round/>
                      <a:headEnd type="none" w="med" len="med"/>
                      <a:tailEnd type="none" w="med" len="med"/>
                    </a:lnR>
                    <a:lnT w="6350" cap="flat" cmpd="sng" algn="ctr">
                      <a:solidFill>
                        <a:srgbClr val="DCDCDC"/>
                      </a:solidFill>
                      <a:prstDash val="solid"/>
                      <a:round/>
                      <a:headEnd type="none" w="med" len="med"/>
                      <a:tailEnd type="none" w="med" len="med"/>
                    </a:lnT>
                    <a:lnB w="6350" cap="flat" cmpd="sng" algn="ctr">
                      <a:solidFill>
                        <a:srgbClr val="DCDCDC"/>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65760">
                <a:tc>
                  <a:txBody>
                    <a:bodyPr/>
                    <a:lstStyle/>
                    <a:p>
                      <a:pPr marL="0" indent="0" algn="l">
                        <a:buNone/>
                      </a:pPr>
                      <a:r>
                        <a:rPr lang="en-US" sz="1150" dirty="0">
                          <a:solidFill>
                            <a:srgbClr val="444444"/>
                          </a:solidFill>
                          <a:latin typeface="Arial" pitchFamily="34" charset="0"/>
                          <a:ea typeface="Arial" pitchFamily="34" charset="-122"/>
                          <a:cs typeface="Arial" pitchFamily="34" charset="-120"/>
                        </a:rPr>
                        <a:t>judges-7B</a:t>
                      </a:r>
                      <a:endParaRPr lang="en-US" sz="1150" dirty="0">
                        <a:latin typeface="Arial" charset="0"/>
                        <a:ea typeface="Arial" charset="0"/>
                        <a:cs typeface="Arial" charset="0"/>
                      </a:endParaRPr>
                    </a:p>
                  </a:txBody>
                  <a:tcPr marL="109728" marR="109728" marT="36576" marB="36576" anchor="ctr">
                    <a:lnL w="6350" cap="flat" cmpd="sng" algn="ctr">
                      <a:solidFill>
                        <a:srgbClr val="DCDCDC"/>
                      </a:solidFill>
                      <a:prstDash val="solid"/>
                      <a:round/>
                      <a:headEnd type="none" w="med" len="med"/>
                      <a:tailEnd type="none" w="med" len="med"/>
                    </a:lnL>
                    <a:lnR w="6350" cap="flat" cmpd="sng" algn="ctr">
                      <a:solidFill>
                        <a:srgbClr val="DCDCDC"/>
                      </a:solidFill>
                      <a:prstDash val="solid"/>
                      <a:round/>
                      <a:headEnd type="none" w="med" len="med"/>
                      <a:tailEnd type="none" w="med" len="med"/>
                    </a:lnR>
                    <a:lnT w="6350" cap="flat" cmpd="sng" algn="ctr">
                      <a:solidFill>
                        <a:srgbClr val="DCDCDC"/>
                      </a:solidFill>
                      <a:prstDash val="solid"/>
                      <a:round/>
                      <a:headEnd type="none" w="med" len="med"/>
                      <a:tailEnd type="none" w="med" len="med"/>
                    </a:lnT>
                    <a:lnB w="6350" cap="flat" cmpd="sng" algn="ctr">
                      <a:solidFill>
                        <a:srgbClr val="DCDCDC"/>
                      </a:solidFill>
                      <a:prstDash val="solid"/>
                      <a:round/>
                      <a:headEnd type="none" w="med" len="med"/>
                      <a:tailEnd type="none" w="med" len="med"/>
                    </a:lnB>
                    <a:solidFill>
                      <a:srgbClr val="FFFFFF"/>
                    </a:solidFill>
                  </a:tcPr>
                </a:tc>
                <a:tc>
                  <a:txBody>
                    <a:bodyPr/>
                    <a:lstStyle/>
                    <a:p>
                      <a:pPr marL="0" indent="0" algn="r">
                        <a:buNone/>
                      </a:pPr>
                      <a:r>
                        <a:rPr lang="en-US" sz="1150" dirty="0">
                          <a:solidFill>
                            <a:srgbClr val="444444"/>
                          </a:solidFill>
                          <a:latin typeface="Arial" pitchFamily="34" charset="0"/>
                          <a:ea typeface="Arial" pitchFamily="34" charset="-122"/>
                          <a:cs typeface="Arial" pitchFamily="34" charset="-120"/>
                        </a:rPr>
                        <a:t>union</a:t>
                      </a:r>
                      <a:endParaRPr lang="en-US" sz="1150" dirty="0">
                        <a:latin typeface="Arial" charset="0"/>
                        <a:ea typeface="Arial" charset="0"/>
                        <a:cs typeface="Arial" charset="0"/>
                      </a:endParaRPr>
                    </a:p>
                  </a:txBody>
                  <a:tcPr marL="109728" marR="109728" marT="36576" marB="36576" anchor="ctr">
                    <a:lnL w="6350" cap="flat" cmpd="sng" algn="ctr">
                      <a:solidFill>
                        <a:srgbClr val="DCDCDC"/>
                      </a:solidFill>
                      <a:prstDash val="solid"/>
                      <a:round/>
                      <a:headEnd type="none" w="med" len="med"/>
                      <a:tailEnd type="none" w="med" len="med"/>
                    </a:lnL>
                    <a:lnR w="6350" cap="flat" cmpd="sng" algn="ctr">
                      <a:solidFill>
                        <a:srgbClr val="DCDCDC"/>
                      </a:solidFill>
                      <a:prstDash val="solid"/>
                      <a:round/>
                      <a:headEnd type="none" w="med" len="med"/>
                      <a:tailEnd type="none" w="med" len="med"/>
                    </a:lnR>
                    <a:lnT w="6350" cap="flat" cmpd="sng" algn="ctr">
                      <a:solidFill>
                        <a:srgbClr val="DCDCDC"/>
                      </a:solidFill>
                      <a:prstDash val="solid"/>
                      <a:round/>
                      <a:headEnd type="none" w="med" len="med"/>
                      <a:tailEnd type="none" w="med" len="med"/>
                    </a:lnT>
                    <a:lnB w="6350" cap="flat" cmpd="sng" algn="ctr">
                      <a:solidFill>
                        <a:srgbClr val="DCDCDC"/>
                      </a:solidFill>
                      <a:prstDash val="solid"/>
                      <a:round/>
                      <a:headEnd type="none" w="med" len="med"/>
                      <a:tailEnd type="none" w="med" len="med"/>
                    </a:lnB>
                    <a:solidFill>
                      <a:srgbClr val="FFFFFF"/>
                    </a:solidFill>
                  </a:tcPr>
                </a:tc>
                <a:tc>
                  <a:txBody>
                    <a:bodyPr/>
                    <a:lstStyle/>
                    <a:p>
                      <a:pPr marL="0" indent="0" algn="r">
                        <a:buNone/>
                      </a:pPr>
                      <a:r>
                        <a:rPr lang="en-US" sz="1150" dirty="0">
                          <a:solidFill>
                            <a:srgbClr val="444444"/>
                          </a:solidFill>
                          <a:latin typeface="Arial" pitchFamily="34" charset="0"/>
                          <a:ea typeface="Arial" pitchFamily="34" charset="-122"/>
                          <a:cs typeface="Arial" pitchFamily="34" charset="-120"/>
                        </a:rPr>
                        <a:t>0.411</a:t>
                      </a:r>
                      <a:endParaRPr lang="en-US" sz="1150" dirty="0">
                        <a:latin typeface="Arial" charset="0"/>
                        <a:ea typeface="Arial" charset="0"/>
                        <a:cs typeface="Arial" charset="0"/>
                      </a:endParaRPr>
                    </a:p>
                  </a:txBody>
                  <a:tcPr marL="109728" marR="109728" marT="36576" marB="36576" anchor="ctr">
                    <a:lnL w="6350" cap="flat" cmpd="sng" algn="ctr">
                      <a:solidFill>
                        <a:srgbClr val="DCDCDC"/>
                      </a:solidFill>
                      <a:prstDash val="solid"/>
                      <a:round/>
                      <a:headEnd type="none" w="med" len="med"/>
                      <a:tailEnd type="none" w="med" len="med"/>
                    </a:lnL>
                    <a:lnR w="6350" cap="flat" cmpd="sng" algn="ctr">
                      <a:solidFill>
                        <a:srgbClr val="DCDCDC"/>
                      </a:solidFill>
                      <a:prstDash val="solid"/>
                      <a:round/>
                      <a:headEnd type="none" w="med" len="med"/>
                      <a:tailEnd type="none" w="med" len="med"/>
                    </a:lnR>
                    <a:lnT w="6350" cap="flat" cmpd="sng" algn="ctr">
                      <a:solidFill>
                        <a:srgbClr val="DCDCDC"/>
                      </a:solidFill>
                      <a:prstDash val="solid"/>
                      <a:round/>
                      <a:headEnd type="none" w="med" len="med"/>
                      <a:tailEnd type="none" w="med" len="med"/>
                    </a:lnT>
                    <a:lnB w="6350" cap="flat" cmpd="sng" algn="ctr">
                      <a:solidFill>
                        <a:srgbClr val="DCDCDC"/>
                      </a:solidFill>
                      <a:prstDash val="solid"/>
                      <a:round/>
                      <a:headEnd type="none" w="med" len="med"/>
                      <a:tailEnd type="none" w="med" len="med"/>
                    </a:lnB>
                    <a:solidFill>
                      <a:srgbClr val="FFFFFF"/>
                    </a:solidFill>
                  </a:tcPr>
                </a:tc>
                <a:tc>
                  <a:txBody>
                    <a:bodyPr/>
                    <a:lstStyle/>
                    <a:p>
                      <a:pPr marL="0" indent="0" algn="r">
                        <a:buNone/>
                      </a:pPr>
                      <a:r>
                        <a:rPr lang="en-US" sz="1150" dirty="0">
                          <a:solidFill>
                            <a:srgbClr val="444444"/>
                          </a:solidFill>
                          <a:latin typeface="Arial" pitchFamily="34" charset="0"/>
                          <a:ea typeface="Arial" pitchFamily="34" charset="-122"/>
                          <a:cs typeface="Arial" pitchFamily="34" charset="-120"/>
                        </a:rPr>
                        <a:t>0.3018</a:t>
                      </a:r>
                      <a:endParaRPr lang="en-US" sz="1150" dirty="0">
                        <a:latin typeface="Arial" charset="0"/>
                        <a:ea typeface="Arial" charset="0"/>
                        <a:cs typeface="Arial" charset="0"/>
                      </a:endParaRPr>
                    </a:p>
                  </a:txBody>
                  <a:tcPr marL="109728" marR="109728" marT="36576" marB="36576" anchor="ctr">
                    <a:lnL w="6350" cap="flat" cmpd="sng" algn="ctr">
                      <a:solidFill>
                        <a:srgbClr val="DCDCDC"/>
                      </a:solidFill>
                      <a:prstDash val="solid"/>
                      <a:round/>
                      <a:headEnd type="none" w="med" len="med"/>
                      <a:tailEnd type="none" w="med" len="med"/>
                    </a:lnL>
                    <a:lnR w="6350" cap="flat" cmpd="sng" algn="ctr">
                      <a:solidFill>
                        <a:srgbClr val="DCDCDC"/>
                      </a:solidFill>
                      <a:prstDash val="solid"/>
                      <a:round/>
                      <a:headEnd type="none" w="med" len="med"/>
                      <a:tailEnd type="none" w="med" len="med"/>
                    </a:lnR>
                    <a:lnT w="6350" cap="flat" cmpd="sng" algn="ctr">
                      <a:solidFill>
                        <a:srgbClr val="DCDCDC"/>
                      </a:solidFill>
                      <a:prstDash val="solid"/>
                      <a:round/>
                      <a:headEnd type="none" w="med" len="med"/>
                      <a:tailEnd type="none" w="med" len="med"/>
                    </a:lnT>
                    <a:lnB w="6350" cap="flat" cmpd="sng" algn="ctr">
                      <a:solidFill>
                        <a:srgbClr val="DCDCDC"/>
                      </a:solidFill>
                      <a:prstDash val="solid"/>
                      <a:round/>
                      <a:headEnd type="none" w="med" len="med"/>
                      <a:tailEnd type="none" w="med" len="med"/>
                    </a:lnB>
                    <a:solidFill>
                      <a:srgbClr val="FFFFFF"/>
                    </a:solidFill>
                  </a:tcPr>
                </a:tc>
                <a:tc>
                  <a:txBody>
                    <a:bodyPr/>
                    <a:lstStyle/>
                    <a:p>
                      <a:pPr marL="0" indent="0" algn="r">
                        <a:buNone/>
                      </a:pPr>
                      <a:r>
                        <a:rPr lang="en-US" sz="1150" dirty="0">
                          <a:solidFill>
                            <a:srgbClr val="444444"/>
                          </a:solidFill>
                          <a:latin typeface="Arial" pitchFamily="34" charset="0"/>
                          <a:ea typeface="Arial" pitchFamily="34" charset="-122"/>
                          <a:cs typeface="Arial" pitchFamily="34" charset="-120"/>
                        </a:rPr>
                        <a:t>0.347</a:t>
                      </a:r>
                      <a:endParaRPr lang="en-US" sz="1150" dirty="0">
                        <a:latin typeface="Arial" charset="0"/>
                        <a:ea typeface="Arial" charset="0"/>
                        <a:cs typeface="Arial" charset="0"/>
                      </a:endParaRPr>
                    </a:p>
                  </a:txBody>
                  <a:tcPr marL="109728" marR="109728" marT="36576" marB="36576" anchor="ctr">
                    <a:lnL w="6350" cap="flat" cmpd="sng" algn="ctr">
                      <a:solidFill>
                        <a:srgbClr val="DCDCDC"/>
                      </a:solidFill>
                      <a:prstDash val="solid"/>
                      <a:round/>
                      <a:headEnd type="none" w="med" len="med"/>
                      <a:tailEnd type="none" w="med" len="med"/>
                    </a:lnL>
                    <a:lnR w="6350" cap="flat" cmpd="sng" algn="ctr">
                      <a:solidFill>
                        <a:srgbClr val="DCDCDC"/>
                      </a:solidFill>
                      <a:prstDash val="solid"/>
                      <a:round/>
                      <a:headEnd type="none" w="med" len="med"/>
                      <a:tailEnd type="none" w="med" len="med"/>
                    </a:lnR>
                    <a:lnT w="6350" cap="flat" cmpd="sng" algn="ctr">
                      <a:solidFill>
                        <a:srgbClr val="DCDCDC"/>
                      </a:solidFill>
                      <a:prstDash val="solid"/>
                      <a:round/>
                      <a:headEnd type="none" w="med" len="med"/>
                      <a:tailEnd type="none" w="med" len="med"/>
                    </a:lnT>
                    <a:lnB w="6350" cap="flat" cmpd="sng" algn="ctr">
                      <a:solidFill>
                        <a:srgbClr val="DCDCDC"/>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65760">
                <a:tc>
                  <a:txBody>
                    <a:bodyPr/>
                    <a:lstStyle/>
                    <a:p>
                      <a:pPr marL="0" indent="0" algn="l">
                        <a:buNone/>
                      </a:pPr>
                      <a:r>
                        <a:rPr lang="en-US" sz="1150" dirty="0">
                          <a:solidFill>
                            <a:srgbClr val="444444"/>
                          </a:solidFill>
                          <a:latin typeface="Arial" pitchFamily="34" charset="0"/>
                          <a:ea typeface="Arial" pitchFamily="34" charset="-122"/>
                          <a:cs typeface="Arial" pitchFamily="34" charset="-120"/>
                        </a:rPr>
                        <a:t>judges-7B</a:t>
                      </a:r>
                      <a:endParaRPr lang="en-US" sz="1150" dirty="0">
                        <a:latin typeface="Arial" charset="0"/>
                        <a:ea typeface="Arial" charset="0"/>
                        <a:cs typeface="Arial" charset="0"/>
                      </a:endParaRPr>
                    </a:p>
                  </a:txBody>
                  <a:tcPr marL="109728" marR="109728" marT="36576" marB="36576" anchor="ctr">
                    <a:lnL w="6350" cap="flat" cmpd="sng" algn="ctr">
                      <a:solidFill>
                        <a:srgbClr val="DCDCDC"/>
                      </a:solidFill>
                      <a:prstDash val="solid"/>
                      <a:round/>
                      <a:headEnd type="none" w="med" len="med"/>
                      <a:tailEnd type="none" w="med" len="med"/>
                    </a:lnL>
                    <a:lnR w="6350" cap="flat" cmpd="sng" algn="ctr">
                      <a:solidFill>
                        <a:srgbClr val="DCDCDC"/>
                      </a:solidFill>
                      <a:prstDash val="solid"/>
                      <a:round/>
                      <a:headEnd type="none" w="med" len="med"/>
                      <a:tailEnd type="none" w="med" len="med"/>
                    </a:lnR>
                    <a:lnT w="6350" cap="flat" cmpd="sng" algn="ctr">
                      <a:solidFill>
                        <a:srgbClr val="DCDCDC"/>
                      </a:solidFill>
                      <a:prstDash val="solid"/>
                      <a:round/>
                      <a:headEnd type="none" w="med" len="med"/>
                      <a:tailEnd type="none" w="med" len="med"/>
                    </a:lnT>
                    <a:lnB w="6350" cap="flat" cmpd="sng" algn="ctr">
                      <a:solidFill>
                        <a:srgbClr val="DCDCDC"/>
                      </a:solidFill>
                      <a:prstDash val="solid"/>
                      <a:round/>
                      <a:headEnd type="none" w="med" len="med"/>
                      <a:tailEnd type="none" w="med" len="med"/>
                    </a:lnB>
                    <a:solidFill>
                      <a:srgbClr val="FFFFFF"/>
                    </a:solidFill>
                  </a:tcPr>
                </a:tc>
                <a:tc>
                  <a:txBody>
                    <a:bodyPr/>
                    <a:lstStyle/>
                    <a:p>
                      <a:pPr marL="0" indent="0" algn="r">
                        <a:buNone/>
                      </a:pPr>
                      <a:r>
                        <a:rPr lang="en-US" sz="1150" dirty="0">
                          <a:solidFill>
                            <a:srgbClr val="444444"/>
                          </a:solidFill>
                          <a:latin typeface="Arial" pitchFamily="34" charset="0"/>
                          <a:ea typeface="Arial" pitchFamily="34" charset="-122"/>
                          <a:cs typeface="Arial" pitchFamily="34" charset="-120"/>
                        </a:rPr>
                        <a:t>majority</a:t>
                      </a:r>
                      <a:endParaRPr lang="en-US" sz="1150" dirty="0">
                        <a:latin typeface="Arial" charset="0"/>
                        <a:ea typeface="Arial" charset="0"/>
                        <a:cs typeface="Arial" charset="0"/>
                      </a:endParaRPr>
                    </a:p>
                  </a:txBody>
                  <a:tcPr marL="109728" marR="109728" marT="36576" marB="36576" anchor="ctr">
                    <a:lnL w="6350" cap="flat" cmpd="sng" algn="ctr">
                      <a:solidFill>
                        <a:srgbClr val="DCDCDC"/>
                      </a:solidFill>
                      <a:prstDash val="solid"/>
                      <a:round/>
                      <a:headEnd type="none" w="med" len="med"/>
                      <a:tailEnd type="none" w="med" len="med"/>
                    </a:lnL>
                    <a:lnR w="6350" cap="flat" cmpd="sng" algn="ctr">
                      <a:solidFill>
                        <a:srgbClr val="DCDCDC"/>
                      </a:solidFill>
                      <a:prstDash val="solid"/>
                      <a:round/>
                      <a:headEnd type="none" w="med" len="med"/>
                      <a:tailEnd type="none" w="med" len="med"/>
                    </a:lnR>
                    <a:lnT w="6350" cap="flat" cmpd="sng" algn="ctr">
                      <a:solidFill>
                        <a:srgbClr val="DCDCDC"/>
                      </a:solidFill>
                      <a:prstDash val="solid"/>
                      <a:round/>
                      <a:headEnd type="none" w="med" len="med"/>
                      <a:tailEnd type="none" w="med" len="med"/>
                    </a:lnT>
                    <a:lnB w="6350" cap="flat" cmpd="sng" algn="ctr">
                      <a:solidFill>
                        <a:srgbClr val="DCDCDC"/>
                      </a:solidFill>
                      <a:prstDash val="solid"/>
                      <a:round/>
                      <a:headEnd type="none" w="med" len="med"/>
                      <a:tailEnd type="none" w="med" len="med"/>
                    </a:lnB>
                    <a:solidFill>
                      <a:srgbClr val="FFFFFF"/>
                    </a:solidFill>
                  </a:tcPr>
                </a:tc>
                <a:tc>
                  <a:txBody>
                    <a:bodyPr/>
                    <a:lstStyle/>
                    <a:p>
                      <a:pPr marL="0" indent="0" algn="r">
                        <a:buNone/>
                      </a:pPr>
                      <a:r>
                        <a:rPr lang="en-US" sz="1150" dirty="0">
                          <a:solidFill>
                            <a:srgbClr val="444444"/>
                          </a:solidFill>
                          <a:latin typeface="Arial" pitchFamily="34" charset="0"/>
                          <a:ea typeface="Arial" pitchFamily="34" charset="-122"/>
                          <a:cs typeface="Arial" pitchFamily="34" charset="-120"/>
                        </a:rPr>
                        <a:t>0.393</a:t>
                      </a:r>
                      <a:endParaRPr lang="en-US" sz="1150" dirty="0">
                        <a:latin typeface="Arial" charset="0"/>
                        <a:ea typeface="Arial" charset="0"/>
                        <a:cs typeface="Arial" charset="0"/>
                      </a:endParaRPr>
                    </a:p>
                  </a:txBody>
                  <a:tcPr marL="109728" marR="109728" marT="36576" marB="36576" anchor="ctr">
                    <a:lnL w="6350" cap="flat" cmpd="sng" algn="ctr">
                      <a:solidFill>
                        <a:srgbClr val="DCDCDC"/>
                      </a:solidFill>
                      <a:prstDash val="solid"/>
                      <a:round/>
                      <a:headEnd type="none" w="med" len="med"/>
                      <a:tailEnd type="none" w="med" len="med"/>
                    </a:lnL>
                    <a:lnR w="6350" cap="flat" cmpd="sng" algn="ctr">
                      <a:solidFill>
                        <a:srgbClr val="DCDCDC"/>
                      </a:solidFill>
                      <a:prstDash val="solid"/>
                      <a:round/>
                      <a:headEnd type="none" w="med" len="med"/>
                      <a:tailEnd type="none" w="med" len="med"/>
                    </a:lnR>
                    <a:lnT w="6350" cap="flat" cmpd="sng" algn="ctr">
                      <a:solidFill>
                        <a:srgbClr val="DCDCDC"/>
                      </a:solidFill>
                      <a:prstDash val="solid"/>
                      <a:round/>
                      <a:headEnd type="none" w="med" len="med"/>
                      <a:tailEnd type="none" w="med" len="med"/>
                    </a:lnT>
                    <a:lnB w="6350" cap="flat" cmpd="sng" algn="ctr">
                      <a:solidFill>
                        <a:srgbClr val="DCDCDC"/>
                      </a:solidFill>
                      <a:prstDash val="solid"/>
                      <a:round/>
                      <a:headEnd type="none" w="med" len="med"/>
                      <a:tailEnd type="none" w="med" len="med"/>
                    </a:lnB>
                    <a:solidFill>
                      <a:srgbClr val="FFFFFF"/>
                    </a:solidFill>
                  </a:tcPr>
                </a:tc>
                <a:tc>
                  <a:txBody>
                    <a:bodyPr/>
                    <a:lstStyle/>
                    <a:p>
                      <a:pPr marL="0" indent="0" algn="r">
                        <a:buNone/>
                      </a:pPr>
                      <a:r>
                        <a:rPr lang="en-US" sz="1150" b="1" dirty="0">
                          <a:solidFill>
                            <a:srgbClr val="E90802"/>
                          </a:solidFill>
                          <a:latin typeface="Arial" pitchFamily="34" charset="0"/>
                          <a:ea typeface="Arial" pitchFamily="34" charset="-122"/>
                          <a:cs typeface="Arial" pitchFamily="34" charset="-120"/>
                        </a:rPr>
                        <a:t>0.4106</a:t>
                      </a:r>
                      <a:endParaRPr lang="en-US" sz="1150" dirty="0">
                        <a:latin typeface="Arial" charset="0"/>
                        <a:ea typeface="Arial" charset="0"/>
                        <a:cs typeface="Arial" charset="0"/>
                      </a:endParaRPr>
                    </a:p>
                  </a:txBody>
                  <a:tcPr marL="109728" marR="109728" marT="36576" marB="36576" anchor="ctr">
                    <a:lnL w="6350" cap="flat" cmpd="sng" algn="ctr">
                      <a:solidFill>
                        <a:srgbClr val="DCDCDC"/>
                      </a:solidFill>
                      <a:prstDash val="solid"/>
                      <a:round/>
                      <a:headEnd type="none" w="med" len="med"/>
                      <a:tailEnd type="none" w="med" len="med"/>
                    </a:lnL>
                    <a:lnR w="6350" cap="flat" cmpd="sng" algn="ctr">
                      <a:solidFill>
                        <a:srgbClr val="DCDCDC"/>
                      </a:solidFill>
                      <a:prstDash val="solid"/>
                      <a:round/>
                      <a:headEnd type="none" w="med" len="med"/>
                      <a:tailEnd type="none" w="med" len="med"/>
                    </a:lnR>
                    <a:lnT w="6350" cap="flat" cmpd="sng" algn="ctr">
                      <a:solidFill>
                        <a:srgbClr val="DCDCDC"/>
                      </a:solidFill>
                      <a:prstDash val="solid"/>
                      <a:round/>
                      <a:headEnd type="none" w="med" len="med"/>
                      <a:tailEnd type="none" w="med" len="med"/>
                    </a:lnT>
                    <a:lnB w="6350" cap="flat" cmpd="sng" algn="ctr">
                      <a:solidFill>
                        <a:srgbClr val="DCDCDC"/>
                      </a:solidFill>
                      <a:prstDash val="solid"/>
                      <a:round/>
                      <a:headEnd type="none" w="med" len="med"/>
                      <a:tailEnd type="none" w="med" len="med"/>
                    </a:lnB>
                    <a:solidFill>
                      <a:srgbClr val="FFFFFF"/>
                    </a:solidFill>
                  </a:tcPr>
                </a:tc>
                <a:tc>
                  <a:txBody>
                    <a:bodyPr/>
                    <a:lstStyle/>
                    <a:p>
                      <a:pPr marL="0" indent="0" algn="r">
                        <a:buNone/>
                      </a:pPr>
                      <a:r>
                        <a:rPr lang="en-US" sz="1150" dirty="0">
                          <a:solidFill>
                            <a:srgbClr val="444444"/>
                          </a:solidFill>
                          <a:latin typeface="Arial" pitchFamily="34" charset="0"/>
                          <a:ea typeface="Arial" pitchFamily="34" charset="-122"/>
                          <a:cs typeface="Arial" pitchFamily="34" charset="-120"/>
                        </a:rPr>
                        <a:t>0.409</a:t>
                      </a:r>
                      <a:endParaRPr lang="en-US" sz="1150" dirty="0">
                        <a:latin typeface="Arial" charset="0"/>
                        <a:ea typeface="Arial" charset="0"/>
                        <a:cs typeface="Arial" charset="0"/>
                      </a:endParaRPr>
                    </a:p>
                  </a:txBody>
                  <a:tcPr marL="109728" marR="109728" marT="36576" marB="36576" anchor="ctr">
                    <a:lnL w="6350" cap="flat" cmpd="sng" algn="ctr">
                      <a:solidFill>
                        <a:srgbClr val="DCDCDC"/>
                      </a:solidFill>
                      <a:prstDash val="solid"/>
                      <a:round/>
                      <a:headEnd type="none" w="med" len="med"/>
                      <a:tailEnd type="none" w="med" len="med"/>
                    </a:lnL>
                    <a:lnR w="6350" cap="flat" cmpd="sng" algn="ctr">
                      <a:solidFill>
                        <a:srgbClr val="DCDCDC"/>
                      </a:solidFill>
                      <a:prstDash val="solid"/>
                      <a:round/>
                      <a:headEnd type="none" w="med" len="med"/>
                      <a:tailEnd type="none" w="med" len="med"/>
                    </a:lnR>
                    <a:lnT w="6350" cap="flat" cmpd="sng" algn="ctr">
                      <a:solidFill>
                        <a:srgbClr val="DCDCDC"/>
                      </a:solidFill>
                      <a:prstDash val="solid"/>
                      <a:round/>
                      <a:headEnd type="none" w="med" len="med"/>
                      <a:tailEnd type="none" w="med" len="med"/>
                    </a:lnT>
                    <a:lnB w="6350" cap="flat" cmpd="sng" algn="ctr">
                      <a:solidFill>
                        <a:srgbClr val="DCDCDC"/>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365760">
                <a:tc>
                  <a:txBody>
                    <a:bodyPr/>
                    <a:lstStyle/>
                    <a:p>
                      <a:pPr marL="0" indent="0" algn="l">
                        <a:buNone/>
                      </a:pPr>
                      <a:r>
                        <a:rPr lang="en-US" sz="1150" dirty="0">
                          <a:solidFill>
                            <a:srgbClr val="444444"/>
                          </a:solidFill>
                          <a:latin typeface="Arial" pitchFamily="34" charset="0"/>
                          <a:ea typeface="Arial" pitchFamily="34" charset="-122"/>
                          <a:cs typeface="Arial" pitchFamily="34" charset="-120"/>
                        </a:rPr>
                        <a:t>full-7B</a:t>
                      </a:r>
                      <a:endParaRPr lang="en-US" sz="1150" dirty="0">
                        <a:latin typeface="Arial" charset="0"/>
                        <a:ea typeface="Arial" charset="0"/>
                        <a:cs typeface="Arial" charset="0"/>
                      </a:endParaRPr>
                    </a:p>
                  </a:txBody>
                  <a:tcPr marL="109728" marR="109728" marT="36576" marB="36576" anchor="ctr">
                    <a:lnL w="6350" cap="flat" cmpd="sng" algn="ctr">
                      <a:solidFill>
                        <a:srgbClr val="DCDCDC"/>
                      </a:solidFill>
                      <a:prstDash val="solid"/>
                      <a:round/>
                      <a:headEnd type="none" w="med" len="med"/>
                      <a:tailEnd type="none" w="med" len="med"/>
                    </a:lnL>
                    <a:lnR w="6350" cap="flat" cmpd="sng" algn="ctr">
                      <a:solidFill>
                        <a:srgbClr val="DCDCDC"/>
                      </a:solidFill>
                      <a:prstDash val="solid"/>
                      <a:round/>
                      <a:headEnd type="none" w="med" len="med"/>
                      <a:tailEnd type="none" w="med" len="med"/>
                    </a:lnR>
                    <a:lnT w="6350" cap="flat" cmpd="sng" algn="ctr">
                      <a:solidFill>
                        <a:srgbClr val="DCDCDC"/>
                      </a:solidFill>
                      <a:prstDash val="solid"/>
                      <a:round/>
                      <a:headEnd type="none" w="med" len="med"/>
                      <a:tailEnd type="none" w="med" len="med"/>
                    </a:lnT>
                    <a:lnB w="6350" cap="flat" cmpd="sng" algn="ctr">
                      <a:solidFill>
                        <a:srgbClr val="DCDCDC"/>
                      </a:solidFill>
                      <a:prstDash val="solid"/>
                      <a:round/>
                      <a:headEnd type="none" w="med" len="med"/>
                      <a:tailEnd type="none" w="med" len="med"/>
                    </a:lnB>
                    <a:solidFill>
                      <a:srgbClr val="FFFFFF"/>
                    </a:solidFill>
                  </a:tcPr>
                </a:tc>
                <a:tc>
                  <a:txBody>
                    <a:bodyPr/>
                    <a:lstStyle/>
                    <a:p>
                      <a:pPr marL="0" indent="0" algn="r">
                        <a:buNone/>
                      </a:pPr>
                      <a:r>
                        <a:rPr lang="en-US" sz="1150" dirty="0">
                          <a:solidFill>
                            <a:srgbClr val="444444"/>
                          </a:solidFill>
                          <a:latin typeface="Arial" pitchFamily="34" charset="0"/>
                          <a:ea typeface="Arial" pitchFamily="34" charset="-122"/>
                          <a:cs typeface="Arial" pitchFamily="34" charset="-120"/>
                        </a:rPr>
                        <a:t>union</a:t>
                      </a:r>
                      <a:endParaRPr lang="en-US" sz="1150" dirty="0">
                        <a:latin typeface="Arial" charset="0"/>
                        <a:ea typeface="Arial" charset="0"/>
                        <a:cs typeface="Arial" charset="0"/>
                      </a:endParaRPr>
                    </a:p>
                  </a:txBody>
                  <a:tcPr marL="109728" marR="109728" marT="36576" marB="36576" anchor="ctr">
                    <a:lnL w="6350" cap="flat" cmpd="sng" algn="ctr">
                      <a:solidFill>
                        <a:srgbClr val="DCDCDC"/>
                      </a:solidFill>
                      <a:prstDash val="solid"/>
                      <a:round/>
                      <a:headEnd type="none" w="med" len="med"/>
                      <a:tailEnd type="none" w="med" len="med"/>
                    </a:lnL>
                    <a:lnR w="6350" cap="flat" cmpd="sng" algn="ctr">
                      <a:solidFill>
                        <a:srgbClr val="DCDCDC"/>
                      </a:solidFill>
                      <a:prstDash val="solid"/>
                      <a:round/>
                      <a:headEnd type="none" w="med" len="med"/>
                      <a:tailEnd type="none" w="med" len="med"/>
                    </a:lnR>
                    <a:lnT w="6350" cap="flat" cmpd="sng" algn="ctr">
                      <a:solidFill>
                        <a:srgbClr val="DCDCDC"/>
                      </a:solidFill>
                      <a:prstDash val="solid"/>
                      <a:round/>
                      <a:headEnd type="none" w="med" len="med"/>
                      <a:tailEnd type="none" w="med" len="med"/>
                    </a:lnT>
                    <a:lnB w="6350" cap="flat" cmpd="sng" algn="ctr">
                      <a:solidFill>
                        <a:srgbClr val="DCDCDC"/>
                      </a:solidFill>
                      <a:prstDash val="solid"/>
                      <a:round/>
                      <a:headEnd type="none" w="med" len="med"/>
                      <a:tailEnd type="none" w="med" len="med"/>
                    </a:lnB>
                    <a:solidFill>
                      <a:srgbClr val="FFFFFF"/>
                    </a:solidFill>
                  </a:tcPr>
                </a:tc>
                <a:tc>
                  <a:txBody>
                    <a:bodyPr/>
                    <a:lstStyle/>
                    <a:p>
                      <a:pPr marL="0" indent="0" algn="r">
                        <a:buNone/>
                      </a:pPr>
                      <a:r>
                        <a:rPr lang="en-US" sz="1150" dirty="0">
                          <a:solidFill>
                            <a:srgbClr val="444444"/>
                          </a:solidFill>
                          <a:latin typeface="Arial" pitchFamily="34" charset="0"/>
                          <a:ea typeface="Arial" pitchFamily="34" charset="-122"/>
                          <a:cs typeface="Arial" pitchFamily="34" charset="-120"/>
                        </a:rPr>
                        <a:t>0.286</a:t>
                      </a:r>
                      <a:endParaRPr lang="en-US" sz="1150" dirty="0">
                        <a:latin typeface="Arial" charset="0"/>
                        <a:ea typeface="Arial" charset="0"/>
                        <a:cs typeface="Arial" charset="0"/>
                      </a:endParaRPr>
                    </a:p>
                  </a:txBody>
                  <a:tcPr marL="109728" marR="109728" marT="36576" marB="36576" anchor="ctr">
                    <a:lnL w="6350" cap="flat" cmpd="sng" algn="ctr">
                      <a:solidFill>
                        <a:srgbClr val="DCDCDC"/>
                      </a:solidFill>
                      <a:prstDash val="solid"/>
                      <a:round/>
                      <a:headEnd type="none" w="med" len="med"/>
                      <a:tailEnd type="none" w="med" len="med"/>
                    </a:lnL>
                    <a:lnR w="6350" cap="flat" cmpd="sng" algn="ctr">
                      <a:solidFill>
                        <a:srgbClr val="DCDCDC"/>
                      </a:solidFill>
                      <a:prstDash val="solid"/>
                      <a:round/>
                      <a:headEnd type="none" w="med" len="med"/>
                      <a:tailEnd type="none" w="med" len="med"/>
                    </a:lnR>
                    <a:lnT w="6350" cap="flat" cmpd="sng" algn="ctr">
                      <a:solidFill>
                        <a:srgbClr val="DCDCDC"/>
                      </a:solidFill>
                      <a:prstDash val="solid"/>
                      <a:round/>
                      <a:headEnd type="none" w="med" len="med"/>
                      <a:tailEnd type="none" w="med" len="med"/>
                    </a:lnT>
                    <a:lnB w="6350" cap="flat" cmpd="sng" algn="ctr">
                      <a:solidFill>
                        <a:srgbClr val="DCDCDC"/>
                      </a:solidFill>
                      <a:prstDash val="solid"/>
                      <a:round/>
                      <a:headEnd type="none" w="med" len="med"/>
                      <a:tailEnd type="none" w="med" len="med"/>
                    </a:lnB>
                    <a:solidFill>
                      <a:srgbClr val="FFFFFF"/>
                    </a:solidFill>
                  </a:tcPr>
                </a:tc>
                <a:tc>
                  <a:txBody>
                    <a:bodyPr/>
                    <a:lstStyle/>
                    <a:p>
                      <a:pPr marL="0" indent="0" algn="r">
                        <a:buNone/>
                      </a:pPr>
                      <a:r>
                        <a:rPr lang="en-US" sz="1150" dirty="0">
                          <a:solidFill>
                            <a:srgbClr val="444444"/>
                          </a:solidFill>
                          <a:latin typeface="Arial" pitchFamily="34" charset="0"/>
                          <a:ea typeface="Arial" pitchFamily="34" charset="-122"/>
                          <a:cs typeface="Arial" pitchFamily="34" charset="-120"/>
                        </a:rPr>
                        <a:t>0.4802</a:t>
                      </a:r>
                      <a:endParaRPr lang="en-US" sz="1150" dirty="0">
                        <a:latin typeface="Arial" charset="0"/>
                        <a:ea typeface="Arial" charset="0"/>
                        <a:cs typeface="Arial" charset="0"/>
                      </a:endParaRPr>
                    </a:p>
                  </a:txBody>
                  <a:tcPr marL="109728" marR="109728" marT="36576" marB="36576" anchor="ctr">
                    <a:lnL w="6350" cap="flat" cmpd="sng" algn="ctr">
                      <a:solidFill>
                        <a:srgbClr val="DCDCDC"/>
                      </a:solidFill>
                      <a:prstDash val="solid"/>
                      <a:round/>
                      <a:headEnd type="none" w="med" len="med"/>
                      <a:tailEnd type="none" w="med" len="med"/>
                    </a:lnL>
                    <a:lnR w="6350" cap="flat" cmpd="sng" algn="ctr">
                      <a:solidFill>
                        <a:srgbClr val="DCDCDC"/>
                      </a:solidFill>
                      <a:prstDash val="solid"/>
                      <a:round/>
                      <a:headEnd type="none" w="med" len="med"/>
                      <a:tailEnd type="none" w="med" len="med"/>
                    </a:lnR>
                    <a:lnT w="6350" cap="flat" cmpd="sng" algn="ctr">
                      <a:solidFill>
                        <a:srgbClr val="DCDCDC"/>
                      </a:solidFill>
                      <a:prstDash val="solid"/>
                      <a:round/>
                      <a:headEnd type="none" w="med" len="med"/>
                      <a:tailEnd type="none" w="med" len="med"/>
                    </a:lnT>
                    <a:lnB w="6350" cap="flat" cmpd="sng" algn="ctr">
                      <a:solidFill>
                        <a:srgbClr val="DCDCDC"/>
                      </a:solidFill>
                      <a:prstDash val="solid"/>
                      <a:round/>
                      <a:headEnd type="none" w="med" len="med"/>
                      <a:tailEnd type="none" w="med" len="med"/>
                    </a:lnB>
                    <a:solidFill>
                      <a:srgbClr val="FFFFFF"/>
                    </a:solidFill>
                  </a:tcPr>
                </a:tc>
                <a:tc>
                  <a:txBody>
                    <a:bodyPr/>
                    <a:lstStyle/>
                    <a:p>
                      <a:pPr marL="0" indent="0" algn="r">
                        <a:buNone/>
                      </a:pPr>
                      <a:r>
                        <a:rPr lang="en-US" sz="1150" dirty="0">
                          <a:solidFill>
                            <a:srgbClr val="444444"/>
                          </a:solidFill>
                          <a:latin typeface="Arial" pitchFamily="34" charset="0"/>
                          <a:ea typeface="Arial" pitchFamily="34" charset="-122"/>
                          <a:cs typeface="Arial" pitchFamily="34" charset="-120"/>
                        </a:rPr>
                        <a:t>0.355</a:t>
                      </a:r>
                      <a:endParaRPr lang="en-US" sz="1150" dirty="0">
                        <a:latin typeface="Arial" charset="0"/>
                        <a:ea typeface="Arial" charset="0"/>
                        <a:cs typeface="Arial" charset="0"/>
                      </a:endParaRPr>
                    </a:p>
                  </a:txBody>
                  <a:tcPr marL="109728" marR="109728" marT="36576" marB="36576" anchor="ctr">
                    <a:lnL w="6350" cap="flat" cmpd="sng" algn="ctr">
                      <a:solidFill>
                        <a:srgbClr val="DCDCDC"/>
                      </a:solidFill>
                      <a:prstDash val="solid"/>
                      <a:round/>
                      <a:headEnd type="none" w="med" len="med"/>
                      <a:tailEnd type="none" w="med" len="med"/>
                    </a:lnL>
                    <a:lnR w="6350" cap="flat" cmpd="sng" algn="ctr">
                      <a:solidFill>
                        <a:srgbClr val="DCDCDC"/>
                      </a:solidFill>
                      <a:prstDash val="solid"/>
                      <a:round/>
                      <a:headEnd type="none" w="med" len="med"/>
                      <a:tailEnd type="none" w="med" len="med"/>
                    </a:lnR>
                    <a:lnT w="6350" cap="flat" cmpd="sng" algn="ctr">
                      <a:solidFill>
                        <a:srgbClr val="DCDCDC"/>
                      </a:solidFill>
                      <a:prstDash val="solid"/>
                      <a:round/>
                      <a:headEnd type="none" w="med" len="med"/>
                      <a:tailEnd type="none" w="med" len="med"/>
                    </a:lnT>
                    <a:lnB w="6350" cap="flat" cmpd="sng" algn="ctr">
                      <a:solidFill>
                        <a:srgbClr val="DCDCDC"/>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365760">
                <a:tc>
                  <a:txBody>
                    <a:bodyPr/>
                    <a:lstStyle/>
                    <a:p>
                      <a:pPr marL="0" indent="0" algn="l">
                        <a:buNone/>
                      </a:pPr>
                      <a:r>
                        <a:rPr lang="en-US" sz="1150" dirty="0">
                          <a:solidFill>
                            <a:srgbClr val="444444"/>
                          </a:solidFill>
                          <a:latin typeface="Arial" pitchFamily="34" charset="0"/>
                          <a:ea typeface="Arial" pitchFamily="34" charset="-122"/>
                          <a:cs typeface="Arial" pitchFamily="34" charset="-120"/>
                        </a:rPr>
                        <a:t>full-7B</a:t>
                      </a:r>
                      <a:endParaRPr lang="en-US" sz="1150" dirty="0">
                        <a:latin typeface="Arial" charset="0"/>
                        <a:ea typeface="Arial" charset="0"/>
                        <a:cs typeface="Arial" charset="0"/>
                      </a:endParaRPr>
                    </a:p>
                  </a:txBody>
                  <a:tcPr marL="109728" marR="109728" marT="36576" marB="36576" anchor="ctr">
                    <a:lnL w="6350" cap="flat" cmpd="sng" algn="ctr">
                      <a:solidFill>
                        <a:srgbClr val="DCDCDC"/>
                      </a:solidFill>
                      <a:prstDash val="solid"/>
                      <a:round/>
                      <a:headEnd type="none" w="med" len="med"/>
                      <a:tailEnd type="none" w="med" len="med"/>
                    </a:lnL>
                    <a:lnR w="6350" cap="flat" cmpd="sng" algn="ctr">
                      <a:solidFill>
                        <a:srgbClr val="DCDCDC"/>
                      </a:solidFill>
                      <a:prstDash val="solid"/>
                      <a:round/>
                      <a:headEnd type="none" w="med" len="med"/>
                      <a:tailEnd type="none" w="med" len="med"/>
                    </a:lnR>
                    <a:lnT w="6350" cap="flat" cmpd="sng" algn="ctr">
                      <a:solidFill>
                        <a:srgbClr val="DCDCDC"/>
                      </a:solidFill>
                      <a:prstDash val="solid"/>
                      <a:round/>
                      <a:headEnd type="none" w="med" len="med"/>
                      <a:tailEnd type="none" w="med" len="med"/>
                    </a:lnT>
                    <a:lnB w="6350" cap="flat" cmpd="sng" algn="ctr">
                      <a:solidFill>
                        <a:srgbClr val="DCDCDC"/>
                      </a:solidFill>
                      <a:prstDash val="solid"/>
                      <a:round/>
                      <a:headEnd type="none" w="med" len="med"/>
                      <a:tailEnd type="none" w="med" len="med"/>
                    </a:lnB>
                    <a:solidFill>
                      <a:srgbClr val="FFFFFF"/>
                    </a:solidFill>
                  </a:tcPr>
                </a:tc>
                <a:tc>
                  <a:txBody>
                    <a:bodyPr/>
                    <a:lstStyle/>
                    <a:p>
                      <a:pPr marL="0" indent="0" algn="r">
                        <a:buNone/>
                      </a:pPr>
                      <a:r>
                        <a:rPr lang="en-US" sz="1150" dirty="0">
                          <a:solidFill>
                            <a:srgbClr val="444444"/>
                          </a:solidFill>
                          <a:latin typeface="Arial" pitchFamily="34" charset="0"/>
                          <a:ea typeface="Arial" pitchFamily="34" charset="-122"/>
                          <a:cs typeface="Arial" pitchFamily="34" charset="-120"/>
                        </a:rPr>
                        <a:t>majority</a:t>
                      </a:r>
                      <a:endParaRPr lang="en-US" sz="1150" dirty="0">
                        <a:latin typeface="Arial" charset="0"/>
                        <a:ea typeface="Arial" charset="0"/>
                        <a:cs typeface="Arial" charset="0"/>
                      </a:endParaRPr>
                    </a:p>
                  </a:txBody>
                  <a:tcPr marL="109728" marR="109728" marT="36576" marB="36576" anchor="ctr">
                    <a:lnL w="6350" cap="flat" cmpd="sng" algn="ctr">
                      <a:solidFill>
                        <a:srgbClr val="DCDCDC"/>
                      </a:solidFill>
                      <a:prstDash val="solid"/>
                      <a:round/>
                      <a:headEnd type="none" w="med" len="med"/>
                      <a:tailEnd type="none" w="med" len="med"/>
                    </a:lnL>
                    <a:lnR w="6350" cap="flat" cmpd="sng" algn="ctr">
                      <a:solidFill>
                        <a:srgbClr val="DCDCDC"/>
                      </a:solidFill>
                      <a:prstDash val="solid"/>
                      <a:round/>
                      <a:headEnd type="none" w="med" len="med"/>
                      <a:tailEnd type="none" w="med" len="med"/>
                    </a:lnR>
                    <a:lnT w="6350" cap="flat" cmpd="sng" algn="ctr">
                      <a:solidFill>
                        <a:srgbClr val="DCDCDC"/>
                      </a:solidFill>
                      <a:prstDash val="solid"/>
                      <a:round/>
                      <a:headEnd type="none" w="med" len="med"/>
                      <a:tailEnd type="none" w="med" len="med"/>
                    </a:lnT>
                    <a:lnB w="6350" cap="flat" cmpd="sng" algn="ctr">
                      <a:solidFill>
                        <a:srgbClr val="DCDCDC"/>
                      </a:solidFill>
                      <a:prstDash val="solid"/>
                      <a:round/>
                      <a:headEnd type="none" w="med" len="med"/>
                      <a:tailEnd type="none" w="med" len="med"/>
                    </a:lnB>
                    <a:solidFill>
                      <a:srgbClr val="FFFFFF"/>
                    </a:solidFill>
                  </a:tcPr>
                </a:tc>
                <a:tc>
                  <a:txBody>
                    <a:bodyPr/>
                    <a:lstStyle/>
                    <a:p>
                      <a:pPr marL="0" indent="0" algn="r">
                        <a:buNone/>
                      </a:pPr>
                      <a:r>
                        <a:rPr lang="en-US" sz="1150" dirty="0">
                          <a:solidFill>
                            <a:srgbClr val="444444"/>
                          </a:solidFill>
                          <a:latin typeface="Arial" pitchFamily="34" charset="0"/>
                          <a:ea typeface="Arial" pitchFamily="34" charset="-122"/>
                          <a:cs typeface="Arial" pitchFamily="34" charset="-120"/>
                        </a:rPr>
                        <a:t>0.287</a:t>
                      </a:r>
                      <a:endParaRPr lang="en-US" sz="1150" dirty="0">
                        <a:latin typeface="Arial" charset="0"/>
                        <a:ea typeface="Arial" charset="0"/>
                        <a:cs typeface="Arial" charset="0"/>
                      </a:endParaRPr>
                    </a:p>
                  </a:txBody>
                  <a:tcPr marL="109728" marR="109728" marT="36576" marB="36576" anchor="ctr">
                    <a:lnL w="6350" cap="flat" cmpd="sng" algn="ctr">
                      <a:solidFill>
                        <a:srgbClr val="DCDCDC"/>
                      </a:solidFill>
                      <a:prstDash val="solid"/>
                      <a:round/>
                      <a:headEnd type="none" w="med" len="med"/>
                      <a:tailEnd type="none" w="med" len="med"/>
                    </a:lnL>
                    <a:lnR w="6350" cap="flat" cmpd="sng" algn="ctr">
                      <a:solidFill>
                        <a:srgbClr val="DCDCDC"/>
                      </a:solidFill>
                      <a:prstDash val="solid"/>
                      <a:round/>
                      <a:headEnd type="none" w="med" len="med"/>
                      <a:tailEnd type="none" w="med" len="med"/>
                    </a:lnR>
                    <a:lnT w="6350" cap="flat" cmpd="sng" algn="ctr">
                      <a:solidFill>
                        <a:srgbClr val="DCDCDC"/>
                      </a:solidFill>
                      <a:prstDash val="solid"/>
                      <a:round/>
                      <a:headEnd type="none" w="med" len="med"/>
                      <a:tailEnd type="none" w="med" len="med"/>
                    </a:lnT>
                    <a:lnB w="6350" cap="flat" cmpd="sng" algn="ctr">
                      <a:solidFill>
                        <a:srgbClr val="DCDCDC"/>
                      </a:solidFill>
                      <a:prstDash val="solid"/>
                      <a:round/>
                      <a:headEnd type="none" w="med" len="med"/>
                      <a:tailEnd type="none" w="med" len="med"/>
                    </a:lnB>
                    <a:solidFill>
                      <a:srgbClr val="FFFFFF"/>
                    </a:solidFill>
                  </a:tcPr>
                </a:tc>
                <a:tc>
                  <a:txBody>
                    <a:bodyPr/>
                    <a:lstStyle/>
                    <a:p>
                      <a:pPr marL="0" indent="0" algn="r">
                        <a:buNone/>
                      </a:pPr>
                      <a:r>
                        <a:rPr lang="en-US" sz="1150" b="1" dirty="0">
                          <a:solidFill>
                            <a:srgbClr val="E90802"/>
                          </a:solidFill>
                          <a:latin typeface="Arial" pitchFamily="34" charset="0"/>
                          <a:ea typeface="Arial" pitchFamily="34" charset="-122"/>
                          <a:cs typeface="Arial" pitchFamily="34" charset="-120"/>
                        </a:rPr>
                        <a:t>0.4985</a:t>
                      </a:r>
                      <a:endParaRPr lang="en-US" sz="1150" dirty="0">
                        <a:latin typeface="Arial" charset="0"/>
                        <a:ea typeface="Arial" charset="0"/>
                        <a:cs typeface="Arial" charset="0"/>
                      </a:endParaRPr>
                    </a:p>
                  </a:txBody>
                  <a:tcPr marL="109728" marR="109728" marT="36576" marB="36576" anchor="ctr">
                    <a:lnL w="6350" cap="flat" cmpd="sng" algn="ctr">
                      <a:solidFill>
                        <a:srgbClr val="DCDCDC"/>
                      </a:solidFill>
                      <a:prstDash val="solid"/>
                      <a:round/>
                      <a:headEnd type="none" w="med" len="med"/>
                      <a:tailEnd type="none" w="med" len="med"/>
                    </a:lnL>
                    <a:lnR w="6350" cap="flat" cmpd="sng" algn="ctr">
                      <a:solidFill>
                        <a:srgbClr val="DCDCDC"/>
                      </a:solidFill>
                      <a:prstDash val="solid"/>
                      <a:round/>
                      <a:headEnd type="none" w="med" len="med"/>
                      <a:tailEnd type="none" w="med" len="med"/>
                    </a:lnR>
                    <a:lnT w="6350" cap="flat" cmpd="sng" algn="ctr">
                      <a:solidFill>
                        <a:srgbClr val="DCDCDC"/>
                      </a:solidFill>
                      <a:prstDash val="solid"/>
                      <a:round/>
                      <a:headEnd type="none" w="med" len="med"/>
                      <a:tailEnd type="none" w="med" len="med"/>
                    </a:lnT>
                    <a:lnB w="6350" cap="flat" cmpd="sng" algn="ctr">
                      <a:solidFill>
                        <a:srgbClr val="DCDCDC"/>
                      </a:solidFill>
                      <a:prstDash val="solid"/>
                      <a:round/>
                      <a:headEnd type="none" w="med" len="med"/>
                      <a:tailEnd type="none" w="med" len="med"/>
                    </a:lnB>
                    <a:solidFill>
                      <a:srgbClr val="FFFFFF"/>
                    </a:solidFill>
                  </a:tcPr>
                </a:tc>
                <a:tc>
                  <a:txBody>
                    <a:bodyPr/>
                    <a:lstStyle/>
                    <a:p>
                      <a:pPr marL="0" indent="0" algn="r">
                        <a:buNone/>
                      </a:pPr>
                      <a:r>
                        <a:rPr lang="en-US" sz="1150" dirty="0">
                          <a:solidFill>
                            <a:srgbClr val="444444"/>
                          </a:solidFill>
                          <a:latin typeface="Arial" pitchFamily="34" charset="0"/>
                          <a:ea typeface="Arial" pitchFamily="34" charset="-122"/>
                          <a:cs typeface="Arial" pitchFamily="34" charset="-120"/>
                        </a:rPr>
                        <a:t>0.360</a:t>
                      </a:r>
                      <a:endParaRPr lang="en-US" sz="1150" dirty="0">
                        <a:latin typeface="Arial" charset="0"/>
                        <a:ea typeface="Arial" charset="0"/>
                        <a:cs typeface="Arial" charset="0"/>
                      </a:endParaRPr>
                    </a:p>
                  </a:txBody>
                  <a:tcPr marL="109728" marR="109728" marT="36576" marB="36576" anchor="ctr">
                    <a:lnL w="6350" cap="flat" cmpd="sng" algn="ctr">
                      <a:solidFill>
                        <a:srgbClr val="DCDCDC"/>
                      </a:solidFill>
                      <a:prstDash val="solid"/>
                      <a:round/>
                      <a:headEnd type="none" w="med" len="med"/>
                      <a:tailEnd type="none" w="med" len="med"/>
                    </a:lnL>
                    <a:lnR w="6350" cap="flat" cmpd="sng" algn="ctr">
                      <a:solidFill>
                        <a:srgbClr val="DCDCDC"/>
                      </a:solidFill>
                      <a:prstDash val="solid"/>
                      <a:round/>
                      <a:headEnd type="none" w="med" len="med"/>
                      <a:tailEnd type="none" w="med" len="med"/>
                    </a:lnR>
                    <a:lnT w="6350" cap="flat" cmpd="sng" algn="ctr">
                      <a:solidFill>
                        <a:srgbClr val="DCDCDC"/>
                      </a:solidFill>
                      <a:prstDash val="solid"/>
                      <a:round/>
                      <a:headEnd type="none" w="med" len="med"/>
                      <a:tailEnd type="none" w="med" len="med"/>
                    </a:lnT>
                    <a:lnB w="6350" cap="flat" cmpd="sng" algn="ctr">
                      <a:solidFill>
                        <a:srgbClr val="DCDCDC"/>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bl>
          </a:graphicData>
        </a:graphic>
      </p:graphicFrame>
      <p:sp>
        <p:nvSpPr>
          <p:cNvPr id="7" name="held"/>
          <p:cNvSpPr/>
          <p:nvPr/>
        </p:nvSpPr>
        <p:spPr>
          <a:xfrm>
            <a:off x="6217920" y="1600200"/>
            <a:ext cx="5394960" cy="1188720"/>
          </a:xfrm>
          <a:prstGeom prst="rect">
            <a:avLst/>
          </a:prstGeom>
          <a:solidFill>
            <a:srgbClr val="FFFFFF"/>
          </a:solidFill>
          <a:ln w="9525">
            <a:solidFill>
              <a:srgbClr val="DCDCDC"/>
            </a:solidFill>
            <a:prstDash val="solid"/>
          </a:ln>
        </p:spPr>
        <p:txBody>
          <a:bodyPr/>
          <a:lstStyle/>
          <a:p>
            <a:endParaRPr lang="en-IN"/>
          </a:p>
        </p:txBody>
      </p:sp>
      <p:sp>
        <p:nvSpPr>
          <p:cNvPr id="8" name="held-edge"/>
          <p:cNvSpPr/>
          <p:nvPr/>
        </p:nvSpPr>
        <p:spPr>
          <a:xfrm>
            <a:off x="6217920" y="1600200"/>
            <a:ext cx="29261" cy="1188720"/>
          </a:xfrm>
          <a:prstGeom prst="rect">
            <a:avLst/>
          </a:prstGeom>
          <a:solidFill>
            <a:srgbClr val="E90802"/>
          </a:solidFill>
          <a:ln w="3175">
            <a:solidFill>
              <a:srgbClr val="E90802"/>
            </a:solidFill>
            <a:prstDash val="solid"/>
          </a:ln>
        </p:spPr>
        <p:txBody>
          <a:bodyPr/>
          <a:lstStyle/>
          <a:p>
            <a:endParaRPr lang="en-IN"/>
          </a:p>
        </p:txBody>
      </p:sp>
      <p:sp>
        <p:nvSpPr>
          <p:cNvPr id="9" name="held-h"/>
          <p:cNvSpPr txBox="1"/>
          <p:nvPr/>
        </p:nvSpPr>
        <p:spPr>
          <a:xfrm>
            <a:off x="6473952" y="1801368"/>
            <a:ext cx="4882896" cy="292608"/>
          </a:xfrm>
          <a:prstGeom prst="rect">
            <a:avLst/>
          </a:prstGeom>
          <a:noFill/>
          <a:ln/>
        </p:spPr>
        <p:txBody>
          <a:bodyPr wrap="square" lIns="0" tIns="0" rIns="0" bIns="0" rtlCol="0" anchor="ctr"/>
          <a:lstStyle/>
          <a:p>
            <a:pPr marL="0" indent="0">
              <a:buNone/>
            </a:pPr>
            <a:r>
              <a:rPr lang="en-US" sz="1350" b="1" dirty="0">
                <a:solidFill>
                  <a:srgbClr val="E90802"/>
                </a:solidFill>
              </a:rPr>
              <a:t>Held — majority beats union on precision</a:t>
            </a:r>
            <a:endParaRPr lang="en-US" sz="1350" dirty="0"/>
          </a:p>
        </p:txBody>
      </p:sp>
      <p:sp>
        <p:nvSpPr>
          <p:cNvPr id="10" name="held-b"/>
          <p:cNvSpPr txBox="1"/>
          <p:nvPr/>
        </p:nvSpPr>
        <p:spPr>
          <a:xfrm>
            <a:off x="6473952" y="2203704"/>
            <a:ext cx="4882896" cy="420624"/>
          </a:xfrm>
          <a:prstGeom prst="rect">
            <a:avLst/>
          </a:prstGeom>
          <a:noFill/>
          <a:ln/>
        </p:spPr>
        <p:txBody>
          <a:bodyPr wrap="square" lIns="0" tIns="0" rIns="0" bIns="0" rtlCol="0" anchor="t"/>
          <a:lstStyle/>
          <a:p>
            <a:pPr marL="0" indent="0">
              <a:lnSpc>
                <a:spcPct val="125000"/>
              </a:lnSpc>
              <a:buNone/>
            </a:pPr>
            <a:r>
              <a:rPr lang="en-US" sz="1200" dirty="0">
                <a:solidFill>
                  <a:srgbClr val="444444"/>
                </a:solidFill>
                <a:latin typeface="Arial" pitchFamily="34" charset="0"/>
                <a:ea typeface="Arial" pitchFamily="34" charset="-122"/>
                <a:cs typeface="Arial" pitchFamily="34" charset="-120"/>
              </a:rPr>
              <a:t>In all three configurations, at every model size. The paper's recall-first union rule costs precision it does not need to.</a:t>
            </a:r>
            <a:endParaRPr lang="en-US" sz="1200" dirty="0"/>
          </a:p>
        </p:txBody>
      </p:sp>
      <p:sp>
        <p:nvSpPr>
          <p:cNvPr id="11" name="broke"/>
          <p:cNvSpPr/>
          <p:nvPr/>
        </p:nvSpPr>
        <p:spPr>
          <a:xfrm>
            <a:off x="6217920" y="2926080"/>
            <a:ext cx="5394960" cy="1188720"/>
          </a:xfrm>
          <a:prstGeom prst="rect">
            <a:avLst/>
          </a:prstGeom>
          <a:solidFill>
            <a:srgbClr val="FFFFFF"/>
          </a:solidFill>
          <a:ln w="9525">
            <a:solidFill>
              <a:srgbClr val="DCDCDC"/>
            </a:solidFill>
            <a:prstDash val="solid"/>
          </a:ln>
        </p:spPr>
        <p:txBody>
          <a:bodyPr/>
          <a:lstStyle/>
          <a:p>
            <a:endParaRPr lang="en-IN"/>
          </a:p>
        </p:txBody>
      </p:sp>
      <p:sp>
        <p:nvSpPr>
          <p:cNvPr id="12" name="broke-h"/>
          <p:cNvSpPr txBox="1"/>
          <p:nvPr/>
        </p:nvSpPr>
        <p:spPr>
          <a:xfrm>
            <a:off x="6473952" y="3127248"/>
            <a:ext cx="4882896" cy="292608"/>
          </a:xfrm>
          <a:prstGeom prst="rect">
            <a:avLst/>
          </a:prstGeom>
          <a:noFill/>
          <a:ln/>
        </p:spPr>
        <p:txBody>
          <a:bodyPr wrap="square" lIns="0" tIns="0" rIns="0" bIns="0" rtlCol="0" anchor="ctr"/>
          <a:lstStyle/>
          <a:p>
            <a:pPr marL="0" indent="0">
              <a:buNone/>
            </a:pPr>
            <a:r>
              <a:rPr lang="en-US" sz="1350" b="1" dirty="0">
                <a:solidFill>
                  <a:srgbClr val="1A1A1A"/>
                </a:solidFill>
              </a:rPr>
              <a:t>Broke — the 60% incomplete-rate gap</a:t>
            </a:r>
            <a:endParaRPr lang="en-US" sz="1350" dirty="0"/>
          </a:p>
        </p:txBody>
      </p:sp>
      <p:sp>
        <p:nvSpPr>
          <p:cNvPr id="6" name="broke-b"/>
          <p:cNvSpPr txBox="1"/>
          <p:nvPr/>
        </p:nvSpPr>
        <p:spPr>
          <a:xfrm>
            <a:off x="6473952" y="3529584"/>
            <a:ext cx="4882896" cy="420624"/>
          </a:xfrm>
          <a:prstGeom prst="rect">
            <a:avLst/>
          </a:prstGeom>
          <a:noFill/>
          <a:ln/>
        </p:spPr>
        <p:txBody>
          <a:bodyPr wrap="square" lIns="0" tIns="0" rIns="0" bIns="0" rtlCol="0" anchor="t"/>
          <a:lstStyle/>
          <a:p>
            <a:pPr marL="0" indent="0">
              <a:lnSpc>
                <a:spcPct val="125000"/>
              </a:lnSpc>
              <a:buNone/>
            </a:pPr>
            <a:r>
              <a:rPr lang="en-US" sz="1200" dirty="0">
                <a:solidFill>
                  <a:srgbClr val="444444"/>
                </a:solidFill>
                <a:latin typeface="Arial" pitchFamily="34" charset="0"/>
                <a:ea typeface="Arial" pitchFamily="34" charset="-122"/>
                <a:cs typeface="Arial" pitchFamily="34" charset="-120"/>
              </a:rPr>
              <a:t>A 3B artifact. With 7–8B judges the two rules are within 4% (0.393 vs 0.411); with a 7B extractor they are identical.</a:t>
            </a:r>
            <a:endParaRPr lang="en-US" sz="1200" dirty="0"/>
          </a:p>
        </p:txBody>
      </p:sp>
      <p:graphicFrame>
        <p:nvGraphicFramePr>
          <p:cNvPr id="25" name="judges"/>
          <p:cNvGraphicFramePr>
            <a:graphicFrameLocks noGrp="1"/>
          </p:cNvGraphicFramePr>
          <p:nvPr>
            <p:extLst>
              <p:ext uri="{D42A27DB-BD31-4B8C-83A1-F6EECF244321}">
                <p14:modId xmlns:p14="http://schemas.microsoft.com/office/powerpoint/2010/main" val="1579011935"/>
              </p:ext>
            </p:extLst>
          </p:nvPr>
        </p:nvGraphicFramePr>
        <p:xfrm>
          <a:off x="548640" y="4434840"/>
          <a:ext cx="11064240" cy="1554480"/>
        </p:xfrm>
        <a:graphic>
          <a:graphicData uri="http://schemas.openxmlformats.org/drawingml/2006/table">
            <a:tbl>
              <a:tblPr/>
              <a:tblGrid>
                <a:gridCol w="2834640">
                  <a:extLst>
                    <a:ext uri="{9D8B030D-6E8A-4147-A177-3AD203B41FA5}">
                      <a16:colId xmlns:a16="http://schemas.microsoft.com/office/drawing/2014/main" val="20000"/>
                    </a:ext>
                  </a:extLst>
                </a:gridCol>
                <a:gridCol w="2103120">
                  <a:extLst>
                    <a:ext uri="{9D8B030D-6E8A-4147-A177-3AD203B41FA5}">
                      <a16:colId xmlns:a16="http://schemas.microsoft.com/office/drawing/2014/main" val="20001"/>
                    </a:ext>
                  </a:extLst>
                </a:gridCol>
                <a:gridCol w="2103120">
                  <a:extLst>
                    <a:ext uri="{9D8B030D-6E8A-4147-A177-3AD203B41FA5}">
                      <a16:colId xmlns:a16="http://schemas.microsoft.com/office/drawing/2014/main" val="20002"/>
                    </a:ext>
                  </a:extLst>
                </a:gridCol>
                <a:gridCol w="2011680">
                  <a:extLst>
                    <a:ext uri="{9D8B030D-6E8A-4147-A177-3AD203B41FA5}">
                      <a16:colId xmlns:a16="http://schemas.microsoft.com/office/drawing/2014/main" val="20003"/>
                    </a:ext>
                  </a:extLst>
                </a:gridCol>
                <a:gridCol w="2011680">
                  <a:extLst>
                    <a:ext uri="{9D8B030D-6E8A-4147-A177-3AD203B41FA5}">
                      <a16:colId xmlns:a16="http://schemas.microsoft.com/office/drawing/2014/main" val="20004"/>
                    </a:ext>
                  </a:extLst>
                </a:gridCol>
              </a:tblGrid>
              <a:tr h="310896">
                <a:tc>
                  <a:txBody>
                    <a:bodyPr/>
                    <a:lstStyle/>
                    <a:p>
                      <a:pPr marL="0" indent="0" algn="l">
                        <a:buNone/>
                      </a:pPr>
                      <a:r>
                        <a:rPr lang="en-US" sz="1150" b="1" dirty="0">
                          <a:solidFill>
                            <a:srgbClr val="1A1A1A"/>
                          </a:solidFill>
                          <a:latin typeface="Arial" pitchFamily="34" charset="0"/>
                          <a:ea typeface="Arial" pitchFamily="34" charset="-122"/>
                          <a:cs typeface="Arial" pitchFamily="34" charset="-120"/>
                        </a:rPr>
                        <a:t>Facts flagged</a:t>
                      </a:r>
                      <a:endParaRPr lang="en-US" sz="1150" dirty="0">
                        <a:latin typeface="Arial" charset="0"/>
                        <a:ea typeface="Arial" charset="0"/>
                        <a:cs typeface="Arial" charset="0"/>
                      </a:endParaRPr>
                    </a:p>
                  </a:txBody>
                  <a:tcPr marL="109728" marR="109728" marT="36576" marB="36576" anchor="ctr">
                    <a:lnL w="6350" cap="flat" cmpd="sng" algn="ctr">
                      <a:solidFill>
                        <a:srgbClr val="DCDCDC"/>
                      </a:solidFill>
                      <a:prstDash val="solid"/>
                      <a:round/>
                      <a:headEnd type="none" w="med" len="med"/>
                      <a:tailEnd type="none" w="med" len="med"/>
                    </a:lnL>
                    <a:lnR w="6350" cap="flat" cmpd="sng" algn="ctr">
                      <a:solidFill>
                        <a:srgbClr val="DCDCDC"/>
                      </a:solidFill>
                      <a:prstDash val="solid"/>
                      <a:round/>
                      <a:headEnd type="none" w="med" len="med"/>
                      <a:tailEnd type="none" w="med" len="med"/>
                    </a:lnR>
                    <a:lnT w="6350" cap="flat" cmpd="sng" algn="ctr">
                      <a:solidFill>
                        <a:srgbClr val="DCDCDC"/>
                      </a:solidFill>
                      <a:prstDash val="solid"/>
                      <a:round/>
                      <a:headEnd type="none" w="med" len="med"/>
                      <a:tailEnd type="none" w="med" len="med"/>
                    </a:lnT>
                    <a:lnB w="6350" cap="flat" cmpd="sng" algn="ctr">
                      <a:solidFill>
                        <a:srgbClr val="DCDCDC"/>
                      </a:solidFill>
                      <a:prstDash val="solid"/>
                      <a:round/>
                      <a:headEnd type="none" w="med" len="med"/>
                      <a:tailEnd type="none" w="med" len="med"/>
                    </a:lnB>
                    <a:solidFill>
                      <a:srgbClr val="F4F4F4"/>
                    </a:solidFill>
                  </a:tcPr>
                </a:tc>
                <a:tc>
                  <a:txBody>
                    <a:bodyPr/>
                    <a:lstStyle/>
                    <a:p>
                      <a:pPr marL="0" indent="0" algn="l">
                        <a:buNone/>
                      </a:pPr>
                      <a:r>
                        <a:rPr lang="en-US" sz="1150" b="1" dirty="0">
                          <a:solidFill>
                            <a:srgbClr val="1A1A1A"/>
                          </a:solidFill>
                          <a:latin typeface="Arial" pitchFamily="34" charset="0"/>
                          <a:ea typeface="Arial" pitchFamily="34" charset="-122"/>
                          <a:cs typeface="Arial" pitchFamily="34" charset="-120"/>
                        </a:rPr>
                        <a:t>Qwen</a:t>
                      </a:r>
                      <a:endParaRPr lang="en-US" sz="1150" dirty="0">
                        <a:latin typeface="Arial" charset="0"/>
                        <a:ea typeface="Arial" charset="0"/>
                        <a:cs typeface="Arial" charset="0"/>
                      </a:endParaRPr>
                    </a:p>
                  </a:txBody>
                  <a:tcPr marL="109728" marR="109728" marT="36576" marB="36576" anchor="ctr">
                    <a:lnL w="6350" cap="flat" cmpd="sng" algn="ctr">
                      <a:solidFill>
                        <a:srgbClr val="DCDCDC"/>
                      </a:solidFill>
                      <a:prstDash val="solid"/>
                      <a:round/>
                      <a:headEnd type="none" w="med" len="med"/>
                      <a:tailEnd type="none" w="med" len="med"/>
                    </a:lnL>
                    <a:lnR w="6350" cap="flat" cmpd="sng" algn="ctr">
                      <a:solidFill>
                        <a:srgbClr val="DCDCDC"/>
                      </a:solidFill>
                      <a:prstDash val="solid"/>
                      <a:round/>
                      <a:headEnd type="none" w="med" len="med"/>
                      <a:tailEnd type="none" w="med" len="med"/>
                    </a:lnR>
                    <a:lnT w="6350" cap="flat" cmpd="sng" algn="ctr">
                      <a:solidFill>
                        <a:srgbClr val="DCDCDC"/>
                      </a:solidFill>
                      <a:prstDash val="solid"/>
                      <a:round/>
                      <a:headEnd type="none" w="med" len="med"/>
                      <a:tailEnd type="none" w="med" len="med"/>
                    </a:lnT>
                    <a:lnB w="6350" cap="flat" cmpd="sng" algn="ctr">
                      <a:solidFill>
                        <a:srgbClr val="DCDCDC"/>
                      </a:solidFill>
                      <a:prstDash val="solid"/>
                      <a:round/>
                      <a:headEnd type="none" w="med" len="med"/>
                      <a:tailEnd type="none" w="med" len="med"/>
                    </a:lnB>
                    <a:solidFill>
                      <a:srgbClr val="F4F4F4"/>
                    </a:solidFill>
                  </a:tcPr>
                </a:tc>
                <a:tc>
                  <a:txBody>
                    <a:bodyPr/>
                    <a:lstStyle/>
                    <a:p>
                      <a:pPr marL="0" indent="0" algn="l">
                        <a:buNone/>
                      </a:pPr>
                      <a:r>
                        <a:rPr lang="en-US" sz="1150" b="1" dirty="0">
                          <a:solidFill>
                            <a:srgbClr val="1A1A1A"/>
                          </a:solidFill>
                          <a:latin typeface="Arial" pitchFamily="34" charset="0"/>
                          <a:ea typeface="Arial" pitchFamily="34" charset="-122"/>
                          <a:cs typeface="Arial" pitchFamily="34" charset="-120"/>
                        </a:rPr>
                        <a:t>Llama</a:t>
                      </a:r>
                      <a:endParaRPr lang="en-US" sz="1150" dirty="0">
                        <a:latin typeface="Arial" charset="0"/>
                        <a:ea typeface="Arial" charset="0"/>
                        <a:cs typeface="Arial" charset="0"/>
                      </a:endParaRPr>
                    </a:p>
                  </a:txBody>
                  <a:tcPr marL="109728" marR="109728" marT="36576" marB="36576" anchor="ctr">
                    <a:lnL w="6350" cap="flat" cmpd="sng" algn="ctr">
                      <a:solidFill>
                        <a:srgbClr val="DCDCDC"/>
                      </a:solidFill>
                      <a:prstDash val="solid"/>
                      <a:round/>
                      <a:headEnd type="none" w="med" len="med"/>
                      <a:tailEnd type="none" w="med" len="med"/>
                    </a:lnL>
                    <a:lnR w="6350" cap="flat" cmpd="sng" algn="ctr">
                      <a:solidFill>
                        <a:srgbClr val="DCDCDC"/>
                      </a:solidFill>
                      <a:prstDash val="solid"/>
                      <a:round/>
                      <a:headEnd type="none" w="med" len="med"/>
                      <a:tailEnd type="none" w="med" len="med"/>
                    </a:lnR>
                    <a:lnT w="6350" cap="flat" cmpd="sng" algn="ctr">
                      <a:solidFill>
                        <a:srgbClr val="DCDCDC"/>
                      </a:solidFill>
                      <a:prstDash val="solid"/>
                      <a:round/>
                      <a:headEnd type="none" w="med" len="med"/>
                      <a:tailEnd type="none" w="med" len="med"/>
                    </a:lnT>
                    <a:lnB w="6350" cap="flat" cmpd="sng" algn="ctr">
                      <a:solidFill>
                        <a:srgbClr val="DCDCDC"/>
                      </a:solidFill>
                      <a:prstDash val="solid"/>
                      <a:round/>
                      <a:headEnd type="none" w="med" len="med"/>
                      <a:tailEnd type="none" w="med" len="med"/>
                    </a:lnB>
                    <a:solidFill>
                      <a:srgbClr val="F4F4F4"/>
                    </a:solidFill>
                  </a:tcPr>
                </a:tc>
                <a:tc>
                  <a:txBody>
                    <a:bodyPr/>
                    <a:lstStyle/>
                    <a:p>
                      <a:pPr marL="0" indent="0" algn="l">
                        <a:buNone/>
                      </a:pPr>
                      <a:r>
                        <a:rPr lang="en-US" sz="1150" b="1" dirty="0">
                          <a:solidFill>
                            <a:srgbClr val="1A1A1A"/>
                          </a:solidFill>
                          <a:latin typeface="Arial" pitchFamily="34" charset="0"/>
                          <a:ea typeface="Arial" pitchFamily="34" charset="-122"/>
                          <a:cs typeface="Arial" pitchFamily="34" charset="-120"/>
                        </a:rPr>
                        <a:t>Ensemble</a:t>
                      </a:r>
                      <a:endParaRPr lang="en-US" sz="1150" dirty="0">
                        <a:latin typeface="Arial" charset="0"/>
                        <a:ea typeface="Arial" charset="0"/>
                        <a:cs typeface="Arial" charset="0"/>
                      </a:endParaRPr>
                    </a:p>
                  </a:txBody>
                  <a:tcPr marL="109728" marR="109728" marT="36576" marB="36576" anchor="ctr">
                    <a:lnL w="6350" cap="flat" cmpd="sng" algn="ctr">
                      <a:solidFill>
                        <a:srgbClr val="DCDCDC"/>
                      </a:solidFill>
                      <a:prstDash val="solid"/>
                      <a:round/>
                      <a:headEnd type="none" w="med" len="med"/>
                      <a:tailEnd type="none" w="med" len="med"/>
                    </a:lnL>
                    <a:lnR w="6350" cap="flat" cmpd="sng" algn="ctr">
                      <a:solidFill>
                        <a:srgbClr val="DCDCDC"/>
                      </a:solidFill>
                      <a:prstDash val="solid"/>
                      <a:round/>
                      <a:headEnd type="none" w="med" len="med"/>
                      <a:tailEnd type="none" w="med" len="med"/>
                    </a:lnR>
                    <a:lnT w="6350" cap="flat" cmpd="sng" algn="ctr">
                      <a:solidFill>
                        <a:srgbClr val="DCDCDC"/>
                      </a:solidFill>
                      <a:prstDash val="solid"/>
                      <a:round/>
                      <a:headEnd type="none" w="med" len="med"/>
                      <a:tailEnd type="none" w="med" len="med"/>
                    </a:lnT>
                    <a:lnB w="6350" cap="flat" cmpd="sng" algn="ctr">
                      <a:solidFill>
                        <a:srgbClr val="DCDCDC"/>
                      </a:solidFill>
                      <a:prstDash val="solid"/>
                      <a:round/>
                      <a:headEnd type="none" w="med" len="med"/>
                      <a:tailEnd type="none" w="med" len="med"/>
                    </a:lnB>
                    <a:solidFill>
                      <a:srgbClr val="F4F4F4"/>
                    </a:solidFill>
                  </a:tcPr>
                </a:tc>
                <a:tc>
                  <a:txBody>
                    <a:bodyPr/>
                    <a:lstStyle/>
                    <a:p>
                      <a:pPr marL="0" indent="0" algn="l">
                        <a:buNone/>
                      </a:pPr>
                      <a:r>
                        <a:rPr lang="en-US" sz="1150" b="1" dirty="0">
                          <a:solidFill>
                            <a:srgbClr val="1A1A1A"/>
                          </a:solidFill>
                          <a:latin typeface="Arial" pitchFamily="34" charset="0"/>
                          <a:ea typeface="Arial" pitchFamily="34" charset="-122"/>
                          <a:cs typeface="Arial" pitchFamily="34" charset="-120"/>
                        </a:rPr>
                        <a:t>Reading</a:t>
                      </a:r>
                      <a:endParaRPr lang="en-US" sz="1150" dirty="0">
                        <a:latin typeface="Arial" charset="0"/>
                        <a:ea typeface="Arial" charset="0"/>
                        <a:cs typeface="Arial" charset="0"/>
                      </a:endParaRPr>
                    </a:p>
                  </a:txBody>
                  <a:tcPr marL="109728" marR="109728" marT="36576" marB="36576" anchor="ctr">
                    <a:lnL w="6350" cap="flat" cmpd="sng" algn="ctr">
                      <a:solidFill>
                        <a:srgbClr val="DCDCDC"/>
                      </a:solidFill>
                      <a:prstDash val="solid"/>
                      <a:round/>
                      <a:headEnd type="none" w="med" len="med"/>
                      <a:tailEnd type="none" w="med" len="med"/>
                    </a:lnL>
                    <a:lnR w="6350" cap="flat" cmpd="sng" algn="ctr">
                      <a:solidFill>
                        <a:srgbClr val="DCDCDC"/>
                      </a:solidFill>
                      <a:prstDash val="solid"/>
                      <a:round/>
                      <a:headEnd type="none" w="med" len="med"/>
                      <a:tailEnd type="none" w="med" len="med"/>
                    </a:lnR>
                    <a:lnT w="6350" cap="flat" cmpd="sng" algn="ctr">
                      <a:solidFill>
                        <a:srgbClr val="DCDCDC"/>
                      </a:solidFill>
                      <a:prstDash val="solid"/>
                      <a:round/>
                      <a:headEnd type="none" w="med" len="med"/>
                      <a:tailEnd type="none" w="med" len="med"/>
                    </a:lnT>
                    <a:lnB w="6350" cap="flat" cmpd="sng" algn="ctr">
                      <a:solidFill>
                        <a:srgbClr val="DCDCDC"/>
                      </a:solidFill>
                      <a:prstDash val="solid"/>
                      <a:round/>
                      <a:headEnd type="none" w="med" len="med"/>
                      <a:tailEnd type="none" w="med" len="med"/>
                    </a:lnB>
                    <a:solidFill>
                      <a:srgbClr val="F4F4F4"/>
                    </a:solidFill>
                  </a:tcPr>
                </a:tc>
                <a:extLst>
                  <a:ext uri="{0D108BD9-81ED-4DB2-BD59-A6C34878D82A}">
                    <a16:rowId xmlns:a16="http://schemas.microsoft.com/office/drawing/2014/main" val="10000"/>
                  </a:ext>
                </a:extLst>
              </a:tr>
              <a:tr h="310896">
                <a:tc>
                  <a:txBody>
                    <a:bodyPr/>
                    <a:lstStyle/>
                    <a:p>
                      <a:pPr marL="0" indent="0" algn="l">
                        <a:buNone/>
                      </a:pPr>
                      <a:r>
                        <a:rPr lang="en-US" sz="1150" dirty="0">
                          <a:solidFill>
                            <a:srgbClr val="444444"/>
                          </a:solidFill>
                          <a:latin typeface="Arial" pitchFamily="34" charset="0"/>
                          <a:ea typeface="Arial" pitchFamily="34" charset="-122"/>
                          <a:cs typeface="Arial" pitchFamily="34" charset="-120"/>
                        </a:rPr>
                        <a:t>3B — incompleteness</a:t>
                      </a:r>
                      <a:endParaRPr lang="en-US" sz="1150" dirty="0">
                        <a:latin typeface="Arial" charset="0"/>
                        <a:ea typeface="Arial" charset="0"/>
                        <a:cs typeface="Arial" charset="0"/>
                      </a:endParaRPr>
                    </a:p>
                  </a:txBody>
                  <a:tcPr marL="109728" marR="109728" marT="36576" marB="36576" anchor="ctr">
                    <a:lnL w="6350" cap="flat" cmpd="sng" algn="ctr">
                      <a:solidFill>
                        <a:srgbClr val="DCDCDC"/>
                      </a:solidFill>
                      <a:prstDash val="solid"/>
                      <a:round/>
                      <a:headEnd type="none" w="med" len="med"/>
                      <a:tailEnd type="none" w="med" len="med"/>
                    </a:lnL>
                    <a:lnR w="6350" cap="flat" cmpd="sng" algn="ctr">
                      <a:solidFill>
                        <a:srgbClr val="DCDCDC"/>
                      </a:solidFill>
                      <a:prstDash val="solid"/>
                      <a:round/>
                      <a:headEnd type="none" w="med" len="med"/>
                      <a:tailEnd type="none" w="med" len="med"/>
                    </a:lnR>
                    <a:lnT w="6350" cap="flat" cmpd="sng" algn="ctr">
                      <a:solidFill>
                        <a:srgbClr val="DCDCDC"/>
                      </a:solidFill>
                      <a:prstDash val="solid"/>
                      <a:round/>
                      <a:headEnd type="none" w="med" len="med"/>
                      <a:tailEnd type="none" w="med" len="med"/>
                    </a:lnT>
                    <a:lnB w="6350" cap="flat" cmpd="sng" algn="ctr">
                      <a:solidFill>
                        <a:srgbClr val="DCDCDC"/>
                      </a:solidFill>
                      <a:prstDash val="solid"/>
                      <a:round/>
                      <a:headEnd type="none" w="med" len="med"/>
                      <a:tailEnd type="none" w="med" len="med"/>
                    </a:lnB>
                    <a:solidFill>
                      <a:srgbClr val="FFFFFF"/>
                    </a:solidFill>
                  </a:tcPr>
                </a:tc>
                <a:tc>
                  <a:txBody>
                    <a:bodyPr/>
                    <a:lstStyle/>
                    <a:p>
                      <a:pPr marL="0" indent="0" algn="l">
                        <a:buNone/>
                      </a:pPr>
                      <a:r>
                        <a:rPr lang="en-US" sz="1150" dirty="0">
                          <a:solidFill>
                            <a:srgbClr val="444444"/>
                          </a:solidFill>
                          <a:latin typeface="Arial" pitchFamily="34" charset="0"/>
                          <a:ea typeface="Arial" pitchFamily="34" charset="-122"/>
                          <a:cs typeface="Arial" pitchFamily="34" charset="-120"/>
                        </a:rPr>
                        <a:t>20</a:t>
                      </a:r>
                      <a:endParaRPr lang="en-US" sz="1150" dirty="0">
                        <a:latin typeface="Arial" charset="0"/>
                        <a:ea typeface="Arial" charset="0"/>
                        <a:cs typeface="Arial" charset="0"/>
                      </a:endParaRPr>
                    </a:p>
                  </a:txBody>
                  <a:tcPr marL="109728" marR="109728" marT="36576" marB="36576" anchor="ctr">
                    <a:lnL w="6350" cap="flat" cmpd="sng" algn="ctr">
                      <a:solidFill>
                        <a:srgbClr val="DCDCDC"/>
                      </a:solidFill>
                      <a:prstDash val="solid"/>
                      <a:round/>
                      <a:headEnd type="none" w="med" len="med"/>
                      <a:tailEnd type="none" w="med" len="med"/>
                    </a:lnL>
                    <a:lnR w="6350" cap="flat" cmpd="sng" algn="ctr">
                      <a:solidFill>
                        <a:srgbClr val="DCDCDC"/>
                      </a:solidFill>
                      <a:prstDash val="solid"/>
                      <a:round/>
                      <a:headEnd type="none" w="med" len="med"/>
                      <a:tailEnd type="none" w="med" len="med"/>
                    </a:lnR>
                    <a:lnT w="6350" cap="flat" cmpd="sng" algn="ctr">
                      <a:solidFill>
                        <a:srgbClr val="DCDCDC"/>
                      </a:solidFill>
                      <a:prstDash val="solid"/>
                      <a:round/>
                      <a:headEnd type="none" w="med" len="med"/>
                      <a:tailEnd type="none" w="med" len="med"/>
                    </a:lnT>
                    <a:lnB w="6350" cap="flat" cmpd="sng" algn="ctr">
                      <a:solidFill>
                        <a:srgbClr val="DCDCDC"/>
                      </a:solidFill>
                      <a:prstDash val="solid"/>
                      <a:round/>
                      <a:headEnd type="none" w="med" len="med"/>
                      <a:tailEnd type="none" w="med" len="med"/>
                    </a:lnB>
                    <a:solidFill>
                      <a:srgbClr val="FFFFFF"/>
                    </a:solidFill>
                  </a:tcPr>
                </a:tc>
                <a:tc>
                  <a:txBody>
                    <a:bodyPr/>
                    <a:lstStyle/>
                    <a:p>
                      <a:pPr marL="0" indent="0" algn="l">
                        <a:buNone/>
                      </a:pPr>
                      <a:r>
                        <a:rPr lang="en-US" sz="1150" dirty="0">
                          <a:solidFill>
                            <a:srgbClr val="444444"/>
                          </a:solidFill>
                          <a:latin typeface="Arial" pitchFamily="34" charset="0"/>
                          <a:ea typeface="Arial" pitchFamily="34" charset="-122"/>
                          <a:cs typeface="Arial" pitchFamily="34" charset="-120"/>
                        </a:rPr>
                        <a:t>34</a:t>
                      </a:r>
                      <a:endParaRPr lang="en-US" sz="1150" dirty="0">
                        <a:latin typeface="Arial" charset="0"/>
                        <a:ea typeface="Arial" charset="0"/>
                        <a:cs typeface="Arial" charset="0"/>
                      </a:endParaRPr>
                    </a:p>
                  </a:txBody>
                  <a:tcPr marL="109728" marR="109728" marT="36576" marB="36576" anchor="ctr">
                    <a:lnL w="6350" cap="flat" cmpd="sng" algn="ctr">
                      <a:solidFill>
                        <a:srgbClr val="DCDCDC"/>
                      </a:solidFill>
                      <a:prstDash val="solid"/>
                      <a:round/>
                      <a:headEnd type="none" w="med" len="med"/>
                      <a:tailEnd type="none" w="med" len="med"/>
                    </a:lnL>
                    <a:lnR w="6350" cap="flat" cmpd="sng" algn="ctr">
                      <a:solidFill>
                        <a:srgbClr val="DCDCDC"/>
                      </a:solidFill>
                      <a:prstDash val="solid"/>
                      <a:round/>
                      <a:headEnd type="none" w="med" len="med"/>
                      <a:tailEnd type="none" w="med" len="med"/>
                    </a:lnR>
                    <a:lnT w="6350" cap="flat" cmpd="sng" algn="ctr">
                      <a:solidFill>
                        <a:srgbClr val="DCDCDC"/>
                      </a:solidFill>
                      <a:prstDash val="solid"/>
                      <a:round/>
                      <a:headEnd type="none" w="med" len="med"/>
                      <a:tailEnd type="none" w="med" len="med"/>
                    </a:lnT>
                    <a:lnB w="6350" cap="flat" cmpd="sng" algn="ctr">
                      <a:solidFill>
                        <a:srgbClr val="DCDCDC"/>
                      </a:solidFill>
                      <a:prstDash val="solid"/>
                      <a:round/>
                      <a:headEnd type="none" w="med" len="med"/>
                      <a:tailEnd type="none" w="med" len="med"/>
                    </a:lnB>
                    <a:solidFill>
                      <a:srgbClr val="FFFFFF"/>
                    </a:solidFill>
                  </a:tcPr>
                </a:tc>
                <a:tc>
                  <a:txBody>
                    <a:bodyPr/>
                    <a:lstStyle/>
                    <a:p>
                      <a:pPr marL="0" indent="0" algn="l">
                        <a:buNone/>
                      </a:pPr>
                      <a:r>
                        <a:rPr lang="en-US" sz="1150" dirty="0">
                          <a:solidFill>
                            <a:srgbClr val="444444"/>
                          </a:solidFill>
                          <a:latin typeface="Arial" pitchFamily="34" charset="0"/>
                          <a:ea typeface="Arial" pitchFamily="34" charset="-122"/>
                          <a:cs typeface="Arial" pitchFamily="34" charset="-120"/>
                        </a:rPr>
                        <a:t>34</a:t>
                      </a:r>
                      <a:endParaRPr lang="en-US" sz="1150" dirty="0">
                        <a:latin typeface="Arial" charset="0"/>
                        <a:ea typeface="Arial" charset="0"/>
                        <a:cs typeface="Arial" charset="0"/>
                      </a:endParaRPr>
                    </a:p>
                  </a:txBody>
                  <a:tcPr marL="109728" marR="109728" marT="36576" marB="36576" anchor="ctr">
                    <a:lnL w="6350" cap="flat" cmpd="sng" algn="ctr">
                      <a:solidFill>
                        <a:srgbClr val="DCDCDC"/>
                      </a:solidFill>
                      <a:prstDash val="solid"/>
                      <a:round/>
                      <a:headEnd type="none" w="med" len="med"/>
                      <a:tailEnd type="none" w="med" len="med"/>
                    </a:lnL>
                    <a:lnR w="6350" cap="flat" cmpd="sng" algn="ctr">
                      <a:solidFill>
                        <a:srgbClr val="DCDCDC"/>
                      </a:solidFill>
                      <a:prstDash val="solid"/>
                      <a:round/>
                      <a:headEnd type="none" w="med" len="med"/>
                      <a:tailEnd type="none" w="med" len="med"/>
                    </a:lnR>
                    <a:lnT w="6350" cap="flat" cmpd="sng" algn="ctr">
                      <a:solidFill>
                        <a:srgbClr val="DCDCDC"/>
                      </a:solidFill>
                      <a:prstDash val="solid"/>
                      <a:round/>
                      <a:headEnd type="none" w="med" len="med"/>
                      <a:tailEnd type="none" w="med" len="med"/>
                    </a:lnT>
                    <a:lnB w="6350" cap="flat" cmpd="sng" algn="ctr">
                      <a:solidFill>
                        <a:srgbClr val="DCDCDC"/>
                      </a:solidFill>
                      <a:prstDash val="solid"/>
                      <a:round/>
                      <a:headEnd type="none" w="med" len="med"/>
                      <a:tailEnd type="none" w="med" len="med"/>
                    </a:lnB>
                    <a:solidFill>
                      <a:srgbClr val="FFFFFF"/>
                    </a:solidFill>
                  </a:tcPr>
                </a:tc>
                <a:tc>
                  <a:txBody>
                    <a:bodyPr/>
                    <a:lstStyle/>
                    <a:p>
                      <a:pPr marL="0" indent="0" algn="l">
                        <a:buNone/>
                      </a:pPr>
                      <a:r>
                        <a:rPr lang="en-US" sz="1150" dirty="0">
                          <a:solidFill>
                            <a:srgbClr val="444444"/>
                          </a:solidFill>
                          <a:latin typeface="Arial" pitchFamily="34" charset="0"/>
                          <a:ea typeface="Arial" pitchFamily="34" charset="-122"/>
                          <a:cs typeface="Arial" pitchFamily="34" charset="-120"/>
                        </a:rPr>
                        <a:t>ensemble = Llama</a:t>
                      </a:r>
                      <a:endParaRPr lang="en-US" sz="1150" dirty="0">
                        <a:latin typeface="Arial" charset="0"/>
                        <a:ea typeface="Arial" charset="0"/>
                        <a:cs typeface="Arial" charset="0"/>
                      </a:endParaRPr>
                    </a:p>
                  </a:txBody>
                  <a:tcPr marL="109728" marR="109728" marT="36576" marB="36576" anchor="ctr">
                    <a:lnL w="6350" cap="flat" cmpd="sng" algn="ctr">
                      <a:solidFill>
                        <a:srgbClr val="DCDCDC"/>
                      </a:solidFill>
                      <a:prstDash val="solid"/>
                      <a:round/>
                      <a:headEnd type="none" w="med" len="med"/>
                      <a:tailEnd type="none" w="med" len="med"/>
                    </a:lnL>
                    <a:lnR w="6350" cap="flat" cmpd="sng" algn="ctr">
                      <a:solidFill>
                        <a:srgbClr val="DCDCDC"/>
                      </a:solidFill>
                      <a:prstDash val="solid"/>
                      <a:round/>
                      <a:headEnd type="none" w="med" len="med"/>
                      <a:tailEnd type="none" w="med" len="med"/>
                    </a:lnR>
                    <a:lnT w="6350" cap="flat" cmpd="sng" algn="ctr">
                      <a:solidFill>
                        <a:srgbClr val="DCDCDC"/>
                      </a:solidFill>
                      <a:prstDash val="solid"/>
                      <a:round/>
                      <a:headEnd type="none" w="med" len="med"/>
                      <a:tailEnd type="none" w="med" len="med"/>
                    </a:lnT>
                    <a:lnB w="6350" cap="flat" cmpd="sng" algn="ctr">
                      <a:solidFill>
                        <a:srgbClr val="DCDCD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10896">
                <a:tc>
                  <a:txBody>
                    <a:bodyPr/>
                    <a:lstStyle/>
                    <a:p>
                      <a:pPr marL="0" indent="0" algn="l">
                        <a:buNone/>
                      </a:pPr>
                      <a:r>
                        <a:rPr lang="en-US" sz="1150" dirty="0">
                          <a:solidFill>
                            <a:srgbClr val="444444"/>
                          </a:solidFill>
                          <a:latin typeface="Arial" pitchFamily="34" charset="0"/>
                          <a:ea typeface="Arial" pitchFamily="34" charset="-122"/>
                          <a:cs typeface="Arial" pitchFamily="34" charset="-120"/>
                        </a:rPr>
                        <a:t>7–8B — incompleteness</a:t>
                      </a:r>
                      <a:endParaRPr lang="en-US" sz="1150" dirty="0">
                        <a:latin typeface="Arial" charset="0"/>
                        <a:ea typeface="Arial" charset="0"/>
                        <a:cs typeface="Arial" charset="0"/>
                      </a:endParaRPr>
                    </a:p>
                  </a:txBody>
                  <a:tcPr marL="109728" marR="109728" marT="36576" marB="36576" anchor="ctr">
                    <a:lnL w="6350" cap="flat" cmpd="sng" algn="ctr">
                      <a:solidFill>
                        <a:srgbClr val="DCDCDC"/>
                      </a:solidFill>
                      <a:prstDash val="solid"/>
                      <a:round/>
                      <a:headEnd type="none" w="med" len="med"/>
                      <a:tailEnd type="none" w="med" len="med"/>
                    </a:lnL>
                    <a:lnR w="6350" cap="flat" cmpd="sng" algn="ctr">
                      <a:solidFill>
                        <a:srgbClr val="DCDCDC"/>
                      </a:solidFill>
                      <a:prstDash val="solid"/>
                      <a:round/>
                      <a:headEnd type="none" w="med" len="med"/>
                      <a:tailEnd type="none" w="med" len="med"/>
                    </a:lnR>
                    <a:lnT w="6350" cap="flat" cmpd="sng" algn="ctr">
                      <a:solidFill>
                        <a:srgbClr val="DCDCDC"/>
                      </a:solidFill>
                      <a:prstDash val="solid"/>
                      <a:round/>
                      <a:headEnd type="none" w="med" len="med"/>
                      <a:tailEnd type="none" w="med" len="med"/>
                    </a:lnT>
                    <a:lnB w="6350" cap="flat" cmpd="sng" algn="ctr">
                      <a:solidFill>
                        <a:srgbClr val="DCDCDC"/>
                      </a:solidFill>
                      <a:prstDash val="solid"/>
                      <a:round/>
                      <a:headEnd type="none" w="med" len="med"/>
                      <a:tailEnd type="none" w="med" len="med"/>
                    </a:lnB>
                    <a:solidFill>
                      <a:srgbClr val="FFFFFF"/>
                    </a:solidFill>
                  </a:tcPr>
                </a:tc>
                <a:tc>
                  <a:txBody>
                    <a:bodyPr/>
                    <a:lstStyle/>
                    <a:p>
                      <a:pPr marL="0" indent="0" algn="l">
                        <a:buNone/>
                      </a:pPr>
                      <a:r>
                        <a:rPr lang="en-US" sz="1150" dirty="0">
                          <a:solidFill>
                            <a:srgbClr val="444444"/>
                          </a:solidFill>
                          <a:latin typeface="Arial" pitchFamily="34" charset="0"/>
                          <a:ea typeface="Arial" pitchFamily="34" charset="-122"/>
                          <a:cs typeface="Arial" pitchFamily="34" charset="-120"/>
                        </a:rPr>
                        <a:t>32</a:t>
                      </a:r>
                      <a:endParaRPr lang="en-US" sz="1150" dirty="0">
                        <a:latin typeface="Arial" charset="0"/>
                        <a:ea typeface="Arial" charset="0"/>
                        <a:cs typeface="Arial" charset="0"/>
                      </a:endParaRPr>
                    </a:p>
                  </a:txBody>
                  <a:tcPr marL="109728" marR="109728" marT="36576" marB="36576" anchor="ctr">
                    <a:lnL w="6350" cap="flat" cmpd="sng" algn="ctr">
                      <a:solidFill>
                        <a:srgbClr val="DCDCDC"/>
                      </a:solidFill>
                      <a:prstDash val="solid"/>
                      <a:round/>
                      <a:headEnd type="none" w="med" len="med"/>
                      <a:tailEnd type="none" w="med" len="med"/>
                    </a:lnL>
                    <a:lnR w="6350" cap="flat" cmpd="sng" algn="ctr">
                      <a:solidFill>
                        <a:srgbClr val="DCDCDC"/>
                      </a:solidFill>
                      <a:prstDash val="solid"/>
                      <a:round/>
                      <a:headEnd type="none" w="med" len="med"/>
                      <a:tailEnd type="none" w="med" len="med"/>
                    </a:lnR>
                    <a:lnT w="6350" cap="flat" cmpd="sng" algn="ctr">
                      <a:solidFill>
                        <a:srgbClr val="DCDCDC"/>
                      </a:solidFill>
                      <a:prstDash val="solid"/>
                      <a:round/>
                      <a:headEnd type="none" w="med" len="med"/>
                      <a:tailEnd type="none" w="med" len="med"/>
                    </a:lnT>
                    <a:lnB w="6350" cap="flat" cmpd="sng" algn="ctr">
                      <a:solidFill>
                        <a:srgbClr val="DCDCDC"/>
                      </a:solidFill>
                      <a:prstDash val="solid"/>
                      <a:round/>
                      <a:headEnd type="none" w="med" len="med"/>
                      <a:tailEnd type="none" w="med" len="med"/>
                    </a:lnB>
                    <a:solidFill>
                      <a:srgbClr val="FFFFFF"/>
                    </a:solidFill>
                  </a:tcPr>
                </a:tc>
                <a:tc>
                  <a:txBody>
                    <a:bodyPr/>
                    <a:lstStyle/>
                    <a:p>
                      <a:pPr marL="0" indent="0" algn="l">
                        <a:buNone/>
                      </a:pPr>
                      <a:r>
                        <a:rPr lang="en-US" sz="1150" dirty="0">
                          <a:solidFill>
                            <a:srgbClr val="444444"/>
                          </a:solidFill>
                          <a:latin typeface="Arial" pitchFamily="34" charset="0"/>
                          <a:ea typeface="Arial" pitchFamily="34" charset="-122"/>
                          <a:cs typeface="Arial" pitchFamily="34" charset="-120"/>
                        </a:rPr>
                        <a:t>27</a:t>
                      </a:r>
                      <a:endParaRPr lang="en-US" sz="1150" dirty="0">
                        <a:latin typeface="Arial" charset="0"/>
                        <a:ea typeface="Arial" charset="0"/>
                        <a:cs typeface="Arial" charset="0"/>
                      </a:endParaRPr>
                    </a:p>
                  </a:txBody>
                  <a:tcPr marL="109728" marR="109728" marT="36576" marB="36576" anchor="ctr">
                    <a:lnL w="6350" cap="flat" cmpd="sng" algn="ctr">
                      <a:solidFill>
                        <a:srgbClr val="DCDCDC"/>
                      </a:solidFill>
                      <a:prstDash val="solid"/>
                      <a:round/>
                      <a:headEnd type="none" w="med" len="med"/>
                      <a:tailEnd type="none" w="med" len="med"/>
                    </a:lnL>
                    <a:lnR w="6350" cap="flat" cmpd="sng" algn="ctr">
                      <a:solidFill>
                        <a:srgbClr val="DCDCDC"/>
                      </a:solidFill>
                      <a:prstDash val="solid"/>
                      <a:round/>
                      <a:headEnd type="none" w="med" len="med"/>
                      <a:tailEnd type="none" w="med" len="med"/>
                    </a:lnR>
                    <a:lnT w="6350" cap="flat" cmpd="sng" algn="ctr">
                      <a:solidFill>
                        <a:srgbClr val="DCDCDC"/>
                      </a:solidFill>
                      <a:prstDash val="solid"/>
                      <a:round/>
                      <a:headEnd type="none" w="med" len="med"/>
                      <a:tailEnd type="none" w="med" len="med"/>
                    </a:lnT>
                    <a:lnB w="6350" cap="flat" cmpd="sng" algn="ctr">
                      <a:solidFill>
                        <a:srgbClr val="DCDCDC"/>
                      </a:solidFill>
                      <a:prstDash val="solid"/>
                      <a:round/>
                      <a:headEnd type="none" w="med" len="med"/>
                      <a:tailEnd type="none" w="med" len="med"/>
                    </a:lnB>
                    <a:solidFill>
                      <a:srgbClr val="FFFFFF"/>
                    </a:solidFill>
                  </a:tcPr>
                </a:tc>
                <a:tc>
                  <a:txBody>
                    <a:bodyPr/>
                    <a:lstStyle/>
                    <a:p>
                      <a:pPr marL="0" indent="0" algn="l">
                        <a:buNone/>
                      </a:pPr>
                      <a:r>
                        <a:rPr lang="en-US" sz="1150" b="1" dirty="0">
                          <a:solidFill>
                            <a:srgbClr val="E90802"/>
                          </a:solidFill>
                          <a:latin typeface="Arial" pitchFamily="34" charset="0"/>
                          <a:ea typeface="Arial" pitchFamily="34" charset="-122"/>
                          <a:cs typeface="Arial" pitchFamily="34" charset="-120"/>
                        </a:rPr>
                        <a:t>33</a:t>
                      </a:r>
                      <a:endParaRPr lang="en-US" sz="1150" dirty="0">
                        <a:latin typeface="Arial" charset="0"/>
                        <a:ea typeface="Arial" charset="0"/>
                        <a:cs typeface="Arial" charset="0"/>
                      </a:endParaRPr>
                    </a:p>
                  </a:txBody>
                  <a:tcPr marL="109728" marR="109728" marT="36576" marB="36576" anchor="ctr">
                    <a:lnL w="6350" cap="flat" cmpd="sng" algn="ctr">
                      <a:solidFill>
                        <a:srgbClr val="DCDCDC"/>
                      </a:solidFill>
                      <a:prstDash val="solid"/>
                      <a:round/>
                      <a:headEnd type="none" w="med" len="med"/>
                      <a:tailEnd type="none" w="med" len="med"/>
                    </a:lnL>
                    <a:lnR w="6350" cap="flat" cmpd="sng" algn="ctr">
                      <a:solidFill>
                        <a:srgbClr val="DCDCDC"/>
                      </a:solidFill>
                      <a:prstDash val="solid"/>
                      <a:round/>
                      <a:headEnd type="none" w="med" len="med"/>
                      <a:tailEnd type="none" w="med" len="med"/>
                    </a:lnR>
                    <a:lnT w="6350" cap="flat" cmpd="sng" algn="ctr">
                      <a:solidFill>
                        <a:srgbClr val="DCDCDC"/>
                      </a:solidFill>
                      <a:prstDash val="solid"/>
                      <a:round/>
                      <a:headEnd type="none" w="med" len="med"/>
                      <a:tailEnd type="none" w="med" len="med"/>
                    </a:lnT>
                    <a:lnB w="6350" cap="flat" cmpd="sng" algn="ctr">
                      <a:solidFill>
                        <a:srgbClr val="DCDCDC"/>
                      </a:solidFill>
                      <a:prstDash val="solid"/>
                      <a:round/>
                      <a:headEnd type="none" w="med" len="med"/>
                      <a:tailEnd type="none" w="med" len="med"/>
                    </a:lnB>
                    <a:solidFill>
                      <a:srgbClr val="FFFFFF"/>
                    </a:solidFill>
                  </a:tcPr>
                </a:tc>
                <a:tc>
                  <a:txBody>
                    <a:bodyPr/>
                    <a:lstStyle/>
                    <a:p>
                      <a:pPr marL="0" indent="0" algn="l">
                        <a:buNone/>
                      </a:pPr>
                      <a:r>
                        <a:rPr lang="en-US" sz="1150" dirty="0">
                          <a:solidFill>
                            <a:srgbClr val="444444"/>
                          </a:solidFill>
                          <a:latin typeface="Arial" pitchFamily="34" charset="0"/>
                          <a:ea typeface="Arial" pitchFamily="34" charset="-122"/>
                          <a:cs typeface="Arial" pitchFamily="34" charset="-120"/>
                        </a:rPr>
                        <a:t>exceeds both judges</a:t>
                      </a:r>
                      <a:endParaRPr lang="en-US" sz="1150" dirty="0">
                        <a:latin typeface="Arial" charset="0"/>
                        <a:ea typeface="Arial" charset="0"/>
                        <a:cs typeface="Arial" charset="0"/>
                      </a:endParaRPr>
                    </a:p>
                  </a:txBody>
                  <a:tcPr marL="109728" marR="109728" marT="36576" marB="36576" anchor="ctr">
                    <a:lnL w="6350" cap="flat" cmpd="sng" algn="ctr">
                      <a:solidFill>
                        <a:srgbClr val="DCDCDC"/>
                      </a:solidFill>
                      <a:prstDash val="solid"/>
                      <a:round/>
                      <a:headEnd type="none" w="med" len="med"/>
                      <a:tailEnd type="none" w="med" len="med"/>
                    </a:lnL>
                    <a:lnR w="6350" cap="flat" cmpd="sng" algn="ctr">
                      <a:solidFill>
                        <a:srgbClr val="DCDCDC"/>
                      </a:solidFill>
                      <a:prstDash val="solid"/>
                      <a:round/>
                      <a:headEnd type="none" w="med" len="med"/>
                      <a:tailEnd type="none" w="med" len="med"/>
                    </a:lnR>
                    <a:lnT w="6350" cap="flat" cmpd="sng" algn="ctr">
                      <a:solidFill>
                        <a:srgbClr val="DCDCDC"/>
                      </a:solidFill>
                      <a:prstDash val="solid"/>
                      <a:round/>
                      <a:headEnd type="none" w="med" len="med"/>
                      <a:tailEnd type="none" w="med" len="med"/>
                    </a:lnT>
                    <a:lnB w="6350" cap="flat" cmpd="sng" algn="ctr">
                      <a:solidFill>
                        <a:srgbClr val="DCDCDC"/>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10896">
                <a:tc>
                  <a:txBody>
                    <a:bodyPr/>
                    <a:lstStyle/>
                    <a:p>
                      <a:pPr marL="0" indent="0" algn="l">
                        <a:buNone/>
                      </a:pPr>
                      <a:r>
                        <a:rPr lang="en-US" sz="1150" dirty="0">
                          <a:solidFill>
                            <a:srgbClr val="444444"/>
                          </a:solidFill>
                          <a:latin typeface="Arial" pitchFamily="34" charset="0"/>
                          <a:ea typeface="Arial" pitchFamily="34" charset="-122"/>
                          <a:cs typeface="Arial" pitchFamily="34" charset="-120"/>
                        </a:rPr>
                        <a:t>3B — relations</a:t>
                      </a:r>
                      <a:endParaRPr lang="en-US" sz="1150" dirty="0">
                        <a:latin typeface="Arial" charset="0"/>
                        <a:ea typeface="Arial" charset="0"/>
                        <a:cs typeface="Arial" charset="0"/>
                      </a:endParaRPr>
                    </a:p>
                  </a:txBody>
                  <a:tcPr marL="109728" marR="109728" marT="36576" marB="36576" anchor="ctr">
                    <a:lnL w="6350" cap="flat" cmpd="sng" algn="ctr">
                      <a:solidFill>
                        <a:srgbClr val="DCDCDC"/>
                      </a:solidFill>
                      <a:prstDash val="solid"/>
                      <a:round/>
                      <a:headEnd type="none" w="med" len="med"/>
                      <a:tailEnd type="none" w="med" len="med"/>
                    </a:lnL>
                    <a:lnR w="6350" cap="flat" cmpd="sng" algn="ctr">
                      <a:solidFill>
                        <a:srgbClr val="DCDCDC"/>
                      </a:solidFill>
                      <a:prstDash val="solid"/>
                      <a:round/>
                      <a:headEnd type="none" w="med" len="med"/>
                      <a:tailEnd type="none" w="med" len="med"/>
                    </a:lnR>
                    <a:lnT w="6350" cap="flat" cmpd="sng" algn="ctr">
                      <a:solidFill>
                        <a:srgbClr val="DCDCDC"/>
                      </a:solidFill>
                      <a:prstDash val="solid"/>
                      <a:round/>
                      <a:headEnd type="none" w="med" len="med"/>
                      <a:tailEnd type="none" w="med" len="med"/>
                    </a:lnT>
                    <a:lnB w="6350" cap="flat" cmpd="sng" algn="ctr">
                      <a:solidFill>
                        <a:srgbClr val="DCDCDC"/>
                      </a:solidFill>
                      <a:prstDash val="solid"/>
                      <a:round/>
                      <a:headEnd type="none" w="med" len="med"/>
                      <a:tailEnd type="none" w="med" len="med"/>
                    </a:lnB>
                    <a:solidFill>
                      <a:srgbClr val="FFFFFF"/>
                    </a:solidFill>
                  </a:tcPr>
                </a:tc>
                <a:tc>
                  <a:txBody>
                    <a:bodyPr/>
                    <a:lstStyle/>
                    <a:p>
                      <a:pPr marL="0" indent="0" algn="l">
                        <a:buNone/>
                      </a:pPr>
                      <a:r>
                        <a:rPr lang="en-US" sz="1150" dirty="0">
                          <a:solidFill>
                            <a:srgbClr val="444444"/>
                          </a:solidFill>
                          <a:latin typeface="Arial" pitchFamily="34" charset="0"/>
                          <a:ea typeface="Arial" pitchFamily="34" charset="-122"/>
                          <a:cs typeface="Arial" pitchFamily="34" charset="-120"/>
                        </a:rPr>
                        <a:t>2</a:t>
                      </a:r>
                      <a:endParaRPr lang="en-US" sz="1150" dirty="0">
                        <a:latin typeface="Arial" charset="0"/>
                        <a:ea typeface="Arial" charset="0"/>
                        <a:cs typeface="Arial" charset="0"/>
                      </a:endParaRPr>
                    </a:p>
                  </a:txBody>
                  <a:tcPr marL="109728" marR="109728" marT="36576" marB="36576" anchor="ctr">
                    <a:lnL w="6350" cap="flat" cmpd="sng" algn="ctr">
                      <a:solidFill>
                        <a:srgbClr val="DCDCDC"/>
                      </a:solidFill>
                      <a:prstDash val="solid"/>
                      <a:round/>
                      <a:headEnd type="none" w="med" len="med"/>
                      <a:tailEnd type="none" w="med" len="med"/>
                    </a:lnL>
                    <a:lnR w="6350" cap="flat" cmpd="sng" algn="ctr">
                      <a:solidFill>
                        <a:srgbClr val="DCDCDC"/>
                      </a:solidFill>
                      <a:prstDash val="solid"/>
                      <a:round/>
                      <a:headEnd type="none" w="med" len="med"/>
                      <a:tailEnd type="none" w="med" len="med"/>
                    </a:lnR>
                    <a:lnT w="6350" cap="flat" cmpd="sng" algn="ctr">
                      <a:solidFill>
                        <a:srgbClr val="DCDCDC"/>
                      </a:solidFill>
                      <a:prstDash val="solid"/>
                      <a:round/>
                      <a:headEnd type="none" w="med" len="med"/>
                      <a:tailEnd type="none" w="med" len="med"/>
                    </a:lnT>
                    <a:lnB w="6350" cap="flat" cmpd="sng" algn="ctr">
                      <a:solidFill>
                        <a:srgbClr val="DCDCDC"/>
                      </a:solidFill>
                      <a:prstDash val="solid"/>
                      <a:round/>
                      <a:headEnd type="none" w="med" len="med"/>
                      <a:tailEnd type="none" w="med" len="med"/>
                    </a:lnB>
                    <a:solidFill>
                      <a:srgbClr val="FFFFFF"/>
                    </a:solidFill>
                  </a:tcPr>
                </a:tc>
                <a:tc>
                  <a:txBody>
                    <a:bodyPr/>
                    <a:lstStyle/>
                    <a:p>
                      <a:pPr marL="0" indent="0" algn="l">
                        <a:buNone/>
                      </a:pPr>
                      <a:r>
                        <a:rPr lang="en-US" sz="1150" dirty="0">
                          <a:solidFill>
                            <a:srgbClr val="444444"/>
                          </a:solidFill>
                          <a:latin typeface="Arial" pitchFamily="34" charset="0"/>
                          <a:ea typeface="Arial" pitchFamily="34" charset="-122"/>
                          <a:cs typeface="Arial" pitchFamily="34" charset="-120"/>
                        </a:rPr>
                        <a:t>51</a:t>
                      </a:r>
                      <a:endParaRPr lang="en-US" sz="1150" dirty="0">
                        <a:latin typeface="Arial" charset="0"/>
                        <a:ea typeface="Arial" charset="0"/>
                        <a:cs typeface="Arial" charset="0"/>
                      </a:endParaRPr>
                    </a:p>
                  </a:txBody>
                  <a:tcPr marL="109728" marR="109728" marT="36576" marB="36576" anchor="ctr">
                    <a:lnL w="6350" cap="flat" cmpd="sng" algn="ctr">
                      <a:solidFill>
                        <a:srgbClr val="DCDCDC"/>
                      </a:solidFill>
                      <a:prstDash val="solid"/>
                      <a:round/>
                      <a:headEnd type="none" w="med" len="med"/>
                      <a:tailEnd type="none" w="med" len="med"/>
                    </a:lnL>
                    <a:lnR w="6350" cap="flat" cmpd="sng" algn="ctr">
                      <a:solidFill>
                        <a:srgbClr val="DCDCDC"/>
                      </a:solidFill>
                      <a:prstDash val="solid"/>
                      <a:round/>
                      <a:headEnd type="none" w="med" len="med"/>
                      <a:tailEnd type="none" w="med" len="med"/>
                    </a:lnR>
                    <a:lnT w="6350" cap="flat" cmpd="sng" algn="ctr">
                      <a:solidFill>
                        <a:srgbClr val="DCDCDC"/>
                      </a:solidFill>
                      <a:prstDash val="solid"/>
                      <a:round/>
                      <a:headEnd type="none" w="med" len="med"/>
                      <a:tailEnd type="none" w="med" len="med"/>
                    </a:lnT>
                    <a:lnB w="6350" cap="flat" cmpd="sng" algn="ctr">
                      <a:solidFill>
                        <a:srgbClr val="DCDCDC"/>
                      </a:solidFill>
                      <a:prstDash val="solid"/>
                      <a:round/>
                      <a:headEnd type="none" w="med" len="med"/>
                      <a:tailEnd type="none" w="med" len="med"/>
                    </a:lnB>
                    <a:solidFill>
                      <a:srgbClr val="FFFFFF"/>
                    </a:solidFill>
                  </a:tcPr>
                </a:tc>
                <a:tc>
                  <a:txBody>
                    <a:bodyPr/>
                    <a:lstStyle/>
                    <a:p>
                      <a:pPr marL="0" indent="0" algn="l">
                        <a:buNone/>
                      </a:pPr>
                      <a:r>
                        <a:rPr lang="en-US" sz="1150" dirty="0">
                          <a:solidFill>
                            <a:srgbClr val="444444"/>
                          </a:solidFill>
                          <a:latin typeface="Arial" pitchFamily="34" charset="0"/>
                          <a:ea typeface="Arial" pitchFamily="34" charset="-122"/>
                          <a:cs typeface="Arial" pitchFamily="34" charset="-120"/>
                        </a:rPr>
                        <a:t>51</a:t>
                      </a:r>
                      <a:endParaRPr lang="en-US" sz="1150" dirty="0">
                        <a:latin typeface="Arial" charset="0"/>
                        <a:ea typeface="Arial" charset="0"/>
                        <a:cs typeface="Arial" charset="0"/>
                      </a:endParaRPr>
                    </a:p>
                  </a:txBody>
                  <a:tcPr marL="109728" marR="109728" marT="36576" marB="36576" anchor="ctr">
                    <a:lnL w="6350" cap="flat" cmpd="sng" algn="ctr">
                      <a:solidFill>
                        <a:srgbClr val="DCDCDC"/>
                      </a:solidFill>
                      <a:prstDash val="solid"/>
                      <a:round/>
                      <a:headEnd type="none" w="med" len="med"/>
                      <a:tailEnd type="none" w="med" len="med"/>
                    </a:lnL>
                    <a:lnR w="6350" cap="flat" cmpd="sng" algn="ctr">
                      <a:solidFill>
                        <a:srgbClr val="DCDCDC"/>
                      </a:solidFill>
                      <a:prstDash val="solid"/>
                      <a:round/>
                      <a:headEnd type="none" w="med" len="med"/>
                      <a:tailEnd type="none" w="med" len="med"/>
                    </a:lnR>
                    <a:lnT w="6350" cap="flat" cmpd="sng" algn="ctr">
                      <a:solidFill>
                        <a:srgbClr val="DCDCDC"/>
                      </a:solidFill>
                      <a:prstDash val="solid"/>
                      <a:round/>
                      <a:headEnd type="none" w="med" len="med"/>
                      <a:tailEnd type="none" w="med" len="med"/>
                    </a:lnT>
                    <a:lnB w="6350" cap="flat" cmpd="sng" algn="ctr">
                      <a:solidFill>
                        <a:srgbClr val="DCDCDC"/>
                      </a:solidFill>
                      <a:prstDash val="solid"/>
                      <a:round/>
                      <a:headEnd type="none" w="med" len="med"/>
                      <a:tailEnd type="none" w="med" len="med"/>
                    </a:lnB>
                    <a:solidFill>
                      <a:srgbClr val="FFFFFF"/>
                    </a:solidFill>
                  </a:tcPr>
                </a:tc>
                <a:tc>
                  <a:txBody>
                    <a:bodyPr/>
                    <a:lstStyle/>
                    <a:p>
                      <a:pPr marL="0" indent="0" algn="l">
                        <a:buNone/>
                      </a:pPr>
                      <a:r>
                        <a:rPr lang="en-US" sz="1150" dirty="0">
                          <a:solidFill>
                            <a:srgbClr val="444444"/>
                          </a:solidFill>
                          <a:latin typeface="Arial" pitchFamily="34" charset="0"/>
                          <a:ea typeface="Arial" pitchFamily="34" charset="-122"/>
                          <a:cs typeface="Arial" pitchFamily="34" charset="-120"/>
                        </a:rPr>
                        <a:t>ensemble = Llama</a:t>
                      </a:r>
                      <a:endParaRPr lang="en-US" sz="1150" dirty="0">
                        <a:latin typeface="Arial" charset="0"/>
                        <a:ea typeface="Arial" charset="0"/>
                        <a:cs typeface="Arial" charset="0"/>
                      </a:endParaRPr>
                    </a:p>
                  </a:txBody>
                  <a:tcPr marL="109728" marR="109728" marT="36576" marB="36576" anchor="ctr">
                    <a:lnL w="6350" cap="flat" cmpd="sng" algn="ctr">
                      <a:solidFill>
                        <a:srgbClr val="DCDCDC"/>
                      </a:solidFill>
                      <a:prstDash val="solid"/>
                      <a:round/>
                      <a:headEnd type="none" w="med" len="med"/>
                      <a:tailEnd type="none" w="med" len="med"/>
                    </a:lnL>
                    <a:lnR w="6350" cap="flat" cmpd="sng" algn="ctr">
                      <a:solidFill>
                        <a:srgbClr val="DCDCDC"/>
                      </a:solidFill>
                      <a:prstDash val="solid"/>
                      <a:round/>
                      <a:headEnd type="none" w="med" len="med"/>
                      <a:tailEnd type="none" w="med" len="med"/>
                    </a:lnR>
                    <a:lnT w="6350" cap="flat" cmpd="sng" algn="ctr">
                      <a:solidFill>
                        <a:srgbClr val="DCDCDC"/>
                      </a:solidFill>
                      <a:prstDash val="solid"/>
                      <a:round/>
                      <a:headEnd type="none" w="med" len="med"/>
                      <a:tailEnd type="none" w="med" len="med"/>
                    </a:lnT>
                    <a:lnB w="6350" cap="flat" cmpd="sng" algn="ctr">
                      <a:solidFill>
                        <a:srgbClr val="DCDCDC"/>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10896">
                <a:tc>
                  <a:txBody>
                    <a:bodyPr/>
                    <a:lstStyle/>
                    <a:p>
                      <a:pPr marL="0" indent="0" algn="l">
                        <a:buNone/>
                      </a:pPr>
                      <a:r>
                        <a:rPr lang="en-US" sz="1150" dirty="0">
                          <a:solidFill>
                            <a:srgbClr val="444444"/>
                          </a:solidFill>
                          <a:latin typeface="Arial" pitchFamily="34" charset="0"/>
                          <a:ea typeface="Arial" pitchFamily="34" charset="-122"/>
                          <a:cs typeface="Arial" pitchFamily="34" charset="-120"/>
                        </a:rPr>
                        <a:t>7–8B — relations</a:t>
                      </a:r>
                      <a:endParaRPr lang="en-US" sz="1150" dirty="0">
                        <a:latin typeface="Arial" charset="0"/>
                        <a:ea typeface="Arial" charset="0"/>
                        <a:cs typeface="Arial" charset="0"/>
                      </a:endParaRPr>
                    </a:p>
                  </a:txBody>
                  <a:tcPr marL="109728" marR="109728" marT="36576" marB="36576" anchor="ctr">
                    <a:lnL w="6350" cap="flat" cmpd="sng" algn="ctr">
                      <a:solidFill>
                        <a:srgbClr val="DCDCDC"/>
                      </a:solidFill>
                      <a:prstDash val="solid"/>
                      <a:round/>
                      <a:headEnd type="none" w="med" len="med"/>
                      <a:tailEnd type="none" w="med" len="med"/>
                    </a:lnL>
                    <a:lnR w="6350" cap="flat" cmpd="sng" algn="ctr">
                      <a:solidFill>
                        <a:srgbClr val="DCDCDC"/>
                      </a:solidFill>
                      <a:prstDash val="solid"/>
                      <a:round/>
                      <a:headEnd type="none" w="med" len="med"/>
                      <a:tailEnd type="none" w="med" len="med"/>
                    </a:lnR>
                    <a:lnT w="6350" cap="flat" cmpd="sng" algn="ctr">
                      <a:solidFill>
                        <a:srgbClr val="DCDCDC"/>
                      </a:solidFill>
                      <a:prstDash val="solid"/>
                      <a:round/>
                      <a:headEnd type="none" w="med" len="med"/>
                      <a:tailEnd type="none" w="med" len="med"/>
                    </a:lnT>
                    <a:lnB w="6350" cap="flat" cmpd="sng" algn="ctr">
                      <a:solidFill>
                        <a:srgbClr val="DCDCDC"/>
                      </a:solidFill>
                      <a:prstDash val="solid"/>
                      <a:round/>
                      <a:headEnd type="none" w="med" len="med"/>
                      <a:tailEnd type="none" w="med" len="med"/>
                    </a:lnB>
                    <a:solidFill>
                      <a:srgbClr val="FFFFFF"/>
                    </a:solidFill>
                  </a:tcPr>
                </a:tc>
                <a:tc>
                  <a:txBody>
                    <a:bodyPr/>
                    <a:lstStyle/>
                    <a:p>
                      <a:pPr marL="0" indent="0" algn="l">
                        <a:buNone/>
                      </a:pPr>
                      <a:r>
                        <a:rPr lang="en-US" sz="1150" dirty="0">
                          <a:solidFill>
                            <a:srgbClr val="444444"/>
                          </a:solidFill>
                          <a:latin typeface="Arial" pitchFamily="34" charset="0"/>
                          <a:ea typeface="Arial" pitchFamily="34" charset="-122"/>
                          <a:cs typeface="Arial" pitchFamily="34" charset="-120"/>
                        </a:rPr>
                        <a:t>15</a:t>
                      </a:r>
                      <a:endParaRPr lang="en-US" sz="1150" dirty="0">
                        <a:latin typeface="Arial" charset="0"/>
                        <a:ea typeface="Arial" charset="0"/>
                        <a:cs typeface="Arial" charset="0"/>
                      </a:endParaRPr>
                    </a:p>
                  </a:txBody>
                  <a:tcPr marL="109728" marR="109728" marT="36576" marB="36576" anchor="ctr">
                    <a:lnL w="6350" cap="flat" cmpd="sng" algn="ctr">
                      <a:solidFill>
                        <a:srgbClr val="DCDCDC"/>
                      </a:solidFill>
                      <a:prstDash val="solid"/>
                      <a:round/>
                      <a:headEnd type="none" w="med" len="med"/>
                      <a:tailEnd type="none" w="med" len="med"/>
                    </a:lnL>
                    <a:lnR w="6350" cap="flat" cmpd="sng" algn="ctr">
                      <a:solidFill>
                        <a:srgbClr val="DCDCDC"/>
                      </a:solidFill>
                      <a:prstDash val="solid"/>
                      <a:round/>
                      <a:headEnd type="none" w="med" len="med"/>
                      <a:tailEnd type="none" w="med" len="med"/>
                    </a:lnR>
                    <a:lnT w="6350" cap="flat" cmpd="sng" algn="ctr">
                      <a:solidFill>
                        <a:srgbClr val="DCDCDC"/>
                      </a:solidFill>
                      <a:prstDash val="solid"/>
                      <a:round/>
                      <a:headEnd type="none" w="med" len="med"/>
                      <a:tailEnd type="none" w="med" len="med"/>
                    </a:lnT>
                    <a:lnB w="6350" cap="flat" cmpd="sng" algn="ctr">
                      <a:solidFill>
                        <a:srgbClr val="DCDCDC"/>
                      </a:solidFill>
                      <a:prstDash val="solid"/>
                      <a:round/>
                      <a:headEnd type="none" w="med" len="med"/>
                      <a:tailEnd type="none" w="med" len="med"/>
                    </a:lnB>
                    <a:solidFill>
                      <a:srgbClr val="FFFFFF"/>
                    </a:solidFill>
                  </a:tcPr>
                </a:tc>
                <a:tc>
                  <a:txBody>
                    <a:bodyPr/>
                    <a:lstStyle/>
                    <a:p>
                      <a:pPr marL="0" indent="0" algn="l">
                        <a:buNone/>
                      </a:pPr>
                      <a:r>
                        <a:rPr lang="en-US" sz="1150" dirty="0">
                          <a:solidFill>
                            <a:srgbClr val="444444"/>
                          </a:solidFill>
                          <a:latin typeface="Arial" pitchFamily="34" charset="0"/>
                          <a:ea typeface="Arial" pitchFamily="34" charset="-122"/>
                          <a:cs typeface="Arial" pitchFamily="34" charset="-120"/>
                        </a:rPr>
                        <a:t>54</a:t>
                      </a:r>
                      <a:endParaRPr lang="en-US" sz="1150" dirty="0">
                        <a:latin typeface="Arial" charset="0"/>
                        <a:ea typeface="Arial" charset="0"/>
                        <a:cs typeface="Arial" charset="0"/>
                      </a:endParaRPr>
                    </a:p>
                  </a:txBody>
                  <a:tcPr marL="109728" marR="109728" marT="36576" marB="36576" anchor="ctr">
                    <a:lnL w="6350" cap="flat" cmpd="sng" algn="ctr">
                      <a:solidFill>
                        <a:srgbClr val="DCDCDC"/>
                      </a:solidFill>
                      <a:prstDash val="solid"/>
                      <a:round/>
                      <a:headEnd type="none" w="med" len="med"/>
                      <a:tailEnd type="none" w="med" len="med"/>
                    </a:lnL>
                    <a:lnR w="6350" cap="flat" cmpd="sng" algn="ctr">
                      <a:solidFill>
                        <a:srgbClr val="DCDCDC"/>
                      </a:solidFill>
                      <a:prstDash val="solid"/>
                      <a:round/>
                      <a:headEnd type="none" w="med" len="med"/>
                      <a:tailEnd type="none" w="med" len="med"/>
                    </a:lnR>
                    <a:lnT w="6350" cap="flat" cmpd="sng" algn="ctr">
                      <a:solidFill>
                        <a:srgbClr val="DCDCDC"/>
                      </a:solidFill>
                      <a:prstDash val="solid"/>
                      <a:round/>
                      <a:headEnd type="none" w="med" len="med"/>
                      <a:tailEnd type="none" w="med" len="med"/>
                    </a:lnT>
                    <a:lnB w="6350" cap="flat" cmpd="sng" algn="ctr">
                      <a:solidFill>
                        <a:srgbClr val="DCDCDC"/>
                      </a:solidFill>
                      <a:prstDash val="solid"/>
                      <a:round/>
                      <a:headEnd type="none" w="med" len="med"/>
                      <a:tailEnd type="none" w="med" len="med"/>
                    </a:lnB>
                    <a:solidFill>
                      <a:srgbClr val="FFFFFF"/>
                    </a:solidFill>
                  </a:tcPr>
                </a:tc>
                <a:tc>
                  <a:txBody>
                    <a:bodyPr/>
                    <a:lstStyle/>
                    <a:p>
                      <a:pPr marL="0" indent="0" algn="l">
                        <a:buNone/>
                      </a:pPr>
                      <a:r>
                        <a:rPr lang="en-US" sz="1150" dirty="0">
                          <a:solidFill>
                            <a:srgbClr val="444444"/>
                          </a:solidFill>
                          <a:latin typeface="Arial" pitchFamily="34" charset="0"/>
                          <a:ea typeface="Arial" pitchFamily="34" charset="-122"/>
                          <a:cs typeface="Arial" pitchFamily="34" charset="-120"/>
                        </a:rPr>
                        <a:t>54</a:t>
                      </a:r>
                      <a:endParaRPr lang="en-US" sz="1150" dirty="0">
                        <a:latin typeface="Arial" charset="0"/>
                        <a:ea typeface="Arial" charset="0"/>
                        <a:cs typeface="Arial" charset="0"/>
                      </a:endParaRPr>
                    </a:p>
                  </a:txBody>
                  <a:tcPr marL="109728" marR="109728" marT="36576" marB="36576" anchor="ctr">
                    <a:lnL w="6350" cap="flat" cmpd="sng" algn="ctr">
                      <a:solidFill>
                        <a:srgbClr val="DCDCDC"/>
                      </a:solidFill>
                      <a:prstDash val="solid"/>
                      <a:round/>
                      <a:headEnd type="none" w="med" len="med"/>
                      <a:tailEnd type="none" w="med" len="med"/>
                    </a:lnL>
                    <a:lnR w="6350" cap="flat" cmpd="sng" algn="ctr">
                      <a:solidFill>
                        <a:srgbClr val="DCDCDC"/>
                      </a:solidFill>
                      <a:prstDash val="solid"/>
                      <a:round/>
                      <a:headEnd type="none" w="med" len="med"/>
                      <a:tailEnd type="none" w="med" len="med"/>
                    </a:lnR>
                    <a:lnT w="6350" cap="flat" cmpd="sng" algn="ctr">
                      <a:solidFill>
                        <a:srgbClr val="DCDCDC"/>
                      </a:solidFill>
                      <a:prstDash val="solid"/>
                      <a:round/>
                      <a:headEnd type="none" w="med" len="med"/>
                      <a:tailEnd type="none" w="med" len="med"/>
                    </a:lnT>
                    <a:lnB w="6350" cap="flat" cmpd="sng" algn="ctr">
                      <a:solidFill>
                        <a:srgbClr val="DCDCDC"/>
                      </a:solidFill>
                      <a:prstDash val="solid"/>
                      <a:round/>
                      <a:headEnd type="none" w="med" len="med"/>
                      <a:tailEnd type="none" w="med" len="med"/>
                    </a:lnB>
                    <a:solidFill>
                      <a:srgbClr val="FFFFFF"/>
                    </a:solidFill>
                  </a:tcPr>
                </a:tc>
                <a:tc>
                  <a:txBody>
                    <a:bodyPr/>
                    <a:lstStyle/>
                    <a:p>
                      <a:pPr marL="0" indent="0" algn="l">
                        <a:buNone/>
                      </a:pPr>
                      <a:r>
                        <a:rPr lang="en-US" sz="1150" dirty="0">
                          <a:solidFill>
                            <a:srgbClr val="444444"/>
                          </a:solidFill>
                          <a:latin typeface="Arial" pitchFamily="34" charset="0"/>
                          <a:ea typeface="Arial" pitchFamily="34" charset="-122"/>
                          <a:cs typeface="Arial" pitchFamily="34" charset="-120"/>
                        </a:rPr>
                        <a:t>ensemble = Llama</a:t>
                      </a:r>
                      <a:endParaRPr lang="en-US" sz="1150" dirty="0">
                        <a:latin typeface="Arial" charset="0"/>
                        <a:ea typeface="Arial" charset="0"/>
                        <a:cs typeface="Arial" charset="0"/>
                      </a:endParaRPr>
                    </a:p>
                  </a:txBody>
                  <a:tcPr marL="109728" marR="109728" marT="36576" marB="36576" anchor="ctr">
                    <a:lnL w="6350" cap="flat" cmpd="sng" algn="ctr">
                      <a:solidFill>
                        <a:srgbClr val="DCDCDC"/>
                      </a:solidFill>
                      <a:prstDash val="solid"/>
                      <a:round/>
                      <a:headEnd type="none" w="med" len="med"/>
                      <a:tailEnd type="none" w="med" len="med"/>
                    </a:lnL>
                    <a:lnR w="6350" cap="flat" cmpd="sng" algn="ctr">
                      <a:solidFill>
                        <a:srgbClr val="DCDCDC"/>
                      </a:solidFill>
                      <a:prstDash val="solid"/>
                      <a:round/>
                      <a:headEnd type="none" w="med" len="med"/>
                      <a:tailEnd type="none" w="med" len="med"/>
                    </a:lnR>
                    <a:lnT w="6350" cap="flat" cmpd="sng" algn="ctr">
                      <a:solidFill>
                        <a:srgbClr val="DCDCDC"/>
                      </a:solidFill>
                      <a:prstDash val="solid"/>
                      <a:round/>
                      <a:headEnd type="none" w="med" len="med"/>
                      <a:tailEnd type="none" w="med" len="med"/>
                    </a:lnT>
                    <a:lnB w="6350" cap="flat" cmpd="sng" algn="ctr">
                      <a:solidFill>
                        <a:srgbClr val="DCDCDC"/>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15" name="note"/>
          <p:cNvSpPr txBox="1"/>
          <p:nvPr/>
        </p:nvSpPr>
        <p:spPr>
          <a:xfrm>
            <a:off x="548640" y="6291072"/>
            <a:ext cx="10607040" cy="274320"/>
          </a:xfrm>
          <a:prstGeom prst="rect">
            <a:avLst/>
          </a:prstGeom>
          <a:noFill/>
          <a:ln/>
        </p:spPr>
        <p:txBody>
          <a:bodyPr wrap="square" lIns="0" tIns="0" rIns="0" bIns="0" rtlCol="0" anchor="ctr"/>
          <a:lstStyle/>
          <a:p>
            <a:pPr marL="0" indent="0">
              <a:buNone/>
            </a:pPr>
            <a:r>
              <a:rPr lang="en-US" sz="950" dirty="0">
                <a:solidFill>
                  <a:srgbClr val="767676"/>
                </a:solidFill>
                <a:latin typeface="Arial" pitchFamily="34" charset="0"/>
                <a:ea typeface="Arial" pitchFamily="34" charset="-122"/>
                <a:cs typeface="Arial" pitchFamily="34" charset="-120"/>
              </a:rPr>
              <a:t>Relation detection: the ensemble equalled Llama exactly in all three runs — 51/51, 54/54, 21/21. Qwen never found a relation Llama missed.</a:t>
            </a:r>
            <a:endParaRPr lang="en-US" sz="950" dirty="0"/>
          </a:p>
        </p:txBody>
      </p:sp>
      <p:sp>
        <p:nvSpPr>
          <p:cNvPr id="14" name="Slide Number Placeholder 0"/>
          <p:cNvSpPr>
            <a:spLocks noGrp="1"/>
          </p:cNvSpPr>
          <p:nvPr>
            <p:ph type="sldNum" sz="quarter" idx="4294967295"/>
          </p:nvPr>
        </p:nvSpPr>
        <p:spPr>
          <a:xfrm>
            <a:off x="11338560" y="6327648"/>
            <a:ext cx="365760" cy="256032"/>
          </a:xfrm>
          <a:prstGeom prst="rect">
            <a:avLst/>
          </a:prstGeom>
          <a:extLst>
            <a:ext uri="{C572A759-6A51-4108-AA02-DFA0A04FC94B}">
              <ma14:wrappingTextBoxFlag xmlns:ma14="http://schemas.microsoft.com/office/mac/drawingml/2011/main" xmlns="" val="0"/>
            </a:ext>
          </a:extLst>
        </p:spPr>
        <p:txBody>
          <a:bodyPr/>
          <a:lstStyle>
            <a:lvl1pPr>
              <a:defRPr sz="900">
                <a:solidFill>
                  <a:srgbClr val="767676"/>
                </a:solidFill>
              </a:defRPr>
            </a:lvl1pPr>
          </a:lstStyle>
          <a:p>
            <a:pPr algn="r"/>
            <a:fld id="{F7021451-1387-4CA6-816F-3879F97B5CBC}" type="slidenum">
              <a:rPr lang="en-US" b="0"/>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eyebrow"/>
          <p:cNvSpPr txBox="1"/>
          <p:nvPr/>
        </p:nvSpPr>
        <p:spPr>
          <a:xfrm>
            <a:off x="548640" y="347472"/>
            <a:ext cx="11064240" cy="237744"/>
          </a:xfrm>
          <a:prstGeom prst="rect">
            <a:avLst/>
          </a:prstGeom>
          <a:noFill/>
          <a:ln/>
        </p:spPr>
        <p:txBody>
          <a:bodyPr wrap="square" lIns="0" tIns="0" rIns="0" bIns="0" rtlCol="0" anchor="ctr"/>
          <a:lstStyle/>
          <a:p>
            <a:pPr marL="0" indent="0">
              <a:buNone/>
            </a:pPr>
            <a:r>
              <a:rPr lang="en-US" sz="1000" b="1" kern="0" spc="200" dirty="0">
                <a:solidFill>
                  <a:srgbClr val="E90802"/>
                </a:solidFill>
                <a:latin typeface="Arial" pitchFamily="34" charset="0"/>
                <a:ea typeface="Arial" pitchFamily="34" charset="-122"/>
                <a:cs typeface="Arial" pitchFamily="34" charset="-120"/>
              </a:rPr>
              <a:t>COMPARISON WITH THE PAPER</a:t>
            </a:r>
            <a:endParaRPr lang="en-US" sz="1000" dirty="0"/>
          </a:p>
        </p:txBody>
      </p:sp>
      <p:sp>
        <p:nvSpPr>
          <p:cNvPr id="3" name="title"/>
          <p:cNvSpPr txBox="1"/>
          <p:nvPr/>
        </p:nvSpPr>
        <p:spPr>
          <a:xfrm>
            <a:off x="548640" y="621792"/>
            <a:ext cx="11064240" cy="548640"/>
          </a:xfrm>
          <a:prstGeom prst="rect">
            <a:avLst/>
          </a:prstGeom>
          <a:noFill/>
          <a:ln/>
        </p:spPr>
        <p:txBody>
          <a:bodyPr wrap="square" lIns="0" tIns="0" rIns="0" bIns="0" rtlCol="0" anchor="ctr"/>
          <a:lstStyle/>
          <a:p>
            <a:pPr marL="0" indent="0">
              <a:buNone/>
            </a:pPr>
            <a:r>
              <a:rPr lang="en-US" sz="2700" b="1" dirty="0">
                <a:solidFill>
                  <a:srgbClr val="1A1A1A"/>
                </a:solidFill>
              </a:rPr>
              <a:t>Directions match. Magnitudes do not.</a:t>
            </a:r>
            <a:endParaRPr lang="en-US" sz="2700" dirty="0"/>
          </a:p>
        </p:txBody>
      </p:sp>
      <p:sp>
        <p:nvSpPr>
          <p:cNvPr id="4" name="subtitle"/>
          <p:cNvSpPr txBox="1"/>
          <p:nvPr/>
        </p:nvSpPr>
        <p:spPr>
          <a:xfrm>
            <a:off x="548640" y="1188720"/>
            <a:ext cx="11064240" cy="256032"/>
          </a:xfrm>
          <a:prstGeom prst="rect">
            <a:avLst/>
          </a:prstGeom>
          <a:noFill/>
          <a:ln/>
        </p:spPr>
        <p:txBody>
          <a:bodyPr wrap="square" lIns="0" tIns="0" rIns="0" bIns="0" rtlCol="0" anchor="ctr"/>
          <a:lstStyle/>
          <a:p>
            <a:pPr marL="0" indent="0">
              <a:buNone/>
            </a:pPr>
            <a:r>
              <a:rPr lang="en-US" sz="1350" dirty="0">
                <a:solidFill>
                  <a:srgbClr val="767676"/>
                </a:solidFill>
                <a:latin typeface="Arial" pitchFamily="34" charset="0"/>
                <a:ea typeface="Arial" pitchFamily="34" charset="-122"/>
                <a:cs typeface="Arial" pitchFamily="34" charset="-120"/>
              </a:rPr>
              <a:t>What a small-scale reimplementation can and cannot claim</a:t>
            </a:r>
            <a:endParaRPr lang="en-US" sz="1350" dirty="0"/>
          </a:p>
        </p:txBody>
      </p:sp>
      <p:sp>
        <p:nvSpPr>
          <p:cNvPr id="5" name="head-rule"/>
          <p:cNvSpPr/>
          <p:nvPr/>
        </p:nvSpPr>
        <p:spPr>
          <a:xfrm>
            <a:off x="548640" y="1499616"/>
            <a:ext cx="11064240" cy="10973"/>
          </a:xfrm>
          <a:prstGeom prst="rect">
            <a:avLst/>
          </a:prstGeom>
          <a:solidFill>
            <a:srgbClr val="DCDCDC"/>
          </a:solidFill>
          <a:ln w="3175">
            <a:solidFill>
              <a:srgbClr val="DCDCDC"/>
            </a:solidFill>
            <a:prstDash val="solid"/>
          </a:ln>
        </p:spPr>
        <p:txBody>
          <a:bodyPr/>
          <a:lstStyle/>
          <a:p>
            <a:endParaRPr lang="en-IN"/>
          </a:p>
        </p:txBody>
      </p:sp>
      <p:graphicFrame>
        <p:nvGraphicFramePr>
          <p:cNvPr id="14" name="vs"/>
          <p:cNvGraphicFramePr>
            <a:graphicFrameLocks noGrp="1"/>
          </p:cNvGraphicFramePr>
          <p:nvPr>
            <p:extLst>
              <p:ext uri="{D42A27DB-BD31-4B8C-83A1-F6EECF244321}">
                <p14:modId xmlns:p14="http://schemas.microsoft.com/office/powerpoint/2010/main" val="2754489017"/>
              </p:ext>
            </p:extLst>
          </p:nvPr>
        </p:nvGraphicFramePr>
        <p:xfrm>
          <a:off x="548640" y="1600200"/>
          <a:ext cx="11064240" cy="2962656"/>
        </p:xfrm>
        <a:graphic>
          <a:graphicData uri="http://schemas.openxmlformats.org/drawingml/2006/table">
            <a:tbl>
              <a:tblPr/>
              <a:tblGrid>
                <a:gridCol w="3017520">
                  <a:extLst>
                    <a:ext uri="{9D8B030D-6E8A-4147-A177-3AD203B41FA5}">
                      <a16:colId xmlns:a16="http://schemas.microsoft.com/office/drawing/2014/main" val="20000"/>
                    </a:ext>
                  </a:extLst>
                </a:gridCol>
                <a:gridCol w="2743200">
                  <a:extLst>
                    <a:ext uri="{9D8B030D-6E8A-4147-A177-3AD203B41FA5}">
                      <a16:colId xmlns:a16="http://schemas.microsoft.com/office/drawing/2014/main" val="20001"/>
                    </a:ext>
                  </a:extLst>
                </a:gridCol>
                <a:gridCol w="3566160">
                  <a:extLst>
                    <a:ext uri="{9D8B030D-6E8A-4147-A177-3AD203B41FA5}">
                      <a16:colId xmlns:a16="http://schemas.microsoft.com/office/drawing/2014/main" val="20002"/>
                    </a:ext>
                  </a:extLst>
                </a:gridCol>
                <a:gridCol w="1737360">
                  <a:extLst>
                    <a:ext uri="{9D8B030D-6E8A-4147-A177-3AD203B41FA5}">
                      <a16:colId xmlns:a16="http://schemas.microsoft.com/office/drawing/2014/main" val="20003"/>
                    </a:ext>
                  </a:extLst>
                </a:gridCol>
              </a:tblGrid>
              <a:tr h="329184">
                <a:tc>
                  <a:txBody>
                    <a:bodyPr/>
                    <a:lstStyle/>
                    <a:p>
                      <a:pPr marL="0" indent="0" algn="l">
                        <a:buNone/>
                      </a:pPr>
                      <a:r>
                        <a:rPr lang="en-US" sz="1150" b="1" dirty="0">
                          <a:solidFill>
                            <a:srgbClr val="1A1A1A"/>
                          </a:solidFill>
                          <a:latin typeface="Arial" pitchFamily="34" charset="0"/>
                          <a:ea typeface="Arial" pitchFamily="34" charset="-122"/>
                          <a:cs typeface="Arial" pitchFamily="34" charset="-120"/>
                        </a:rPr>
                        <a:t>Measure</a:t>
                      </a:r>
                      <a:endParaRPr lang="en-US" sz="1150" dirty="0">
                        <a:latin typeface="Arial" charset="0"/>
                        <a:ea typeface="Arial" charset="0"/>
                        <a:cs typeface="Arial" charset="0"/>
                      </a:endParaRPr>
                    </a:p>
                  </a:txBody>
                  <a:tcPr marL="109728" marR="109728" marT="36576" marB="36576" anchor="ctr">
                    <a:lnL w="6350" cap="flat" cmpd="sng" algn="ctr">
                      <a:solidFill>
                        <a:srgbClr val="DCDCDC"/>
                      </a:solidFill>
                      <a:prstDash val="solid"/>
                      <a:round/>
                      <a:headEnd type="none" w="med" len="med"/>
                      <a:tailEnd type="none" w="med" len="med"/>
                    </a:lnL>
                    <a:lnR w="6350" cap="flat" cmpd="sng" algn="ctr">
                      <a:solidFill>
                        <a:srgbClr val="DCDCDC"/>
                      </a:solidFill>
                      <a:prstDash val="solid"/>
                      <a:round/>
                      <a:headEnd type="none" w="med" len="med"/>
                      <a:tailEnd type="none" w="med" len="med"/>
                    </a:lnR>
                    <a:lnT w="6350" cap="flat" cmpd="sng" algn="ctr">
                      <a:solidFill>
                        <a:srgbClr val="DCDCDC"/>
                      </a:solidFill>
                      <a:prstDash val="solid"/>
                      <a:round/>
                      <a:headEnd type="none" w="med" len="med"/>
                      <a:tailEnd type="none" w="med" len="med"/>
                    </a:lnT>
                    <a:lnB w="6350" cap="flat" cmpd="sng" algn="ctr">
                      <a:solidFill>
                        <a:srgbClr val="DCDCDC"/>
                      </a:solidFill>
                      <a:prstDash val="solid"/>
                      <a:round/>
                      <a:headEnd type="none" w="med" len="med"/>
                      <a:tailEnd type="none" w="med" len="med"/>
                    </a:lnB>
                    <a:solidFill>
                      <a:srgbClr val="F4F4F4"/>
                    </a:solidFill>
                  </a:tcPr>
                </a:tc>
                <a:tc>
                  <a:txBody>
                    <a:bodyPr/>
                    <a:lstStyle/>
                    <a:p>
                      <a:pPr marL="0" indent="0" algn="l">
                        <a:buNone/>
                      </a:pPr>
                      <a:r>
                        <a:rPr lang="en-US" sz="1150" b="1" dirty="0">
                          <a:solidFill>
                            <a:srgbClr val="1A1A1A"/>
                          </a:solidFill>
                          <a:latin typeface="Arial" pitchFamily="34" charset="0"/>
                          <a:ea typeface="Arial" pitchFamily="34" charset="-122"/>
                          <a:cs typeface="Arial" pitchFamily="34" charset="-120"/>
                        </a:rPr>
                        <a:t>Paper</a:t>
                      </a:r>
                      <a:endParaRPr lang="en-US" sz="1150" dirty="0">
                        <a:latin typeface="Arial" charset="0"/>
                        <a:ea typeface="Arial" charset="0"/>
                        <a:cs typeface="Arial" charset="0"/>
                      </a:endParaRPr>
                    </a:p>
                  </a:txBody>
                  <a:tcPr marL="109728" marR="109728" marT="36576" marB="36576" anchor="ctr">
                    <a:lnL w="6350" cap="flat" cmpd="sng" algn="ctr">
                      <a:solidFill>
                        <a:srgbClr val="DCDCDC"/>
                      </a:solidFill>
                      <a:prstDash val="solid"/>
                      <a:round/>
                      <a:headEnd type="none" w="med" len="med"/>
                      <a:tailEnd type="none" w="med" len="med"/>
                    </a:lnL>
                    <a:lnR w="6350" cap="flat" cmpd="sng" algn="ctr">
                      <a:solidFill>
                        <a:srgbClr val="DCDCDC"/>
                      </a:solidFill>
                      <a:prstDash val="solid"/>
                      <a:round/>
                      <a:headEnd type="none" w="med" len="med"/>
                      <a:tailEnd type="none" w="med" len="med"/>
                    </a:lnR>
                    <a:lnT w="6350" cap="flat" cmpd="sng" algn="ctr">
                      <a:solidFill>
                        <a:srgbClr val="DCDCDC"/>
                      </a:solidFill>
                      <a:prstDash val="solid"/>
                      <a:round/>
                      <a:headEnd type="none" w="med" len="med"/>
                      <a:tailEnd type="none" w="med" len="med"/>
                    </a:lnT>
                    <a:lnB w="6350" cap="flat" cmpd="sng" algn="ctr">
                      <a:solidFill>
                        <a:srgbClr val="DCDCDC"/>
                      </a:solidFill>
                      <a:prstDash val="solid"/>
                      <a:round/>
                      <a:headEnd type="none" w="med" len="med"/>
                      <a:tailEnd type="none" w="med" len="med"/>
                    </a:lnB>
                    <a:solidFill>
                      <a:srgbClr val="F4F4F4"/>
                    </a:solidFill>
                  </a:tcPr>
                </a:tc>
                <a:tc>
                  <a:txBody>
                    <a:bodyPr/>
                    <a:lstStyle/>
                    <a:p>
                      <a:pPr marL="0" indent="0" algn="l">
                        <a:buNone/>
                      </a:pPr>
                      <a:r>
                        <a:rPr lang="en-US" sz="1150" b="1" dirty="0">
                          <a:solidFill>
                            <a:srgbClr val="1A1A1A"/>
                          </a:solidFill>
                          <a:latin typeface="Arial" pitchFamily="34" charset="0"/>
                          <a:ea typeface="Arial" charset="0"/>
                          <a:cs typeface="Arial" pitchFamily="34" charset="-120"/>
                        </a:rPr>
                        <a:t>Reimplementation</a:t>
                      </a:r>
                      <a:endParaRPr lang="en-US" sz="1150" dirty="0">
                        <a:latin typeface="Arial" charset="0"/>
                        <a:ea typeface="Arial" charset="0"/>
                        <a:cs typeface="Arial" charset="0"/>
                      </a:endParaRPr>
                    </a:p>
                  </a:txBody>
                  <a:tcPr marL="109728" marR="109728" marT="36576" marB="36576" anchor="ctr">
                    <a:lnL w="6350" cap="flat" cmpd="sng" algn="ctr">
                      <a:solidFill>
                        <a:srgbClr val="DCDCDC"/>
                      </a:solidFill>
                      <a:prstDash val="solid"/>
                      <a:round/>
                      <a:headEnd type="none" w="med" len="med"/>
                      <a:tailEnd type="none" w="med" len="med"/>
                    </a:lnL>
                    <a:lnR w="6350" cap="flat" cmpd="sng" algn="ctr">
                      <a:solidFill>
                        <a:srgbClr val="DCDCDC"/>
                      </a:solidFill>
                      <a:prstDash val="solid"/>
                      <a:round/>
                      <a:headEnd type="none" w="med" len="med"/>
                      <a:tailEnd type="none" w="med" len="med"/>
                    </a:lnR>
                    <a:lnT w="6350" cap="flat" cmpd="sng" algn="ctr">
                      <a:solidFill>
                        <a:srgbClr val="DCDCDC"/>
                      </a:solidFill>
                      <a:prstDash val="solid"/>
                      <a:round/>
                      <a:headEnd type="none" w="med" len="med"/>
                      <a:tailEnd type="none" w="med" len="med"/>
                    </a:lnT>
                    <a:lnB w="6350" cap="flat" cmpd="sng" algn="ctr">
                      <a:solidFill>
                        <a:srgbClr val="DCDCDC"/>
                      </a:solidFill>
                      <a:prstDash val="solid"/>
                      <a:round/>
                      <a:headEnd type="none" w="med" len="med"/>
                      <a:tailEnd type="none" w="med" len="med"/>
                    </a:lnB>
                    <a:solidFill>
                      <a:srgbClr val="F4F4F4"/>
                    </a:solidFill>
                  </a:tcPr>
                </a:tc>
                <a:tc>
                  <a:txBody>
                    <a:bodyPr/>
                    <a:lstStyle/>
                    <a:p>
                      <a:pPr marL="0" indent="0" algn="l">
                        <a:buNone/>
                      </a:pPr>
                      <a:r>
                        <a:rPr lang="en-US" sz="1150" b="1" dirty="0">
                          <a:solidFill>
                            <a:srgbClr val="1A1A1A"/>
                          </a:solidFill>
                          <a:latin typeface="Arial" pitchFamily="34" charset="0"/>
                          <a:ea typeface="Arial" pitchFamily="34" charset="-122"/>
                          <a:cs typeface="Arial" pitchFamily="34" charset="-120"/>
                        </a:rPr>
                        <a:t>Agreement</a:t>
                      </a:r>
                      <a:endParaRPr lang="en-US" sz="1150" dirty="0">
                        <a:latin typeface="Arial" charset="0"/>
                        <a:ea typeface="Arial" charset="0"/>
                        <a:cs typeface="Arial" charset="0"/>
                      </a:endParaRPr>
                    </a:p>
                  </a:txBody>
                  <a:tcPr marL="109728" marR="109728" marT="36576" marB="36576" anchor="ctr">
                    <a:lnL w="6350" cap="flat" cmpd="sng" algn="ctr">
                      <a:solidFill>
                        <a:srgbClr val="DCDCDC"/>
                      </a:solidFill>
                      <a:prstDash val="solid"/>
                      <a:round/>
                      <a:headEnd type="none" w="med" len="med"/>
                      <a:tailEnd type="none" w="med" len="med"/>
                    </a:lnL>
                    <a:lnR w="6350" cap="flat" cmpd="sng" algn="ctr">
                      <a:solidFill>
                        <a:srgbClr val="DCDCDC"/>
                      </a:solidFill>
                      <a:prstDash val="solid"/>
                      <a:round/>
                      <a:headEnd type="none" w="med" len="med"/>
                      <a:tailEnd type="none" w="med" len="med"/>
                    </a:lnR>
                    <a:lnT w="6350" cap="flat" cmpd="sng" algn="ctr">
                      <a:solidFill>
                        <a:srgbClr val="DCDCDC"/>
                      </a:solidFill>
                      <a:prstDash val="solid"/>
                      <a:round/>
                      <a:headEnd type="none" w="med" len="med"/>
                      <a:tailEnd type="none" w="med" len="med"/>
                    </a:lnT>
                    <a:lnB w="6350" cap="flat" cmpd="sng" algn="ctr">
                      <a:solidFill>
                        <a:srgbClr val="DCDCDC"/>
                      </a:solidFill>
                      <a:prstDash val="solid"/>
                      <a:round/>
                      <a:headEnd type="none" w="med" len="med"/>
                      <a:tailEnd type="none" w="med" len="med"/>
                    </a:lnB>
                    <a:solidFill>
                      <a:srgbClr val="F4F4F4"/>
                    </a:solidFill>
                  </a:tcPr>
                </a:tc>
                <a:extLst>
                  <a:ext uri="{0D108BD9-81ED-4DB2-BD59-A6C34878D82A}">
                    <a16:rowId xmlns:a16="http://schemas.microsoft.com/office/drawing/2014/main" val="10000"/>
                  </a:ext>
                </a:extLst>
              </a:tr>
              <a:tr h="329184">
                <a:tc>
                  <a:txBody>
                    <a:bodyPr/>
                    <a:lstStyle/>
                    <a:p>
                      <a:pPr marL="0" indent="0" algn="l">
                        <a:buNone/>
                      </a:pPr>
                      <a:r>
                        <a:rPr lang="en-US" sz="1150" dirty="0">
                          <a:solidFill>
                            <a:srgbClr val="444444"/>
                          </a:solidFill>
                          <a:latin typeface="Arial" pitchFamily="34" charset="0"/>
                          <a:ea typeface="Arial" pitchFamily="34" charset="-122"/>
                          <a:cs typeface="Arial" pitchFamily="34" charset="-120"/>
                        </a:rPr>
                        <a:t>Incomplete facts, baseline</a:t>
                      </a:r>
                      <a:endParaRPr lang="en-US" sz="1150" dirty="0">
                        <a:latin typeface="Arial" charset="0"/>
                        <a:ea typeface="Arial" charset="0"/>
                        <a:cs typeface="Arial" charset="0"/>
                      </a:endParaRPr>
                    </a:p>
                  </a:txBody>
                  <a:tcPr marL="109728" marR="109728" marT="36576" marB="36576" anchor="ctr">
                    <a:lnL w="6350" cap="flat" cmpd="sng" algn="ctr">
                      <a:solidFill>
                        <a:srgbClr val="DCDCDC"/>
                      </a:solidFill>
                      <a:prstDash val="solid"/>
                      <a:round/>
                      <a:headEnd type="none" w="med" len="med"/>
                      <a:tailEnd type="none" w="med" len="med"/>
                    </a:lnL>
                    <a:lnR w="6350" cap="flat" cmpd="sng" algn="ctr">
                      <a:solidFill>
                        <a:srgbClr val="DCDCDC"/>
                      </a:solidFill>
                      <a:prstDash val="solid"/>
                      <a:round/>
                      <a:headEnd type="none" w="med" len="med"/>
                      <a:tailEnd type="none" w="med" len="med"/>
                    </a:lnR>
                    <a:lnT w="6350" cap="flat" cmpd="sng" algn="ctr">
                      <a:solidFill>
                        <a:srgbClr val="DCDCDC"/>
                      </a:solidFill>
                      <a:prstDash val="solid"/>
                      <a:round/>
                      <a:headEnd type="none" w="med" len="med"/>
                      <a:tailEnd type="none" w="med" len="med"/>
                    </a:lnT>
                    <a:lnB w="6350" cap="flat" cmpd="sng" algn="ctr">
                      <a:solidFill>
                        <a:srgbClr val="DCDCDC"/>
                      </a:solidFill>
                      <a:prstDash val="solid"/>
                      <a:round/>
                      <a:headEnd type="none" w="med" len="med"/>
                      <a:tailEnd type="none" w="med" len="med"/>
                    </a:lnB>
                    <a:solidFill>
                      <a:srgbClr val="FFFFFF"/>
                    </a:solidFill>
                  </a:tcPr>
                </a:tc>
                <a:tc>
                  <a:txBody>
                    <a:bodyPr/>
                    <a:lstStyle/>
                    <a:p>
                      <a:pPr marL="0" indent="0" algn="l">
                        <a:buNone/>
                      </a:pPr>
                      <a:r>
                        <a:rPr lang="en-US" sz="1150" dirty="0">
                          <a:solidFill>
                            <a:srgbClr val="444444"/>
                          </a:solidFill>
                          <a:latin typeface="Arial" pitchFamily="34" charset="0"/>
                          <a:ea typeface="Arial" pitchFamily="34" charset="-122"/>
                          <a:cs typeface="Arial" pitchFamily="34" charset="-120"/>
                        </a:rPr>
                        <a:t>56.7% (SAFE)</a:t>
                      </a:r>
                      <a:endParaRPr lang="en-US" sz="1150" dirty="0">
                        <a:latin typeface="Arial" charset="0"/>
                        <a:ea typeface="Arial" charset="0"/>
                        <a:cs typeface="Arial" charset="0"/>
                      </a:endParaRPr>
                    </a:p>
                  </a:txBody>
                  <a:tcPr marL="109728" marR="109728" marT="36576" marB="36576" anchor="ctr">
                    <a:lnL w="6350" cap="flat" cmpd="sng" algn="ctr">
                      <a:solidFill>
                        <a:srgbClr val="DCDCDC"/>
                      </a:solidFill>
                      <a:prstDash val="solid"/>
                      <a:round/>
                      <a:headEnd type="none" w="med" len="med"/>
                      <a:tailEnd type="none" w="med" len="med"/>
                    </a:lnL>
                    <a:lnR w="6350" cap="flat" cmpd="sng" algn="ctr">
                      <a:solidFill>
                        <a:srgbClr val="DCDCDC"/>
                      </a:solidFill>
                      <a:prstDash val="solid"/>
                      <a:round/>
                      <a:headEnd type="none" w="med" len="med"/>
                      <a:tailEnd type="none" w="med" len="med"/>
                    </a:lnR>
                    <a:lnT w="6350" cap="flat" cmpd="sng" algn="ctr">
                      <a:solidFill>
                        <a:srgbClr val="DCDCDC"/>
                      </a:solidFill>
                      <a:prstDash val="solid"/>
                      <a:round/>
                      <a:headEnd type="none" w="med" len="med"/>
                      <a:tailEnd type="none" w="med" len="med"/>
                    </a:lnT>
                    <a:lnB w="6350" cap="flat" cmpd="sng" algn="ctr">
                      <a:solidFill>
                        <a:srgbClr val="DCDCDC"/>
                      </a:solidFill>
                      <a:prstDash val="solid"/>
                      <a:round/>
                      <a:headEnd type="none" w="med" len="med"/>
                      <a:tailEnd type="none" w="med" len="med"/>
                    </a:lnB>
                    <a:solidFill>
                      <a:srgbClr val="FFFFFF"/>
                    </a:solidFill>
                  </a:tcPr>
                </a:tc>
                <a:tc>
                  <a:txBody>
                    <a:bodyPr/>
                    <a:lstStyle/>
                    <a:p>
                      <a:pPr marL="0" indent="0" algn="l">
                        <a:buNone/>
                      </a:pPr>
                      <a:r>
                        <a:rPr lang="en-US" sz="1150" dirty="0">
                          <a:solidFill>
                            <a:srgbClr val="444444"/>
                          </a:solidFill>
                          <a:latin typeface="Arial" pitchFamily="34" charset="0"/>
                          <a:ea typeface="Arial" pitchFamily="34" charset="-122"/>
                          <a:cs typeface="Arial" pitchFamily="34" charset="-120"/>
                        </a:rPr>
                        <a:t>10.5% at 3B · 43.8% at 7B</a:t>
                      </a:r>
                      <a:endParaRPr lang="en-US" sz="1150" dirty="0">
                        <a:latin typeface="Arial" charset="0"/>
                        <a:ea typeface="Arial" charset="0"/>
                        <a:cs typeface="Arial" charset="0"/>
                      </a:endParaRPr>
                    </a:p>
                  </a:txBody>
                  <a:tcPr marL="109728" marR="109728" marT="36576" marB="36576" anchor="ctr">
                    <a:lnL w="6350" cap="flat" cmpd="sng" algn="ctr">
                      <a:solidFill>
                        <a:srgbClr val="DCDCDC"/>
                      </a:solidFill>
                      <a:prstDash val="solid"/>
                      <a:round/>
                      <a:headEnd type="none" w="med" len="med"/>
                      <a:tailEnd type="none" w="med" len="med"/>
                    </a:lnL>
                    <a:lnR w="6350" cap="flat" cmpd="sng" algn="ctr">
                      <a:solidFill>
                        <a:srgbClr val="DCDCDC"/>
                      </a:solidFill>
                      <a:prstDash val="solid"/>
                      <a:round/>
                      <a:headEnd type="none" w="med" len="med"/>
                      <a:tailEnd type="none" w="med" len="med"/>
                    </a:lnR>
                    <a:lnT w="6350" cap="flat" cmpd="sng" algn="ctr">
                      <a:solidFill>
                        <a:srgbClr val="DCDCDC"/>
                      </a:solidFill>
                      <a:prstDash val="solid"/>
                      <a:round/>
                      <a:headEnd type="none" w="med" len="med"/>
                      <a:tailEnd type="none" w="med" len="med"/>
                    </a:lnT>
                    <a:lnB w="6350" cap="flat" cmpd="sng" algn="ctr">
                      <a:solidFill>
                        <a:srgbClr val="DCDCDC"/>
                      </a:solidFill>
                      <a:prstDash val="solid"/>
                      <a:round/>
                      <a:headEnd type="none" w="med" len="med"/>
                      <a:tailEnd type="none" w="med" len="med"/>
                    </a:lnB>
                    <a:solidFill>
                      <a:srgbClr val="FFFFFF"/>
                    </a:solidFill>
                  </a:tcPr>
                </a:tc>
                <a:tc>
                  <a:txBody>
                    <a:bodyPr/>
                    <a:lstStyle/>
                    <a:p>
                      <a:pPr marL="0" indent="0" algn="l">
                        <a:buNone/>
                      </a:pPr>
                      <a:r>
                        <a:rPr lang="en-US" sz="1150" dirty="0">
                          <a:solidFill>
                            <a:srgbClr val="444444"/>
                          </a:solidFill>
                          <a:latin typeface="Arial" pitchFamily="34" charset="0"/>
                          <a:ea typeface="Arial" pitchFamily="34" charset="-122"/>
                          <a:cs typeface="Arial" pitchFamily="34" charset="-120"/>
                        </a:rPr>
                        <a:t>closes with scale</a:t>
                      </a:r>
                      <a:endParaRPr lang="en-US" sz="1150" dirty="0">
                        <a:latin typeface="Arial" charset="0"/>
                        <a:ea typeface="Arial" charset="0"/>
                        <a:cs typeface="Arial" charset="0"/>
                      </a:endParaRPr>
                    </a:p>
                  </a:txBody>
                  <a:tcPr marL="109728" marR="109728" marT="36576" marB="36576" anchor="ctr">
                    <a:lnL w="6350" cap="flat" cmpd="sng" algn="ctr">
                      <a:solidFill>
                        <a:srgbClr val="DCDCDC"/>
                      </a:solidFill>
                      <a:prstDash val="solid"/>
                      <a:round/>
                      <a:headEnd type="none" w="med" len="med"/>
                      <a:tailEnd type="none" w="med" len="med"/>
                    </a:lnL>
                    <a:lnR w="6350" cap="flat" cmpd="sng" algn="ctr">
                      <a:solidFill>
                        <a:srgbClr val="DCDCDC"/>
                      </a:solidFill>
                      <a:prstDash val="solid"/>
                      <a:round/>
                      <a:headEnd type="none" w="med" len="med"/>
                      <a:tailEnd type="none" w="med" len="med"/>
                    </a:lnR>
                    <a:lnT w="6350" cap="flat" cmpd="sng" algn="ctr">
                      <a:solidFill>
                        <a:srgbClr val="DCDCDC"/>
                      </a:solidFill>
                      <a:prstDash val="solid"/>
                      <a:round/>
                      <a:headEnd type="none" w="med" len="med"/>
                      <a:tailEnd type="none" w="med" len="med"/>
                    </a:lnT>
                    <a:lnB w="6350" cap="flat" cmpd="sng" algn="ctr">
                      <a:solidFill>
                        <a:srgbClr val="DCDCD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29184">
                <a:tc>
                  <a:txBody>
                    <a:bodyPr/>
                    <a:lstStyle/>
                    <a:p>
                      <a:pPr marL="0" indent="0" algn="l">
                        <a:buNone/>
                      </a:pPr>
                      <a:r>
                        <a:rPr lang="en-US" sz="1150" dirty="0">
                          <a:solidFill>
                            <a:srgbClr val="444444"/>
                          </a:solidFill>
                          <a:latin typeface="Arial" pitchFamily="34" charset="0"/>
                          <a:ea typeface="Arial" pitchFamily="34" charset="-122"/>
                          <a:cs typeface="Arial" pitchFamily="34" charset="-120"/>
                        </a:rPr>
                        <a:t>Incomplete facts, refined</a:t>
                      </a:r>
                      <a:endParaRPr lang="en-US" sz="1150" dirty="0">
                        <a:latin typeface="Arial" charset="0"/>
                        <a:ea typeface="Arial" charset="0"/>
                        <a:cs typeface="Arial" charset="0"/>
                      </a:endParaRPr>
                    </a:p>
                  </a:txBody>
                  <a:tcPr marL="109728" marR="109728" marT="36576" marB="36576" anchor="ctr">
                    <a:lnL w="6350" cap="flat" cmpd="sng" algn="ctr">
                      <a:solidFill>
                        <a:srgbClr val="DCDCDC"/>
                      </a:solidFill>
                      <a:prstDash val="solid"/>
                      <a:round/>
                      <a:headEnd type="none" w="med" len="med"/>
                      <a:tailEnd type="none" w="med" len="med"/>
                    </a:lnL>
                    <a:lnR w="6350" cap="flat" cmpd="sng" algn="ctr">
                      <a:solidFill>
                        <a:srgbClr val="DCDCDC"/>
                      </a:solidFill>
                      <a:prstDash val="solid"/>
                      <a:round/>
                      <a:headEnd type="none" w="med" len="med"/>
                      <a:tailEnd type="none" w="med" len="med"/>
                    </a:lnR>
                    <a:lnT w="6350" cap="flat" cmpd="sng" algn="ctr">
                      <a:solidFill>
                        <a:srgbClr val="DCDCDC"/>
                      </a:solidFill>
                      <a:prstDash val="solid"/>
                      <a:round/>
                      <a:headEnd type="none" w="med" len="med"/>
                      <a:tailEnd type="none" w="med" len="med"/>
                    </a:lnT>
                    <a:lnB w="6350" cap="flat" cmpd="sng" algn="ctr">
                      <a:solidFill>
                        <a:srgbClr val="DCDCDC"/>
                      </a:solidFill>
                      <a:prstDash val="solid"/>
                      <a:round/>
                      <a:headEnd type="none" w="med" len="med"/>
                      <a:tailEnd type="none" w="med" len="med"/>
                    </a:lnB>
                    <a:solidFill>
                      <a:srgbClr val="FFFFFF"/>
                    </a:solidFill>
                  </a:tcPr>
                </a:tc>
                <a:tc>
                  <a:txBody>
                    <a:bodyPr/>
                    <a:lstStyle/>
                    <a:p>
                      <a:pPr marL="0" indent="0" algn="l">
                        <a:buNone/>
                      </a:pPr>
                      <a:r>
                        <a:rPr lang="en-US" sz="1150" dirty="0">
                          <a:solidFill>
                            <a:srgbClr val="444444"/>
                          </a:solidFill>
                          <a:latin typeface="Arial" pitchFamily="34" charset="0"/>
                          <a:ea typeface="Arial" pitchFamily="34" charset="-122"/>
                          <a:cs typeface="Arial" pitchFamily="34" charset="-120"/>
                        </a:rPr>
                        <a:t>22.5%  (−19.2 pts)</a:t>
                      </a:r>
                      <a:endParaRPr lang="en-US" sz="1150" dirty="0">
                        <a:latin typeface="Arial" charset="0"/>
                        <a:ea typeface="Arial" charset="0"/>
                        <a:cs typeface="Arial" charset="0"/>
                      </a:endParaRPr>
                    </a:p>
                  </a:txBody>
                  <a:tcPr marL="109728" marR="109728" marT="36576" marB="36576" anchor="ctr">
                    <a:lnL w="6350" cap="flat" cmpd="sng" algn="ctr">
                      <a:solidFill>
                        <a:srgbClr val="DCDCDC"/>
                      </a:solidFill>
                      <a:prstDash val="solid"/>
                      <a:round/>
                      <a:headEnd type="none" w="med" len="med"/>
                      <a:tailEnd type="none" w="med" len="med"/>
                    </a:lnL>
                    <a:lnR w="6350" cap="flat" cmpd="sng" algn="ctr">
                      <a:solidFill>
                        <a:srgbClr val="DCDCDC"/>
                      </a:solidFill>
                      <a:prstDash val="solid"/>
                      <a:round/>
                      <a:headEnd type="none" w="med" len="med"/>
                      <a:tailEnd type="none" w="med" len="med"/>
                    </a:lnR>
                    <a:lnT w="6350" cap="flat" cmpd="sng" algn="ctr">
                      <a:solidFill>
                        <a:srgbClr val="DCDCDC"/>
                      </a:solidFill>
                      <a:prstDash val="solid"/>
                      <a:round/>
                      <a:headEnd type="none" w="med" len="med"/>
                      <a:tailEnd type="none" w="med" len="med"/>
                    </a:lnT>
                    <a:lnB w="6350" cap="flat" cmpd="sng" algn="ctr">
                      <a:solidFill>
                        <a:srgbClr val="DCDCDC"/>
                      </a:solidFill>
                      <a:prstDash val="solid"/>
                      <a:round/>
                      <a:headEnd type="none" w="med" len="med"/>
                      <a:tailEnd type="none" w="med" len="med"/>
                    </a:lnB>
                    <a:solidFill>
                      <a:srgbClr val="FFFFFF"/>
                    </a:solidFill>
                  </a:tcPr>
                </a:tc>
                <a:tc>
                  <a:txBody>
                    <a:bodyPr/>
                    <a:lstStyle/>
                    <a:p>
                      <a:pPr marL="0" indent="0" algn="l">
                        <a:buNone/>
                      </a:pPr>
                      <a:r>
                        <a:rPr lang="en-US" sz="1150" dirty="0">
                          <a:solidFill>
                            <a:srgbClr val="444444"/>
                          </a:solidFill>
                          <a:latin typeface="Arial" pitchFamily="34" charset="0"/>
                          <a:ea typeface="Arial" pitchFamily="34" charset="-122"/>
                          <a:cs typeface="Arial" pitchFamily="34" charset="-120"/>
                        </a:rPr>
                        <a:t>9.1% at 3B · 41.1% at 7B</a:t>
                      </a:r>
                      <a:endParaRPr lang="en-US" sz="1150" dirty="0">
                        <a:latin typeface="Arial" charset="0"/>
                        <a:ea typeface="Arial" charset="0"/>
                        <a:cs typeface="Arial" charset="0"/>
                      </a:endParaRPr>
                    </a:p>
                  </a:txBody>
                  <a:tcPr marL="109728" marR="109728" marT="36576" marB="36576" anchor="ctr">
                    <a:lnL w="6350" cap="flat" cmpd="sng" algn="ctr">
                      <a:solidFill>
                        <a:srgbClr val="DCDCDC"/>
                      </a:solidFill>
                      <a:prstDash val="solid"/>
                      <a:round/>
                      <a:headEnd type="none" w="med" len="med"/>
                      <a:tailEnd type="none" w="med" len="med"/>
                    </a:lnL>
                    <a:lnR w="6350" cap="flat" cmpd="sng" algn="ctr">
                      <a:solidFill>
                        <a:srgbClr val="DCDCDC"/>
                      </a:solidFill>
                      <a:prstDash val="solid"/>
                      <a:round/>
                      <a:headEnd type="none" w="med" len="med"/>
                      <a:tailEnd type="none" w="med" len="med"/>
                    </a:lnR>
                    <a:lnT w="6350" cap="flat" cmpd="sng" algn="ctr">
                      <a:solidFill>
                        <a:srgbClr val="DCDCDC"/>
                      </a:solidFill>
                      <a:prstDash val="solid"/>
                      <a:round/>
                      <a:headEnd type="none" w="med" len="med"/>
                      <a:tailEnd type="none" w="med" len="med"/>
                    </a:lnT>
                    <a:lnB w="6350" cap="flat" cmpd="sng" algn="ctr">
                      <a:solidFill>
                        <a:srgbClr val="DCDCDC"/>
                      </a:solidFill>
                      <a:prstDash val="solid"/>
                      <a:round/>
                      <a:headEnd type="none" w="med" len="med"/>
                      <a:tailEnd type="none" w="med" len="med"/>
                    </a:lnB>
                    <a:solidFill>
                      <a:srgbClr val="FFFFFF"/>
                    </a:solidFill>
                  </a:tcPr>
                </a:tc>
                <a:tc>
                  <a:txBody>
                    <a:bodyPr/>
                    <a:lstStyle/>
                    <a:p>
                      <a:pPr marL="0" indent="0" algn="l">
                        <a:buNone/>
                      </a:pPr>
                      <a:r>
                        <a:rPr lang="en-US" sz="1150" dirty="0">
                          <a:solidFill>
                            <a:srgbClr val="444444"/>
                          </a:solidFill>
                          <a:latin typeface="Arial" pitchFamily="34" charset="0"/>
                          <a:ea typeface="Arial" pitchFamily="34" charset="-122"/>
                          <a:cs typeface="Arial" pitchFamily="34" charset="-120"/>
                        </a:rPr>
                        <a:t>same direction</a:t>
                      </a:r>
                      <a:endParaRPr lang="en-US" sz="1150" dirty="0">
                        <a:latin typeface="Arial" charset="0"/>
                        <a:ea typeface="Arial" charset="0"/>
                        <a:cs typeface="Arial" charset="0"/>
                      </a:endParaRPr>
                    </a:p>
                  </a:txBody>
                  <a:tcPr marL="109728" marR="109728" marT="36576" marB="36576" anchor="ctr">
                    <a:lnL w="6350" cap="flat" cmpd="sng" algn="ctr">
                      <a:solidFill>
                        <a:srgbClr val="DCDCDC"/>
                      </a:solidFill>
                      <a:prstDash val="solid"/>
                      <a:round/>
                      <a:headEnd type="none" w="med" len="med"/>
                      <a:tailEnd type="none" w="med" len="med"/>
                    </a:lnL>
                    <a:lnR w="6350" cap="flat" cmpd="sng" algn="ctr">
                      <a:solidFill>
                        <a:srgbClr val="DCDCDC"/>
                      </a:solidFill>
                      <a:prstDash val="solid"/>
                      <a:round/>
                      <a:headEnd type="none" w="med" len="med"/>
                      <a:tailEnd type="none" w="med" len="med"/>
                    </a:lnR>
                    <a:lnT w="6350" cap="flat" cmpd="sng" algn="ctr">
                      <a:solidFill>
                        <a:srgbClr val="DCDCDC"/>
                      </a:solidFill>
                      <a:prstDash val="solid"/>
                      <a:round/>
                      <a:headEnd type="none" w="med" len="med"/>
                      <a:tailEnd type="none" w="med" len="med"/>
                    </a:lnT>
                    <a:lnB w="6350" cap="flat" cmpd="sng" algn="ctr">
                      <a:solidFill>
                        <a:srgbClr val="DCDCDC"/>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29184">
                <a:tc>
                  <a:txBody>
                    <a:bodyPr/>
                    <a:lstStyle/>
                    <a:p>
                      <a:pPr marL="0" indent="0" algn="l">
                        <a:buNone/>
                      </a:pPr>
                      <a:r>
                        <a:rPr lang="en-US" sz="1150" dirty="0">
                          <a:solidFill>
                            <a:srgbClr val="444444"/>
                          </a:solidFill>
                          <a:latin typeface="Arial" pitchFamily="34" charset="0"/>
                          <a:ea typeface="Arial" pitchFamily="34" charset="-122"/>
                          <a:cs typeface="Arial" pitchFamily="34" charset="-120"/>
                        </a:rPr>
                        <a:t>Missing relational facts</a:t>
                      </a:r>
                      <a:endParaRPr lang="en-US" sz="1150" dirty="0">
                        <a:latin typeface="Arial" charset="0"/>
                        <a:ea typeface="Arial" charset="0"/>
                        <a:cs typeface="Arial" charset="0"/>
                      </a:endParaRPr>
                    </a:p>
                  </a:txBody>
                  <a:tcPr marL="109728" marR="109728" marT="36576" marB="36576" anchor="ctr">
                    <a:lnL w="6350" cap="flat" cmpd="sng" algn="ctr">
                      <a:solidFill>
                        <a:srgbClr val="DCDCDC"/>
                      </a:solidFill>
                      <a:prstDash val="solid"/>
                      <a:round/>
                      <a:headEnd type="none" w="med" len="med"/>
                      <a:tailEnd type="none" w="med" len="med"/>
                    </a:lnL>
                    <a:lnR w="6350" cap="flat" cmpd="sng" algn="ctr">
                      <a:solidFill>
                        <a:srgbClr val="DCDCDC"/>
                      </a:solidFill>
                      <a:prstDash val="solid"/>
                      <a:round/>
                      <a:headEnd type="none" w="med" len="med"/>
                      <a:tailEnd type="none" w="med" len="med"/>
                    </a:lnR>
                    <a:lnT w="6350" cap="flat" cmpd="sng" algn="ctr">
                      <a:solidFill>
                        <a:srgbClr val="DCDCDC"/>
                      </a:solidFill>
                      <a:prstDash val="solid"/>
                      <a:round/>
                      <a:headEnd type="none" w="med" len="med"/>
                      <a:tailEnd type="none" w="med" len="med"/>
                    </a:lnT>
                    <a:lnB w="6350" cap="flat" cmpd="sng" algn="ctr">
                      <a:solidFill>
                        <a:srgbClr val="DCDCDC"/>
                      </a:solidFill>
                      <a:prstDash val="solid"/>
                      <a:round/>
                      <a:headEnd type="none" w="med" len="med"/>
                      <a:tailEnd type="none" w="med" len="med"/>
                    </a:lnB>
                    <a:solidFill>
                      <a:srgbClr val="FFFFFF"/>
                    </a:solidFill>
                  </a:tcPr>
                </a:tc>
                <a:tc>
                  <a:txBody>
                    <a:bodyPr/>
                    <a:lstStyle/>
                    <a:p>
                      <a:pPr marL="0" indent="0" algn="l">
                        <a:buNone/>
                      </a:pPr>
                      <a:r>
                        <a:rPr lang="en-US" sz="1150" dirty="0">
                          <a:solidFill>
                            <a:srgbClr val="444444"/>
                          </a:solidFill>
                          <a:latin typeface="Arial" pitchFamily="34" charset="0"/>
                          <a:ea typeface="Arial" pitchFamily="34" charset="-122"/>
                          <a:cs typeface="Arial" pitchFamily="34" charset="-120"/>
                        </a:rPr>
                        <a:t>1.22 → 0.76 (−37%)</a:t>
                      </a:r>
                      <a:endParaRPr lang="en-US" sz="1150" dirty="0">
                        <a:latin typeface="Arial" charset="0"/>
                        <a:ea typeface="Arial" charset="0"/>
                        <a:cs typeface="Arial" charset="0"/>
                      </a:endParaRPr>
                    </a:p>
                  </a:txBody>
                  <a:tcPr marL="109728" marR="109728" marT="36576" marB="36576" anchor="ctr">
                    <a:lnL w="6350" cap="flat" cmpd="sng" algn="ctr">
                      <a:solidFill>
                        <a:srgbClr val="DCDCDC"/>
                      </a:solidFill>
                      <a:prstDash val="solid"/>
                      <a:round/>
                      <a:headEnd type="none" w="med" len="med"/>
                      <a:tailEnd type="none" w="med" len="med"/>
                    </a:lnL>
                    <a:lnR w="6350" cap="flat" cmpd="sng" algn="ctr">
                      <a:solidFill>
                        <a:srgbClr val="DCDCDC"/>
                      </a:solidFill>
                      <a:prstDash val="solid"/>
                      <a:round/>
                      <a:headEnd type="none" w="med" len="med"/>
                      <a:tailEnd type="none" w="med" len="med"/>
                    </a:lnR>
                    <a:lnT w="6350" cap="flat" cmpd="sng" algn="ctr">
                      <a:solidFill>
                        <a:srgbClr val="DCDCDC"/>
                      </a:solidFill>
                      <a:prstDash val="solid"/>
                      <a:round/>
                      <a:headEnd type="none" w="med" len="med"/>
                      <a:tailEnd type="none" w="med" len="med"/>
                    </a:lnT>
                    <a:lnB w="6350" cap="flat" cmpd="sng" algn="ctr">
                      <a:solidFill>
                        <a:srgbClr val="DCDCDC"/>
                      </a:solidFill>
                      <a:prstDash val="solid"/>
                      <a:round/>
                      <a:headEnd type="none" w="med" len="med"/>
                      <a:tailEnd type="none" w="med" len="med"/>
                    </a:lnB>
                    <a:solidFill>
                      <a:srgbClr val="FFFFFF"/>
                    </a:solidFill>
                  </a:tcPr>
                </a:tc>
                <a:tc>
                  <a:txBody>
                    <a:bodyPr/>
                    <a:lstStyle/>
                    <a:p>
                      <a:pPr marL="0" indent="0" algn="l">
                        <a:buNone/>
                      </a:pPr>
                      <a:r>
                        <a:rPr lang="en-US" sz="1150" dirty="0">
                          <a:solidFill>
                            <a:srgbClr val="444444"/>
                          </a:solidFill>
                          <a:latin typeface="Arial" pitchFamily="34" charset="0"/>
                          <a:ea typeface="Arial" pitchFamily="34" charset="-122"/>
                          <a:cs typeface="Arial" pitchFamily="34" charset="-120"/>
                        </a:rPr>
                        <a:t>51 → 0 (−100%)</a:t>
                      </a:r>
                      <a:endParaRPr lang="en-US" sz="1150" dirty="0">
                        <a:latin typeface="Arial" charset="0"/>
                        <a:ea typeface="Arial" charset="0"/>
                        <a:cs typeface="Arial" charset="0"/>
                      </a:endParaRPr>
                    </a:p>
                  </a:txBody>
                  <a:tcPr marL="109728" marR="109728" marT="36576" marB="36576" anchor="ctr">
                    <a:lnL w="6350" cap="flat" cmpd="sng" algn="ctr">
                      <a:solidFill>
                        <a:srgbClr val="DCDCDC"/>
                      </a:solidFill>
                      <a:prstDash val="solid"/>
                      <a:round/>
                      <a:headEnd type="none" w="med" len="med"/>
                      <a:tailEnd type="none" w="med" len="med"/>
                    </a:lnL>
                    <a:lnR w="6350" cap="flat" cmpd="sng" algn="ctr">
                      <a:solidFill>
                        <a:srgbClr val="DCDCDC"/>
                      </a:solidFill>
                      <a:prstDash val="solid"/>
                      <a:round/>
                      <a:headEnd type="none" w="med" len="med"/>
                      <a:tailEnd type="none" w="med" len="med"/>
                    </a:lnR>
                    <a:lnT w="6350" cap="flat" cmpd="sng" algn="ctr">
                      <a:solidFill>
                        <a:srgbClr val="DCDCDC"/>
                      </a:solidFill>
                      <a:prstDash val="solid"/>
                      <a:round/>
                      <a:headEnd type="none" w="med" len="med"/>
                      <a:tailEnd type="none" w="med" len="med"/>
                    </a:lnT>
                    <a:lnB w="6350" cap="flat" cmpd="sng" algn="ctr">
                      <a:solidFill>
                        <a:srgbClr val="DCDCDC"/>
                      </a:solidFill>
                      <a:prstDash val="solid"/>
                      <a:round/>
                      <a:headEnd type="none" w="med" len="med"/>
                      <a:tailEnd type="none" w="med" len="med"/>
                    </a:lnB>
                    <a:solidFill>
                      <a:srgbClr val="FFFFFF"/>
                    </a:solidFill>
                  </a:tcPr>
                </a:tc>
                <a:tc>
                  <a:txBody>
                    <a:bodyPr/>
                    <a:lstStyle/>
                    <a:p>
                      <a:pPr marL="0" indent="0" algn="l">
                        <a:buNone/>
                      </a:pPr>
                      <a:r>
                        <a:rPr lang="en-US" sz="1150" dirty="0">
                          <a:solidFill>
                            <a:srgbClr val="444444"/>
                          </a:solidFill>
                          <a:latin typeface="Arial" pitchFamily="34" charset="0"/>
                          <a:ea typeface="Arial" pitchFamily="34" charset="-122"/>
                          <a:cs typeface="Arial" pitchFamily="34" charset="-120"/>
                        </a:rPr>
                        <a:t>same direction</a:t>
                      </a:r>
                      <a:endParaRPr lang="en-US" sz="1150" dirty="0">
                        <a:latin typeface="Arial" charset="0"/>
                        <a:ea typeface="Arial" charset="0"/>
                        <a:cs typeface="Arial" charset="0"/>
                      </a:endParaRPr>
                    </a:p>
                  </a:txBody>
                  <a:tcPr marL="109728" marR="109728" marT="36576" marB="36576" anchor="ctr">
                    <a:lnL w="6350" cap="flat" cmpd="sng" algn="ctr">
                      <a:solidFill>
                        <a:srgbClr val="DCDCDC"/>
                      </a:solidFill>
                      <a:prstDash val="solid"/>
                      <a:round/>
                      <a:headEnd type="none" w="med" len="med"/>
                      <a:tailEnd type="none" w="med" len="med"/>
                    </a:lnL>
                    <a:lnR w="6350" cap="flat" cmpd="sng" algn="ctr">
                      <a:solidFill>
                        <a:srgbClr val="DCDCDC"/>
                      </a:solidFill>
                      <a:prstDash val="solid"/>
                      <a:round/>
                      <a:headEnd type="none" w="med" len="med"/>
                      <a:tailEnd type="none" w="med" len="med"/>
                    </a:lnR>
                    <a:lnT w="6350" cap="flat" cmpd="sng" algn="ctr">
                      <a:solidFill>
                        <a:srgbClr val="DCDCDC"/>
                      </a:solidFill>
                      <a:prstDash val="solid"/>
                      <a:round/>
                      <a:headEnd type="none" w="med" len="med"/>
                      <a:tailEnd type="none" w="med" len="med"/>
                    </a:lnT>
                    <a:lnB w="6350" cap="flat" cmpd="sng" algn="ctr">
                      <a:solidFill>
                        <a:srgbClr val="DCDCDC"/>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29184">
                <a:tc>
                  <a:txBody>
                    <a:bodyPr/>
                    <a:lstStyle/>
                    <a:p>
                      <a:pPr marL="0" indent="0" algn="l">
                        <a:buNone/>
                      </a:pPr>
                      <a:r>
                        <a:rPr lang="en-US" sz="1150" dirty="0">
                          <a:solidFill>
                            <a:srgbClr val="444444"/>
                          </a:solidFill>
                          <a:latin typeface="Arial" pitchFamily="34" charset="0"/>
                          <a:ea typeface="Arial" pitchFamily="34" charset="-122"/>
                          <a:cs typeface="Arial" pitchFamily="34" charset="-120"/>
                        </a:rPr>
                        <a:t>Refined facts changing label</a:t>
                      </a:r>
                      <a:endParaRPr lang="en-US" sz="1150" dirty="0">
                        <a:latin typeface="Arial" charset="0"/>
                        <a:ea typeface="Arial" charset="0"/>
                        <a:cs typeface="Arial" charset="0"/>
                      </a:endParaRPr>
                    </a:p>
                  </a:txBody>
                  <a:tcPr marL="109728" marR="109728" marT="36576" marB="36576" anchor="ctr">
                    <a:lnL w="6350" cap="flat" cmpd="sng" algn="ctr">
                      <a:solidFill>
                        <a:srgbClr val="DCDCDC"/>
                      </a:solidFill>
                      <a:prstDash val="solid"/>
                      <a:round/>
                      <a:headEnd type="none" w="med" len="med"/>
                      <a:tailEnd type="none" w="med" len="med"/>
                    </a:lnL>
                    <a:lnR w="6350" cap="flat" cmpd="sng" algn="ctr">
                      <a:solidFill>
                        <a:srgbClr val="DCDCDC"/>
                      </a:solidFill>
                      <a:prstDash val="solid"/>
                      <a:round/>
                      <a:headEnd type="none" w="med" len="med"/>
                      <a:tailEnd type="none" w="med" len="med"/>
                    </a:lnR>
                    <a:lnT w="6350" cap="flat" cmpd="sng" algn="ctr">
                      <a:solidFill>
                        <a:srgbClr val="DCDCDC"/>
                      </a:solidFill>
                      <a:prstDash val="solid"/>
                      <a:round/>
                      <a:headEnd type="none" w="med" len="med"/>
                      <a:tailEnd type="none" w="med" len="med"/>
                    </a:lnT>
                    <a:lnB w="6350" cap="flat" cmpd="sng" algn="ctr">
                      <a:solidFill>
                        <a:srgbClr val="DCDCDC"/>
                      </a:solidFill>
                      <a:prstDash val="solid"/>
                      <a:round/>
                      <a:headEnd type="none" w="med" len="med"/>
                      <a:tailEnd type="none" w="med" len="med"/>
                    </a:lnB>
                    <a:solidFill>
                      <a:srgbClr val="FFFFFF"/>
                    </a:solidFill>
                  </a:tcPr>
                </a:tc>
                <a:tc>
                  <a:txBody>
                    <a:bodyPr/>
                    <a:lstStyle/>
                    <a:p>
                      <a:pPr marL="0" indent="0" algn="l">
                        <a:buNone/>
                      </a:pPr>
                      <a:r>
                        <a:rPr lang="en-US" sz="1150" dirty="0">
                          <a:solidFill>
                            <a:srgbClr val="444444"/>
                          </a:solidFill>
                          <a:latin typeface="Arial" pitchFamily="34" charset="0"/>
                          <a:ea typeface="Arial" pitchFamily="34" charset="-122"/>
                          <a:cs typeface="Arial" pitchFamily="34" charset="-120"/>
                        </a:rPr>
                        <a:t>24.9%</a:t>
                      </a:r>
                      <a:endParaRPr lang="en-US" sz="1150" dirty="0">
                        <a:latin typeface="Arial" charset="0"/>
                        <a:ea typeface="Arial" charset="0"/>
                        <a:cs typeface="Arial" charset="0"/>
                      </a:endParaRPr>
                    </a:p>
                  </a:txBody>
                  <a:tcPr marL="109728" marR="109728" marT="36576" marB="36576" anchor="ctr">
                    <a:lnL w="6350" cap="flat" cmpd="sng" algn="ctr">
                      <a:solidFill>
                        <a:srgbClr val="DCDCDC"/>
                      </a:solidFill>
                      <a:prstDash val="solid"/>
                      <a:round/>
                      <a:headEnd type="none" w="med" len="med"/>
                      <a:tailEnd type="none" w="med" len="med"/>
                    </a:lnL>
                    <a:lnR w="6350" cap="flat" cmpd="sng" algn="ctr">
                      <a:solidFill>
                        <a:srgbClr val="DCDCDC"/>
                      </a:solidFill>
                      <a:prstDash val="solid"/>
                      <a:round/>
                      <a:headEnd type="none" w="med" len="med"/>
                      <a:tailEnd type="none" w="med" len="med"/>
                    </a:lnR>
                    <a:lnT w="6350" cap="flat" cmpd="sng" algn="ctr">
                      <a:solidFill>
                        <a:srgbClr val="DCDCDC"/>
                      </a:solidFill>
                      <a:prstDash val="solid"/>
                      <a:round/>
                      <a:headEnd type="none" w="med" len="med"/>
                      <a:tailEnd type="none" w="med" len="med"/>
                    </a:lnT>
                    <a:lnB w="6350" cap="flat" cmpd="sng" algn="ctr">
                      <a:solidFill>
                        <a:srgbClr val="DCDCDC"/>
                      </a:solidFill>
                      <a:prstDash val="solid"/>
                      <a:round/>
                      <a:headEnd type="none" w="med" len="med"/>
                      <a:tailEnd type="none" w="med" len="med"/>
                    </a:lnB>
                    <a:solidFill>
                      <a:srgbClr val="FFFFFF"/>
                    </a:solidFill>
                  </a:tcPr>
                </a:tc>
                <a:tc>
                  <a:txBody>
                    <a:bodyPr/>
                    <a:lstStyle/>
                    <a:p>
                      <a:pPr marL="0" indent="0" algn="l">
                        <a:buNone/>
                      </a:pPr>
                      <a:r>
                        <a:rPr lang="en-US" sz="1150" b="1" dirty="0">
                          <a:solidFill>
                            <a:srgbClr val="E90802"/>
                          </a:solidFill>
                          <a:latin typeface="Arial" pitchFamily="34" charset="0"/>
                          <a:ea typeface="Arial" pitchFamily="34" charset="-122"/>
                          <a:cs typeface="Arial" pitchFamily="34" charset="-120"/>
                        </a:rPr>
                        <a:t>39.3% · 45.6% · 34.7%</a:t>
                      </a:r>
                      <a:endParaRPr lang="en-US" sz="1150" dirty="0">
                        <a:latin typeface="Arial" charset="0"/>
                        <a:ea typeface="Arial" charset="0"/>
                        <a:cs typeface="Arial" charset="0"/>
                      </a:endParaRPr>
                    </a:p>
                  </a:txBody>
                  <a:tcPr marL="109728" marR="109728" marT="36576" marB="36576" anchor="ctr">
                    <a:lnL w="6350" cap="flat" cmpd="sng" algn="ctr">
                      <a:solidFill>
                        <a:srgbClr val="DCDCDC"/>
                      </a:solidFill>
                      <a:prstDash val="solid"/>
                      <a:round/>
                      <a:headEnd type="none" w="med" len="med"/>
                      <a:tailEnd type="none" w="med" len="med"/>
                    </a:lnL>
                    <a:lnR w="6350" cap="flat" cmpd="sng" algn="ctr">
                      <a:solidFill>
                        <a:srgbClr val="DCDCDC"/>
                      </a:solidFill>
                      <a:prstDash val="solid"/>
                      <a:round/>
                      <a:headEnd type="none" w="med" len="med"/>
                      <a:tailEnd type="none" w="med" len="med"/>
                    </a:lnR>
                    <a:lnT w="6350" cap="flat" cmpd="sng" algn="ctr">
                      <a:solidFill>
                        <a:srgbClr val="DCDCDC"/>
                      </a:solidFill>
                      <a:prstDash val="solid"/>
                      <a:round/>
                      <a:headEnd type="none" w="med" len="med"/>
                      <a:tailEnd type="none" w="med" len="med"/>
                    </a:lnT>
                    <a:lnB w="6350" cap="flat" cmpd="sng" algn="ctr">
                      <a:solidFill>
                        <a:srgbClr val="DCDCDC"/>
                      </a:solidFill>
                      <a:prstDash val="solid"/>
                      <a:round/>
                      <a:headEnd type="none" w="med" len="med"/>
                      <a:tailEnd type="none" w="med" len="med"/>
                    </a:lnB>
                    <a:solidFill>
                      <a:srgbClr val="FFFFFF"/>
                    </a:solidFill>
                  </a:tcPr>
                </a:tc>
                <a:tc>
                  <a:txBody>
                    <a:bodyPr/>
                    <a:lstStyle/>
                    <a:p>
                      <a:pPr marL="0" indent="0" algn="l">
                        <a:buNone/>
                      </a:pPr>
                      <a:r>
                        <a:rPr lang="en-US" sz="1150" dirty="0">
                          <a:solidFill>
                            <a:srgbClr val="444444"/>
                          </a:solidFill>
                          <a:latin typeface="Arial" pitchFamily="34" charset="0"/>
                          <a:ea typeface="Arial" pitchFamily="34" charset="-122"/>
                          <a:cs typeface="Arial" pitchFamily="34" charset="-120"/>
                        </a:rPr>
                        <a:t>same phenomenon</a:t>
                      </a:r>
                      <a:endParaRPr lang="en-US" sz="1150" dirty="0">
                        <a:latin typeface="Arial" charset="0"/>
                        <a:ea typeface="Arial" charset="0"/>
                        <a:cs typeface="Arial" charset="0"/>
                      </a:endParaRPr>
                    </a:p>
                  </a:txBody>
                  <a:tcPr marL="109728" marR="109728" marT="36576" marB="36576" anchor="ctr">
                    <a:lnL w="6350" cap="flat" cmpd="sng" algn="ctr">
                      <a:solidFill>
                        <a:srgbClr val="DCDCDC"/>
                      </a:solidFill>
                      <a:prstDash val="solid"/>
                      <a:round/>
                      <a:headEnd type="none" w="med" len="med"/>
                      <a:tailEnd type="none" w="med" len="med"/>
                    </a:lnL>
                    <a:lnR w="6350" cap="flat" cmpd="sng" algn="ctr">
                      <a:solidFill>
                        <a:srgbClr val="DCDCDC"/>
                      </a:solidFill>
                      <a:prstDash val="solid"/>
                      <a:round/>
                      <a:headEnd type="none" w="med" len="med"/>
                      <a:tailEnd type="none" w="med" len="med"/>
                    </a:lnR>
                    <a:lnT w="6350" cap="flat" cmpd="sng" algn="ctr">
                      <a:solidFill>
                        <a:srgbClr val="DCDCDC"/>
                      </a:solidFill>
                      <a:prstDash val="solid"/>
                      <a:round/>
                      <a:headEnd type="none" w="med" len="med"/>
                      <a:tailEnd type="none" w="med" len="med"/>
                    </a:lnT>
                    <a:lnB w="6350" cap="flat" cmpd="sng" algn="ctr">
                      <a:solidFill>
                        <a:srgbClr val="DCDCDC"/>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329184">
                <a:tc>
                  <a:txBody>
                    <a:bodyPr/>
                    <a:lstStyle/>
                    <a:p>
                      <a:pPr marL="0" indent="0" algn="l">
                        <a:buNone/>
                      </a:pPr>
                      <a:r>
                        <a:rPr lang="en-US" sz="1150" dirty="0">
                          <a:solidFill>
                            <a:srgbClr val="444444"/>
                          </a:solidFill>
                          <a:latin typeface="Arial" pitchFamily="34" charset="0"/>
                          <a:ea typeface="Arial" pitchFamily="34" charset="-122"/>
                          <a:cs typeface="Arial" pitchFamily="34" charset="-120"/>
                        </a:rPr>
                        <a:t>Direction of that change</a:t>
                      </a:r>
                      <a:endParaRPr lang="en-US" sz="1150" dirty="0">
                        <a:latin typeface="Arial" charset="0"/>
                        <a:ea typeface="Arial" charset="0"/>
                        <a:cs typeface="Arial" charset="0"/>
                      </a:endParaRPr>
                    </a:p>
                  </a:txBody>
                  <a:tcPr marL="109728" marR="109728" marT="36576" marB="36576" anchor="ctr">
                    <a:lnL w="6350" cap="flat" cmpd="sng" algn="ctr">
                      <a:solidFill>
                        <a:srgbClr val="DCDCDC"/>
                      </a:solidFill>
                      <a:prstDash val="solid"/>
                      <a:round/>
                      <a:headEnd type="none" w="med" len="med"/>
                      <a:tailEnd type="none" w="med" len="med"/>
                    </a:lnL>
                    <a:lnR w="6350" cap="flat" cmpd="sng" algn="ctr">
                      <a:solidFill>
                        <a:srgbClr val="DCDCDC"/>
                      </a:solidFill>
                      <a:prstDash val="solid"/>
                      <a:round/>
                      <a:headEnd type="none" w="med" len="med"/>
                      <a:tailEnd type="none" w="med" len="med"/>
                    </a:lnR>
                    <a:lnT w="6350" cap="flat" cmpd="sng" algn="ctr">
                      <a:solidFill>
                        <a:srgbClr val="DCDCDC"/>
                      </a:solidFill>
                      <a:prstDash val="solid"/>
                      <a:round/>
                      <a:headEnd type="none" w="med" len="med"/>
                      <a:tailEnd type="none" w="med" len="med"/>
                    </a:lnT>
                    <a:lnB w="6350" cap="flat" cmpd="sng" algn="ctr">
                      <a:solidFill>
                        <a:srgbClr val="DCDCDC"/>
                      </a:solidFill>
                      <a:prstDash val="solid"/>
                      <a:round/>
                      <a:headEnd type="none" w="med" len="med"/>
                      <a:tailEnd type="none" w="med" len="med"/>
                    </a:lnB>
                    <a:solidFill>
                      <a:srgbClr val="FFFFFF"/>
                    </a:solidFill>
                  </a:tcPr>
                </a:tc>
                <a:tc>
                  <a:txBody>
                    <a:bodyPr/>
                    <a:lstStyle/>
                    <a:p>
                      <a:pPr marL="0" indent="0" algn="l">
                        <a:buNone/>
                      </a:pPr>
                      <a:r>
                        <a:rPr lang="en-US" sz="1150" dirty="0">
                          <a:solidFill>
                            <a:srgbClr val="444444"/>
                          </a:solidFill>
                          <a:latin typeface="Arial" pitchFamily="34" charset="0"/>
                          <a:ea typeface="Arial" pitchFamily="34" charset="-122"/>
                          <a:cs typeface="Arial" pitchFamily="34" charset="-120"/>
                        </a:rPr>
                        <a:t>supported ↓, contradicted ↑</a:t>
                      </a:r>
                      <a:endParaRPr lang="en-US" sz="1150" dirty="0">
                        <a:latin typeface="Arial" charset="0"/>
                        <a:ea typeface="Arial" charset="0"/>
                        <a:cs typeface="Arial" charset="0"/>
                      </a:endParaRPr>
                    </a:p>
                  </a:txBody>
                  <a:tcPr marL="109728" marR="109728" marT="36576" marB="36576" anchor="ctr">
                    <a:lnL w="6350" cap="flat" cmpd="sng" algn="ctr">
                      <a:solidFill>
                        <a:srgbClr val="DCDCDC"/>
                      </a:solidFill>
                      <a:prstDash val="solid"/>
                      <a:round/>
                      <a:headEnd type="none" w="med" len="med"/>
                      <a:tailEnd type="none" w="med" len="med"/>
                    </a:lnL>
                    <a:lnR w="6350" cap="flat" cmpd="sng" algn="ctr">
                      <a:solidFill>
                        <a:srgbClr val="DCDCDC"/>
                      </a:solidFill>
                      <a:prstDash val="solid"/>
                      <a:round/>
                      <a:headEnd type="none" w="med" len="med"/>
                      <a:tailEnd type="none" w="med" len="med"/>
                    </a:lnR>
                    <a:lnT w="6350" cap="flat" cmpd="sng" algn="ctr">
                      <a:solidFill>
                        <a:srgbClr val="DCDCDC"/>
                      </a:solidFill>
                      <a:prstDash val="solid"/>
                      <a:round/>
                      <a:headEnd type="none" w="med" len="med"/>
                      <a:tailEnd type="none" w="med" len="med"/>
                    </a:lnT>
                    <a:lnB w="6350" cap="flat" cmpd="sng" algn="ctr">
                      <a:solidFill>
                        <a:srgbClr val="DCDCDC"/>
                      </a:solidFill>
                      <a:prstDash val="solid"/>
                      <a:round/>
                      <a:headEnd type="none" w="med" len="med"/>
                      <a:tailEnd type="none" w="med" len="med"/>
                    </a:lnB>
                    <a:solidFill>
                      <a:srgbClr val="FFFFFF"/>
                    </a:solidFill>
                  </a:tcPr>
                </a:tc>
                <a:tc>
                  <a:txBody>
                    <a:bodyPr/>
                    <a:lstStyle/>
                    <a:p>
                      <a:pPr marL="0" indent="0" algn="l">
                        <a:buNone/>
                      </a:pPr>
                      <a:r>
                        <a:rPr lang="en-US" sz="1150" dirty="0">
                          <a:solidFill>
                            <a:srgbClr val="444444"/>
                          </a:solidFill>
                          <a:latin typeface="Arial" pitchFamily="34" charset="0"/>
                          <a:ea typeface="Arial" pitchFamily="34" charset="-122"/>
                          <a:cs typeface="Arial" pitchFamily="34" charset="-120"/>
                        </a:rPr>
                        <a:t>both, once judges are 7–8B</a:t>
                      </a:r>
                      <a:endParaRPr lang="en-US" sz="1150" dirty="0">
                        <a:latin typeface="Arial" charset="0"/>
                        <a:ea typeface="Arial" charset="0"/>
                        <a:cs typeface="Arial" charset="0"/>
                      </a:endParaRPr>
                    </a:p>
                  </a:txBody>
                  <a:tcPr marL="109728" marR="109728" marT="36576" marB="36576" anchor="ctr">
                    <a:lnL w="6350" cap="flat" cmpd="sng" algn="ctr">
                      <a:solidFill>
                        <a:srgbClr val="DCDCDC"/>
                      </a:solidFill>
                      <a:prstDash val="solid"/>
                      <a:round/>
                      <a:headEnd type="none" w="med" len="med"/>
                      <a:tailEnd type="none" w="med" len="med"/>
                    </a:lnL>
                    <a:lnR w="6350" cap="flat" cmpd="sng" algn="ctr">
                      <a:solidFill>
                        <a:srgbClr val="DCDCDC"/>
                      </a:solidFill>
                      <a:prstDash val="solid"/>
                      <a:round/>
                      <a:headEnd type="none" w="med" len="med"/>
                      <a:tailEnd type="none" w="med" len="med"/>
                    </a:lnR>
                    <a:lnT w="6350" cap="flat" cmpd="sng" algn="ctr">
                      <a:solidFill>
                        <a:srgbClr val="DCDCDC"/>
                      </a:solidFill>
                      <a:prstDash val="solid"/>
                      <a:round/>
                      <a:headEnd type="none" w="med" len="med"/>
                      <a:tailEnd type="none" w="med" len="med"/>
                    </a:lnT>
                    <a:lnB w="6350" cap="flat" cmpd="sng" algn="ctr">
                      <a:solidFill>
                        <a:srgbClr val="DCDCDC"/>
                      </a:solidFill>
                      <a:prstDash val="solid"/>
                      <a:round/>
                      <a:headEnd type="none" w="med" len="med"/>
                      <a:tailEnd type="none" w="med" len="med"/>
                    </a:lnB>
                    <a:solidFill>
                      <a:srgbClr val="FFFFFF"/>
                    </a:solidFill>
                  </a:tcPr>
                </a:tc>
                <a:tc>
                  <a:txBody>
                    <a:bodyPr/>
                    <a:lstStyle/>
                    <a:p>
                      <a:pPr marL="0" indent="0" algn="l">
                        <a:buNone/>
                      </a:pPr>
                      <a:r>
                        <a:rPr lang="en-US" sz="1150" b="1" dirty="0">
                          <a:solidFill>
                            <a:srgbClr val="E90802"/>
                          </a:solidFill>
                          <a:latin typeface="Arial" pitchFamily="34" charset="0"/>
                          <a:ea typeface="Arial" pitchFamily="34" charset="-122"/>
                          <a:cs typeface="Arial" pitchFamily="34" charset="-120"/>
                        </a:rPr>
                        <a:t>reproduced</a:t>
                      </a:r>
                      <a:endParaRPr lang="en-US" sz="1150" dirty="0">
                        <a:latin typeface="Arial" charset="0"/>
                        <a:ea typeface="Arial" charset="0"/>
                        <a:cs typeface="Arial" charset="0"/>
                      </a:endParaRPr>
                    </a:p>
                  </a:txBody>
                  <a:tcPr marL="109728" marR="109728" marT="36576" marB="36576" anchor="ctr">
                    <a:lnL w="6350" cap="flat" cmpd="sng" algn="ctr">
                      <a:solidFill>
                        <a:srgbClr val="DCDCDC"/>
                      </a:solidFill>
                      <a:prstDash val="solid"/>
                      <a:round/>
                      <a:headEnd type="none" w="med" len="med"/>
                      <a:tailEnd type="none" w="med" len="med"/>
                    </a:lnL>
                    <a:lnR w="6350" cap="flat" cmpd="sng" algn="ctr">
                      <a:solidFill>
                        <a:srgbClr val="DCDCDC"/>
                      </a:solidFill>
                      <a:prstDash val="solid"/>
                      <a:round/>
                      <a:headEnd type="none" w="med" len="med"/>
                      <a:tailEnd type="none" w="med" len="med"/>
                    </a:lnR>
                    <a:lnT w="6350" cap="flat" cmpd="sng" algn="ctr">
                      <a:solidFill>
                        <a:srgbClr val="DCDCDC"/>
                      </a:solidFill>
                      <a:prstDash val="solid"/>
                      <a:round/>
                      <a:headEnd type="none" w="med" len="med"/>
                      <a:tailEnd type="none" w="med" len="med"/>
                    </a:lnT>
                    <a:lnB w="6350" cap="flat" cmpd="sng" algn="ctr">
                      <a:solidFill>
                        <a:srgbClr val="DCDCDC"/>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329184">
                <a:tc>
                  <a:txBody>
                    <a:bodyPr/>
                    <a:lstStyle/>
                    <a:p>
                      <a:pPr marL="0" indent="0" algn="l">
                        <a:buNone/>
                      </a:pPr>
                      <a:r>
                        <a:rPr lang="en-US" sz="1150" dirty="0">
                          <a:solidFill>
                            <a:srgbClr val="444444"/>
                          </a:solidFill>
                          <a:latin typeface="Arial" pitchFamily="34" charset="0"/>
                          <a:ea typeface="Arial" pitchFamily="34" charset="-122"/>
                          <a:cs typeface="Arial" pitchFamily="34" charset="-120"/>
                        </a:rPr>
                        <a:t>Precision</a:t>
                      </a:r>
                      <a:endParaRPr lang="en-US" sz="1150" dirty="0">
                        <a:latin typeface="Arial" charset="0"/>
                        <a:ea typeface="Arial" charset="0"/>
                        <a:cs typeface="Arial" charset="0"/>
                      </a:endParaRPr>
                    </a:p>
                  </a:txBody>
                  <a:tcPr marL="109728" marR="109728" marT="36576" marB="36576" anchor="ctr">
                    <a:lnL w="6350" cap="flat" cmpd="sng" algn="ctr">
                      <a:solidFill>
                        <a:srgbClr val="DCDCDC"/>
                      </a:solidFill>
                      <a:prstDash val="solid"/>
                      <a:round/>
                      <a:headEnd type="none" w="med" len="med"/>
                      <a:tailEnd type="none" w="med" len="med"/>
                    </a:lnL>
                    <a:lnR w="6350" cap="flat" cmpd="sng" algn="ctr">
                      <a:solidFill>
                        <a:srgbClr val="DCDCDC"/>
                      </a:solidFill>
                      <a:prstDash val="solid"/>
                      <a:round/>
                      <a:headEnd type="none" w="med" len="med"/>
                      <a:tailEnd type="none" w="med" len="med"/>
                    </a:lnR>
                    <a:lnT w="6350" cap="flat" cmpd="sng" algn="ctr">
                      <a:solidFill>
                        <a:srgbClr val="DCDCDC"/>
                      </a:solidFill>
                      <a:prstDash val="solid"/>
                      <a:round/>
                      <a:headEnd type="none" w="med" len="med"/>
                      <a:tailEnd type="none" w="med" len="med"/>
                    </a:lnT>
                    <a:lnB w="6350" cap="flat" cmpd="sng" algn="ctr">
                      <a:solidFill>
                        <a:srgbClr val="DCDCDC"/>
                      </a:solidFill>
                      <a:prstDash val="solid"/>
                      <a:round/>
                      <a:headEnd type="none" w="med" len="med"/>
                      <a:tailEnd type="none" w="med" len="med"/>
                    </a:lnB>
                    <a:solidFill>
                      <a:srgbClr val="FFFFFF"/>
                    </a:solidFill>
                  </a:tcPr>
                </a:tc>
                <a:tc>
                  <a:txBody>
                    <a:bodyPr/>
                    <a:lstStyle/>
                    <a:p>
                      <a:pPr marL="0" indent="0" algn="l">
                        <a:buNone/>
                      </a:pPr>
                      <a:r>
                        <a:rPr lang="en-US" sz="1150" dirty="0">
                          <a:solidFill>
                            <a:srgbClr val="444444"/>
                          </a:solidFill>
                          <a:latin typeface="Arial" pitchFamily="34" charset="0"/>
                          <a:ea typeface="Arial" pitchFamily="34" charset="-122"/>
                          <a:cs typeface="Arial" pitchFamily="34" charset="-120"/>
                        </a:rPr>
                        <a:t>82.8 (Qwen2.5-32B)</a:t>
                      </a:r>
                      <a:endParaRPr lang="en-US" sz="1150" dirty="0">
                        <a:latin typeface="Arial" charset="0"/>
                        <a:ea typeface="Arial" charset="0"/>
                        <a:cs typeface="Arial" charset="0"/>
                      </a:endParaRPr>
                    </a:p>
                  </a:txBody>
                  <a:tcPr marL="109728" marR="109728" marT="36576" marB="36576" anchor="ctr">
                    <a:lnL w="6350" cap="flat" cmpd="sng" algn="ctr">
                      <a:solidFill>
                        <a:srgbClr val="DCDCDC"/>
                      </a:solidFill>
                      <a:prstDash val="solid"/>
                      <a:round/>
                      <a:headEnd type="none" w="med" len="med"/>
                      <a:tailEnd type="none" w="med" len="med"/>
                    </a:lnL>
                    <a:lnR w="6350" cap="flat" cmpd="sng" algn="ctr">
                      <a:solidFill>
                        <a:srgbClr val="DCDCDC"/>
                      </a:solidFill>
                      <a:prstDash val="solid"/>
                      <a:round/>
                      <a:headEnd type="none" w="med" len="med"/>
                      <a:tailEnd type="none" w="med" len="med"/>
                    </a:lnR>
                    <a:lnT w="6350" cap="flat" cmpd="sng" algn="ctr">
                      <a:solidFill>
                        <a:srgbClr val="DCDCDC"/>
                      </a:solidFill>
                      <a:prstDash val="solid"/>
                      <a:round/>
                      <a:headEnd type="none" w="med" len="med"/>
                      <a:tailEnd type="none" w="med" len="med"/>
                    </a:lnT>
                    <a:lnB w="6350" cap="flat" cmpd="sng" algn="ctr">
                      <a:solidFill>
                        <a:srgbClr val="DCDCDC"/>
                      </a:solidFill>
                      <a:prstDash val="solid"/>
                      <a:round/>
                      <a:headEnd type="none" w="med" len="med"/>
                      <a:tailEnd type="none" w="med" len="med"/>
                    </a:lnB>
                    <a:solidFill>
                      <a:srgbClr val="FFFFFF"/>
                    </a:solidFill>
                  </a:tcPr>
                </a:tc>
                <a:tc>
                  <a:txBody>
                    <a:bodyPr/>
                    <a:lstStyle/>
                    <a:p>
                      <a:pPr marL="0" indent="0" algn="l">
                        <a:buNone/>
                      </a:pPr>
                      <a:r>
                        <a:rPr lang="en-US" sz="1150" dirty="0">
                          <a:solidFill>
                            <a:srgbClr val="444444"/>
                          </a:solidFill>
                          <a:latin typeface="Arial" pitchFamily="34" charset="0"/>
                          <a:ea typeface="Arial" pitchFamily="34" charset="-122"/>
                          <a:cs typeface="Arial" pitchFamily="34" charset="-120"/>
                        </a:rPr>
                        <a:t>30.2 – 49.9 across runs</a:t>
                      </a:r>
                      <a:endParaRPr lang="en-US" sz="1150" dirty="0">
                        <a:latin typeface="Arial" charset="0"/>
                        <a:ea typeface="Arial" charset="0"/>
                        <a:cs typeface="Arial" charset="0"/>
                      </a:endParaRPr>
                    </a:p>
                  </a:txBody>
                  <a:tcPr marL="109728" marR="109728" marT="36576" marB="36576" anchor="ctr">
                    <a:lnL w="6350" cap="flat" cmpd="sng" algn="ctr">
                      <a:solidFill>
                        <a:srgbClr val="DCDCDC"/>
                      </a:solidFill>
                      <a:prstDash val="solid"/>
                      <a:round/>
                      <a:headEnd type="none" w="med" len="med"/>
                      <a:tailEnd type="none" w="med" len="med"/>
                    </a:lnL>
                    <a:lnR w="6350" cap="flat" cmpd="sng" algn="ctr">
                      <a:solidFill>
                        <a:srgbClr val="DCDCDC"/>
                      </a:solidFill>
                      <a:prstDash val="solid"/>
                      <a:round/>
                      <a:headEnd type="none" w="med" len="med"/>
                      <a:tailEnd type="none" w="med" len="med"/>
                    </a:lnR>
                    <a:lnT w="6350" cap="flat" cmpd="sng" algn="ctr">
                      <a:solidFill>
                        <a:srgbClr val="DCDCDC"/>
                      </a:solidFill>
                      <a:prstDash val="solid"/>
                      <a:round/>
                      <a:headEnd type="none" w="med" len="med"/>
                      <a:tailEnd type="none" w="med" len="med"/>
                    </a:lnT>
                    <a:lnB w="6350" cap="flat" cmpd="sng" algn="ctr">
                      <a:solidFill>
                        <a:srgbClr val="DCDCDC"/>
                      </a:solidFill>
                      <a:prstDash val="solid"/>
                      <a:round/>
                      <a:headEnd type="none" w="med" len="med"/>
                      <a:tailEnd type="none" w="med" len="med"/>
                    </a:lnB>
                    <a:solidFill>
                      <a:srgbClr val="FFFFFF"/>
                    </a:solidFill>
                  </a:tcPr>
                </a:tc>
                <a:tc>
                  <a:txBody>
                    <a:bodyPr/>
                    <a:lstStyle/>
                    <a:p>
                      <a:pPr marL="0" indent="0" algn="l">
                        <a:buNone/>
                      </a:pPr>
                      <a:r>
                        <a:rPr lang="en-US" sz="1150" dirty="0">
                          <a:solidFill>
                            <a:srgbClr val="444444"/>
                          </a:solidFill>
                          <a:latin typeface="Arial" pitchFamily="34" charset="0"/>
                          <a:ea typeface="Arial" pitchFamily="34" charset="-122"/>
                          <a:cs typeface="Arial" pitchFamily="34" charset="-120"/>
                        </a:rPr>
                        <a:t>not comparable</a:t>
                      </a:r>
                      <a:endParaRPr lang="en-US" sz="1150" dirty="0">
                        <a:latin typeface="Arial" charset="0"/>
                        <a:ea typeface="Arial" charset="0"/>
                        <a:cs typeface="Arial" charset="0"/>
                      </a:endParaRPr>
                    </a:p>
                  </a:txBody>
                  <a:tcPr marL="109728" marR="109728" marT="36576" marB="36576" anchor="ctr">
                    <a:lnL w="6350" cap="flat" cmpd="sng" algn="ctr">
                      <a:solidFill>
                        <a:srgbClr val="DCDCDC"/>
                      </a:solidFill>
                      <a:prstDash val="solid"/>
                      <a:round/>
                      <a:headEnd type="none" w="med" len="med"/>
                      <a:tailEnd type="none" w="med" len="med"/>
                    </a:lnL>
                    <a:lnR w="6350" cap="flat" cmpd="sng" algn="ctr">
                      <a:solidFill>
                        <a:srgbClr val="DCDCDC"/>
                      </a:solidFill>
                      <a:prstDash val="solid"/>
                      <a:round/>
                      <a:headEnd type="none" w="med" len="med"/>
                      <a:tailEnd type="none" w="med" len="med"/>
                    </a:lnR>
                    <a:lnT w="6350" cap="flat" cmpd="sng" algn="ctr">
                      <a:solidFill>
                        <a:srgbClr val="DCDCDC"/>
                      </a:solidFill>
                      <a:prstDash val="solid"/>
                      <a:round/>
                      <a:headEnd type="none" w="med" len="med"/>
                      <a:tailEnd type="none" w="med" len="med"/>
                    </a:lnT>
                    <a:lnB w="6350" cap="flat" cmpd="sng" algn="ctr">
                      <a:solidFill>
                        <a:srgbClr val="DCDCDC"/>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329184">
                <a:tc>
                  <a:txBody>
                    <a:bodyPr/>
                    <a:lstStyle/>
                    <a:p>
                      <a:pPr marL="0" indent="0" algn="l">
                        <a:buNone/>
                      </a:pPr>
                      <a:r>
                        <a:rPr lang="en-US" sz="1150" dirty="0">
                          <a:solidFill>
                            <a:srgbClr val="444444"/>
                          </a:solidFill>
                          <a:latin typeface="Arial" pitchFamily="34" charset="0"/>
                          <a:ea typeface="Arial" pitchFamily="34" charset="-122"/>
                          <a:cs typeface="Arial" pitchFamily="34" charset="-120"/>
                        </a:rPr>
                        <a:t>Recall</a:t>
                      </a:r>
                      <a:endParaRPr lang="en-US" sz="1150" dirty="0">
                        <a:latin typeface="Arial" charset="0"/>
                        <a:ea typeface="Arial" charset="0"/>
                        <a:cs typeface="Arial" charset="0"/>
                      </a:endParaRPr>
                    </a:p>
                  </a:txBody>
                  <a:tcPr marL="109728" marR="109728" marT="36576" marB="36576" anchor="ctr">
                    <a:lnL w="6350" cap="flat" cmpd="sng" algn="ctr">
                      <a:solidFill>
                        <a:srgbClr val="DCDCDC"/>
                      </a:solidFill>
                      <a:prstDash val="solid"/>
                      <a:round/>
                      <a:headEnd type="none" w="med" len="med"/>
                      <a:tailEnd type="none" w="med" len="med"/>
                    </a:lnL>
                    <a:lnR w="6350" cap="flat" cmpd="sng" algn="ctr">
                      <a:solidFill>
                        <a:srgbClr val="DCDCDC"/>
                      </a:solidFill>
                      <a:prstDash val="solid"/>
                      <a:round/>
                      <a:headEnd type="none" w="med" len="med"/>
                      <a:tailEnd type="none" w="med" len="med"/>
                    </a:lnR>
                    <a:lnT w="6350" cap="flat" cmpd="sng" algn="ctr">
                      <a:solidFill>
                        <a:srgbClr val="DCDCDC"/>
                      </a:solidFill>
                      <a:prstDash val="solid"/>
                      <a:round/>
                      <a:headEnd type="none" w="med" len="med"/>
                      <a:tailEnd type="none" w="med" len="med"/>
                    </a:lnT>
                    <a:lnB w="6350" cap="flat" cmpd="sng" algn="ctr">
                      <a:solidFill>
                        <a:srgbClr val="DCDCDC"/>
                      </a:solidFill>
                      <a:prstDash val="solid"/>
                      <a:round/>
                      <a:headEnd type="none" w="med" len="med"/>
                      <a:tailEnd type="none" w="med" len="med"/>
                    </a:lnB>
                    <a:solidFill>
                      <a:srgbClr val="FFFFFF"/>
                    </a:solidFill>
                  </a:tcPr>
                </a:tc>
                <a:tc>
                  <a:txBody>
                    <a:bodyPr/>
                    <a:lstStyle/>
                    <a:p>
                      <a:pPr marL="0" indent="0" algn="l">
                        <a:buNone/>
                      </a:pPr>
                      <a:r>
                        <a:rPr lang="en-US" sz="1150" dirty="0">
                          <a:solidFill>
                            <a:srgbClr val="444444"/>
                          </a:solidFill>
                          <a:latin typeface="Arial" pitchFamily="34" charset="0"/>
                          <a:ea typeface="Arial" pitchFamily="34" charset="-122"/>
                          <a:cs typeface="Arial" pitchFamily="34" charset="-120"/>
                        </a:rPr>
                        <a:t>44.1</a:t>
                      </a:r>
                      <a:endParaRPr lang="en-US" sz="1150" dirty="0">
                        <a:latin typeface="Arial" charset="0"/>
                        <a:ea typeface="Arial" charset="0"/>
                        <a:cs typeface="Arial" charset="0"/>
                      </a:endParaRPr>
                    </a:p>
                  </a:txBody>
                  <a:tcPr marL="109728" marR="109728" marT="36576" marB="36576" anchor="ctr">
                    <a:lnL w="6350" cap="flat" cmpd="sng" algn="ctr">
                      <a:solidFill>
                        <a:srgbClr val="DCDCDC"/>
                      </a:solidFill>
                      <a:prstDash val="solid"/>
                      <a:round/>
                      <a:headEnd type="none" w="med" len="med"/>
                      <a:tailEnd type="none" w="med" len="med"/>
                    </a:lnL>
                    <a:lnR w="6350" cap="flat" cmpd="sng" algn="ctr">
                      <a:solidFill>
                        <a:srgbClr val="DCDCDC"/>
                      </a:solidFill>
                      <a:prstDash val="solid"/>
                      <a:round/>
                      <a:headEnd type="none" w="med" len="med"/>
                      <a:tailEnd type="none" w="med" len="med"/>
                    </a:lnR>
                    <a:lnT w="6350" cap="flat" cmpd="sng" algn="ctr">
                      <a:solidFill>
                        <a:srgbClr val="DCDCDC"/>
                      </a:solidFill>
                      <a:prstDash val="solid"/>
                      <a:round/>
                      <a:headEnd type="none" w="med" len="med"/>
                      <a:tailEnd type="none" w="med" len="med"/>
                    </a:lnT>
                    <a:lnB w="6350" cap="flat" cmpd="sng" algn="ctr">
                      <a:solidFill>
                        <a:srgbClr val="DCDCDC"/>
                      </a:solidFill>
                      <a:prstDash val="solid"/>
                      <a:round/>
                      <a:headEnd type="none" w="med" len="med"/>
                      <a:tailEnd type="none" w="med" len="med"/>
                    </a:lnB>
                    <a:solidFill>
                      <a:srgbClr val="FFFFFF"/>
                    </a:solidFill>
                  </a:tcPr>
                </a:tc>
                <a:tc>
                  <a:txBody>
                    <a:bodyPr/>
                    <a:lstStyle/>
                    <a:p>
                      <a:pPr marL="0" indent="0" algn="l">
                        <a:buNone/>
                      </a:pPr>
                      <a:r>
                        <a:rPr lang="en-US" sz="1150" dirty="0">
                          <a:solidFill>
                            <a:srgbClr val="444444"/>
                          </a:solidFill>
                          <a:latin typeface="Arial" pitchFamily="34" charset="0"/>
                          <a:ea typeface="Arial" pitchFamily="34" charset="-122"/>
                          <a:cs typeface="Arial" pitchFamily="34" charset="-120"/>
                        </a:rPr>
                        <a:t>40.8 at 3B · 28.1 at 7B</a:t>
                      </a:r>
                      <a:endParaRPr lang="en-US" sz="1150" dirty="0">
                        <a:latin typeface="Arial" charset="0"/>
                        <a:ea typeface="Arial" charset="0"/>
                        <a:cs typeface="Arial" charset="0"/>
                      </a:endParaRPr>
                    </a:p>
                  </a:txBody>
                  <a:tcPr marL="109728" marR="109728" marT="36576" marB="36576" anchor="ctr">
                    <a:lnL w="6350" cap="flat" cmpd="sng" algn="ctr">
                      <a:solidFill>
                        <a:srgbClr val="DCDCDC"/>
                      </a:solidFill>
                      <a:prstDash val="solid"/>
                      <a:round/>
                      <a:headEnd type="none" w="med" len="med"/>
                      <a:tailEnd type="none" w="med" len="med"/>
                    </a:lnL>
                    <a:lnR w="6350" cap="flat" cmpd="sng" algn="ctr">
                      <a:solidFill>
                        <a:srgbClr val="DCDCDC"/>
                      </a:solidFill>
                      <a:prstDash val="solid"/>
                      <a:round/>
                      <a:headEnd type="none" w="med" len="med"/>
                      <a:tailEnd type="none" w="med" len="med"/>
                    </a:lnR>
                    <a:lnT w="6350" cap="flat" cmpd="sng" algn="ctr">
                      <a:solidFill>
                        <a:srgbClr val="DCDCDC"/>
                      </a:solidFill>
                      <a:prstDash val="solid"/>
                      <a:round/>
                      <a:headEnd type="none" w="med" len="med"/>
                      <a:tailEnd type="none" w="med" len="med"/>
                    </a:lnT>
                    <a:lnB w="6350" cap="flat" cmpd="sng" algn="ctr">
                      <a:solidFill>
                        <a:srgbClr val="DCDCDC"/>
                      </a:solidFill>
                      <a:prstDash val="solid"/>
                      <a:round/>
                      <a:headEnd type="none" w="med" len="med"/>
                      <a:tailEnd type="none" w="med" len="med"/>
                    </a:lnB>
                    <a:solidFill>
                      <a:srgbClr val="FFFFFF"/>
                    </a:solidFill>
                  </a:tcPr>
                </a:tc>
                <a:tc>
                  <a:txBody>
                    <a:bodyPr/>
                    <a:lstStyle/>
                    <a:p>
                      <a:pPr marL="0" indent="0" algn="l">
                        <a:buNone/>
                      </a:pPr>
                      <a:r>
                        <a:rPr lang="en-US" sz="1150" dirty="0">
                          <a:solidFill>
                            <a:srgbClr val="444444"/>
                          </a:solidFill>
                          <a:latin typeface="Arial" pitchFamily="34" charset="0"/>
                          <a:ea typeface="Arial" pitchFamily="34" charset="-122"/>
                          <a:cs typeface="Arial" pitchFamily="34" charset="-120"/>
                        </a:rPr>
                        <a:t>judge-dependent</a:t>
                      </a:r>
                      <a:endParaRPr lang="en-US" sz="1150" dirty="0">
                        <a:latin typeface="Arial" charset="0"/>
                        <a:ea typeface="Arial" charset="0"/>
                        <a:cs typeface="Arial" charset="0"/>
                      </a:endParaRPr>
                    </a:p>
                  </a:txBody>
                  <a:tcPr marL="109728" marR="109728" marT="36576" marB="36576" anchor="ctr">
                    <a:lnL w="6350" cap="flat" cmpd="sng" algn="ctr">
                      <a:solidFill>
                        <a:srgbClr val="DCDCDC"/>
                      </a:solidFill>
                      <a:prstDash val="solid"/>
                      <a:round/>
                      <a:headEnd type="none" w="med" len="med"/>
                      <a:tailEnd type="none" w="med" len="med"/>
                    </a:lnL>
                    <a:lnR w="6350" cap="flat" cmpd="sng" algn="ctr">
                      <a:solidFill>
                        <a:srgbClr val="DCDCDC"/>
                      </a:solidFill>
                      <a:prstDash val="solid"/>
                      <a:round/>
                      <a:headEnd type="none" w="med" len="med"/>
                      <a:tailEnd type="none" w="med" len="med"/>
                    </a:lnR>
                    <a:lnT w="6350" cap="flat" cmpd="sng" algn="ctr">
                      <a:solidFill>
                        <a:srgbClr val="DCDCDC"/>
                      </a:solidFill>
                      <a:prstDash val="solid"/>
                      <a:round/>
                      <a:headEnd type="none" w="med" len="med"/>
                      <a:tailEnd type="none" w="med" len="med"/>
                    </a:lnT>
                    <a:lnB w="6350" cap="flat" cmpd="sng" algn="ctr">
                      <a:solidFill>
                        <a:srgbClr val="DCDCDC"/>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329184">
                <a:tc>
                  <a:txBody>
                    <a:bodyPr/>
                    <a:lstStyle/>
                    <a:p>
                      <a:pPr marL="0" indent="0" algn="l">
                        <a:buNone/>
                      </a:pPr>
                      <a:r>
                        <a:rPr lang="en-US" sz="1150" dirty="0">
                          <a:solidFill>
                            <a:srgbClr val="444444"/>
                          </a:solidFill>
                          <a:latin typeface="Arial" pitchFamily="34" charset="0"/>
                          <a:ea typeface="Arial" pitchFamily="34" charset="-122"/>
                          <a:cs typeface="Arial" pitchFamily="34" charset="-120"/>
                        </a:rPr>
                        <a:t>F1</a:t>
                      </a:r>
                      <a:endParaRPr lang="en-US" sz="1150" dirty="0">
                        <a:latin typeface="Arial" charset="0"/>
                        <a:ea typeface="Arial" charset="0"/>
                        <a:cs typeface="Arial" charset="0"/>
                      </a:endParaRPr>
                    </a:p>
                  </a:txBody>
                  <a:tcPr marL="109728" marR="109728" marT="36576" marB="36576" anchor="ctr">
                    <a:lnL w="6350" cap="flat" cmpd="sng" algn="ctr">
                      <a:solidFill>
                        <a:srgbClr val="DCDCDC"/>
                      </a:solidFill>
                      <a:prstDash val="solid"/>
                      <a:round/>
                      <a:headEnd type="none" w="med" len="med"/>
                      <a:tailEnd type="none" w="med" len="med"/>
                    </a:lnL>
                    <a:lnR w="6350" cap="flat" cmpd="sng" algn="ctr">
                      <a:solidFill>
                        <a:srgbClr val="DCDCDC"/>
                      </a:solidFill>
                      <a:prstDash val="solid"/>
                      <a:round/>
                      <a:headEnd type="none" w="med" len="med"/>
                      <a:tailEnd type="none" w="med" len="med"/>
                    </a:lnR>
                    <a:lnT w="6350" cap="flat" cmpd="sng" algn="ctr">
                      <a:solidFill>
                        <a:srgbClr val="DCDCDC"/>
                      </a:solidFill>
                      <a:prstDash val="solid"/>
                      <a:round/>
                      <a:headEnd type="none" w="med" len="med"/>
                      <a:tailEnd type="none" w="med" len="med"/>
                    </a:lnT>
                    <a:lnB w="6350" cap="flat" cmpd="sng" algn="ctr">
                      <a:solidFill>
                        <a:srgbClr val="DCDCDC"/>
                      </a:solidFill>
                      <a:prstDash val="solid"/>
                      <a:round/>
                      <a:headEnd type="none" w="med" len="med"/>
                      <a:tailEnd type="none" w="med" len="med"/>
                    </a:lnB>
                    <a:solidFill>
                      <a:srgbClr val="FFFFFF"/>
                    </a:solidFill>
                  </a:tcPr>
                </a:tc>
                <a:tc>
                  <a:txBody>
                    <a:bodyPr/>
                    <a:lstStyle/>
                    <a:p>
                      <a:pPr marL="0" indent="0" algn="l">
                        <a:buNone/>
                      </a:pPr>
                      <a:r>
                        <a:rPr lang="en-US" sz="1150" dirty="0">
                          <a:solidFill>
                            <a:srgbClr val="444444"/>
                          </a:solidFill>
                          <a:latin typeface="Arial" pitchFamily="34" charset="0"/>
                          <a:ea typeface="Arial" pitchFamily="34" charset="-122"/>
                          <a:cs typeface="Arial" pitchFamily="34" charset="-120"/>
                        </a:rPr>
                        <a:t>57.5</a:t>
                      </a:r>
                      <a:endParaRPr lang="en-US" sz="1150" dirty="0">
                        <a:latin typeface="Arial" charset="0"/>
                        <a:ea typeface="Arial" charset="0"/>
                        <a:cs typeface="Arial" charset="0"/>
                      </a:endParaRPr>
                    </a:p>
                  </a:txBody>
                  <a:tcPr marL="109728" marR="109728" marT="36576" marB="36576" anchor="ctr">
                    <a:lnL w="6350" cap="flat" cmpd="sng" algn="ctr">
                      <a:solidFill>
                        <a:srgbClr val="DCDCDC"/>
                      </a:solidFill>
                      <a:prstDash val="solid"/>
                      <a:round/>
                      <a:headEnd type="none" w="med" len="med"/>
                      <a:tailEnd type="none" w="med" len="med"/>
                    </a:lnL>
                    <a:lnR w="6350" cap="flat" cmpd="sng" algn="ctr">
                      <a:solidFill>
                        <a:srgbClr val="DCDCDC"/>
                      </a:solidFill>
                      <a:prstDash val="solid"/>
                      <a:round/>
                      <a:headEnd type="none" w="med" len="med"/>
                      <a:tailEnd type="none" w="med" len="med"/>
                    </a:lnR>
                    <a:lnT w="6350" cap="flat" cmpd="sng" algn="ctr">
                      <a:solidFill>
                        <a:srgbClr val="DCDCDC"/>
                      </a:solidFill>
                      <a:prstDash val="solid"/>
                      <a:round/>
                      <a:headEnd type="none" w="med" len="med"/>
                      <a:tailEnd type="none" w="med" len="med"/>
                    </a:lnT>
                    <a:lnB w="6350" cap="flat" cmpd="sng" algn="ctr">
                      <a:solidFill>
                        <a:srgbClr val="DCDCDC"/>
                      </a:solidFill>
                      <a:prstDash val="solid"/>
                      <a:round/>
                      <a:headEnd type="none" w="med" len="med"/>
                      <a:tailEnd type="none" w="med" len="med"/>
                    </a:lnB>
                    <a:solidFill>
                      <a:srgbClr val="FFFFFF"/>
                    </a:solidFill>
                  </a:tcPr>
                </a:tc>
                <a:tc>
                  <a:txBody>
                    <a:bodyPr/>
                    <a:lstStyle/>
                    <a:p>
                      <a:pPr marL="0" indent="0" algn="l">
                        <a:buNone/>
                      </a:pPr>
                      <a:r>
                        <a:rPr lang="en-US" sz="1150" dirty="0">
                          <a:solidFill>
                            <a:srgbClr val="444444"/>
                          </a:solidFill>
                          <a:latin typeface="Arial" pitchFamily="34" charset="0"/>
                          <a:ea typeface="Arial" pitchFamily="34" charset="-122"/>
                          <a:cs typeface="Arial" pitchFamily="34" charset="-120"/>
                        </a:rPr>
                        <a:t>34.7 – 40.9 across runs</a:t>
                      </a:r>
                      <a:endParaRPr lang="en-US" sz="1150" dirty="0">
                        <a:latin typeface="Arial" charset="0"/>
                        <a:ea typeface="Arial" charset="0"/>
                        <a:cs typeface="Arial" charset="0"/>
                      </a:endParaRPr>
                    </a:p>
                  </a:txBody>
                  <a:tcPr marL="109728" marR="109728" marT="36576" marB="36576" anchor="ctr">
                    <a:lnL w="6350" cap="flat" cmpd="sng" algn="ctr">
                      <a:solidFill>
                        <a:srgbClr val="DCDCDC"/>
                      </a:solidFill>
                      <a:prstDash val="solid"/>
                      <a:round/>
                      <a:headEnd type="none" w="med" len="med"/>
                      <a:tailEnd type="none" w="med" len="med"/>
                    </a:lnL>
                    <a:lnR w="6350" cap="flat" cmpd="sng" algn="ctr">
                      <a:solidFill>
                        <a:srgbClr val="DCDCDC"/>
                      </a:solidFill>
                      <a:prstDash val="solid"/>
                      <a:round/>
                      <a:headEnd type="none" w="med" len="med"/>
                      <a:tailEnd type="none" w="med" len="med"/>
                    </a:lnR>
                    <a:lnT w="6350" cap="flat" cmpd="sng" algn="ctr">
                      <a:solidFill>
                        <a:srgbClr val="DCDCDC"/>
                      </a:solidFill>
                      <a:prstDash val="solid"/>
                      <a:round/>
                      <a:headEnd type="none" w="med" len="med"/>
                      <a:tailEnd type="none" w="med" len="med"/>
                    </a:lnT>
                    <a:lnB w="6350" cap="flat" cmpd="sng" algn="ctr">
                      <a:solidFill>
                        <a:srgbClr val="DCDCDC"/>
                      </a:solidFill>
                      <a:prstDash val="solid"/>
                      <a:round/>
                      <a:headEnd type="none" w="med" len="med"/>
                      <a:tailEnd type="none" w="med" len="med"/>
                    </a:lnB>
                    <a:solidFill>
                      <a:srgbClr val="FFFFFF"/>
                    </a:solidFill>
                  </a:tcPr>
                </a:tc>
                <a:tc>
                  <a:txBody>
                    <a:bodyPr/>
                    <a:lstStyle/>
                    <a:p>
                      <a:pPr marL="0" indent="0" algn="l">
                        <a:buNone/>
                      </a:pPr>
                      <a:r>
                        <a:rPr lang="en-US" sz="1150" dirty="0">
                          <a:solidFill>
                            <a:srgbClr val="444444"/>
                          </a:solidFill>
                          <a:latin typeface="Arial" pitchFamily="34" charset="0"/>
                          <a:ea typeface="Arial" pitchFamily="34" charset="-122"/>
                          <a:cs typeface="Arial" pitchFamily="34" charset="-120"/>
                        </a:rPr>
                        <a:t>not comparable</a:t>
                      </a:r>
                      <a:endParaRPr lang="en-US" sz="1150" dirty="0">
                        <a:latin typeface="Arial" charset="0"/>
                        <a:ea typeface="Arial" charset="0"/>
                        <a:cs typeface="Arial" charset="0"/>
                      </a:endParaRPr>
                    </a:p>
                  </a:txBody>
                  <a:tcPr marL="109728" marR="109728" marT="36576" marB="36576" anchor="ctr">
                    <a:lnL w="6350" cap="flat" cmpd="sng" algn="ctr">
                      <a:solidFill>
                        <a:srgbClr val="DCDCDC"/>
                      </a:solidFill>
                      <a:prstDash val="solid"/>
                      <a:round/>
                      <a:headEnd type="none" w="med" len="med"/>
                      <a:tailEnd type="none" w="med" len="med"/>
                    </a:lnL>
                    <a:lnR w="6350" cap="flat" cmpd="sng" algn="ctr">
                      <a:solidFill>
                        <a:srgbClr val="DCDCDC"/>
                      </a:solidFill>
                      <a:prstDash val="solid"/>
                      <a:round/>
                      <a:headEnd type="none" w="med" len="med"/>
                      <a:tailEnd type="none" w="med" len="med"/>
                    </a:lnR>
                    <a:lnT w="6350" cap="flat" cmpd="sng" algn="ctr">
                      <a:solidFill>
                        <a:srgbClr val="DCDCDC"/>
                      </a:solidFill>
                      <a:prstDash val="solid"/>
                      <a:round/>
                      <a:headEnd type="none" w="med" len="med"/>
                      <a:tailEnd type="none" w="med" len="med"/>
                    </a:lnT>
                    <a:lnB w="6350" cap="flat" cmpd="sng" algn="ctr">
                      <a:solidFill>
                        <a:srgbClr val="DCDCDC"/>
                      </a:solidFill>
                      <a:prstDash val="solid"/>
                      <a:round/>
                      <a:headEnd type="none" w="med" len="med"/>
                      <a:tailEnd type="none" w="med" len="med"/>
                    </a:lnB>
                    <a:solidFill>
                      <a:srgbClr val="FFFFFF"/>
                    </a:solidFill>
                  </a:tcPr>
                </a:tc>
                <a:extLst>
                  <a:ext uri="{0D108BD9-81ED-4DB2-BD59-A6C34878D82A}">
                    <a16:rowId xmlns:a16="http://schemas.microsoft.com/office/drawing/2014/main" val="10008"/>
                  </a:ext>
                </a:extLst>
              </a:tr>
            </a:tbl>
          </a:graphicData>
        </a:graphic>
      </p:graphicFrame>
      <p:sp>
        <p:nvSpPr>
          <p:cNvPr id="7" name="vs0"/>
          <p:cNvSpPr/>
          <p:nvPr/>
        </p:nvSpPr>
        <p:spPr>
          <a:xfrm>
            <a:off x="548640" y="4892040"/>
            <a:ext cx="3505200" cy="1097280"/>
          </a:xfrm>
          <a:prstGeom prst="rect">
            <a:avLst/>
          </a:prstGeom>
          <a:solidFill>
            <a:srgbClr val="F4F4F4"/>
          </a:solidFill>
          <a:ln w="9525">
            <a:solidFill>
              <a:srgbClr val="F4F4F4"/>
            </a:solidFill>
            <a:prstDash val="solid"/>
          </a:ln>
        </p:spPr>
        <p:txBody>
          <a:bodyPr/>
          <a:lstStyle/>
          <a:p>
            <a:endParaRPr lang="en-IN"/>
          </a:p>
        </p:txBody>
      </p:sp>
      <p:sp>
        <p:nvSpPr>
          <p:cNvPr id="8" name="vs0-edge"/>
          <p:cNvSpPr/>
          <p:nvPr/>
        </p:nvSpPr>
        <p:spPr>
          <a:xfrm>
            <a:off x="548640" y="4892040"/>
            <a:ext cx="29261" cy="1097280"/>
          </a:xfrm>
          <a:prstGeom prst="rect">
            <a:avLst/>
          </a:prstGeom>
          <a:solidFill>
            <a:srgbClr val="E90802"/>
          </a:solidFill>
          <a:ln w="3175">
            <a:solidFill>
              <a:srgbClr val="E90802"/>
            </a:solidFill>
            <a:prstDash val="solid"/>
          </a:ln>
        </p:spPr>
        <p:txBody>
          <a:bodyPr/>
          <a:lstStyle/>
          <a:p>
            <a:endParaRPr lang="en-IN"/>
          </a:p>
        </p:txBody>
      </p:sp>
      <p:sp>
        <p:nvSpPr>
          <p:cNvPr id="9" name="vs0-h"/>
          <p:cNvSpPr txBox="1"/>
          <p:nvPr/>
        </p:nvSpPr>
        <p:spPr>
          <a:xfrm>
            <a:off x="804672" y="5093208"/>
            <a:ext cx="2993136" cy="292608"/>
          </a:xfrm>
          <a:prstGeom prst="rect">
            <a:avLst/>
          </a:prstGeom>
          <a:noFill/>
          <a:ln/>
        </p:spPr>
        <p:txBody>
          <a:bodyPr wrap="square" lIns="0" tIns="0" rIns="0" bIns="0" rtlCol="0" anchor="ctr"/>
          <a:lstStyle/>
          <a:p>
            <a:pPr marL="0" indent="0">
              <a:buNone/>
            </a:pPr>
            <a:r>
              <a:rPr lang="en-US" sz="1350" b="1" dirty="0">
                <a:solidFill>
                  <a:srgbClr val="E90802"/>
                </a:solidFill>
              </a:rPr>
              <a:t>Reproduced</a:t>
            </a:r>
            <a:endParaRPr lang="en-US" sz="1350" dirty="0"/>
          </a:p>
        </p:txBody>
      </p:sp>
      <p:sp>
        <p:nvSpPr>
          <p:cNvPr id="10" name="vs0-b"/>
          <p:cNvSpPr txBox="1"/>
          <p:nvPr/>
        </p:nvSpPr>
        <p:spPr>
          <a:xfrm>
            <a:off x="804672" y="5495544"/>
            <a:ext cx="2993136" cy="329184"/>
          </a:xfrm>
          <a:prstGeom prst="rect">
            <a:avLst/>
          </a:prstGeom>
          <a:noFill/>
          <a:ln/>
        </p:spPr>
        <p:txBody>
          <a:bodyPr wrap="square" lIns="0" tIns="0" rIns="0" bIns="0" rtlCol="0" anchor="t"/>
          <a:lstStyle/>
          <a:p>
            <a:pPr marL="0" indent="0">
              <a:lnSpc>
                <a:spcPct val="125000"/>
              </a:lnSpc>
              <a:buNone/>
            </a:pPr>
            <a:r>
              <a:rPr lang="en-US" sz="1150" dirty="0">
                <a:solidFill>
                  <a:srgbClr val="444444"/>
                </a:solidFill>
                <a:latin typeface="Arial" pitchFamily="34" charset="0"/>
                <a:ea typeface="Arial" pitchFamily="34" charset="-122"/>
                <a:cs typeface="Arial" pitchFamily="34" charset="-120"/>
              </a:rPr>
              <a:t>Both problem types detected and repaired; verdicts change after refinement.</a:t>
            </a:r>
            <a:endParaRPr lang="en-US" sz="1150" dirty="0"/>
          </a:p>
        </p:txBody>
      </p:sp>
      <p:sp>
        <p:nvSpPr>
          <p:cNvPr id="11" name="vs1"/>
          <p:cNvSpPr/>
          <p:nvPr/>
        </p:nvSpPr>
        <p:spPr>
          <a:xfrm>
            <a:off x="4328160" y="4892040"/>
            <a:ext cx="3505200" cy="1097280"/>
          </a:xfrm>
          <a:prstGeom prst="rect">
            <a:avLst/>
          </a:prstGeom>
          <a:solidFill>
            <a:srgbClr val="F4F4F4"/>
          </a:solidFill>
          <a:ln w="9525">
            <a:solidFill>
              <a:srgbClr val="F4F4F4"/>
            </a:solidFill>
            <a:prstDash val="solid"/>
          </a:ln>
        </p:spPr>
        <p:txBody>
          <a:bodyPr/>
          <a:lstStyle/>
          <a:p>
            <a:endParaRPr lang="en-IN"/>
          </a:p>
        </p:txBody>
      </p:sp>
      <p:sp>
        <p:nvSpPr>
          <p:cNvPr id="12" name="vs1-h"/>
          <p:cNvSpPr txBox="1"/>
          <p:nvPr/>
        </p:nvSpPr>
        <p:spPr>
          <a:xfrm>
            <a:off x="4584192" y="5093208"/>
            <a:ext cx="2993136" cy="292608"/>
          </a:xfrm>
          <a:prstGeom prst="rect">
            <a:avLst/>
          </a:prstGeom>
          <a:noFill/>
          <a:ln/>
        </p:spPr>
        <p:txBody>
          <a:bodyPr wrap="square" lIns="0" tIns="0" rIns="0" bIns="0" rtlCol="0" anchor="ctr"/>
          <a:lstStyle/>
          <a:p>
            <a:pPr marL="0" indent="0">
              <a:buNone/>
            </a:pPr>
            <a:r>
              <a:rPr lang="en-US" sz="1350" b="1" dirty="0">
                <a:solidFill>
                  <a:srgbClr val="1A1A1A"/>
                </a:solidFill>
              </a:rPr>
              <a:t>Not reproduced</a:t>
            </a:r>
            <a:endParaRPr lang="en-US" sz="1350" dirty="0"/>
          </a:p>
        </p:txBody>
      </p:sp>
      <p:sp>
        <p:nvSpPr>
          <p:cNvPr id="13" name="vs1-b"/>
          <p:cNvSpPr txBox="1"/>
          <p:nvPr/>
        </p:nvSpPr>
        <p:spPr>
          <a:xfrm>
            <a:off x="4584192" y="5495544"/>
            <a:ext cx="2993136" cy="329184"/>
          </a:xfrm>
          <a:prstGeom prst="rect">
            <a:avLst/>
          </a:prstGeom>
          <a:noFill/>
          <a:ln/>
        </p:spPr>
        <p:txBody>
          <a:bodyPr wrap="square" lIns="0" tIns="0" rIns="0" bIns="0" rtlCol="0" anchor="t"/>
          <a:lstStyle/>
          <a:p>
            <a:pPr marL="0" indent="0">
              <a:lnSpc>
                <a:spcPct val="125000"/>
              </a:lnSpc>
              <a:buNone/>
            </a:pPr>
            <a:r>
              <a:rPr lang="en-US" sz="1150" dirty="0">
                <a:solidFill>
                  <a:srgbClr val="444444"/>
                </a:solidFill>
                <a:latin typeface="Arial" pitchFamily="34" charset="0"/>
                <a:ea typeface="Arial" pitchFamily="34" charset="-122"/>
                <a:cs typeface="Arial" pitchFamily="34" charset="-120"/>
              </a:rPr>
              <a:t>Absolute precision, recall and F1 — different models, different evidence, 12 prompts.</a:t>
            </a:r>
            <a:endParaRPr lang="en-US" sz="1150" dirty="0"/>
          </a:p>
        </p:txBody>
      </p:sp>
      <p:sp>
        <p:nvSpPr>
          <p:cNvPr id="6" name="vs2"/>
          <p:cNvSpPr/>
          <p:nvPr/>
        </p:nvSpPr>
        <p:spPr>
          <a:xfrm>
            <a:off x="8107680" y="4892040"/>
            <a:ext cx="3505200" cy="1097280"/>
          </a:xfrm>
          <a:prstGeom prst="rect">
            <a:avLst/>
          </a:prstGeom>
          <a:solidFill>
            <a:srgbClr val="F4F4F4"/>
          </a:solidFill>
          <a:ln w="9525">
            <a:solidFill>
              <a:srgbClr val="F4F4F4"/>
            </a:solidFill>
            <a:prstDash val="solid"/>
          </a:ln>
        </p:spPr>
        <p:txBody>
          <a:bodyPr/>
          <a:lstStyle/>
          <a:p>
            <a:endParaRPr lang="en-IN"/>
          </a:p>
        </p:txBody>
      </p:sp>
      <p:sp>
        <p:nvSpPr>
          <p:cNvPr id="15" name="vs2-h"/>
          <p:cNvSpPr txBox="1"/>
          <p:nvPr/>
        </p:nvSpPr>
        <p:spPr>
          <a:xfrm>
            <a:off x="8363712" y="5093208"/>
            <a:ext cx="2993136" cy="292608"/>
          </a:xfrm>
          <a:prstGeom prst="rect">
            <a:avLst/>
          </a:prstGeom>
          <a:noFill/>
          <a:ln/>
        </p:spPr>
        <p:txBody>
          <a:bodyPr wrap="square" lIns="0" tIns="0" rIns="0" bIns="0" rtlCol="0" anchor="ctr"/>
          <a:lstStyle/>
          <a:p>
            <a:pPr marL="0" indent="0">
              <a:buNone/>
            </a:pPr>
            <a:r>
              <a:rPr lang="en-US" sz="1350" b="1" dirty="0">
                <a:solidFill>
                  <a:srgbClr val="1A1A1A"/>
                </a:solidFill>
              </a:rPr>
              <a:t>Now explained</a:t>
            </a:r>
            <a:endParaRPr lang="en-US" sz="1350" dirty="0"/>
          </a:p>
        </p:txBody>
      </p:sp>
      <p:sp>
        <p:nvSpPr>
          <p:cNvPr id="16" name="vs2-b"/>
          <p:cNvSpPr txBox="1"/>
          <p:nvPr/>
        </p:nvSpPr>
        <p:spPr>
          <a:xfrm>
            <a:off x="8363712" y="5495544"/>
            <a:ext cx="2993136" cy="329184"/>
          </a:xfrm>
          <a:prstGeom prst="rect">
            <a:avLst/>
          </a:prstGeom>
          <a:noFill/>
          <a:ln/>
        </p:spPr>
        <p:txBody>
          <a:bodyPr wrap="square" lIns="0" tIns="0" rIns="0" bIns="0" rtlCol="0" anchor="t"/>
          <a:lstStyle/>
          <a:p>
            <a:pPr marL="0" indent="0">
              <a:lnSpc>
                <a:spcPct val="125000"/>
              </a:lnSpc>
              <a:buNone/>
            </a:pPr>
            <a:r>
              <a:rPr lang="en-US" sz="1150" dirty="0">
                <a:solidFill>
                  <a:srgbClr val="444444"/>
                </a:solidFill>
                <a:latin typeface="Arial" pitchFamily="34" charset="0"/>
                <a:ea typeface="Arial" pitchFamily="34" charset="-122"/>
                <a:cs typeface="Arial" pitchFamily="34" charset="-120"/>
              </a:rPr>
              <a:t>Our low baseline incomplete rate was the judge, not the extractor.</a:t>
            </a:r>
            <a:endParaRPr lang="en-US" sz="1150" dirty="0"/>
          </a:p>
        </p:txBody>
      </p:sp>
      <p:sp>
        <p:nvSpPr>
          <p:cNvPr id="25" name="Slide Number Placeholder 0"/>
          <p:cNvSpPr>
            <a:spLocks noGrp="1"/>
          </p:cNvSpPr>
          <p:nvPr>
            <p:ph type="sldNum" sz="quarter" idx="4294967295"/>
          </p:nvPr>
        </p:nvSpPr>
        <p:spPr>
          <a:xfrm>
            <a:off x="11338560" y="6327648"/>
            <a:ext cx="365760" cy="256032"/>
          </a:xfrm>
          <a:prstGeom prst="rect">
            <a:avLst/>
          </a:prstGeom>
          <a:extLst>
            <a:ext uri="{C572A759-6A51-4108-AA02-DFA0A04FC94B}">
              <ma14:wrappingTextBoxFlag xmlns:ma14="http://schemas.microsoft.com/office/mac/drawingml/2011/main" xmlns="" val="0"/>
            </a:ext>
          </a:extLst>
        </p:spPr>
        <p:txBody>
          <a:bodyPr/>
          <a:lstStyle>
            <a:lvl1pPr>
              <a:defRPr sz="900">
                <a:solidFill>
                  <a:srgbClr val="767676"/>
                </a:solidFill>
              </a:defRPr>
            </a:lvl1pPr>
          </a:lstStyle>
          <a:p>
            <a:pPr algn="r"/>
            <a:fld id="{F7021451-1387-4CA6-816F-3879F97B5CBC}" type="slidenum">
              <a:rPr lang="en-US" b="0"/>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eyebrow"/>
          <p:cNvSpPr txBox="1"/>
          <p:nvPr/>
        </p:nvSpPr>
        <p:spPr>
          <a:xfrm>
            <a:off x="548640" y="347472"/>
            <a:ext cx="11064240" cy="237744"/>
          </a:xfrm>
          <a:prstGeom prst="rect">
            <a:avLst/>
          </a:prstGeom>
          <a:noFill/>
          <a:ln/>
        </p:spPr>
        <p:txBody>
          <a:bodyPr wrap="square" lIns="0" tIns="0" rIns="0" bIns="0" rtlCol="0" anchor="ctr"/>
          <a:lstStyle/>
          <a:p>
            <a:pPr marL="0" indent="0">
              <a:buNone/>
            </a:pPr>
            <a:r>
              <a:rPr lang="en-US" sz="1000" b="1" kern="0" spc="200" dirty="0">
                <a:solidFill>
                  <a:srgbClr val="E90802"/>
                </a:solidFill>
                <a:latin typeface="Arial" pitchFamily="34" charset="0"/>
                <a:ea typeface="Arial" pitchFamily="34" charset="-122"/>
                <a:cs typeface="Arial" pitchFamily="34" charset="-120"/>
              </a:rPr>
              <a:t>FUTURE PLANS &amp; NEXT STEPS</a:t>
            </a:r>
            <a:endParaRPr lang="en-US" sz="1000" dirty="0"/>
          </a:p>
        </p:txBody>
      </p:sp>
      <p:sp>
        <p:nvSpPr>
          <p:cNvPr id="3" name="title"/>
          <p:cNvSpPr txBox="1"/>
          <p:nvPr/>
        </p:nvSpPr>
        <p:spPr>
          <a:xfrm>
            <a:off x="548640" y="621792"/>
            <a:ext cx="11064240" cy="548640"/>
          </a:xfrm>
          <a:prstGeom prst="rect">
            <a:avLst/>
          </a:prstGeom>
          <a:noFill/>
          <a:ln/>
        </p:spPr>
        <p:txBody>
          <a:bodyPr wrap="square" lIns="0" tIns="0" rIns="0" bIns="0" rtlCol="0" anchor="ctr"/>
          <a:lstStyle/>
          <a:p>
            <a:pPr marL="0" indent="0">
              <a:lnSpc>
                <a:spcPct val="100000"/>
              </a:lnSpc>
              <a:buNone/>
            </a:pPr>
            <a:r>
              <a:rPr lang="en-US" sz="2700" b="1" dirty="0">
                <a:solidFill>
                  <a:srgbClr val="1A1A1A"/>
                </a:solidFill>
              </a:rPr>
              <a:t>Six changes to VeriFact itself, each argued from a measurement</a:t>
            </a:r>
            <a:endParaRPr lang="en-US" sz="2700" dirty="0"/>
          </a:p>
        </p:txBody>
      </p:sp>
      <p:sp>
        <p:nvSpPr>
          <p:cNvPr id="4" name="subtitle"/>
          <p:cNvSpPr txBox="1"/>
          <p:nvPr/>
        </p:nvSpPr>
        <p:spPr>
          <a:xfrm>
            <a:off x="548640" y="1188720"/>
            <a:ext cx="11064240" cy="256032"/>
          </a:xfrm>
          <a:prstGeom prst="rect">
            <a:avLst/>
          </a:prstGeom>
          <a:noFill/>
          <a:ln/>
        </p:spPr>
        <p:txBody>
          <a:bodyPr wrap="square" lIns="0" tIns="0" rIns="0" bIns="0" rtlCol="0" anchor="ctr"/>
          <a:lstStyle/>
          <a:p>
            <a:pPr marL="0" indent="0">
              <a:lnSpc>
                <a:spcPct val="100000"/>
              </a:lnSpc>
              <a:buNone/>
            </a:pPr>
            <a:r>
              <a:rPr lang="en-US" sz="1350" dirty="0">
                <a:solidFill>
                  <a:srgbClr val="767676"/>
                </a:solidFill>
                <a:latin typeface="Arial" pitchFamily="34" charset="0"/>
                <a:ea typeface="Arial" pitchFamily="34" charset="-122"/>
                <a:cs typeface="Arial" pitchFamily="34" charset="-120"/>
              </a:rPr>
              <a:t>Gaps in the method as published, not fixes to our reimplementation</a:t>
            </a:r>
            <a:endParaRPr lang="en-US" sz="1350" dirty="0"/>
          </a:p>
        </p:txBody>
      </p:sp>
      <p:sp>
        <p:nvSpPr>
          <p:cNvPr id="5" name="head-rule"/>
          <p:cNvSpPr/>
          <p:nvPr/>
        </p:nvSpPr>
        <p:spPr>
          <a:xfrm>
            <a:off x="548640" y="1499616"/>
            <a:ext cx="11064240" cy="10973"/>
          </a:xfrm>
          <a:prstGeom prst="rect">
            <a:avLst/>
          </a:prstGeom>
          <a:solidFill>
            <a:srgbClr val="DCDCDC"/>
          </a:solidFill>
          <a:ln w="3175">
            <a:solidFill>
              <a:srgbClr val="DCDCDC"/>
            </a:solidFill>
            <a:prstDash val="solid"/>
          </a:ln>
        </p:spPr>
        <p:txBody>
          <a:bodyPr/>
          <a:lstStyle/>
          <a:p>
            <a:endParaRPr lang="en-IN"/>
          </a:p>
        </p:txBody>
      </p:sp>
      <p:sp>
        <p:nvSpPr>
          <p:cNvPr id="25" name="Slide Number Placeholder 0"/>
          <p:cNvSpPr>
            <a:spLocks noGrp="1"/>
          </p:cNvSpPr>
          <p:nvPr>
            <p:ph type="sldNum" sz="quarter" idx="4294967295"/>
          </p:nvPr>
        </p:nvSpPr>
        <p:spPr>
          <a:xfrm>
            <a:off x="11338560" y="6327648"/>
            <a:ext cx="365760" cy="256032"/>
          </a:xfrm>
          <a:prstGeom prst="rect">
            <a:avLst/>
          </a:prstGeom>
          <a:extLst>
            <a:ext uri="{C572A759-6A51-4108-AA02-DFA0A04FC94B}">
              <ma14:wrappingTextBoxFlag xmlns:ma14="http://schemas.microsoft.com/office/mac/drawingml/2011/main" xmlns="" val="0"/>
            </a:ext>
          </a:extLst>
        </p:spPr>
        <p:txBody>
          <a:bodyPr/>
          <a:lstStyle>
            <a:lvl1pPr>
              <a:defRPr sz="900">
                <a:solidFill>
                  <a:srgbClr val="767676"/>
                </a:solidFill>
              </a:defRPr>
            </a:lvl1pPr>
          </a:lstStyle>
          <a:p>
            <a:pPr algn="r"/>
            <a:fld id="{F7021451-1387-4CA6-816F-3879F97B5CBC}" type="slidenum">
              <a:rPr lang="en-US" b="0"/>
              <a:t>14</a:t>
            </a:fld>
            <a:endParaRPr lang="en-US"/>
          </a:p>
        </p:txBody>
      </p:sp>
      <p:sp>
        <p:nvSpPr>
          <p:cNvPr id="26" name="p-card0"/>
          <p:cNvSpPr/>
          <p:nvPr/>
        </p:nvSpPr>
        <p:spPr>
          <a:xfrm>
            <a:off x="548640" y="1600200"/>
            <a:ext cx="3505200" cy="2103120"/>
          </a:xfrm>
          <a:prstGeom prst="rect">
            <a:avLst/>
          </a:prstGeom>
          <a:solidFill>
            <a:srgbClr val="FFFFFF"/>
          </a:solidFill>
          <a:ln w="9525">
            <a:solidFill>
              <a:srgbClr val="DCDC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p-h0"/>
          <p:cNvSpPr txBox="1"/>
          <p:nvPr/>
        </p:nvSpPr>
        <p:spPr>
          <a:xfrm>
            <a:off x="804672" y="1801368"/>
            <a:ext cx="2993136" cy="310896"/>
          </a:xfrm>
          <a:prstGeom prst="rect">
            <a:avLst/>
          </a:prstGeom>
          <a:noFill/>
        </p:spPr>
        <p:txBody>
          <a:bodyPr wrap="square" lIns="0" rIns="0" tIns="0" bIns="0" anchor="t">
            <a:spAutoFit/>
          </a:bodyPr>
          <a:lstStyle/>
          <a:p>
            <a:pPr>
              <a:lnSpc>
                <a:spcPct val="120000"/>
              </a:lnSpc>
            </a:pPr>
            <a:r>
              <a:rPr sz="1350" b="1">
                <a:solidFill>
                  <a:srgbClr val="1A1A1A"/>
                </a:solidFill>
                <a:latin typeface="Arial"/>
              </a:rPr>
              <a:t>Vote instead of union</a:t>
            </a:r>
          </a:p>
        </p:txBody>
      </p:sp>
      <p:sp>
        <p:nvSpPr>
          <p:cNvPr id="28" name="p-p0"/>
          <p:cNvSpPr txBox="1"/>
          <p:nvPr/>
        </p:nvSpPr>
        <p:spPr>
          <a:xfrm>
            <a:off x="804672" y="2221992"/>
            <a:ext cx="2993136" cy="548640"/>
          </a:xfrm>
          <a:prstGeom prst="rect">
            <a:avLst/>
          </a:prstGeom>
          <a:noFill/>
        </p:spPr>
        <p:txBody>
          <a:bodyPr wrap="square" lIns="0" rIns="0" tIns="0" bIns="0" anchor="t">
            <a:spAutoFit/>
          </a:bodyPr>
          <a:lstStyle/>
          <a:p>
            <a:pPr>
              <a:lnSpc>
                <a:spcPct val="120000"/>
              </a:lnSpc>
            </a:pPr>
            <a:r>
              <a:rPr sz="1050" b="0">
                <a:solidFill>
                  <a:srgbClr val="767676"/>
                </a:solidFill>
                <a:latin typeface="Arial"/>
              </a:rPr>
              <a:t>In the paper:  Unions every positive detection, because one LLM agrees with annotators at only κ = 0.33.</a:t>
            </a:r>
          </a:p>
        </p:txBody>
      </p:sp>
      <p:sp>
        <p:nvSpPr>
          <p:cNvPr id="29" name="p-e0"/>
          <p:cNvSpPr txBox="1"/>
          <p:nvPr/>
        </p:nvSpPr>
        <p:spPr>
          <a:xfrm>
            <a:off x="804672" y="2843784"/>
            <a:ext cx="2993136" cy="786384"/>
          </a:xfrm>
          <a:prstGeom prst="rect">
            <a:avLst/>
          </a:prstGeom>
          <a:noFill/>
        </p:spPr>
        <p:txBody>
          <a:bodyPr wrap="square" lIns="0" rIns="0" tIns="0" bIns="0" anchor="t">
            <a:spAutoFit/>
          </a:bodyPr>
          <a:lstStyle/>
          <a:p>
            <a:pPr>
              <a:lnSpc>
                <a:spcPct val="120000"/>
              </a:lnSpc>
            </a:pPr>
            <a:r>
              <a:rPr sz="1100" b="0">
                <a:solidFill>
                  <a:srgbClr val="444444"/>
                </a:solidFill>
                <a:latin typeface="Arial"/>
              </a:rPr>
              <a:t>Majority beat union on precision in all three configurations. For relations the union equalled Llama alone at every size — 51/51, 54/54, 21/21.</a:t>
            </a:r>
          </a:p>
        </p:txBody>
      </p:sp>
      <p:sp>
        <p:nvSpPr>
          <p:cNvPr id="30" name="p-card1"/>
          <p:cNvSpPr/>
          <p:nvPr/>
        </p:nvSpPr>
        <p:spPr>
          <a:xfrm>
            <a:off x="4328160" y="1600200"/>
            <a:ext cx="3505200" cy="2103120"/>
          </a:xfrm>
          <a:prstGeom prst="rect">
            <a:avLst/>
          </a:prstGeom>
          <a:solidFill>
            <a:srgbClr val="FFFFFF"/>
          </a:solidFill>
          <a:ln w="9525">
            <a:solidFill>
              <a:srgbClr val="DCDC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p-h1"/>
          <p:cNvSpPr txBox="1"/>
          <p:nvPr/>
        </p:nvSpPr>
        <p:spPr>
          <a:xfrm>
            <a:off x="4584192" y="1801368"/>
            <a:ext cx="2993136" cy="310896"/>
          </a:xfrm>
          <a:prstGeom prst="rect">
            <a:avLst/>
          </a:prstGeom>
          <a:noFill/>
        </p:spPr>
        <p:txBody>
          <a:bodyPr wrap="square" lIns="0" rIns="0" tIns="0" bIns="0" anchor="t">
            <a:spAutoFit/>
          </a:bodyPr>
          <a:lstStyle/>
          <a:p>
            <a:pPr>
              <a:lnSpc>
                <a:spcPct val="120000"/>
              </a:lnSpc>
            </a:pPr>
            <a:r>
              <a:rPr sz="1350" b="1">
                <a:solidFill>
                  <a:srgbClr val="1A1A1A"/>
                </a:solidFill>
                <a:latin typeface="Arial"/>
              </a:rPr>
              <a:t>Gate refinement on faithfulness</a:t>
            </a:r>
          </a:p>
        </p:txBody>
      </p:sp>
      <p:sp>
        <p:nvSpPr>
          <p:cNvPr id="32" name="p-p1"/>
          <p:cNvSpPr txBox="1"/>
          <p:nvPr/>
        </p:nvSpPr>
        <p:spPr>
          <a:xfrm>
            <a:off x="4584192" y="2221992"/>
            <a:ext cx="2993136" cy="548640"/>
          </a:xfrm>
          <a:prstGeom prst="rect">
            <a:avLst/>
          </a:prstGeom>
          <a:noFill/>
        </p:spPr>
        <p:txBody>
          <a:bodyPr wrap="square" lIns="0" rIns="0" tIns="0" bIns="0" anchor="t">
            <a:spAutoFit/>
          </a:bodyPr>
          <a:lstStyle/>
          <a:p>
            <a:pPr>
              <a:lnSpc>
                <a:spcPct val="120000"/>
              </a:lnSpc>
            </a:pPr>
            <a:r>
              <a:rPr sz="1050" b="0">
                <a:solidFill>
                  <a:srgbClr val="767676"/>
                </a:solidFill>
                <a:latin typeface="Arial"/>
              </a:rPr>
              <a:t>In the paper:  Self-reflection rewrites a fact with no check that the response still supports it.</a:t>
            </a:r>
          </a:p>
        </p:txBody>
      </p:sp>
      <p:sp>
        <p:nvSpPr>
          <p:cNvPr id="33" name="p-e1"/>
          <p:cNvSpPr txBox="1"/>
          <p:nvPr/>
        </p:nvSpPr>
        <p:spPr>
          <a:xfrm>
            <a:off x="4584192" y="2843784"/>
            <a:ext cx="2993136" cy="786384"/>
          </a:xfrm>
          <a:prstGeom prst="rect">
            <a:avLst/>
          </a:prstGeom>
          <a:noFill/>
        </p:spPr>
        <p:txBody>
          <a:bodyPr wrap="square" lIns="0" rIns="0" tIns="0" bIns="0" anchor="t">
            <a:spAutoFit/>
          </a:bodyPr>
          <a:lstStyle/>
          <a:p>
            <a:pPr>
              <a:lnSpc>
                <a:spcPct val="120000"/>
              </a:lnSpc>
            </a:pPr>
            <a:r>
              <a:rPr sz="1100" b="0">
                <a:solidFill>
                  <a:srgbClr val="444444"/>
                </a:solidFill>
                <a:latin typeface="Arial"/>
              </a:rPr>
              <a:t>Ours inverted a claim: “There was NO demand for gold as jewelry.” The paper's 24.9% label-change rate cannot separate repairs from corruptions.</a:t>
            </a:r>
          </a:p>
        </p:txBody>
      </p:sp>
      <p:sp>
        <p:nvSpPr>
          <p:cNvPr id="34" name="p-card2"/>
          <p:cNvSpPr/>
          <p:nvPr/>
        </p:nvSpPr>
        <p:spPr>
          <a:xfrm>
            <a:off x="8107680" y="1600200"/>
            <a:ext cx="3505200" cy="2103120"/>
          </a:xfrm>
          <a:prstGeom prst="rect">
            <a:avLst/>
          </a:prstGeom>
          <a:solidFill>
            <a:srgbClr val="FFFFFF"/>
          </a:solidFill>
          <a:ln w="9525">
            <a:solidFill>
              <a:srgbClr val="DCDC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p-edge2"/>
          <p:cNvSpPr/>
          <p:nvPr/>
        </p:nvSpPr>
        <p:spPr>
          <a:xfrm>
            <a:off x="8107680" y="1600200"/>
            <a:ext cx="29260" cy="2103120"/>
          </a:xfrm>
          <a:prstGeom prst="rect">
            <a:avLst/>
          </a:prstGeom>
          <a:solidFill>
            <a:srgbClr val="E90802"/>
          </a:solidFill>
          <a:ln w="3175">
            <a:solidFill>
              <a:srgbClr val="E9080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p-h2"/>
          <p:cNvSpPr txBox="1"/>
          <p:nvPr/>
        </p:nvSpPr>
        <p:spPr>
          <a:xfrm>
            <a:off x="8363712" y="1801368"/>
            <a:ext cx="2993136" cy="310896"/>
          </a:xfrm>
          <a:prstGeom prst="rect">
            <a:avLst/>
          </a:prstGeom>
          <a:noFill/>
        </p:spPr>
        <p:txBody>
          <a:bodyPr wrap="square" lIns="0" rIns="0" tIns="0" bIns="0" anchor="t">
            <a:spAutoFit/>
          </a:bodyPr>
          <a:lstStyle/>
          <a:p>
            <a:pPr>
              <a:lnSpc>
                <a:spcPct val="120000"/>
              </a:lnSpc>
            </a:pPr>
            <a:r>
              <a:rPr sz="1350" b="1">
                <a:solidFill>
                  <a:srgbClr val="E90802"/>
                </a:solidFill>
                <a:latin typeface="Arial"/>
              </a:rPr>
              <a:t>Refine against the evidence</a:t>
            </a:r>
          </a:p>
        </p:txBody>
      </p:sp>
      <p:sp>
        <p:nvSpPr>
          <p:cNvPr id="37" name="p-p2"/>
          <p:cNvSpPr txBox="1"/>
          <p:nvPr/>
        </p:nvSpPr>
        <p:spPr>
          <a:xfrm>
            <a:off x="8363712" y="2221992"/>
            <a:ext cx="2993136" cy="548640"/>
          </a:xfrm>
          <a:prstGeom prst="rect">
            <a:avLst/>
          </a:prstGeom>
          <a:noFill/>
        </p:spPr>
        <p:txBody>
          <a:bodyPr wrap="square" lIns="0" rIns="0" tIns="0" bIns="0" anchor="t">
            <a:spAutoFit/>
          </a:bodyPr>
          <a:lstStyle/>
          <a:p>
            <a:pPr>
              <a:lnSpc>
                <a:spcPct val="120000"/>
              </a:lnSpc>
            </a:pPr>
            <a:r>
              <a:rPr sz="1050" b="0">
                <a:solidFill>
                  <a:srgbClr val="767676"/>
                </a:solidFill>
                <a:latin typeface="Arial"/>
              </a:rPr>
              <a:t>In the paper:  Refines first and retrieves second, then reports precision falling without explaining it.</a:t>
            </a:r>
          </a:p>
        </p:txBody>
      </p:sp>
      <p:sp>
        <p:nvSpPr>
          <p:cNvPr id="38" name="p-e2"/>
          <p:cNvSpPr txBox="1"/>
          <p:nvPr/>
        </p:nvSpPr>
        <p:spPr>
          <a:xfrm>
            <a:off x="8363712" y="2843784"/>
            <a:ext cx="2993136" cy="786384"/>
          </a:xfrm>
          <a:prstGeom prst="rect">
            <a:avLst/>
          </a:prstGeom>
          <a:noFill/>
        </p:spPr>
        <p:txBody>
          <a:bodyPr wrap="square" lIns="0" rIns="0" tIns="0" bIns="0" anchor="t">
            <a:spAutoFit/>
          </a:bodyPr>
          <a:lstStyle/>
          <a:p>
            <a:pPr>
              <a:lnSpc>
                <a:spcPct val="120000"/>
              </a:lnSpc>
            </a:pPr>
            <a:r>
              <a:rPr sz="1100" b="0">
                <a:solidFill>
                  <a:srgbClr val="444444"/>
                </a:solidFill>
                <a:latin typeface="Arial"/>
              </a:rPr>
              <a:t>We measured the mechanism: undecided 146 → 185, precision −0.077. A longer claim needs more from one source.</a:t>
            </a:r>
          </a:p>
        </p:txBody>
      </p:sp>
      <p:sp>
        <p:nvSpPr>
          <p:cNvPr id="39" name="p-card3"/>
          <p:cNvSpPr/>
          <p:nvPr/>
        </p:nvSpPr>
        <p:spPr>
          <a:xfrm>
            <a:off x="548640" y="3886200"/>
            <a:ext cx="3505200" cy="2103120"/>
          </a:xfrm>
          <a:prstGeom prst="rect">
            <a:avLst/>
          </a:prstGeom>
          <a:solidFill>
            <a:srgbClr val="F4F4F4"/>
          </a:solidFill>
          <a:ln w="9525">
            <a:solidFill>
              <a:srgbClr val="F4F4F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p-h3"/>
          <p:cNvSpPr txBox="1"/>
          <p:nvPr/>
        </p:nvSpPr>
        <p:spPr>
          <a:xfrm>
            <a:off x="804672" y="4087368"/>
            <a:ext cx="2993136" cy="310896"/>
          </a:xfrm>
          <a:prstGeom prst="rect">
            <a:avLst/>
          </a:prstGeom>
          <a:noFill/>
        </p:spPr>
        <p:txBody>
          <a:bodyPr wrap="square" lIns="0" rIns="0" tIns="0" bIns="0" anchor="t">
            <a:spAutoFit/>
          </a:bodyPr>
          <a:lstStyle/>
          <a:p>
            <a:pPr>
              <a:lnSpc>
                <a:spcPct val="120000"/>
              </a:lnSpc>
            </a:pPr>
            <a:r>
              <a:rPr sz="1350" b="1">
                <a:solidFill>
                  <a:srgbClr val="1A1A1A"/>
                </a:solidFill>
                <a:latin typeface="Arial"/>
              </a:rPr>
              <a:t>Make Algorithm 1 semantic</a:t>
            </a:r>
          </a:p>
        </p:txBody>
      </p:sp>
      <p:sp>
        <p:nvSpPr>
          <p:cNvPr id="41" name="p-p3"/>
          <p:cNvSpPr txBox="1"/>
          <p:nvPr/>
        </p:nvSpPr>
        <p:spPr>
          <a:xfrm>
            <a:off x="804672" y="4507992"/>
            <a:ext cx="2993136" cy="548640"/>
          </a:xfrm>
          <a:prstGeom prst="rect">
            <a:avLst/>
          </a:prstGeom>
          <a:noFill/>
        </p:spPr>
        <p:txBody>
          <a:bodyPr wrap="square" lIns="0" rIns="0" tIns="0" bIns="0" anchor="t">
            <a:spAutoFit/>
          </a:bodyPr>
          <a:lstStyle/>
          <a:p>
            <a:pPr>
              <a:lnSpc>
                <a:spcPct val="120000"/>
              </a:lnSpc>
            </a:pPr>
            <a:r>
              <a:rPr sz="1050" b="0">
                <a:solidFill>
                  <a:srgbClr val="767676"/>
                </a:solidFill>
                <a:latin typeface="Arial"/>
              </a:rPr>
              <a:t>In the paper:  Word mapping marks coverage by longest common substring, so paraphrase reads as uncovered.</a:t>
            </a:r>
          </a:p>
        </p:txBody>
      </p:sp>
      <p:sp>
        <p:nvSpPr>
          <p:cNvPr id="42" name="p-e3"/>
          <p:cNvSpPr txBox="1"/>
          <p:nvPr/>
        </p:nvSpPr>
        <p:spPr>
          <a:xfrm>
            <a:off x="804672" y="5129784"/>
            <a:ext cx="2993136" cy="786384"/>
          </a:xfrm>
          <a:prstGeom prst="rect">
            <a:avLst/>
          </a:prstGeom>
          <a:noFill/>
        </p:spPr>
        <p:txBody>
          <a:bodyPr wrap="square" lIns="0" rIns="0" tIns="0" bIns="0" anchor="t">
            <a:spAutoFit/>
          </a:bodyPr>
          <a:lstStyle/>
          <a:p>
            <a:pPr>
              <a:lnSpc>
                <a:spcPct val="120000"/>
              </a:lnSpc>
            </a:pPr>
            <a:r>
              <a:rPr sz="1100" b="0">
                <a:solidFill>
                  <a:srgbClr val="444444"/>
                </a:solidFill>
                <a:latin typeface="Arial"/>
              </a:rPr>
              <a:t>Coverage ran 0.55–0.59 across our answers and produced 73 candidate spans, some already expressed by an existing fact.</a:t>
            </a:r>
          </a:p>
        </p:txBody>
      </p:sp>
      <p:sp>
        <p:nvSpPr>
          <p:cNvPr id="43" name="p-card4"/>
          <p:cNvSpPr/>
          <p:nvPr/>
        </p:nvSpPr>
        <p:spPr>
          <a:xfrm>
            <a:off x="4328160" y="3886200"/>
            <a:ext cx="3505200" cy="2103120"/>
          </a:xfrm>
          <a:prstGeom prst="rect">
            <a:avLst/>
          </a:prstGeom>
          <a:solidFill>
            <a:srgbClr val="F4F4F4"/>
          </a:solidFill>
          <a:ln w="9525">
            <a:solidFill>
              <a:srgbClr val="F4F4F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p-edge4"/>
          <p:cNvSpPr/>
          <p:nvPr/>
        </p:nvSpPr>
        <p:spPr>
          <a:xfrm>
            <a:off x="4328160" y="3886200"/>
            <a:ext cx="29260" cy="2103120"/>
          </a:xfrm>
          <a:prstGeom prst="rect">
            <a:avLst/>
          </a:prstGeom>
          <a:solidFill>
            <a:srgbClr val="E90802"/>
          </a:solidFill>
          <a:ln w="3175">
            <a:solidFill>
              <a:srgbClr val="E9080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p-h4"/>
          <p:cNvSpPr txBox="1"/>
          <p:nvPr/>
        </p:nvSpPr>
        <p:spPr>
          <a:xfrm>
            <a:off x="4584192" y="4087368"/>
            <a:ext cx="2993136" cy="310896"/>
          </a:xfrm>
          <a:prstGeom prst="rect">
            <a:avLst/>
          </a:prstGeom>
          <a:noFill/>
        </p:spPr>
        <p:txBody>
          <a:bodyPr wrap="square" lIns="0" rIns="0" tIns="0" bIns="0" anchor="t">
            <a:spAutoFit/>
          </a:bodyPr>
          <a:lstStyle/>
          <a:p>
            <a:pPr>
              <a:lnSpc>
                <a:spcPct val="120000"/>
              </a:lnSpc>
            </a:pPr>
            <a:r>
              <a:rPr sz="1350" b="1">
                <a:solidFill>
                  <a:srgbClr val="E90802"/>
                </a:solidFill>
                <a:latin typeface="Arial"/>
              </a:rPr>
              <a:t>Calibrate the detector</a:t>
            </a:r>
          </a:p>
        </p:txBody>
      </p:sp>
      <p:sp>
        <p:nvSpPr>
          <p:cNvPr id="46" name="p-p4"/>
          <p:cNvSpPr txBox="1"/>
          <p:nvPr/>
        </p:nvSpPr>
        <p:spPr>
          <a:xfrm>
            <a:off x="4584192" y="4507992"/>
            <a:ext cx="2993136" cy="548640"/>
          </a:xfrm>
          <a:prstGeom prst="rect">
            <a:avLst/>
          </a:prstGeom>
          <a:noFill/>
        </p:spPr>
        <p:txBody>
          <a:bodyPr wrap="square" lIns="0" rIns="0" tIns="0" bIns="0" anchor="t">
            <a:spAutoFit/>
          </a:bodyPr>
          <a:lstStyle/>
          <a:p>
            <a:pPr>
              <a:lnSpc>
                <a:spcPct val="120000"/>
              </a:lnSpc>
            </a:pPr>
            <a:r>
              <a:rPr sz="1050" b="0">
                <a:solidFill>
                  <a:srgbClr val="767676"/>
                </a:solidFill>
                <a:latin typeface="Arial"/>
              </a:rPr>
              <a:t>In the paper:  Benchmarks 12 models against one fixed detector and compares the resulting rates directly.</a:t>
            </a:r>
          </a:p>
        </p:txBody>
      </p:sp>
      <p:sp>
        <p:nvSpPr>
          <p:cNvPr id="47" name="p-e4"/>
          <p:cNvSpPr txBox="1"/>
          <p:nvPr/>
        </p:nvSpPr>
        <p:spPr>
          <a:xfrm>
            <a:off x="4584192" y="5129784"/>
            <a:ext cx="2993136" cy="786384"/>
          </a:xfrm>
          <a:prstGeom prst="rect">
            <a:avLst/>
          </a:prstGeom>
          <a:noFill/>
        </p:spPr>
        <p:txBody>
          <a:bodyPr wrap="square" lIns="0" rIns="0" tIns="0" bIns="0" anchor="t">
            <a:spAutoFit/>
          </a:bodyPr>
          <a:lstStyle/>
          <a:p>
            <a:pPr>
              <a:lnSpc>
                <a:spcPct val="120000"/>
              </a:lnSpc>
            </a:pPr>
            <a:r>
              <a:rPr sz="1100" b="0">
                <a:solidFill>
                  <a:srgbClr val="444444"/>
                </a:solidFill>
                <a:latin typeface="Arial"/>
              </a:rPr>
              <a:t>On identical facts a 3B detector scores 0.105 and a 7B detector 0.438 — a 4.2× swing, larger than most model gaps the paper reports.</a:t>
            </a:r>
          </a:p>
        </p:txBody>
      </p:sp>
      <p:sp>
        <p:nvSpPr>
          <p:cNvPr id="48" name="p-card5"/>
          <p:cNvSpPr/>
          <p:nvPr/>
        </p:nvSpPr>
        <p:spPr>
          <a:xfrm>
            <a:off x="8107680" y="3886200"/>
            <a:ext cx="3505200" cy="2103120"/>
          </a:xfrm>
          <a:prstGeom prst="rect">
            <a:avLst/>
          </a:prstGeom>
          <a:solidFill>
            <a:srgbClr val="F4F4F4"/>
          </a:solidFill>
          <a:ln w="9525">
            <a:solidFill>
              <a:srgbClr val="F4F4F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p-h5"/>
          <p:cNvSpPr txBox="1"/>
          <p:nvPr/>
        </p:nvSpPr>
        <p:spPr>
          <a:xfrm>
            <a:off x="8363712" y="4087368"/>
            <a:ext cx="2993136" cy="310896"/>
          </a:xfrm>
          <a:prstGeom prst="rect">
            <a:avLst/>
          </a:prstGeom>
          <a:noFill/>
        </p:spPr>
        <p:txBody>
          <a:bodyPr wrap="square" lIns="0" rIns="0" tIns="0" bIns="0" anchor="t">
            <a:spAutoFit/>
          </a:bodyPr>
          <a:lstStyle/>
          <a:p>
            <a:pPr>
              <a:lnSpc>
                <a:spcPct val="120000"/>
              </a:lnSpc>
            </a:pPr>
            <a:r>
              <a:rPr sz="1350" b="1">
                <a:solidFill>
                  <a:srgbClr val="1A1A1A"/>
                </a:solidFill>
                <a:latin typeface="Arial"/>
              </a:rPr>
              <a:t>Escalate only on disagreement</a:t>
            </a:r>
          </a:p>
        </p:txBody>
      </p:sp>
      <p:sp>
        <p:nvSpPr>
          <p:cNvPr id="50" name="p-p5"/>
          <p:cNvSpPr txBox="1"/>
          <p:nvPr/>
        </p:nvSpPr>
        <p:spPr>
          <a:xfrm>
            <a:off x="8363712" y="4507992"/>
            <a:ext cx="2993136" cy="548640"/>
          </a:xfrm>
          <a:prstGeom prst="rect">
            <a:avLst/>
          </a:prstGeom>
          <a:noFill/>
        </p:spPr>
        <p:txBody>
          <a:bodyPr wrap="square" lIns="0" rIns="0" tIns="0" bIns="0" anchor="t">
            <a:spAutoFit/>
          </a:bodyPr>
          <a:lstStyle/>
          <a:p>
            <a:pPr>
              <a:lnSpc>
                <a:spcPct val="120000"/>
              </a:lnSpc>
            </a:pPr>
            <a:r>
              <a:rPr sz="1050" b="0">
                <a:solidFill>
                  <a:srgbClr val="767676"/>
                </a:solidFill>
                <a:latin typeface="Arial"/>
              </a:rPr>
              <a:t>In the paper:  Runs three frontier models over every extracted fact, the dominant cost of the pipeline.</a:t>
            </a:r>
          </a:p>
        </p:txBody>
      </p:sp>
      <p:sp>
        <p:nvSpPr>
          <p:cNvPr id="51" name="p-e5"/>
          <p:cNvSpPr txBox="1"/>
          <p:nvPr/>
        </p:nvSpPr>
        <p:spPr>
          <a:xfrm>
            <a:off x="8363712" y="5129784"/>
            <a:ext cx="2993136" cy="786384"/>
          </a:xfrm>
          <a:prstGeom prst="rect">
            <a:avLst/>
          </a:prstGeom>
          <a:noFill/>
        </p:spPr>
        <p:txBody>
          <a:bodyPr wrap="square" lIns="0" rIns="0" tIns="0" bIns="0" anchor="t">
            <a:spAutoFit/>
          </a:bodyPr>
          <a:lstStyle/>
          <a:p>
            <a:pPr>
              <a:lnSpc>
                <a:spcPct val="120000"/>
              </a:lnSpc>
            </a:pPr>
            <a:r>
              <a:rPr sz="1100" b="0">
                <a:solidFill>
                  <a:srgbClr val="444444"/>
                </a:solidFill>
                <a:latin typeface="Arial"/>
              </a:rPr>
              <a:t>Cheap judges agree on most facts. Routing only the disputed ones to the large model targets the same detections for far fewer calls.</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eyebrow"/>
          <p:cNvSpPr txBox="1"/>
          <p:nvPr/>
        </p:nvSpPr>
        <p:spPr>
          <a:xfrm>
            <a:off x="548640" y="347472"/>
            <a:ext cx="11064240" cy="237744"/>
          </a:xfrm>
          <a:prstGeom prst="rect">
            <a:avLst/>
          </a:prstGeom>
          <a:noFill/>
          <a:ln/>
        </p:spPr>
        <p:txBody>
          <a:bodyPr wrap="square" lIns="0" tIns="0" rIns="0" bIns="0" rtlCol="0" anchor="ctr"/>
          <a:lstStyle/>
          <a:p>
            <a:pPr marL="0" indent="0">
              <a:buNone/>
            </a:pPr>
            <a:r>
              <a:rPr lang="en-US" sz="1000" b="1" kern="0" spc="200" dirty="0">
                <a:solidFill>
                  <a:srgbClr val="E90802"/>
                </a:solidFill>
                <a:latin typeface="Arial" pitchFamily="34" charset="0"/>
                <a:ea typeface="Arial" pitchFamily="34" charset="-122"/>
                <a:cs typeface="Arial" pitchFamily="34" charset="-120"/>
              </a:rPr>
              <a:t>TAKEAWAYS</a:t>
            </a:r>
            <a:endParaRPr lang="en-US" sz="1000" dirty="0"/>
          </a:p>
        </p:txBody>
      </p:sp>
      <p:sp>
        <p:nvSpPr>
          <p:cNvPr id="3" name="title"/>
          <p:cNvSpPr txBox="1"/>
          <p:nvPr/>
        </p:nvSpPr>
        <p:spPr>
          <a:xfrm>
            <a:off x="548640" y="621792"/>
            <a:ext cx="11064240" cy="548640"/>
          </a:xfrm>
          <a:prstGeom prst="rect">
            <a:avLst/>
          </a:prstGeom>
          <a:noFill/>
          <a:ln/>
        </p:spPr>
        <p:txBody>
          <a:bodyPr wrap="square" lIns="0" tIns="0" rIns="0" bIns="0" rtlCol="0" anchor="ctr"/>
          <a:lstStyle/>
          <a:p>
            <a:pPr marL="0" indent="0">
              <a:buNone/>
            </a:pPr>
            <a:r>
              <a:rPr lang="en-US" sz="2700" b="1" dirty="0">
                <a:solidFill>
                  <a:srgbClr val="1A1A1A"/>
                </a:solidFill>
              </a:rPr>
              <a:t>Four things this reimplementation establishes</a:t>
            </a:r>
            <a:endParaRPr lang="en-US" sz="2700" dirty="0"/>
          </a:p>
        </p:txBody>
      </p:sp>
      <p:sp>
        <p:nvSpPr>
          <p:cNvPr id="4" name="subtitle"/>
          <p:cNvSpPr txBox="1"/>
          <p:nvPr/>
        </p:nvSpPr>
        <p:spPr>
          <a:xfrm>
            <a:off x="548640" y="1188720"/>
            <a:ext cx="11064240" cy="256032"/>
          </a:xfrm>
          <a:prstGeom prst="rect">
            <a:avLst/>
          </a:prstGeom>
          <a:noFill/>
          <a:ln/>
        </p:spPr>
        <p:txBody>
          <a:bodyPr wrap="square" lIns="0" tIns="0" rIns="0" bIns="0" rtlCol="0" anchor="ctr"/>
          <a:lstStyle/>
          <a:p>
            <a:pPr marL="0" indent="0">
              <a:buNone/>
            </a:pPr>
            <a:r>
              <a:rPr lang="en-US" sz="1350" dirty="0">
                <a:solidFill>
                  <a:srgbClr val="767676"/>
                </a:solidFill>
                <a:latin typeface="Arial" pitchFamily="34" charset="0"/>
                <a:ea typeface="Arial" pitchFamily="34" charset="-122"/>
                <a:cs typeface="Arial" pitchFamily="34" charset="-120"/>
              </a:rPr>
              <a:t>Measured by the repository, on 12 questions and three model configurations</a:t>
            </a:r>
            <a:endParaRPr lang="en-US" sz="1350" dirty="0"/>
          </a:p>
        </p:txBody>
      </p:sp>
      <p:sp>
        <p:nvSpPr>
          <p:cNvPr id="5" name="head-rule"/>
          <p:cNvSpPr/>
          <p:nvPr/>
        </p:nvSpPr>
        <p:spPr>
          <a:xfrm>
            <a:off x="548640" y="1499616"/>
            <a:ext cx="11064240" cy="10973"/>
          </a:xfrm>
          <a:prstGeom prst="rect">
            <a:avLst/>
          </a:prstGeom>
          <a:solidFill>
            <a:schemeClr val="tx1"/>
          </a:solidFill>
          <a:ln w="3175">
            <a:solidFill>
              <a:schemeClr val="tx1"/>
            </a:solidFill>
            <a:prstDash val="solid"/>
          </a:ln>
        </p:spPr>
        <p:txBody>
          <a:bodyPr/>
          <a:lstStyle/>
          <a:p>
            <a:endParaRPr lang="en-IN"/>
          </a:p>
        </p:txBody>
      </p:sp>
      <p:sp>
        <p:nvSpPr>
          <p:cNvPr id="6" name="tk-rule1"/>
          <p:cNvSpPr/>
          <p:nvPr/>
        </p:nvSpPr>
        <p:spPr>
          <a:xfrm>
            <a:off x="548640" y="1755648"/>
            <a:ext cx="11064240" cy="16459"/>
          </a:xfrm>
          <a:prstGeom prst="rect">
            <a:avLst/>
          </a:prstGeom>
          <a:solidFill>
            <a:srgbClr val="DCDCDC"/>
          </a:solidFill>
          <a:ln w="3175">
            <a:solidFill>
              <a:srgbClr val="DCDCDC"/>
            </a:solidFill>
            <a:prstDash val="solid"/>
          </a:ln>
        </p:spPr>
        <p:txBody>
          <a:bodyPr/>
          <a:lstStyle/>
          <a:p>
            <a:endParaRPr lang="en-IN"/>
          </a:p>
        </p:txBody>
      </p:sp>
      <p:sp>
        <p:nvSpPr>
          <p:cNvPr id="7" name="tk-n1"/>
          <p:cNvSpPr txBox="1"/>
          <p:nvPr/>
        </p:nvSpPr>
        <p:spPr>
          <a:xfrm>
            <a:off x="548640" y="1938528"/>
            <a:ext cx="457200" cy="457200"/>
          </a:xfrm>
          <a:prstGeom prst="rect">
            <a:avLst/>
          </a:prstGeom>
          <a:noFill/>
          <a:ln/>
        </p:spPr>
        <p:txBody>
          <a:bodyPr wrap="square" lIns="0" tIns="0" rIns="0" bIns="0" rtlCol="0" anchor="ctr"/>
          <a:lstStyle/>
          <a:p>
            <a:pPr marL="0" indent="0">
              <a:buNone/>
            </a:pPr>
            <a:r>
              <a:rPr lang="en-US" sz="2000" b="1" dirty="0">
                <a:solidFill>
                  <a:srgbClr val="767676"/>
                </a:solidFill>
              </a:rPr>
              <a:t>1</a:t>
            </a:r>
            <a:endParaRPr lang="en-US" sz="2000" dirty="0"/>
          </a:p>
        </p:txBody>
      </p:sp>
      <p:sp>
        <p:nvSpPr>
          <p:cNvPr id="8" name="tk-t1"/>
          <p:cNvSpPr txBox="1"/>
          <p:nvPr/>
        </p:nvSpPr>
        <p:spPr>
          <a:xfrm>
            <a:off x="1234440" y="1938528"/>
            <a:ext cx="10378440" cy="713232"/>
          </a:xfrm>
          <a:prstGeom prst="rect">
            <a:avLst/>
          </a:prstGeom>
          <a:noFill/>
          <a:ln/>
        </p:spPr>
        <p:txBody>
          <a:bodyPr wrap="square" lIns="0" tIns="0" rIns="0" bIns="0" rtlCol="0" anchor="t"/>
          <a:lstStyle/>
          <a:p>
            <a:pPr marL="0" indent="0">
              <a:lnSpc>
                <a:spcPct val="120000"/>
              </a:lnSpc>
              <a:buNone/>
            </a:pPr>
            <a:r>
              <a:rPr lang="en-US" sz="1300" dirty="0">
                <a:solidFill>
                  <a:srgbClr val="444444"/>
                </a:solidFill>
                <a:latin typeface="Arial" pitchFamily="34" charset="0"/>
                <a:ea typeface="Arial" pitchFamily="34" charset="-122"/>
                <a:cs typeface="Arial" pitchFamily="34" charset="-120"/>
              </a:rPr>
              <a:t>The whole VeriFact pipeline runs on a 4 GB consumer GPU with quantized 3B models and Wikipedia evidence, and scales to 7–8B on a Colab T4.</a:t>
            </a:r>
            <a:endParaRPr lang="en-US" sz="1300" dirty="0"/>
          </a:p>
        </p:txBody>
      </p:sp>
      <p:sp>
        <p:nvSpPr>
          <p:cNvPr id="9" name="tk-rule2"/>
          <p:cNvSpPr/>
          <p:nvPr/>
        </p:nvSpPr>
        <p:spPr>
          <a:xfrm>
            <a:off x="548640" y="2889504"/>
            <a:ext cx="11064240" cy="16459"/>
          </a:xfrm>
          <a:prstGeom prst="rect">
            <a:avLst/>
          </a:prstGeom>
          <a:solidFill>
            <a:srgbClr val="DCDCDC"/>
          </a:solidFill>
          <a:ln w="3175">
            <a:solidFill>
              <a:srgbClr val="DCDCDC"/>
            </a:solidFill>
            <a:prstDash val="solid"/>
          </a:ln>
        </p:spPr>
        <p:txBody>
          <a:bodyPr/>
          <a:lstStyle/>
          <a:p>
            <a:endParaRPr lang="en-IN"/>
          </a:p>
        </p:txBody>
      </p:sp>
      <p:sp>
        <p:nvSpPr>
          <p:cNvPr id="10" name="tk-n2"/>
          <p:cNvSpPr txBox="1"/>
          <p:nvPr/>
        </p:nvSpPr>
        <p:spPr>
          <a:xfrm>
            <a:off x="548640" y="3072384"/>
            <a:ext cx="457200" cy="457200"/>
          </a:xfrm>
          <a:prstGeom prst="rect">
            <a:avLst/>
          </a:prstGeom>
          <a:noFill/>
          <a:ln/>
        </p:spPr>
        <p:txBody>
          <a:bodyPr wrap="square" lIns="0" tIns="0" rIns="0" bIns="0" rtlCol="0" anchor="ctr"/>
          <a:lstStyle/>
          <a:p>
            <a:pPr marL="0" indent="0">
              <a:buNone/>
            </a:pPr>
            <a:r>
              <a:rPr lang="en-US" sz="2000" b="1" dirty="0">
                <a:solidFill>
                  <a:srgbClr val="767676"/>
                </a:solidFill>
              </a:rPr>
              <a:t>2</a:t>
            </a:r>
            <a:endParaRPr lang="en-US" sz="2000" dirty="0"/>
          </a:p>
        </p:txBody>
      </p:sp>
      <p:sp>
        <p:nvSpPr>
          <p:cNvPr id="11" name="tk-t2"/>
          <p:cNvSpPr txBox="1"/>
          <p:nvPr/>
        </p:nvSpPr>
        <p:spPr>
          <a:xfrm>
            <a:off x="1234440" y="3072384"/>
            <a:ext cx="10378440" cy="713232"/>
          </a:xfrm>
          <a:prstGeom prst="rect">
            <a:avLst/>
          </a:prstGeom>
          <a:noFill/>
          <a:ln/>
        </p:spPr>
        <p:txBody>
          <a:bodyPr wrap="square" lIns="0" tIns="0" rIns="0" bIns="0" rtlCol="0" anchor="t"/>
          <a:lstStyle/>
          <a:p>
            <a:pPr marL="0" indent="0">
              <a:lnSpc>
                <a:spcPct val="120000"/>
              </a:lnSpc>
              <a:buNone/>
            </a:pPr>
            <a:r>
              <a:rPr lang="en-US" sz="1300" dirty="0">
                <a:solidFill>
                  <a:srgbClr val="444444"/>
                </a:solidFill>
                <a:latin typeface="Arial" pitchFamily="34" charset="0"/>
                <a:ea typeface="Arial" pitchFamily="34" charset="-122"/>
                <a:cs typeface="Arial" pitchFamily="34" charset="-120"/>
              </a:rPr>
              <a:t>Refinement changed the verdict on 39–46% of refined facts across three model configurations, against 24.9% in the paper. The phenomenon is robust to model size.</a:t>
            </a:r>
            <a:endParaRPr lang="en-US" sz="1300" dirty="0"/>
          </a:p>
        </p:txBody>
      </p:sp>
      <p:sp>
        <p:nvSpPr>
          <p:cNvPr id="12" name="tk-rule3"/>
          <p:cNvSpPr/>
          <p:nvPr/>
        </p:nvSpPr>
        <p:spPr>
          <a:xfrm>
            <a:off x="548640" y="4023360"/>
            <a:ext cx="11064240" cy="16459"/>
          </a:xfrm>
          <a:prstGeom prst="rect">
            <a:avLst/>
          </a:prstGeom>
          <a:solidFill>
            <a:srgbClr val="DCDCDC"/>
          </a:solidFill>
          <a:ln w="3175">
            <a:solidFill>
              <a:srgbClr val="DCDCDC"/>
            </a:solidFill>
            <a:prstDash val="solid"/>
          </a:ln>
        </p:spPr>
        <p:txBody>
          <a:bodyPr/>
          <a:lstStyle/>
          <a:p>
            <a:endParaRPr lang="en-IN"/>
          </a:p>
        </p:txBody>
      </p:sp>
      <p:sp>
        <p:nvSpPr>
          <p:cNvPr id="13" name="tk-n3"/>
          <p:cNvSpPr txBox="1"/>
          <p:nvPr/>
        </p:nvSpPr>
        <p:spPr>
          <a:xfrm>
            <a:off x="548640" y="4206240"/>
            <a:ext cx="457200" cy="457200"/>
          </a:xfrm>
          <a:prstGeom prst="rect">
            <a:avLst/>
          </a:prstGeom>
          <a:noFill/>
          <a:ln/>
        </p:spPr>
        <p:txBody>
          <a:bodyPr wrap="square" lIns="0" tIns="0" rIns="0" bIns="0" rtlCol="0" anchor="ctr"/>
          <a:lstStyle/>
          <a:p>
            <a:pPr marL="0" indent="0">
              <a:buNone/>
            </a:pPr>
            <a:r>
              <a:rPr lang="en-US" sz="2000" b="1" dirty="0">
                <a:solidFill>
                  <a:srgbClr val="767676"/>
                </a:solidFill>
              </a:rPr>
              <a:t>3</a:t>
            </a:r>
            <a:endParaRPr lang="en-US" sz="2000" dirty="0"/>
          </a:p>
        </p:txBody>
      </p:sp>
      <p:sp>
        <p:nvSpPr>
          <p:cNvPr id="14" name="tk-t3"/>
          <p:cNvSpPr txBox="1"/>
          <p:nvPr/>
        </p:nvSpPr>
        <p:spPr>
          <a:xfrm>
            <a:off x="1234440" y="4206240"/>
            <a:ext cx="10378440" cy="713232"/>
          </a:xfrm>
          <a:prstGeom prst="rect">
            <a:avLst/>
          </a:prstGeom>
          <a:noFill/>
          <a:ln/>
        </p:spPr>
        <p:txBody>
          <a:bodyPr wrap="square" lIns="0" tIns="0" rIns="0" bIns="0" rtlCol="0" anchor="t"/>
          <a:lstStyle/>
          <a:p>
            <a:pPr marL="0" indent="0">
              <a:lnSpc>
                <a:spcPct val="120000"/>
              </a:lnSpc>
              <a:buNone/>
            </a:pPr>
            <a:r>
              <a:rPr lang="en-US" sz="1300" dirty="0">
                <a:solidFill>
                  <a:srgbClr val="444444"/>
                </a:solidFill>
                <a:latin typeface="Arial" pitchFamily="34" charset="0"/>
                <a:ea typeface="Arial" pitchFamily="34" charset="-122"/>
                <a:cs typeface="Arial" pitchFamily="34" charset="-120"/>
              </a:rPr>
              <a:t>These metrics measure the judge as much as the system: identical facts score 0.105 incomplete at 3B and 0.438 at 7B; identical answers score 0.41 recall at 3B and 0.28 at 7B.</a:t>
            </a:r>
            <a:endParaRPr lang="en-US" sz="1300" dirty="0"/>
          </a:p>
        </p:txBody>
      </p:sp>
      <p:sp>
        <p:nvSpPr>
          <p:cNvPr id="15" name="tk-rule4"/>
          <p:cNvSpPr/>
          <p:nvPr/>
        </p:nvSpPr>
        <p:spPr>
          <a:xfrm>
            <a:off x="548640" y="5157216"/>
            <a:ext cx="11064240" cy="16459"/>
          </a:xfrm>
          <a:prstGeom prst="rect">
            <a:avLst/>
          </a:prstGeom>
          <a:solidFill>
            <a:srgbClr val="E90802"/>
          </a:solidFill>
          <a:ln w="3175">
            <a:solidFill>
              <a:srgbClr val="E90802"/>
            </a:solidFill>
            <a:prstDash val="solid"/>
          </a:ln>
        </p:spPr>
        <p:txBody>
          <a:bodyPr/>
          <a:lstStyle/>
          <a:p>
            <a:endParaRPr lang="en-IN"/>
          </a:p>
        </p:txBody>
      </p:sp>
      <p:sp>
        <p:nvSpPr>
          <p:cNvPr id="16" name="tk-n4"/>
          <p:cNvSpPr txBox="1"/>
          <p:nvPr/>
        </p:nvSpPr>
        <p:spPr>
          <a:xfrm>
            <a:off x="548640" y="5340096"/>
            <a:ext cx="457200" cy="457200"/>
          </a:xfrm>
          <a:prstGeom prst="rect">
            <a:avLst/>
          </a:prstGeom>
          <a:noFill/>
          <a:ln/>
        </p:spPr>
        <p:txBody>
          <a:bodyPr wrap="square" lIns="0" tIns="0" rIns="0" bIns="0" rtlCol="0" anchor="ctr"/>
          <a:lstStyle/>
          <a:p>
            <a:pPr marL="0" indent="0">
              <a:buNone/>
            </a:pPr>
            <a:r>
              <a:rPr lang="en-US" sz="2000" b="1" dirty="0">
                <a:solidFill>
                  <a:srgbClr val="E90802"/>
                </a:solidFill>
              </a:rPr>
              <a:t>4</a:t>
            </a:r>
            <a:endParaRPr lang="en-US" sz="2000" dirty="0"/>
          </a:p>
        </p:txBody>
      </p:sp>
      <p:sp>
        <p:nvSpPr>
          <p:cNvPr id="17" name="tk-t4"/>
          <p:cNvSpPr txBox="1"/>
          <p:nvPr/>
        </p:nvSpPr>
        <p:spPr>
          <a:xfrm>
            <a:off x="1234440" y="5340096"/>
            <a:ext cx="10378440" cy="713232"/>
          </a:xfrm>
          <a:prstGeom prst="rect">
            <a:avLst/>
          </a:prstGeom>
          <a:noFill/>
          <a:ln/>
        </p:spPr>
        <p:txBody>
          <a:bodyPr wrap="square" lIns="0" tIns="0" rIns="0" bIns="0" rtlCol="0" anchor="t"/>
          <a:lstStyle/>
          <a:p>
            <a:pPr marL="0" indent="0">
              <a:lnSpc>
                <a:spcPct val="120000"/>
              </a:lnSpc>
              <a:buNone/>
            </a:pPr>
            <a:r>
              <a:rPr lang="en-US" sz="1300" dirty="0">
                <a:solidFill>
                  <a:srgbClr val="444444"/>
                </a:solidFill>
                <a:latin typeface="Arial" pitchFamily="34" charset="0"/>
                <a:ea typeface="Arial" pitchFamily="34" charset="-122"/>
                <a:cs typeface="Arial" pitchFamily="34" charset="-120"/>
              </a:rPr>
              <a:t>Majority vote beat the paper's union rule on precision in every configuration — but the large incomplete-rate advantage we first reported was a 3B artifact, and we say so.</a:t>
            </a:r>
            <a:endParaRPr lang="en-US" sz="1300" dirty="0"/>
          </a:p>
        </p:txBody>
      </p:sp>
      <p:sp>
        <p:nvSpPr>
          <p:cNvPr id="25" name="Slide Number Placeholder 0"/>
          <p:cNvSpPr>
            <a:spLocks noGrp="1"/>
          </p:cNvSpPr>
          <p:nvPr>
            <p:ph type="sldNum" sz="quarter" idx="4294967295"/>
          </p:nvPr>
        </p:nvSpPr>
        <p:spPr>
          <a:xfrm>
            <a:off x="11338560" y="6327648"/>
            <a:ext cx="365760" cy="256032"/>
          </a:xfrm>
          <a:prstGeom prst="rect">
            <a:avLst/>
          </a:prstGeom>
          <a:extLst>
            <a:ext uri="{C572A759-6A51-4108-AA02-DFA0A04FC94B}">
              <ma14:wrappingTextBoxFlag xmlns:ma14="http://schemas.microsoft.com/office/mac/drawingml/2011/main" xmlns="" val="0"/>
            </a:ext>
          </a:extLst>
        </p:spPr>
        <p:txBody>
          <a:bodyPr/>
          <a:lstStyle>
            <a:lvl1pPr>
              <a:defRPr sz="900">
                <a:solidFill>
                  <a:srgbClr val="767676"/>
                </a:solidFill>
              </a:defRPr>
            </a:lvl1pPr>
          </a:lstStyle>
          <a:p>
            <a:pPr algn="r"/>
            <a:fld id="{F7021451-1387-4CA6-816F-3879F97B5CBC}" type="slidenum">
              <a:rPr lang="en-US" b="0"/>
              <a:t>15</a:t>
            </a:fld>
            <a:endParaRPr lang="en-US"/>
          </a:p>
        </p:txBody>
      </p:sp>
    </p:spTree>
  </p:cSld>
  <p:clrMapOvr>
    <a:masterClrMapping/>
  </p:clrMapOvr>
</p:sld>
</file>

<file path=ppt/theme/theme1.xml><?xml version="1.0" encoding="utf-8"?>
<a:theme xmlns:a="http://schemas.openxmlformats.org/drawingml/2006/main" name="VERIFACT-Lite">
  <a:themeElements>
    <a:clrScheme name="VERIFACT-Lite">
      <a:dk1>
        <a:srgbClr val="1A1A1A"/>
      </a:dk1>
      <a:lt1>
        <a:srgbClr val="FFFFFF"/>
      </a:lt1>
      <a:dk2>
        <a:srgbClr val="444444"/>
      </a:dk2>
      <a:lt2>
        <a:srgbClr val="F4F4F4"/>
      </a:lt2>
      <a:accent1>
        <a:srgbClr val="E90802"/>
      </a:accent1>
      <a:accent2>
        <a:srgbClr val="767676"/>
      </a:accent2>
      <a:accent3>
        <a:srgbClr val="444444"/>
      </a:accent3>
      <a:accent4>
        <a:srgbClr val="F4F4F4"/>
      </a:accent4>
      <a:accent5>
        <a:srgbClr val="1A1A1A"/>
      </a:accent5>
      <a:accent6>
        <a:srgbClr val="E90802"/>
      </a:accent6>
      <a:hlink>
        <a:srgbClr val="E90802"/>
      </a:hlink>
      <a:folHlink>
        <a:srgbClr val="767676"/>
      </a:folHlink>
    </a:clrScheme>
    <a:fontScheme name="VERIFACT-Lite">
      <a:majorFont>
        <a:latin typeface="Tahom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18</TotalTime>
  <Words>3359</Words>
  <Application>Microsoft Office PowerPoint</Application>
  <PresentationFormat>Widescreen</PresentationFormat>
  <Paragraphs>479</Paragraphs>
  <Slides>15</Slides>
  <Notes>15</Notes>
  <HiddenSlides>0</HiddenSlides>
  <MMClips>0</MMClips>
  <ScaleCrop>false</ScaleCrop>
  <HeadingPairs>
    <vt:vector size="6" baseType="variant">
      <vt:variant>
        <vt:lpstr>Fonts Used</vt:lpstr>
      </vt:variant>
      <vt:variant>
        <vt:i4>1</vt:i4>
      </vt:variant>
      <vt:variant>
        <vt:lpstr>Theme</vt:lpstr>
      </vt:variant>
      <vt:variant>
        <vt:i4>1</vt:i4>
      </vt:variant>
      <vt:variant>
        <vt:lpstr>Slide Titles</vt:lpstr>
      </vt:variant>
      <vt:variant>
        <vt:i4>15</vt:i4>
      </vt:variant>
    </vt:vector>
  </HeadingPairs>
  <TitlesOfParts>
    <vt:vector size="17" baseType="lpstr">
      <vt:lpstr>Arial</vt:lpstr>
      <vt:lpstr>VERIFACT-Lite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Texas Tech University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VERIFACT-Lite</dc:title>
  <dc:subject>Reimplementation of VeriFact (EMNLP 2025)</dc:subject>
  <dc:creator>VERIFACT-Lite</dc:creator>
  <cp:lastModifiedBy>Madhav Krishna</cp:lastModifiedBy>
  <cp:revision>4</cp:revision>
  <dcterms:created xsi:type="dcterms:W3CDTF">2026-10-08T00:22:26Z</dcterms:created>
  <dcterms:modified xsi:type="dcterms:W3CDTF">2026-10-08T00:59:44Z</dcterms:modified>
</cp:coreProperties>
</file>